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161" r:id="rId5"/>
    <p:sldId id="2257" r:id="rId6"/>
    <p:sldId id="2261" r:id="rId7"/>
    <p:sldId id="703" r:id="rId8"/>
    <p:sldId id="708" r:id="rId9"/>
    <p:sldId id="2244" r:id="rId10"/>
    <p:sldId id="2165" r:id="rId11"/>
    <p:sldId id="2253" r:id="rId12"/>
    <p:sldId id="2256" r:id="rId13"/>
    <p:sldId id="2260" r:id="rId14"/>
    <p:sldId id="2246" r:id="rId15"/>
  </p:sldIdLst>
  <p:sldSz cx="9144000" cy="6858000" type="screen4x3"/>
  <p:notesSz cx="7010400" cy="9296400"/>
  <p:custDataLst>
    <p:tags r:id="rId18"/>
  </p:custDataLst>
  <p:defaultTex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9EB45-38BB-5F45-92FB-B168711FE12F}" name="Lori Chollar" initials="LC" userId="S::Lori@tlccreative.com::29964550-6625-46c4-842b-098cbfe38ea2" providerId="AD"/>
  <p188:author id="{88C5875C-29D1-55D2-42EF-FE3B8CF11219}" name="Judy Warner" initials="JW" userId="4e9326dc1b9a1f62" providerId="Windows Live"/>
  <p188:author id="{0238B06B-A12A-B1C9-05F5-03F55F4447E4}" name="Judy Harrison Warner" initials="JW" userId="S::judy.warner@farient.com::bc590e20-c085-4655-8646-52d62502154b" providerId="AD"/>
  <p188:author id="{29E79C98-312D-C732-9C6C-1240B772E1CB}" name="Judy Harrison Warner" initials="JW" userId="S::Judy.Warner@farient.com::bc590e20-c085-4655-8646-52d62502154b" providerId="AD"/>
  <p188:author id="{6DED59D5-B209-16F4-92C8-C71C7E56286C}" name="Randi Caplan" initials="RC" userId="S::randi.caplan@farient.com::072d639b-d0cb-4548-ba6d-a4c3cbb3a5d8" providerId="AD"/>
  <p188:author id="{D1290BDF-8717-9B97-0DC2-65AF0458F208}" name="Eric Hoffmann" initials="EH" userId="S::eric.hoffmann@farient.com::4c14eaa7-5f48-4753-9543-6e6213656b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7D7"/>
    <a:srgbClr val="000000"/>
    <a:srgbClr val="FFF5E1"/>
    <a:srgbClr val="EAD5FF"/>
    <a:srgbClr val="104175"/>
    <a:srgbClr val="086DB6"/>
    <a:srgbClr val="00FF00"/>
    <a:srgbClr val="BFBFBF"/>
    <a:srgbClr val="79C8FF"/>
    <a:srgbClr val="1EB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E42AA-E1A4-428E-9ACA-11E4F160CD9F}" v="4" dt="2026-04-01T21:18:02.984"/>
  </p1510:revLst>
</p1510:revInfo>
</file>

<file path=ppt/tableStyles.xml><?xml version="1.0" encoding="utf-8"?>
<a:tblStyleLst xmlns:a="http://schemas.openxmlformats.org/drawingml/2006/main" def="{A77E1047-C769-4665-AFDC-4AF39A3502B1}">
  <a:tblStyle styleId="{A77E1047-C769-4665-AFDC-4AF39A3502B1}" styleName="Farient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tcStyle>
    </a:band1H>
    <a:band2H>
      <a:tcStyle>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3C100BD7-E00A-4093-9257-03AC40AE46F4}" styleName="Farient Alternate Table">
    <a:wholeTbl>
      <a:tcTxStyle>
        <a:fontRef idx="minor">
          <a:prstClr val="black"/>
        </a:fontRef>
        <a:schemeClr val="dk1"/>
      </a:tcTxStyle>
      <a:tcStyle>
        <a:tcBdr>
          <a:left>
            <a:ln w="0" cmpd="sng">
              <a:noFill/>
            </a:ln>
          </a:left>
          <a:right>
            <a:ln w="0" cmpd="sng">
              <a:noFill/>
            </a:ln>
          </a:right>
          <a:top>
            <a:ln w="6350" cmpd="sng">
              <a:solidFill>
                <a:schemeClr val="dk1"/>
              </a:solidFill>
            </a:ln>
          </a:top>
          <a:bottom>
            <a:ln w="6350" cmpd="sng">
              <a:solidFill>
                <a:schemeClr val="dk1"/>
              </a:solidFill>
            </a:ln>
          </a:bottom>
          <a:insideH>
            <a:ln w="6350" cmpd="sng">
              <a:solidFill>
                <a:schemeClr val="dk1"/>
              </a:solidFill>
            </a:ln>
          </a:insideH>
          <a:insideV>
            <a:ln w="0" cmpd="sng">
              <a:noFill/>
            </a:ln>
          </a:insideV>
        </a:tcBdr>
        <a:fill>
          <a:noFill/>
        </a:fill>
      </a:tcStyle>
    </a:wholeTbl>
    <a:band1H>
      <a:tcStyle>
        <a:tcBdr>
          <a:top>
            <a:ln w="6350" cmpd="sng">
              <a:solidFill>
                <a:schemeClr val="dk1"/>
              </a:solidFill>
            </a:ln>
          </a:top>
          <a:bottom>
            <a:ln w="6350" cmpd="sng">
              <a:solidFill>
                <a:schemeClr val="dk1"/>
              </a:solidFill>
            </a:ln>
          </a:bottom>
        </a:tcBdr>
      </a:tcStyle>
    </a:band1H>
    <a:band2H>
      <a:tcStyle>
        <a:tcBdr>
          <a:top>
            <a:ln w="6350" cmpd="sng">
              <a:solidFill>
                <a:schemeClr val="dk1"/>
              </a:solidFill>
            </a:ln>
          </a:top>
          <a:bottom>
            <a:ln w="6350" cmpd="sng">
              <a:solidFill>
                <a:schemeClr val="dk1"/>
              </a:solidFill>
            </a:ln>
          </a:bottom>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1" d="100"/>
          <a:sy n="121" d="100"/>
        </p:scale>
        <p:origin x="13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1"/>
          <p:cNvSpPr>
            <a:spLocks noGrp="1"/>
          </p:cNvSpPr>
          <p:nvPr>
            <p:ph type="hdr" sz="quarter"/>
          </p:nvPr>
        </p:nvSpPr>
        <p:spPr>
          <a:xfrm>
            <a:off x="373888" y="197549"/>
            <a:ext cx="6332728" cy="464820"/>
          </a:xfrm>
          <a:prstGeom prst="rect">
            <a:avLst/>
          </a:prstGeom>
        </p:spPr>
        <p:txBody>
          <a:bodyPr vert="horz" lIns="93177" tIns="46589" rIns="93177" bIns="46589" rtlCol="0" anchor="b"/>
          <a:lstStyle>
            <a:lvl1pPr algn="l">
              <a:defRPr sz="1200"/>
            </a:lvl1pPr>
          </a:lstStyle>
          <a:p>
            <a:endParaRPr lang="en-US"/>
          </a:p>
        </p:txBody>
      </p:sp>
      <p:sp>
        <p:nvSpPr>
          <p:cNvPr id="7"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6/24/2026</a:t>
            </a:fld>
            <a:endParaRPr lang="en-US"/>
          </a:p>
        </p:txBody>
      </p:sp>
      <p:sp>
        <p:nvSpPr>
          <p:cNvPr id="8" name="Footer Placeholder 5"/>
          <p:cNvSpPr>
            <a:spLocks noGrp="1"/>
          </p:cNvSpPr>
          <p:nvPr>
            <p:ph type="ftr" sz="quarter" idx="2"/>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9" name="Slide Number Placeholder 6"/>
          <p:cNvSpPr>
            <a:spLocks noGrp="1"/>
          </p:cNvSpPr>
          <p:nvPr>
            <p:ph type="sldNum" sz="quarter" idx="3"/>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10" name="Straight Connector 9"/>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87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3888" y="197549"/>
            <a:ext cx="6027971" cy="464820"/>
          </a:xfrm>
          <a:prstGeom prst="rect">
            <a:avLst/>
          </a:prstGeom>
        </p:spPr>
        <p:txBody>
          <a:bodyPr vert="horz" lIns="93177" tIns="46589" rIns="93177" bIns="46589" rtlCol="0" anchor="b"/>
          <a:lstStyle>
            <a:lvl1pPr algn="l">
              <a:defRPr sz="1200"/>
            </a:lvl1pPr>
          </a:lstStyle>
          <a:p>
            <a:endParaRPr lang="en-US"/>
          </a:p>
        </p:txBody>
      </p:sp>
      <p:sp>
        <p:nvSpPr>
          <p:cNvPr id="3"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6/23/2026</a:t>
            </a:fld>
            <a:endParaRPr lang="en-US"/>
          </a:p>
        </p:txBody>
      </p:sp>
      <p:sp>
        <p:nvSpPr>
          <p:cNvPr id="4" name="Slide Image Placeholder 3"/>
          <p:cNvSpPr>
            <a:spLocks noGrp="1" noRot="1" noChangeAspect="1"/>
          </p:cNvSpPr>
          <p:nvPr>
            <p:ph type="sldImg" idx="2"/>
          </p:nvPr>
        </p:nvSpPr>
        <p:spPr>
          <a:xfrm>
            <a:off x="879475" y="696913"/>
            <a:ext cx="2968625" cy="22272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73888" y="2998089"/>
            <a:ext cx="6426200" cy="560108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9" name="Straight Connector 8"/>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74120"/>
      </p:ext>
    </p:extLst>
  </p:cSld>
  <p:clrMap bg1="lt1" tx1="dk1" bg2="lt2" tx2="dk2" accent1="accent1" accent2="accent2" accent3="accent3" accent4="accent4" accent5="accent5" accent6="accent6" hlink="hlink" folHlink="folHlink"/>
  <p:notesStyle>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584" kern="1200">
        <a:solidFill>
          <a:schemeClr val="tx1"/>
        </a:solidFill>
        <a:latin typeface="+mn-lt"/>
        <a:ea typeface="+mn-ea"/>
        <a:cs typeface="+mn-cs"/>
      </a:defRPr>
    </a:lvl6pPr>
    <a:lvl7pPr marL="3657509" algn="l" defTabSz="1219170" rtl="0" eaLnBrk="1" latinLnBrk="0" hangingPunct="1">
      <a:defRPr sz="1584" kern="1200">
        <a:solidFill>
          <a:schemeClr val="tx1"/>
        </a:solidFill>
        <a:latin typeface="+mn-lt"/>
        <a:ea typeface="+mn-ea"/>
        <a:cs typeface="+mn-cs"/>
      </a:defRPr>
    </a:lvl7pPr>
    <a:lvl8pPr marL="4267093" algn="l" defTabSz="1219170" rtl="0" eaLnBrk="1" latinLnBrk="0" hangingPunct="1">
      <a:defRPr sz="1584" kern="1200">
        <a:solidFill>
          <a:schemeClr val="tx1"/>
        </a:solidFill>
        <a:latin typeface="+mn-lt"/>
        <a:ea typeface="+mn-ea"/>
        <a:cs typeface="+mn-cs"/>
      </a:defRPr>
    </a:lvl8pPr>
    <a:lvl9pPr marL="4876678" algn="l" defTabSz="1219170" rtl="0" eaLnBrk="1" latinLnBrk="0" hangingPunct="1">
      <a:defRPr sz="15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1</a:t>
            </a:fld>
            <a:endParaRPr lang="en-US"/>
          </a:p>
        </p:txBody>
      </p:sp>
    </p:spTree>
    <p:extLst>
      <p:ext uri="{BB962C8B-B14F-4D97-AF65-F5344CB8AC3E}">
        <p14:creationId xmlns:p14="http://schemas.microsoft.com/office/powerpoint/2010/main" val="1177649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3</a:t>
            </a:fld>
            <a:endParaRPr lang="en-US"/>
          </a:p>
        </p:txBody>
      </p:sp>
    </p:spTree>
    <p:extLst>
      <p:ext uri="{BB962C8B-B14F-4D97-AF65-F5344CB8AC3E}">
        <p14:creationId xmlns:p14="http://schemas.microsoft.com/office/powerpoint/2010/main" val="2728559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5</a:t>
            </a:fld>
            <a:endParaRPr lang="en-US"/>
          </a:p>
        </p:txBody>
      </p:sp>
    </p:spTree>
    <p:extLst>
      <p:ext uri="{BB962C8B-B14F-4D97-AF65-F5344CB8AC3E}">
        <p14:creationId xmlns:p14="http://schemas.microsoft.com/office/powerpoint/2010/main" val="2354456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Glob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3" name="Text Placeholder 12">
            <a:extLst>
              <a:ext uri="{FF2B5EF4-FFF2-40B4-BE49-F238E27FC236}">
                <a16:creationId xmlns:a16="http://schemas.microsoft.com/office/drawing/2014/main" id="{3E93126F-8774-2D75-3C52-49990A9D21EF}"/>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5" name="Slide Number Placeholder 5">
            <a:extLst>
              <a:ext uri="{FF2B5EF4-FFF2-40B4-BE49-F238E27FC236}">
                <a16:creationId xmlns:a16="http://schemas.microsoft.com/office/drawing/2014/main" id="{2FD32F9B-BD79-2F96-105D-E7605C8E14E1}"/>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9651827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 Glob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5710" y="2447687"/>
            <a:ext cx="6078352"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A9786058-EA9A-B9A9-E702-365C9622F144}"/>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296292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heckerboar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pic>
        <p:nvPicPr>
          <p:cNvPr id="15" name="Picture 14">
            <a:extLst>
              <a:ext uri="{FF2B5EF4-FFF2-40B4-BE49-F238E27FC236}">
                <a16:creationId xmlns:a16="http://schemas.microsoft.com/office/drawing/2014/main" id="{A7438A80-96E5-F323-5301-7AF3BA013FC1}"/>
              </a:ext>
            </a:extLst>
          </p:cNvPr>
          <p:cNvPicPr>
            <a:picLocks noChangeAspect="1"/>
          </p:cNvPicPr>
          <p:nvPr userDrawn="1"/>
        </p:nvPicPr>
        <p:blipFill rotWithShape="1">
          <a:blip r:embed="rId2"/>
          <a:srcRect l="24702" t="64464" r="16945" b="3430"/>
          <a:stretch/>
        </p:blipFill>
        <p:spPr>
          <a:xfrm>
            <a:off x="209001" y="6259123"/>
            <a:ext cx="1165700" cy="312831"/>
          </a:xfrm>
          <a:prstGeom prst="rect">
            <a:avLst/>
          </a:prstGeom>
        </p:spPr>
      </p:pic>
      <p:sp>
        <p:nvSpPr>
          <p:cNvPr id="20" name="Text Placeholder 19">
            <a:extLst>
              <a:ext uri="{FF2B5EF4-FFF2-40B4-BE49-F238E27FC236}">
                <a16:creationId xmlns:a16="http://schemas.microsoft.com/office/drawing/2014/main" id="{D35484AE-FE97-CE91-D932-4B445424F40E}"/>
              </a:ext>
            </a:extLst>
          </p:cNvPr>
          <p:cNvSpPr>
            <a:spLocks noGrp="1"/>
          </p:cNvSpPr>
          <p:nvPr>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838B92EF-7CF3-CA2F-D92F-2CBE43D7F3A6}"/>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8195678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 Checkerboar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B3E6E51F-8894-694C-F5F7-DFFC471D1F0D}"/>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305993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27" name="TextBox 26">
            <a:extLst>
              <a:ext uri="{FF2B5EF4-FFF2-40B4-BE49-F238E27FC236}">
                <a16:creationId xmlns:a16="http://schemas.microsoft.com/office/drawing/2014/main" id="{32DCE86B-4583-572D-71AB-6D52A4E1ED21}"/>
              </a:ext>
            </a:extLst>
          </p:cNvPr>
          <p:cNvSpPr txBox="1"/>
          <p:nvPr userDrawn="1"/>
        </p:nvSpPr>
        <p:spPr>
          <a:xfrm>
            <a:off x="7233832" y="1282079"/>
            <a:ext cx="92397" cy="277064"/>
          </a:xfrm>
          <a:prstGeom prst="rect">
            <a:avLst/>
          </a:prstGeom>
          <a:noFill/>
        </p:spPr>
        <p:txBody>
          <a:bodyPr vert="horz" wrap="none" lIns="45720" tIns="45720" rIns="45720" bIns="45720" rtlCol="0" anchor="ctr">
            <a:spAutoFit/>
          </a:bodyPr>
          <a:lstStyle/>
          <a:p>
            <a:pPr algn="ctr">
              <a:lnSpc>
                <a:spcPct val="85000"/>
              </a:lnSpc>
            </a:pPr>
            <a:endParaRPr lang="en-US" sz="1400"/>
          </a:p>
        </p:txBody>
      </p:sp>
      <p:sp>
        <p:nvSpPr>
          <p:cNvPr id="28" name="TextBox 27">
            <a:extLst>
              <a:ext uri="{FF2B5EF4-FFF2-40B4-BE49-F238E27FC236}">
                <a16:creationId xmlns:a16="http://schemas.microsoft.com/office/drawing/2014/main" id="{A0350E19-42EB-A7D9-BEDE-96C6B5860848}"/>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21589449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3" name="Title 8">
            <a:extLst>
              <a:ext uri="{FF2B5EF4-FFF2-40B4-BE49-F238E27FC236}">
                <a16:creationId xmlns:a16="http://schemas.microsoft.com/office/drawing/2014/main" id="{03F154A0-20E6-598E-8341-B487B523091D}"/>
              </a:ext>
            </a:extLst>
          </p:cNvPr>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Tree>
    <p:extLst>
      <p:ext uri="{BB962C8B-B14F-4D97-AF65-F5344CB8AC3E}">
        <p14:creationId xmlns:p14="http://schemas.microsoft.com/office/powerpoint/2010/main" val="11799241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ollaborativ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A069B3E0-0751-EBFD-BEFB-02F203F859FE}"/>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07B429B7-27E3-672D-B925-53798E1318C6}"/>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9461542D-3E90-4DB5-DDF9-AF1E1CF19C20}"/>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24569659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 Collabora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33C2DA99-FE24-36E3-848C-D068DE651400}"/>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1967335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ES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8922CECE-5C2D-4FD0-8E08-AF44FAE4A75D}"/>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3" name="Slide Number Placeholder 5">
            <a:extLst>
              <a:ext uri="{FF2B5EF4-FFF2-40B4-BE49-F238E27FC236}">
                <a16:creationId xmlns:a16="http://schemas.microsoft.com/office/drawing/2014/main" id="{5CC6A216-0F6E-B7E9-A151-58A850E0E3A1}"/>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6" name="TextBox 5">
            <a:extLst>
              <a:ext uri="{FF2B5EF4-FFF2-40B4-BE49-F238E27FC236}">
                <a16:creationId xmlns:a16="http://schemas.microsoft.com/office/drawing/2014/main" id="{07D6C495-040F-EC7D-EF3D-99B834BB211C}"/>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82591878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 ES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E5F8DF56-102E-6070-7C4B-79754E376142}"/>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1614577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13991788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6" name="Title 5">
            <a:extLst>
              <a:ext uri="{FF2B5EF4-FFF2-40B4-BE49-F238E27FC236}">
                <a16:creationId xmlns:a16="http://schemas.microsoft.com/office/drawing/2014/main" id="{2DC6D5C7-11AE-452A-BA6E-ECEAB5E40A25}"/>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51613971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hidden="1">
            <a:extLst>
              <a:ext uri="{FF2B5EF4-FFF2-40B4-BE49-F238E27FC236}">
                <a16:creationId xmlns:a16="http://schemas.microsoft.com/office/drawing/2014/main" id="{9FAD8D1B-BC49-BFFB-3DC3-8C8ED1CCD9E6}"/>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988648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B49ED1-3954-490B-90D7-1EE4EBF81051}"/>
              </a:ext>
            </a:extLst>
          </p:cNvPr>
          <p:cNvSpPr>
            <a:spLocks noGrp="1"/>
          </p:cNvSpPr>
          <p:nvPr>
            <p:ph sz="half" idx="2"/>
          </p:nvPr>
        </p:nvSpPr>
        <p:spPr>
          <a:xfrm>
            <a:off x="5021193" y="1415719"/>
            <a:ext cx="3931920"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E3250D8E-DC6A-4C52-B603-5E5116C834FE}"/>
              </a:ext>
            </a:extLst>
          </p:cNvPr>
          <p:cNvSpPr>
            <a:spLocks noGrp="1"/>
          </p:cNvSpPr>
          <p:nvPr>
            <p:ph sz="half" idx="1"/>
          </p:nvPr>
        </p:nvSpPr>
        <p:spPr>
          <a:xfrm>
            <a:off x="882797" y="1415719"/>
            <a:ext cx="4024909"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FB10581-5B45-4F8A-98F9-2B208FA85EC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9795F2B0-5238-46E4-A5F2-B8F46A87A47B}"/>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CE22C8D5-D138-53D1-35DF-5B6FDA17994D}"/>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420580158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669B69-5C27-4AFA-B2D6-1E37C8D37F87}"/>
              </a:ext>
            </a:extLst>
          </p:cNvPr>
          <p:cNvSpPr>
            <a:spLocks noGrp="1"/>
          </p:cNvSpPr>
          <p:nvPr>
            <p:ph type="body" sz="quarter" idx="3"/>
          </p:nvPr>
        </p:nvSpPr>
        <p:spPr>
          <a:xfrm>
            <a:off x="5021193" y="1414467"/>
            <a:ext cx="3931920"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A036-3B1C-40B5-A457-014CD4DE7503}"/>
              </a:ext>
            </a:extLst>
          </p:cNvPr>
          <p:cNvSpPr>
            <a:spLocks noGrp="1"/>
          </p:cNvSpPr>
          <p:nvPr>
            <p:ph sz="quarter" idx="4"/>
          </p:nvPr>
        </p:nvSpPr>
        <p:spPr>
          <a:xfrm>
            <a:off x="5021193" y="1836462"/>
            <a:ext cx="393192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E2C8F-5C8D-4C47-A21B-0FFC90D26E67}"/>
              </a:ext>
            </a:extLst>
          </p:cNvPr>
          <p:cNvSpPr>
            <a:spLocks noGrp="1"/>
          </p:cNvSpPr>
          <p:nvPr>
            <p:ph sz="half" idx="2"/>
          </p:nvPr>
        </p:nvSpPr>
        <p:spPr>
          <a:xfrm>
            <a:off x="882797" y="1836462"/>
            <a:ext cx="402490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4F4A83D0-2D64-4FBB-934F-BCA45BB15756}"/>
              </a:ext>
            </a:extLst>
          </p:cNvPr>
          <p:cNvSpPr>
            <a:spLocks noGrp="1"/>
          </p:cNvSpPr>
          <p:nvPr>
            <p:ph type="body" idx="1"/>
          </p:nvPr>
        </p:nvSpPr>
        <p:spPr>
          <a:xfrm>
            <a:off x="882797" y="1414467"/>
            <a:ext cx="4024909"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Footer Placeholder 7">
            <a:extLst>
              <a:ext uri="{FF2B5EF4-FFF2-40B4-BE49-F238E27FC236}">
                <a16:creationId xmlns:a16="http://schemas.microsoft.com/office/drawing/2014/main" id="{F8D5D8A7-D0FC-4F40-9F38-8AF93D15483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0" name="Slide Number Placeholder 9" hidden="1">
            <a:extLst>
              <a:ext uri="{FF2B5EF4-FFF2-40B4-BE49-F238E27FC236}">
                <a16:creationId xmlns:a16="http://schemas.microsoft.com/office/drawing/2014/main" id="{C5186D39-1D55-38DD-2DEB-37B281A4493E}"/>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9" name="Title 8">
            <a:extLst>
              <a:ext uri="{FF2B5EF4-FFF2-40B4-BE49-F238E27FC236}">
                <a16:creationId xmlns:a16="http://schemas.microsoft.com/office/drawing/2014/main" id="{81F7BFFA-FC9A-CDA9-A734-A1BD5CA67BEB}"/>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15242799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9165" y="1415719"/>
            <a:ext cx="4754335" cy="5161294"/>
          </a:xfrm>
        </p:spPr>
        <p:txBody>
          <a:bodyPr bIns="0"/>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82797" y="1415719"/>
            <a:ext cx="3204402" cy="5161294"/>
          </a:xfrm>
        </p:spPr>
        <p:txBody>
          <a:bodyPr bIns="0"/>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sub-title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3EFA33E3-F43F-AD44-3D6A-938BB014F39A}"/>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11E142BD-49CE-A2FA-9D69-6693D7FF302B}"/>
              </a:ext>
            </a:extLst>
          </p:cNvPr>
          <p:cNvSpPr>
            <a:spLocks noGrp="1"/>
          </p:cNvSpPr>
          <p:nvPr>
            <p:ph type="title" hasCustomPrompt="1"/>
          </p:nvPr>
        </p:nvSpPr>
        <p:spPr>
          <a:xfrm>
            <a:off x="886826" y="44215"/>
            <a:ext cx="8066288"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2646492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882798" y="1415714"/>
            <a:ext cx="5303790" cy="5161299"/>
          </a:xfrm>
        </p:spPr>
        <p:txBody>
          <a:bodyPr/>
          <a:lstStyle>
            <a:lvl1pPr marL="0" indent="0">
              <a:buNone/>
              <a:defRPr sz="1600"/>
            </a:lvl1pPr>
            <a:lvl2pPr marL="457189" indent="0">
              <a:buNone/>
              <a:defRPr sz="2813"/>
            </a:lvl2pPr>
            <a:lvl3pPr marL="914378" indent="0">
              <a:buNone/>
              <a:defRPr sz="2375"/>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hasCustomPrompt="1"/>
          </p:nvPr>
        </p:nvSpPr>
        <p:spPr>
          <a:xfrm>
            <a:off x="6298554" y="1415714"/>
            <a:ext cx="2654559" cy="5161299"/>
          </a:xfrm>
        </p:spPr>
        <p:txBody>
          <a:bodyPr/>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description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Title 7">
            <a:extLst>
              <a:ext uri="{FF2B5EF4-FFF2-40B4-BE49-F238E27FC236}">
                <a16:creationId xmlns:a16="http://schemas.microsoft.com/office/drawing/2014/main" id="{C50A6FF8-2333-4805-880E-212F214984CC}"/>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F2469CEE-D934-7425-CED4-E46A3108BCF2}"/>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365854809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FI Title and QA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6" y="326571"/>
            <a:ext cx="8065008"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6909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909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8371384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FI">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9291" y="2136710"/>
            <a:ext cx="8759952"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66390305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FI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7963" y="2136710"/>
            <a:ext cx="4259606"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1"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1" y="1590959"/>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0" name="Content Placeholder 9">
            <a:extLst>
              <a:ext uri="{FF2B5EF4-FFF2-40B4-BE49-F238E27FC236}">
                <a16:creationId xmlns:a16="http://schemas.microsoft.com/office/drawing/2014/main" id="{2D129B2E-8AE2-A033-2FF2-C9237129BD2C}"/>
              </a:ext>
            </a:extLst>
          </p:cNvPr>
          <p:cNvSpPr>
            <a:spLocks noGrp="1"/>
          </p:cNvSpPr>
          <p:nvPr>
            <p:ph sz="quarter" idx="15" hasCustomPrompt="1"/>
          </p:nvPr>
        </p:nvSpPr>
        <p:spPr>
          <a:xfrm>
            <a:off x="4695859" y="2136710"/>
            <a:ext cx="4259606" cy="4441199"/>
          </a:xfrm>
        </p:spPr>
        <p:txBody>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269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FI - Independenc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4152"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0" y="109061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3" name="Text Placeholder 8">
            <a:extLst>
              <a:ext uri="{FF2B5EF4-FFF2-40B4-BE49-F238E27FC236}">
                <a16:creationId xmlns:a16="http://schemas.microsoft.com/office/drawing/2014/main" id="{B54B9276-CE2A-F962-32F2-A988AC2CD3CB}"/>
              </a:ext>
            </a:extLst>
          </p:cNvPr>
          <p:cNvSpPr>
            <a:spLocks noGrp="1"/>
          </p:cNvSpPr>
          <p:nvPr>
            <p:ph type="body" sz="quarter" idx="15" hasCustomPrompt="1"/>
          </p:nvPr>
        </p:nvSpPr>
        <p:spPr>
          <a:xfrm>
            <a:off x="190500" y="2043114"/>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6" name="Text Placeholder 10">
            <a:extLst>
              <a:ext uri="{FF2B5EF4-FFF2-40B4-BE49-F238E27FC236}">
                <a16:creationId xmlns:a16="http://schemas.microsoft.com/office/drawing/2014/main" id="{DC6F99DB-9FD4-87D7-F6F6-8FDFCDECB511}"/>
              </a:ext>
            </a:extLst>
          </p:cNvPr>
          <p:cNvSpPr>
            <a:spLocks noGrp="1"/>
          </p:cNvSpPr>
          <p:nvPr>
            <p:ph type="body" sz="quarter" idx="16" hasCustomPrompt="1"/>
          </p:nvPr>
        </p:nvSpPr>
        <p:spPr>
          <a:xfrm>
            <a:off x="190500" y="2543461"/>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7" name="Text Placeholder 8">
            <a:extLst>
              <a:ext uri="{FF2B5EF4-FFF2-40B4-BE49-F238E27FC236}">
                <a16:creationId xmlns:a16="http://schemas.microsoft.com/office/drawing/2014/main" id="{02D45FED-4D78-ECF9-604A-BEBCFC4C3E7D}"/>
              </a:ext>
            </a:extLst>
          </p:cNvPr>
          <p:cNvSpPr>
            <a:spLocks noGrp="1"/>
          </p:cNvSpPr>
          <p:nvPr>
            <p:ph type="body" sz="quarter" idx="17" hasCustomPrompt="1"/>
          </p:nvPr>
        </p:nvSpPr>
        <p:spPr>
          <a:xfrm>
            <a:off x="190500" y="298389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0" name="Text Placeholder 10">
            <a:extLst>
              <a:ext uri="{FF2B5EF4-FFF2-40B4-BE49-F238E27FC236}">
                <a16:creationId xmlns:a16="http://schemas.microsoft.com/office/drawing/2014/main" id="{3F9D3A27-D0AC-D3BA-50C9-049C9EB158C7}"/>
              </a:ext>
            </a:extLst>
          </p:cNvPr>
          <p:cNvSpPr>
            <a:spLocks noGrp="1"/>
          </p:cNvSpPr>
          <p:nvPr>
            <p:ph type="body" sz="quarter" idx="18" hasCustomPrompt="1"/>
          </p:nvPr>
        </p:nvSpPr>
        <p:spPr>
          <a:xfrm>
            <a:off x="190500" y="348424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2" name="Text Placeholder 8">
            <a:extLst>
              <a:ext uri="{FF2B5EF4-FFF2-40B4-BE49-F238E27FC236}">
                <a16:creationId xmlns:a16="http://schemas.microsoft.com/office/drawing/2014/main" id="{3D0DA619-D69B-733C-701F-EFE456D7D08B}"/>
              </a:ext>
            </a:extLst>
          </p:cNvPr>
          <p:cNvSpPr>
            <a:spLocks noGrp="1"/>
          </p:cNvSpPr>
          <p:nvPr>
            <p:ph type="body" sz="quarter" idx="19" hasCustomPrompt="1"/>
          </p:nvPr>
        </p:nvSpPr>
        <p:spPr>
          <a:xfrm>
            <a:off x="190500" y="3933462"/>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3" name="Text Placeholder 10">
            <a:extLst>
              <a:ext uri="{FF2B5EF4-FFF2-40B4-BE49-F238E27FC236}">
                <a16:creationId xmlns:a16="http://schemas.microsoft.com/office/drawing/2014/main" id="{06C47766-9EC8-8664-90EB-606ADCF5294E}"/>
              </a:ext>
            </a:extLst>
          </p:cNvPr>
          <p:cNvSpPr>
            <a:spLocks noGrp="1"/>
          </p:cNvSpPr>
          <p:nvPr>
            <p:ph type="body" sz="quarter" idx="20" hasCustomPrompt="1"/>
          </p:nvPr>
        </p:nvSpPr>
        <p:spPr>
          <a:xfrm>
            <a:off x="190500" y="4433809"/>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4" name="Text Placeholder 8">
            <a:extLst>
              <a:ext uri="{FF2B5EF4-FFF2-40B4-BE49-F238E27FC236}">
                <a16:creationId xmlns:a16="http://schemas.microsoft.com/office/drawing/2014/main" id="{D21C73D6-A960-98C5-C50B-C641BF3A65DE}"/>
              </a:ext>
            </a:extLst>
          </p:cNvPr>
          <p:cNvSpPr>
            <a:spLocks noGrp="1"/>
          </p:cNvSpPr>
          <p:nvPr>
            <p:ph type="body" sz="quarter" idx="21" hasCustomPrompt="1"/>
          </p:nvPr>
        </p:nvSpPr>
        <p:spPr>
          <a:xfrm>
            <a:off x="190500" y="488303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5" name="Text Placeholder 10">
            <a:extLst>
              <a:ext uri="{FF2B5EF4-FFF2-40B4-BE49-F238E27FC236}">
                <a16:creationId xmlns:a16="http://schemas.microsoft.com/office/drawing/2014/main" id="{A596AC6E-0A8B-B18A-7662-47E7472DA088}"/>
              </a:ext>
            </a:extLst>
          </p:cNvPr>
          <p:cNvSpPr>
            <a:spLocks noGrp="1"/>
          </p:cNvSpPr>
          <p:nvPr>
            <p:ph type="body" sz="quarter" idx="22" hasCustomPrompt="1"/>
          </p:nvPr>
        </p:nvSpPr>
        <p:spPr>
          <a:xfrm>
            <a:off x="190500" y="538338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6" name="Text Placeholder 8">
            <a:extLst>
              <a:ext uri="{FF2B5EF4-FFF2-40B4-BE49-F238E27FC236}">
                <a16:creationId xmlns:a16="http://schemas.microsoft.com/office/drawing/2014/main" id="{8C90848F-BC71-BC49-D624-F488C5FCD735}"/>
              </a:ext>
            </a:extLst>
          </p:cNvPr>
          <p:cNvSpPr>
            <a:spLocks noGrp="1"/>
          </p:cNvSpPr>
          <p:nvPr>
            <p:ph type="body" sz="quarter" idx="23" hasCustomPrompt="1"/>
          </p:nvPr>
        </p:nvSpPr>
        <p:spPr>
          <a:xfrm>
            <a:off x="190500" y="583260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7" name="Text Placeholder 10">
            <a:extLst>
              <a:ext uri="{FF2B5EF4-FFF2-40B4-BE49-F238E27FC236}">
                <a16:creationId xmlns:a16="http://schemas.microsoft.com/office/drawing/2014/main" id="{4F4BECD0-7160-4F79-A65F-0D41818C972A}"/>
              </a:ext>
            </a:extLst>
          </p:cNvPr>
          <p:cNvSpPr>
            <a:spLocks noGrp="1"/>
          </p:cNvSpPr>
          <p:nvPr>
            <p:ph type="body" sz="quarter" idx="24" hasCustomPrompt="1"/>
          </p:nvPr>
        </p:nvSpPr>
        <p:spPr>
          <a:xfrm>
            <a:off x="190500" y="633295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92204849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5" name="Title 5">
            <a:extLst>
              <a:ext uri="{FF2B5EF4-FFF2-40B4-BE49-F238E27FC236}">
                <a16:creationId xmlns:a16="http://schemas.microsoft.com/office/drawing/2014/main" id="{0E3080FA-AEF4-5C56-DE85-F89DF9F2EB09}"/>
              </a:ext>
            </a:extLst>
          </p:cNvPr>
          <p:cNvSpPr txBox="1">
            <a:spLocks/>
          </p:cNvSpPr>
          <p:nvPr userDrawn="1"/>
        </p:nvSpPr>
        <p:spPr>
          <a:xfrm>
            <a:off x="863745" y="44215"/>
            <a:ext cx="8070317" cy="1292899"/>
          </a:xfrm>
          <a:prstGeom prst="rect">
            <a:avLst/>
          </a:prstGeom>
        </p:spPr>
        <p:txBody>
          <a:bodyPr vert="horz" lIns="0" tIns="0" rIns="0" bIns="0" rtlCol="0" anchor="ctr">
            <a:noAutofit/>
          </a:bodyPr>
          <a:lstStyle>
            <a:lvl1pPr algn="l" defTabSz="914378" rtl="0" eaLnBrk="1" latinLnBrk="0" hangingPunct="1">
              <a:lnSpc>
                <a:spcPct val="90000"/>
              </a:lnSpc>
              <a:spcBef>
                <a:spcPct val="0"/>
              </a:spcBef>
              <a:buNone/>
              <a:defRPr sz="2400" b="1" kern="1200" cap="none" baseline="0">
                <a:solidFill>
                  <a:schemeClr val="tx1"/>
                </a:solidFill>
                <a:latin typeface="+mj-lt"/>
                <a:ea typeface="+mj-ea"/>
                <a:cs typeface="+mj-cs"/>
              </a:defRPr>
            </a:lvl1pPr>
          </a:lstStyle>
          <a:p>
            <a:pPr algn="l" defTabSz="914378" rtl="0" eaLnBrk="1" latinLnBrk="0" hangingPunct="1">
              <a:lnSpc>
                <a:spcPct val="85000"/>
              </a:lnSpc>
              <a:spcBef>
                <a:spcPct val="0"/>
              </a:spcBef>
              <a:buNone/>
            </a:pPr>
            <a:r>
              <a:rPr lang="en-US" sz="2400" b="1" kern="1200" cap="none" baseline="0">
                <a:solidFill>
                  <a:schemeClr val="tx1"/>
                </a:solidFill>
                <a:latin typeface="+mj-lt"/>
                <a:ea typeface="+mj-ea"/>
                <a:cs typeface="+mj-cs"/>
              </a:rPr>
              <a:t>Contact Us</a:t>
            </a:r>
          </a:p>
        </p:txBody>
      </p:sp>
    </p:spTree>
    <p:extLst>
      <p:ext uri="{BB962C8B-B14F-4D97-AF65-F5344CB8AC3E}">
        <p14:creationId xmlns:p14="http://schemas.microsoft.com/office/powerpoint/2010/main" val="12601973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mplate Version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41EC-83B7-C845-6732-BBB485040B20}"/>
              </a:ext>
            </a:extLst>
          </p:cNvPr>
          <p:cNvSpPr>
            <a:spLocks noGrp="1"/>
          </p:cNvSpPr>
          <p:nvPr>
            <p:ph type="title" hasCustomPrompt="1"/>
          </p:nvPr>
        </p:nvSpPr>
        <p:spPr/>
        <p:txBody>
          <a:bodyPr/>
          <a:lstStyle>
            <a:lvl1pPr>
              <a:defRPr/>
            </a:lvl1pPr>
          </a:lstStyle>
          <a:p>
            <a:r>
              <a:rPr lang="en-US"/>
              <a:t>Template Version History</a:t>
            </a:r>
          </a:p>
        </p:txBody>
      </p:sp>
      <p:sp>
        <p:nvSpPr>
          <p:cNvPr id="4" name="Footer Placeholder 3">
            <a:extLst>
              <a:ext uri="{FF2B5EF4-FFF2-40B4-BE49-F238E27FC236}">
                <a16:creationId xmlns:a16="http://schemas.microsoft.com/office/drawing/2014/main" id="{1BA064D4-E80E-4EEA-269A-DDCCF99340A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a:extLst>
              <a:ext uri="{FF2B5EF4-FFF2-40B4-BE49-F238E27FC236}">
                <a16:creationId xmlns:a16="http://schemas.microsoft.com/office/drawing/2014/main" id="{75F78D44-96BF-B05F-75AB-16A4E0ECCEE7}"/>
              </a:ext>
            </a:extLst>
          </p:cNvPr>
          <p:cNvSpPr>
            <a:spLocks noGrp="1"/>
          </p:cNvSpPr>
          <p:nvPr>
            <p:ph type="sldNum" sz="quarter" idx="12"/>
          </p:nvPr>
        </p:nvSpPr>
        <p:spPr/>
        <p:txBody>
          <a:bodyPr/>
          <a:lstStyle>
            <a:lvl1pPr>
              <a:defRPr>
                <a:solidFill>
                  <a:schemeClr val="bg1">
                    <a:lumMod val="50000"/>
                  </a:schemeClr>
                </a:solidFill>
              </a:defRPr>
            </a:lvl1pPr>
          </a:lstStyle>
          <a:p>
            <a:fld id="{91690BAF-E217-4185-92FD-0CEA06F2B7C8}" type="slidenum">
              <a:rPr lang="en-US" smtClean="0"/>
              <a:pPr/>
              <a:t>‹#›</a:t>
            </a:fld>
            <a:endParaRPr lang="en-US"/>
          </a:p>
        </p:txBody>
      </p:sp>
      <p:graphicFrame>
        <p:nvGraphicFramePr>
          <p:cNvPr id="6" name="Table 5">
            <a:extLst>
              <a:ext uri="{FF2B5EF4-FFF2-40B4-BE49-F238E27FC236}">
                <a16:creationId xmlns:a16="http://schemas.microsoft.com/office/drawing/2014/main" id="{2ACADB3A-04EB-C7F6-C359-0B88C057E60B}"/>
              </a:ext>
            </a:extLst>
          </p:cNvPr>
          <p:cNvGraphicFramePr>
            <a:graphicFrameLocks noGrp="1"/>
          </p:cNvGraphicFramePr>
          <p:nvPr userDrawn="1">
            <p:extLst>
              <p:ext uri="{D42A27DB-BD31-4B8C-83A1-F6EECF244321}">
                <p14:modId xmlns:p14="http://schemas.microsoft.com/office/powerpoint/2010/main" val="4216144273"/>
              </p:ext>
            </p:extLst>
          </p:nvPr>
        </p:nvGraphicFramePr>
        <p:xfrm>
          <a:off x="886826" y="1142018"/>
          <a:ext cx="8074151" cy="5375036"/>
        </p:xfrm>
        <a:graphic>
          <a:graphicData uri="http://schemas.openxmlformats.org/drawingml/2006/table">
            <a:tbl>
              <a:tblPr firstRow="1" bandRow="1">
                <a:tableStyleId>{A77E1047-C769-4665-AFDC-4AF39A3502B1}</a:tableStyleId>
              </a:tblPr>
              <a:tblGrid>
                <a:gridCol w="744418">
                  <a:extLst>
                    <a:ext uri="{9D8B030D-6E8A-4147-A177-3AD203B41FA5}">
                      <a16:colId xmlns:a16="http://schemas.microsoft.com/office/drawing/2014/main" val="591207462"/>
                    </a:ext>
                  </a:extLst>
                </a:gridCol>
                <a:gridCol w="921991">
                  <a:extLst>
                    <a:ext uri="{9D8B030D-6E8A-4147-A177-3AD203B41FA5}">
                      <a16:colId xmlns:a16="http://schemas.microsoft.com/office/drawing/2014/main" val="53111214"/>
                    </a:ext>
                  </a:extLst>
                </a:gridCol>
                <a:gridCol w="6407742">
                  <a:extLst>
                    <a:ext uri="{9D8B030D-6E8A-4147-A177-3AD203B41FA5}">
                      <a16:colId xmlns:a16="http://schemas.microsoft.com/office/drawing/2014/main" val="1311210120"/>
                    </a:ext>
                  </a:extLst>
                </a:gridCol>
              </a:tblGrid>
              <a:tr h="0">
                <a:tc>
                  <a:txBody>
                    <a:bodyPr/>
                    <a:lstStyle/>
                    <a:p>
                      <a:pPr algn="ctr"/>
                      <a:r>
                        <a:rPr lang="en-US" sz="900" dirty="0"/>
                        <a:t>Version</a:t>
                      </a:r>
                    </a:p>
                  </a:txBody>
                  <a:tcPr anchor="b"/>
                </a:tc>
                <a:tc>
                  <a:txBody>
                    <a:bodyPr/>
                    <a:lstStyle/>
                    <a:p>
                      <a:pPr algn="ctr"/>
                      <a:r>
                        <a:rPr lang="en-US" sz="900"/>
                        <a:t>Date</a:t>
                      </a:r>
                    </a:p>
                  </a:txBody>
                  <a:tcPr anchor="b"/>
                </a:tc>
                <a:tc>
                  <a:txBody>
                    <a:bodyPr/>
                    <a:lstStyle/>
                    <a:p>
                      <a:pPr algn="ctr"/>
                      <a:r>
                        <a:rPr lang="en-US" sz="900"/>
                        <a:t>Release Notes</a:t>
                      </a:r>
                    </a:p>
                  </a:txBody>
                  <a:tcPr anchor="b"/>
                </a:tc>
                <a:extLst>
                  <a:ext uri="{0D108BD9-81ED-4DB2-BD59-A6C34878D82A}">
                    <a16:rowId xmlns:a16="http://schemas.microsoft.com/office/drawing/2014/main" val="2068489572"/>
                  </a:ext>
                </a:extLst>
              </a:tr>
              <a:tr h="254396">
                <a:tc>
                  <a:txBody>
                    <a:bodyPr/>
                    <a:lstStyle/>
                    <a:p>
                      <a:r>
                        <a:rPr lang="en-US" sz="900"/>
                        <a:t>2024.1</a:t>
                      </a:r>
                    </a:p>
                  </a:txBody>
                  <a:tcPr anchor="ctr"/>
                </a:tc>
                <a:tc>
                  <a:txBody>
                    <a:bodyPr/>
                    <a:lstStyle/>
                    <a:p>
                      <a:pPr algn="ctr"/>
                      <a:r>
                        <a:rPr lang="en-US" sz="900"/>
                        <a:t>2/23/2024</a:t>
                      </a:r>
                    </a:p>
                  </a:txBody>
                  <a:tcPr anchor="ctr"/>
                </a:tc>
                <a:tc>
                  <a:txBody>
                    <a:bodyPr/>
                    <a:lstStyle/>
                    <a:p>
                      <a:pPr marL="171450" indent="-171450" algn="l" defTabSz="914378" rtl="0" eaLnBrk="1" latinLnBrk="0" hangingPunct="1">
                        <a:buFont typeface="Wingdings" panose="05000000000000000000" pitchFamily="2" charset="2"/>
                        <a:buChar char="§"/>
                      </a:pPr>
                      <a:r>
                        <a:rPr lang="en-US" sz="900" kern="1200">
                          <a:solidFill>
                            <a:schemeClr val="dk1"/>
                          </a:solidFill>
                          <a:latin typeface="+mn-lt"/>
                          <a:ea typeface="+mn-ea"/>
                          <a:cs typeface="+mn-cs"/>
                        </a:rPr>
                        <a:t>Initial release</a:t>
                      </a:r>
                    </a:p>
                  </a:txBody>
                  <a:tcPr anchor="ctr"/>
                </a:tc>
                <a:extLst>
                  <a:ext uri="{0D108BD9-81ED-4DB2-BD59-A6C34878D82A}">
                    <a16:rowId xmlns:a16="http://schemas.microsoft.com/office/drawing/2014/main" val="352733980"/>
                  </a:ext>
                </a:extLst>
              </a:tr>
              <a:tr h="370840">
                <a:tc>
                  <a:txBody>
                    <a:bodyPr/>
                    <a:lstStyle/>
                    <a:p>
                      <a:r>
                        <a:rPr lang="en-US" sz="900"/>
                        <a:t>2024.2</a:t>
                      </a:r>
                    </a:p>
                  </a:txBody>
                  <a:tcPr anchor="ctr"/>
                </a:tc>
                <a:tc>
                  <a:txBody>
                    <a:bodyPr/>
                    <a:lstStyle/>
                    <a:p>
                      <a:pPr algn="ctr"/>
                      <a:r>
                        <a:rPr lang="en-US" sz="900"/>
                        <a:t>5/7/2024</a:t>
                      </a:r>
                    </a:p>
                  </a:txBody>
                  <a:tcPr anchor="ctr"/>
                </a:tc>
                <a:tc>
                  <a:txBody>
                    <a:bodyPr/>
                    <a:lstStyle/>
                    <a:p>
                      <a:pPr marL="171450" indent="-171450">
                        <a:buFont typeface="Wingdings" panose="05000000000000000000" pitchFamily="2" charset="2"/>
                        <a:buChar char="§"/>
                      </a:pPr>
                      <a:r>
                        <a:rPr lang="en-US" sz="900"/>
                        <a:t>Blue headline banner darkened</a:t>
                      </a:r>
                    </a:p>
                    <a:p>
                      <a:pPr marL="171450" indent="-171450">
                        <a:buFont typeface="Wingdings" panose="05000000000000000000" pitchFamily="2" charset="2"/>
                        <a:buChar char="§"/>
                      </a:pPr>
                      <a:r>
                        <a:rPr lang="en-US" sz="900"/>
                        <a:t>Fonts on RFI master reduced</a:t>
                      </a:r>
                    </a:p>
                    <a:p>
                      <a:pPr marL="171450" indent="-171450">
                        <a:buFont typeface="Wingdings" panose="05000000000000000000" pitchFamily="2" charset="2"/>
                        <a:buChar char="§"/>
                      </a:pPr>
                      <a:r>
                        <a:rPr lang="en-US" sz="900"/>
                        <a:t>Default margins on shapes changed from .1 to .05</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Bulleted list font reduced to 12pt (question to 12pt and answer to 11pt)</a:t>
                      </a:r>
                    </a:p>
                    <a:p>
                      <a:pPr marL="171450" indent="-171450">
                        <a:buFont typeface="Wingdings" panose="05000000000000000000" pitchFamily="2" charset="2"/>
                        <a:buChar char="§"/>
                      </a:pPr>
                      <a:r>
                        <a:rPr lang="en-US" sz="900"/>
                        <a:t>New “Contact Us” master</a:t>
                      </a:r>
                    </a:p>
                    <a:p>
                      <a:pPr marL="171450" indent="-171450">
                        <a:buFont typeface="Wingdings" panose="05000000000000000000" pitchFamily="2" charset="2"/>
                        <a:buChar char="§"/>
                      </a:pPr>
                      <a:r>
                        <a:rPr lang="en-US" sz="900"/>
                        <a:t>Removed “Globe” motif and added “FA” motif</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Added Version History slide</a:t>
                      </a:r>
                    </a:p>
                  </a:txBody>
                  <a:tcPr anchor="ctr"/>
                </a:tc>
                <a:extLst>
                  <a:ext uri="{0D108BD9-81ED-4DB2-BD59-A6C34878D82A}">
                    <a16:rowId xmlns:a16="http://schemas.microsoft.com/office/drawing/2014/main" val="3167163687"/>
                  </a:ext>
                </a:extLst>
              </a:tr>
              <a:tr h="370840">
                <a:tc>
                  <a:txBody>
                    <a:bodyPr/>
                    <a:lstStyle/>
                    <a:p>
                      <a:r>
                        <a:rPr lang="en-US" sz="900"/>
                        <a:t>2024.3</a:t>
                      </a:r>
                    </a:p>
                  </a:txBody>
                  <a:tcPr anchor="ctr"/>
                </a:tc>
                <a:tc>
                  <a:txBody>
                    <a:bodyPr/>
                    <a:lstStyle/>
                    <a:p>
                      <a:pPr algn="ctr"/>
                      <a:r>
                        <a:rPr lang="en-US" sz="900"/>
                        <a:t>5/10/2024</a:t>
                      </a:r>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Rolled back changes to 2024.1</a:t>
                      </a:r>
                    </a:p>
                    <a:p>
                      <a:pPr marL="171450" indent="-171450">
                        <a:buFont typeface="Wingdings" panose="05000000000000000000" pitchFamily="2" charset="2"/>
                        <a:buChar char="§"/>
                      </a:pPr>
                      <a:r>
                        <a:rPr lang="en-US" sz="900"/>
                        <a:t>Default margins on shapes and text boxes changed from .1 to .05 with 14pt font</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Fonts on RFI master reduced (question to 12pt and answer to 11pt)</a:t>
                      </a:r>
                    </a:p>
                    <a:p>
                      <a:pPr marL="171450" indent="-171450">
                        <a:buFont typeface="Wingdings" panose="05000000000000000000" pitchFamily="2" charset="2"/>
                        <a:buChar char="§"/>
                      </a:pPr>
                      <a:r>
                        <a:rPr lang="en-US" sz="900"/>
                        <a:t>Added London to Contact Us page</a:t>
                      </a:r>
                    </a:p>
                    <a:p>
                      <a:pPr marL="171450" indent="-171450">
                        <a:buFont typeface="Wingdings" panose="05000000000000000000" pitchFamily="2" charset="2"/>
                        <a:buChar char="§"/>
                      </a:pPr>
                      <a:r>
                        <a:rPr lang="en-US" sz="900"/>
                        <a:t>Added FA title layout and section header </a:t>
                      </a:r>
                    </a:p>
                    <a:p>
                      <a:pPr marL="171450" indent="-171450">
                        <a:buFont typeface="Wingdings" panose="05000000000000000000" pitchFamily="2" charset="2"/>
                        <a:buChar char="§"/>
                      </a:pPr>
                      <a:r>
                        <a:rPr lang="en-US" sz="900"/>
                        <a:t>Added Version History slide</a:t>
                      </a:r>
                    </a:p>
                  </a:txBody>
                  <a:tcPr anchor="ctr"/>
                </a:tc>
                <a:extLst>
                  <a:ext uri="{0D108BD9-81ED-4DB2-BD59-A6C34878D82A}">
                    <a16:rowId xmlns:a16="http://schemas.microsoft.com/office/drawing/2014/main" val="4209550234"/>
                  </a:ext>
                </a:extLst>
              </a:tr>
              <a:tr h="370840">
                <a:tc>
                  <a:txBody>
                    <a:bodyPr/>
                    <a:lstStyle/>
                    <a:p>
                      <a:r>
                        <a:rPr lang="en-US" sz="900"/>
                        <a:t>2024.4</a:t>
                      </a:r>
                    </a:p>
                  </a:txBody>
                  <a:tcPr anchor="ctr"/>
                </a:tc>
                <a:tc>
                  <a:txBody>
                    <a:bodyPr/>
                    <a:lstStyle/>
                    <a:p>
                      <a:pPr algn="ctr"/>
                      <a:r>
                        <a:rPr lang="en-US" sz="900"/>
                        <a:t>7/26/2024</a:t>
                      </a:r>
                    </a:p>
                  </a:txBody>
                  <a:tcPr anchor="ctr"/>
                </a:tc>
                <a:tc>
                  <a:txBody>
                    <a:bodyPr/>
                    <a:lstStyle/>
                    <a:p>
                      <a:pPr marL="171450" indent="-171450">
                        <a:buFont typeface="Wingdings" panose="05000000000000000000" pitchFamily="2" charset="2"/>
                        <a:buChar char="§"/>
                      </a:pPr>
                      <a:r>
                        <a:rPr lang="en-US" sz="900"/>
                        <a:t>Added vertical guideline to left of logo</a:t>
                      </a:r>
                    </a:p>
                    <a:p>
                      <a:pPr marL="171450" indent="-171450">
                        <a:buFont typeface="Wingdings" panose="05000000000000000000" pitchFamily="2" charset="2"/>
                        <a:buChar char="§"/>
                      </a:pPr>
                      <a:r>
                        <a:rPr lang="en-US" sz="900"/>
                        <a:t>For RFI layouts, lengthened QA boxes and content to align left with logo</a:t>
                      </a:r>
                    </a:p>
                    <a:p>
                      <a:pPr marL="171450" indent="-171450">
                        <a:buFont typeface="Wingdings" panose="05000000000000000000" pitchFamily="2" charset="2"/>
                        <a:buChar char="§"/>
                      </a:pPr>
                      <a:r>
                        <a:rPr lang="en-US" sz="900"/>
                        <a:t>Added blank RFI layout</a:t>
                      </a:r>
                    </a:p>
                  </a:txBody>
                  <a:tcPr anchor="ctr"/>
                </a:tc>
                <a:extLst>
                  <a:ext uri="{0D108BD9-81ED-4DB2-BD59-A6C34878D82A}">
                    <a16:rowId xmlns:a16="http://schemas.microsoft.com/office/drawing/2014/main" val="3483372315"/>
                  </a:ext>
                </a:extLst>
              </a:tr>
              <a:tr h="370840">
                <a:tc>
                  <a:txBody>
                    <a:bodyPr/>
                    <a:lstStyle/>
                    <a:p>
                      <a:r>
                        <a:rPr lang="en-US" sz="900"/>
                        <a:t>2024.5</a:t>
                      </a:r>
                    </a:p>
                  </a:txBody>
                  <a:tcPr anchor="ctr"/>
                </a:tc>
                <a:tc>
                  <a:txBody>
                    <a:bodyPr/>
                    <a:lstStyle/>
                    <a:p>
                      <a:pPr algn="ctr"/>
                      <a:r>
                        <a:rPr lang="en-US" sz="900"/>
                        <a:t>8/6/2024</a:t>
                      </a:r>
                    </a:p>
                  </a:txBody>
                  <a:tcPr anchor="ctr"/>
                </a:tc>
                <a:tc>
                  <a:txBody>
                    <a:bodyPr/>
                    <a:lstStyle/>
                    <a:p>
                      <a:pPr marL="171450" indent="-171450">
                        <a:buFont typeface="Wingdings" panose="05000000000000000000" pitchFamily="2" charset="2"/>
                        <a:buChar char="§"/>
                      </a:pPr>
                      <a:r>
                        <a:rPr lang="en-US" sz="900"/>
                        <a:t>Added Independence Slide RFI layout</a:t>
                      </a:r>
                    </a:p>
                    <a:p>
                      <a:pPr marL="171450" indent="-171450">
                        <a:buFont typeface="Wingdings" panose="05000000000000000000" pitchFamily="2" charset="2"/>
                        <a:buChar char="§"/>
                      </a:pPr>
                      <a:r>
                        <a:rPr lang="en-US" sz="900"/>
                        <a:t>Set default text boxes and shapes to not autofit</a:t>
                      </a:r>
                    </a:p>
                    <a:p>
                      <a:pPr marL="171450" indent="-171450">
                        <a:buFont typeface="Wingdings" panose="05000000000000000000" pitchFamily="2" charset="2"/>
                        <a:buChar char="§"/>
                      </a:pPr>
                      <a:r>
                        <a:rPr lang="en-US" sz="900"/>
                        <a:t>Adjusted spacing on consultant names</a:t>
                      </a:r>
                    </a:p>
                    <a:p>
                      <a:pPr marL="171450" indent="-171450">
                        <a:buFont typeface="Wingdings" panose="05000000000000000000" pitchFamily="2" charset="2"/>
                        <a:buChar char="§"/>
                      </a:pPr>
                      <a:r>
                        <a:rPr lang="en-US" sz="900"/>
                        <a:t>Setup properly formatted bulleted list in text box as “Reusable Element”</a:t>
                      </a:r>
                    </a:p>
                    <a:p>
                      <a:pPr marL="171450" indent="-171450">
                        <a:buFont typeface="Wingdings" panose="05000000000000000000" pitchFamily="2" charset="2"/>
                        <a:buChar char="§"/>
                      </a:pPr>
                      <a:r>
                        <a:rPr lang="en-US" sz="900"/>
                        <a:t>Expanded headlines to the left, closer to the FA logo</a:t>
                      </a:r>
                    </a:p>
                    <a:p>
                      <a:pPr marL="171450" indent="-171450">
                        <a:buFont typeface="Wingdings" panose="05000000000000000000" pitchFamily="2" charset="2"/>
                        <a:buChar char="§"/>
                      </a:pPr>
                      <a:r>
                        <a:rPr lang="en-US" sz="900"/>
                        <a:t>Darkened page numbers</a:t>
                      </a:r>
                    </a:p>
                  </a:txBody>
                  <a:tcPr anchor="ctr"/>
                </a:tc>
                <a:extLst>
                  <a:ext uri="{0D108BD9-81ED-4DB2-BD59-A6C34878D82A}">
                    <a16:rowId xmlns:a16="http://schemas.microsoft.com/office/drawing/2014/main" val="1768867260"/>
                  </a:ext>
                </a:extLst>
              </a:tr>
              <a:tr h="370840">
                <a:tc>
                  <a:txBody>
                    <a:bodyPr/>
                    <a:lstStyle/>
                    <a:p>
                      <a:r>
                        <a:rPr lang="en-US" sz="900"/>
                        <a:t>2024.06</a:t>
                      </a:r>
                    </a:p>
                  </a:txBody>
                  <a:tcPr anchor="ctr"/>
                </a:tc>
                <a:tc>
                  <a:txBody>
                    <a:bodyPr/>
                    <a:lstStyle/>
                    <a:p>
                      <a:pPr algn="ctr"/>
                      <a:r>
                        <a:rPr lang="en-US" sz="900"/>
                        <a:t>9/10/2024</a:t>
                      </a:r>
                    </a:p>
                  </a:txBody>
                  <a:tcPr anchor="ctr"/>
                </a:tc>
                <a:tc>
                  <a:txBody>
                    <a:bodyPr/>
                    <a:lstStyle/>
                    <a:p>
                      <a:pPr marL="171450" indent="-171450">
                        <a:buFont typeface="Wingdings" panose="05000000000000000000" pitchFamily="2" charset="2"/>
                        <a:buChar char="§"/>
                      </a:pPr>
                      <a:r>
                        <a:rPr lang="en-US" sz="900" dirty="0"/>
                        <a:t>Adjusted People names on Title page to single-spaced. Removed BOLD from names (only the “ACME Advisors” should be bolded; the “LLC” should be in 8 point font)</a:t>
                      </a:r>
                    </a:p>
                    <a:p>
                      <a:pPr marL="171450" indent="-171450">
                        <a:buFont typeface="Wingdings" panose="05000000000000000000" pitchFamily="2" charset="2"/>
                        <a:buChar char="§"/>
                      </a:pPr>
                      <a:r>
                        <a:rPr lang="en-US" sz="900" dirty="0"/>
                        <a:t>Reverted Text Box and Shape defaults to top, left-hand alignment and “Resize shape to fit text”, 14 pt.</a:t>
                      </a:r>
                    </a:p>
                    <a:p>
                      <a:pPr marL="171450" indent="-171450">
                        <a:buFont typeface="Wingdings" panose="05000000000000000000" pitchFamily="2" charset="2"/>
                        <a:buChar char="§"/>
                      </a:pPr>
                      <a:r>
                        <a:rPr lang="en-US" sz="900" dirty="0"/>
                        <a:t>Section Header layouts: Moved text left (closer to large icon)</a:t>
                      </a:r>
                    </a:p>
                    <a:p>
                      <a:pPr marL="171450" indent="-171450">
                        <a:buFont typeface="Wingdings" panose="05000000000000000000" pitchFamily="2" charset="2"/>
                        <a:buChar char="§"/>
                      </a:pPr>
                      <a:r>
                        <a:rPr lang="en-US" sz="900" dirty="0"/>
                        <a:t>Layouts that include text options: Moved text box higher and adjusted guides to match</a:t>
                      </a:r>
                    </a:p>
                    <a:p>
                      <a:pPr marL="171450" indent="-171450">
                        <a:buFont typeface="Wingdings" panose="05000000000000000000" pitchFamily="2" charset="2"/>
                        <a:buChar char="§"/>
                      </a:pPr>
                      <a:r>
                        <a:rPr lang="en-US" sz="900" dirty="0"/>
                        <a:t>Added slide with descriptors for each Title Slide icon</a:t>
                      </a:r>
                    </a:p>
                  </a:txBody>
                  <a:tcPr anchor="ctr"/>
                </a:tc>
                <a:extLst>
                  <a:ext uri="{0D108BD9-81ED-4DB2-BD59-A6C34878D82A}">
                    <a16:rowId xmlns:a16="http://schemas.microsoft.com/office/drawing/2014/main" val="4269791915"/>
                  </a:ext>
                </a:extLst>
              </a:tr>
              <a:tr h="205544">
                <a:tc>
                  <a:txBody>
                    <a:bodyPr/>
                    <a:lstStyle/>
                    <a:p>
                      <a:r>
                        <a:rPr lang="en-US" sz="900"/>
                        <a:t>2025.04</a:t>
                      </a:r>
                    </a:p>
                  </a:txBody>
                  <a:tcPr anchor="ctr"/>
                </a:tc>
                <a:tc>
                  <a:txBody>
                    <a:bodyPr/>
                    <a:lstStyle/>
                    <a:p>
                      <a:pPr algn="ctr"/>
                      <a:r>
                        <a:rPr lang="en-US" sz="900"/>
                        <a:t>4/23/25</a:t>
                      </a:r>
                    </a:p>
                  </a:txBody>
                  <a:tcPr anchor="ctr"/>
                </a:tc>
                <a:tc>
                  <a:txBody>
                    <a:bodyPr/>
                    <a:lstStyle/>
                    <a:p>
                      <a:pPr marL="171450" indent="-171450">
                        <a:buFont typeface="Wingdings" panose="05000000000000000000" pitchFamily="2" charset="2"/>
                        <a:buChar char="§"/>
                      </a:pPr>
                      <a:r>
                        <a:rPr lang="en-US" sz="900"/>
                        <a:t>Updated London address</a:t>
                      </a:r>
                    </a:p>
                  </a:txBody>
                  <a:tcPr anchor="ctr"/>
                </a:tc>
                <a:extLst>
                  <a:ext uri="{0D108BD9-81ED-4DB2-BD59-A6C34878D82A}">
                    <a16:rowId xmlns:a16="http://schemas.microsoft.com/office/drawing/2014/main" val="1331774128"/>
                  </a:ext>
                </a:extLst>
              </a:tr>
              <a:tr h="126218">
                <a:tc>
                  <a:txBody>
                    <a:bodyPr/>
                    <a:lstStyle/>
                    <a:p>
                      <a:r>
                        <a:rPr lang="en-US" sz="900"/>
                        <a:t>2025.05</a:t>
                      </a:r>
                    </a:p>
                  </a:txBody>
                  <a:tcPr anchor="ctr"/>
                </a:tc>
                <a:tc>
                  <a:txBody>
                    <a:bodyPr/>
                    <a:lstStyle/>
                    <a:p>
                      <a:pPr algn="ctr"/>
                      <a:endParaRPr lang="en-US" sz="900"/>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“Hard coded” the word “for” onto title pages</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Updated NY address on Contact Us page</a:t>
                      </a:r>
                    </a:p>
                  </a:txBody>
                  <a:tcPr anchor="ctr"/>
                </a:tc>
                <a:extLst>
                  <a:ext uri="{0D108BD9-81ED-4DB2-BD59-A6C34878D82A}">
                    <a16:rowId xmlns:a16="http://schemas.microsoft.com/office/drawing/2014/main" val="2911940841"/>
                  </a:ext>
                </a:extLst>
              </a:tr>
            </a:tbl>
          </a:graphicData>
        </a:graphic>
      </p:graphicFrame>
    </p:spTree>
    <p:extLst>
      <p:ext uri="{BB962C8B-B14F-4D97-AF65-F5344CB8AC3E}">
        <p14:creationId xmlns:p14="http://schemas.microsoft.com/office/powerpoint/2010/main" val="3557853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FA1512-3423-1033-1C5D-257DA5E27FA9}"/>
              </a:ext>
            </a:extLst>
          </p:cNvPr>
          <p:cNvSpPr/>
          <p:nvPr userDrawn="1"/>
        </p:nvSpPr>
        <p:spPr>
          <a:xfrm>
            <a:off x="0" y="0"/>
            <a:ext cx="9144000" cy="1642147"/>
          </a:xfrm>
          <a:prstGeom prst="rect">
            <a:avLst/>
          </a:prstGeom>
          <a:gradFill>
            <a:gsLst>
              <a:gs pos="15000">
                <a:schemeClr val="accent1">
                  <a:alpha val="25000"/>
                </a:schemeClr>
              </a:gs>
              <a:gs pos="100000">
                <a:sysClr val="window" lastClr="FFFFFF">
                  <a:alpha val="0"/>
                </a:sysClr>
              </a:gs>
            </a:gsLst>
            <a:lin ang="0" scaled="1"/>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E454CB6-D061-DB8E-DBB1-8C108B73A1E6}"/>
              </a:ext>
            </a:extLst>
          </p:cNvPr>
          <p:cNvSpPr/>
          <p:nvPr userDrawn="1"/>
        </p:nvSpPr>
        <p:spPr>
          <a:xfrm>
            <a:off x="0" y="867266"/>
            <a:ext cx="9144000" cy="774721"/>
          </a:xfrm>
          <a:prstGeom prst="rect">
            <a:avLst/>
          </a:prstGeom>
          <a:gradFill flip="none" rotWithShape="1">
            <a:gsLst>
              <a:gs pos="0">
                <a:sysClr val="window" lastClr="FFFFFF"/>
              </a:gs>
              <a:gs pos="100000">
                <a:sysClr val="window" lastClr="FFFFFF">
                  <a:alpha val="0"/>
                </a:sysClr>
              </a:gs>
            </a:gsLst>
            <a:lin ang="16200000" scaled="1"/>
            <a:tileRect/>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86826" y="44215"/>
            <a:ext cx="8074152" cy="1292899"/>
          </a:xfrm>
          <a:prstGeom prst="rect">
            <a:avLst/>
          </a:prstGeom>
        </p:spPr>
        <p:txBody>
          <a:bodyPr vert="horz" lIns="0" tIns="0" rIns="0" bIns="0" rtlCol="0" anchor="ctr">
            <a:noAutofit/>
          </a:bodyPr>
          <a:lstStyle/>
          <a:p>
            <a:r>
              <a:rPr lang="en-US"/>
              <a:t>Calibri Bold 24 pt.</a:t>
            </a:r>
            <a:br>
              <a:rPr lang="en-US"/>
            </a:br>
            <a:r>
              <a:rPr lang="en-US"/>
              <a:t>Headlines are sentence case and can fill up to four lines of copy, headlines are sentence case and can fill up to four lines of copy</a:t>
            </a:r>
          </a:p>
        </p:txBody>
      </p:sp>
      <p:sp>
        <p:nvSpPr>
          <p:cNvPr id="3" name="Text Placeholder 2"/>
          <p:cNvSpPr>
            <a:spLocks noGrp="1"/>
          </p:cNvSpPr>
          <p:nvPr>
            <p:ph type="body" idx="1"/>
          </p:nvPr>
        </p:nvSpPr>
        <p:spPr>
          <a:xfrm>
            <a:off x="887897" y="1415719"/>
            <a:ext cx="8074395" cy="5170086"/>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863745" y="6591503"/>
            <a:ext cx="7416510" cy="184151"/>
          </a:xfrm>
          <a:prstGeom prst="rect">
            <a:avLst/>
          </a:prstGeom>
        </p:spPr>
        <p:txBody>
          <a:bodyPr vert="horz" lIns="0" tIns="0" rIns="0" bIns="45720" rtlCol="0" anchor="b">
            <a:noAutofit/>
          </a:bodyPr>
          <a:lstStyle>
            <a:lvl1pPr algn="ctr">
              <a:lnSpc>
                <a:spcPct val="80000"/>
              </a:lnSpc>
              <a:defRPr sz="800">
                <a:solidFill>
                  <a:srgbClr val="BFBFBF"/>
                </a:solidFill>
              </a:defRPr>
            </a:lvl1pPr>
          </a:lstStyle>
          <a:p>
            <a:r>
              <a:rPr lang="en-US"/>
              <a:t>These materials are confidential and to be used only by the client to whom they are addressed</a:t>
            </a:r>
          </a:p>
        </p:txBody>
      </p:sp>
      <p:sp>
        <p:nvSpPr>
          <p:cNvPr id="8" name="Slide Number Placeholder 5" hidden="1">
            <a:extLst>
              <a:ext uri="{FF2B5EF4-FFF2-40B4-BE49-F238E27FC236}">
                <a16:creationId xmlns:a16="http://schemas.microsoft.com/office/drawing/2014/main" id="{38213356-C931-104E-2A67-0A88014D1D0A}"/>
              </a:ext>
            </a:extLst>
          </p:cNvPr>
          <p:cNvSpPr>
            <a:spLocks noGrp="1"/>
          </p:cNvSpPr>
          <p:nvPr>
            <p:ph type="sldNum" sz="quarter" idx="4"/>
          </p:nvPr>
        </p:nvSpPr>
        <p:spPr>
          <a:xfrm>
            <a:off x="8581802" y="6577909"/>
            <a:ext cx="352260" cy="211339"/>
          </a:xfrm>
          <a:prstGeom prst="rect">
            <a:avLst/>
          </a:prstGeom>
        </p:spPr>
        <p:txBody>
          <a:bodyPr vert="horz" lIns="0" tIns="0" rIns="0" bIns="0" rtlCol="0" anchor="ctr"/>
          <a:lstStyle>
            <a:lvl1pPr algn="r">
              <a:defRPr sz="800">
                <a:solidFill>
                  <a:srgbClr val="BFBFBF"/>
                </a:solidFill>
              </a:defRPr>
            </a:lvl1pPr>
          </a:lstStyle>
          <a:p>
            <a:fld id="{91690BAF-E217-4185-92FD-0CEA06F2B7C8}" type="slidenum">
              <a:rPr lang="en-US" smtClean="0"/>
              <a:pPr/>
              <a:t>‹#›</a:t>
            </a:fld>
            <a:endParaRPr lang="en-US"/>
          </a:p>
        </p:txBody>
      </p:sp>
      <p:sp>
        <p:nvSpPr>
          <p:cNvPr id="9" name="Slide Number Placeholder 5">
            <a:extLst>
              <a:ext uri="{FF2B5EF4-FFF2-40B4-BE49-F238E27FC236}">
                <a16:creationId xmlns:a16="http://schemas.microsoft.com/office/drawing/2014/main" id="{5EDDB953-05F2-B1BF-4848-9817E98F18C6}"/>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85308602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6" r:id="rId3"/>
    <p:sldLayoutId id="2147483687" r:id="rId4"/>
    <p:sldLayoutId id="2147483701" r:id="rId5"/>
    <p:sldLayoutId id="2147483702" r:id="rId6"/>
    <p:sldLayoutId id="2147483677" r:id="rId7"/>
    <p:sldLayoutId id="2147483678" r:id="rId8"/>
    <p:sldLayoutId id="2147483695" r:id="rId9"/>
    <p:sldLayoutId id="2147483696" r:id="rId10"/>
    <p:sldLayoutId id="2147483650" r:id="rId11"/>
    <p:sldLayoutId id="2147483654" r:id="rId12"/>
    <p:sldLayoutId id="2147483655" r:id="rId13"/>
    <p:sldLayoutId id="2147483674" r:id="rId14"/>
    <p:sldLayoutId id="2147483675" r:id="rId15"/>
    <p:sldLayoutId id="2147483661" r:id="rId16"/>
    <p:sldLayoutId id="2147483657" r:id="rId17"/>
    <p:sldLayoutId id="2147483703" r:id="rId18"/>
    <p:sldLayoutId id="2147483698" r:id="rId19"/>
    <p:sldLayoutId id="2147483699" r:id="rId20"/>
    <p:sldLayoutId id="2147483704" r:id="rId21"/>
    <p:sldLayoutId id="2147483697" r:id="rId22"/>
    <p:sldLayoutId id="2147483700" r:id="rId23"/>
  </p:sldLayoutIdLst>
  <p:transition>
    <p:fade/>
  </p:transition>
  <p:hf sldNum="0" hdr="0" dt="0"/>
  <p:txStyles>
    <p:titleStyle>
      <a:lvl1pPr algn="l" defTabSz="914378" rtl="0" eaLnBrk="1" latinLnBrk="0" hangingPunct="1">
        <a:lnSpc>
          <a:spcPct val="85000"/>
        </a:lnSpc>
        <a:spcBef>
          <a:spcPct val="0"/>
        </a:spcBef>
        <a:buNone/>
        <a:defRPr sz="2400" b="1" kern="1200" cap="none" baseline="0">
          <a:solidFill>
            <a:schemeClr val="tx1"/>
          </a:solidFill>
          <a:latin typeface="+mj-lt"/>
          <a:ea typeface="+mj-ea"/>
          <a:cs typeface="+mj-cs"/>
        </a:defRPr>
      </a:lvl1pPr>
    </p:titleStyle>
    <p:body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8" rtl="0" eaLnBrk="1" latinLnBrk="0" hangingPunct="1">
        <a:defRPr sz="1000" kern="1200">
          <a:solidFill>
            <a:schemeClr val="tx1"/>
          </a:solidFill>
          <a:latin typeface="+mn-lt"/>
          <a:ea typeface="+mn-ea"/>
          <a:cs typeface="+mn-cs"/>
        </a:defRPr>
      </a:lvl1pPr>
      <a:lvl2pPr marL="0" algn="l" defTabSz="914378" rtl="0" eaLnBrk="1" latinLnBrk="0" hangingPunct="1">
        <a:defRPr sz="1200" kern="1200">
          <a:solidFill>
            <a:schemeClr val="tx1"/>
          </a:solidFill>
          <a:latin typeface="+mn-lt"/>
          <a:ea typeface="+mn-ea"/>
          <a:cs typeface="+mn-cs"/>
        </a:defRPr>
      </a:lvl2pPr>
      <a:lvl3pPr marL="0" algn="l" defTabSz="914378" rtl="0" eaLnBrk="1" latinLnBrk="0" hangingPunct="1">
        <a:defRPr sz="1200" kern="1200">
          <a:solidFill>
            <a:schemeClr val="tx1"/>
          </a:solidFill>
          <a:latin typeface="+mn-lt"/>
          <a:ea typeface="+mn-ea"/>
          <a:cs typeface="+mn-cs"/>
        </a:defRPr>
      </a:lvl3pPr>
      <a:lvl4pPr marL="0" algn="l" defTabSz="914378" rtl="0" eaLnBrk="1" latinLnBrk="0" hangingPunct="1">
        <a:defRPr sz="1200" kern="1200">
          <a:solidFill>
            <a:schemeClr val="tx1"/>
          </a:solidFill>
          <a:latin typeface="+mn-lt"/>
          <a:ea typeface="+mn-ea"/>
          <a:cs typeface="+mn-cs"/>
        </a:defRPr>
      </a:lvl4pPr>
      <a:lvl5pPr marL="0" algn="l" defTabSz="914378" rtl="0" eaLnBrk="1" latinLnBrk="0" hangingPunct="1">
        <a:defRPr sz="1200" kern="1200">
          <a:solidFill>
            <a:schemeClr val="tx1"/>
          </a:solidFill>
          <a:latin typeface="+mn-lt"/>
          <a:ea typeface="+mn-ea"/>
          <a:cs typeface="+mn-cs"/>
        </a:defRPr>
      </a:lvl5pPr>
      <a:lvl6pPr marL="0" algn="l" defTabSz="914378" rtl="0" eaLnBrk="1" latinLnBrk="0" hangingPunct="1">
        <a:defRPr sz="1200" kern="1200">
          <a:solidFill>
            <a:schemeClr val="tx1"/>
          </a:solidFill>
          <a:latin typeface="+mn-lt"/>
          <a:ea typeface="+mn-ea"/>
          <a:cs typeface="+mn-cs"/>
        </a:defRPr>
      </a:lvl6pPr>
      <a:lvl7pPr marL="0" algn="l" defTabSz="914378" rtl="0" eaLnBrk="1" latinLnBrk="0" hangingPunct="1">
        <a:defRPr sz="1200" kern="1200">
          <a:solidFill>
            <a:schemeClr val="tx1"/>
          </a:solidFill>
          <a:latin typeface="+mn-lt"/>
          <a:ea typeface="+mn-ea"/>
          <a:cs typeface="+mn-cs"/>
        </a:defRPr>
      </a:lvl7pPr>
      <a:lvl8pPr marL="0" algn="l" defTabSz="914378" rtl="0" eaLnBrk="1" latinLnBrk="0" hangingPunct="1">
        <a:defRPr sz="1200" kern="1200">
          <a:solidFill>
            <a:schemeClr val="tx1"/>
          </a:solidFill>
          <a:latin typeface="+mn-lt"/>
          <a:ea typeface="+mn-ea"/>
          <a:cs typeface="+mn-cs"/>
        </a:defRPr>
      </a:lvl8pPr>
      <a:lvl9pPr marL="0" algn="l" defTabSz="914378"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888" userDrawn="1">
          <p15:clr>
            <a:srgbClr val="F26B43"/>
          </p15:clr>
        </p15:guide>
        <p15:guide id="4" orient="horz" pos="4143" userDrawn="1">
          <p15:clr>
            <a:srgbClr val="F26B43"/>
          </p15:clr>
        </p15:guide>
        <p15:guide id="5" pos="552" userDrawn="1">
          <p15:clr>
            <a:srgbClr val="F26B43"/>
          </p15:clr>
        </p15:guide>
        <p15:guide id="6" pos="5640" userDrawn="1">
          <p15:clr>
            <a:srgbClr val="F26B43"/>
          </p15:clr>
        </p15:guide>
        <p15:guide id="7" pos="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11265DF-5AD7-B39A-FF9A-30B58DCD3391}"/>
              </a:ext>
            </a:extLst>
          </p:cNvPr>
          <p:cNvSpPr>
            <a:spLocks noGrp="1"/>
          </p:cNvSpPr>
          <p:nvPr>
            <p:ph type="ctrTitle"/>
          </p:nvPr>
        </p:nvSpPr>
        <p:spPr/>
        <p:txBody>
          <a:bodyPr/>
          <a:lstStyle/>
          <a:p>
            <a:r>
              <a:rPr lang="en-US" dirty="0"/>
              <a:t>Assessment of Compensation Peers</a:t>
            </a:r>
          </a:p>
        </p:txBody>
      </p:sp>
      <p:sp>
        <p:nvSpPr>
          <p:cNvPr id="3" name="Text Placeholder 2">
            <a:extLst>
              <a:ext uri="{FF2B5EF4-FFF2-40B4-BE49-F238E27FC236}">
                <a16:creationId xmlns:a16="http://schemas.microsoft.com/office/drawing/2014/main" id="{6E11507D-664E-CF69-3797-35CBC90606EF}"/>
              </a:ext>
            </a:extLst>
          </p:cNvPr>
          <p:cNvSpPr>
            <a:spLocks noGrp="1"/>
          </p:cNvSpPr>
          <p:nvPr>
            <p:ph type="body" sz="quarter" idx="13"/>
          </p:nvPr>
        </p:nvSpPr>
        <p:spPr>
          <a:xfrm>
            <a:off x="3028718" y="1766656"/>
            <a:ext cx="3017520" cy="203546"/>
          </a:xfrm>
        </p:spPr>
        <p:txBody>
          <a:bodyPr vert="horz" lIns="0" tIns="0" rIns="0" bIns="0" rtlCol="0" anchor="t">
            <a:noAutofit/>
          </a:bodyPr>
          <a:lstStyle/>
          <a:p>
            <a:r>
              <a:rPr lang="en-US"/>
              <a:t>April 29, 2026 </a:t>
            </a:r>
            <a:r>
              <a:rPr lang="en-US" b="1">
                <a:solidFill>
                  <a:srgbClr val="FF0000"/>
                </a:solidFill>
              </a:rPr>
              <a:t>– DRAFT 20260327</a:t>
            </a:r>
          </a:p>
        </p:txBody>
      </p:sp>
      <p:sp>
        <p:nvSpPr>
          <p:cNvPr id="5" name="Footer Placeholder 4">
            <a:extLst>
              <a:ext uri="{FF2B5EF4-FFF2-40B4-BE49-F238E27FC236}">
                <a16:creationId xmlns:a16="http://schemas.microsoft.com/office/drawing/2014/main" id="{899F2016-120C-2137-C92E-0E8D93697BD6}"/>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8" name="Text Placeholder 7">
            <a:extLst>
              <a:ext uri="{FF2B5EF4-FFF2-40B4-BE49-F238E27FC236}">
                <a16:creationId xmlns:a16="http://schemas.microsoft.com/office/drawing/2014/main" id="{961D452F-D873-6A46-5AC6-7CEE4C149D03}"/>
              </a:ext>
            </a:extLst>
          </p:cNvPr>
          <p:cNvSpPr>
            <a:spLocks noGrp="1"/>
          </p:cNvSpPr>
          <p:nvPr>
            <p:ph type="body" sz="quarter" idx="19"/>
          </p:nvPr>
        </p:nvSpPr>
        <p:spPr/>
        <p:txBody>
          <a:bodyPr/>
          <a:lstStyle/>
          <a:p>
            <a:r>
              <a:rPr lang="en-US" dirty="0"/>
              <a:t>Mickey Mouse, Chief Executive Officer, </a:t>
            </a:r>
            <a:r>
              <a:rPr lang="en-US" b="1" dirty="0"/>
              <a:t>ACME </a:t>
            </a:r>
            <a:r>
              <a:rPr lang="en-US" sz="800" dirty="0"/>
              <a:t>LLC</a:t>
            </a:r>
          </a:p>
          <a:p>
            <a:r>
              <a:rPr lang="en-US" dirty="0"/>
              <a:t>Minnie Mouse, Manager, </a:t>
            </a:r>
            <a:r>
              <a:rPr lang="en-US" b="1" dirty="0"/>
              <a:t>ACME </a:t>
            </a:r>
            <a:r>
              <a:rPr lang="en-US" sz="800" dirty="0"/>
              <a:t>LLC</a:t>
            </a:r>
            <a:endParaRPr lang="en-US" sz="800" b="0" dirty="0"/>
          </a:p>
        </p:txBody>
      </p:sp>
      <p:sp>
        <p:nvSpPr>
          <p:cNvPr id="90001" name="acme-flag-90001"/>
          <p:cNvSpPr/>
          <p:nvPr/>
        </p:nvSpPr>
        <p:spPr>
          <a:xfrm>
            <a:off x="3028718" y="1766656"/>
            <a:ext cx="3017520" cy="203546"/>
          </a:xfrm>
          <a:prstGeom prst="rect">
            <a:avLst/>
          </a:prstGeom>
          <a:solidFill>
            <a:srgbClr val="FFD400">
              <a:alpha val="30000"/>
            </a:srgbClr>
          </a:solidFill>
          <a:ln w="19050">
            <a:solidFill>
              <a:srgbClr val="E80000"/>
            </a:solidFill>
          </a:ln>
        </p:spPr>
        <p:txBody>
          <a:bodyPr/>
          <a:lstStyle/>
          <a:p/>
        </p:txBody>
      </p:sp>
      <p:sp>
        <p:nvSpPr>
          <p:cNvPr id="90002" name="acme-flag-90002"/>
          <p:cNvSpPr/>
          <p:nvPr/>
        </p:nvSpPr>
        <p:spPr>
          <a:xfrm>
            <a:off x="3028718" y="1766656"/>
            <a:ext cx="3017520" cy="203546"/>
          </a:xfrm>
          <a:prstGeom prst="rect">
            <a:avLst/>
          </a:prstGeom>
          <a:solidFill>
            <a:srgbClr val="FFD400">
              <a:alpha val="30000"/>
            </a:srgbClr>
          </a:solidFill>
          <a:ln w="19050">
            <a:solidFill>
              <a:srgbClr val="E80000"/>
            </a:solidFill>
          </a:ln>
        </p:spPr>
        <p:txBody>
          <a:bodyPr/>
          <a:lstStyle/>
          <a:p/>
        </p:txBody>
      </p:sp>
      <p:sp>
        <p:nvSpPr>
          <p:cNvPr id="90003" name="acme-note-90003"/>
          <p:cNvSpPr txBox="1"/>
          <p:nvPr/>
        </p:nvSpPr>
        <p:spPr>
          <a:xfrm>
            <a:off x="152400" y="6153000"/>
            <a:ext cx="8839200" cy="6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2 brand issues flagged:</a:t>
            </a:r>
          </a:p>
          <a:p>
            <a:r>
              <a:rPr lang="en-US" sz="1000" b="0" dirty="0">
                <a:solidFill>
                  <a:srgbClr val="9B0000"/>
                </a:solidFill>
                <a:latin typeface="Calibri"/>
              </a:rPr>
              <a:t>1. Shape [#1] contains 'DRAFT 20260327'. The title slide guidelines explicitly prohibit any 'DRAFT' or other designator on the title slide.</a:t>
            </a:r>
          </a:p>
          <a:p>
            <a:r>
              <a:rPr lang="en-US" sz="1000" b="0" dirty="0">
                <a:solidFill>
                  <a:srgbClr val="9B0000"/>
                </a:solidFill>
                <a:latin typeface="Calibri"/>
              </a:rPr>
              <a:t>2. Shape [#1] uses font color #FF0000, which is not in the ACME color palette. The nearest palette reds are #FF3737 and #E80000. All colors must be drawn from the ACME color palette.</a:t>
            </a:r>
          </a:p>
        </p:txBody>
      </p:sp>
    </p:spTree>
    <p:extLst>
      <p:ext uri="{BB962C8B-B14F-4D97-AF65-F5344CB8AC3E}">
        <p14:creationId xmlns:p14="http://schemas.microsoft.com/office/powerpoint/2010/main" val="1357021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7F8A-F17F-E105-811E-F1AE7DD5698A}"/>
            </a:ext>
          </a:extLst>
        </p:cNvPr>
        <p:cNvGrpSpPr/>
        <p:nvPr/>
      </p:nvGrpSpPr>
      <p:grpSpPr>
        <a:xfrm>
          <a:off x="0" y="0"/>
          <a:ext cx="0" cy="0"/>
          <a:chOff x="0" y="0"/>
          <a:chExt cx="0" cy="0"/>
        </a:xfrm>
      </p:grpSpPr>
      <p:sp>
        <p:nvSpPr>
          <p:cNvPr id="5" name="Footer Placeholder 1">
            <a:extLst>
              <a:ext uri="{FF2B5EF4-FFF2-40B4-BE49-F238E27FC236}">
                <a16:creationId xmlns:a16="http://schemas.microsoft.com/office/drawing/2014/main" id="{A16EE0D9-F3C0-0B99-CB6A-ED9CF97D0D99}"/>
              </a:ext>
            </a:extLst>
          </p:cNvPr>
          <p:cNvSpPr>
            <a:spLocks noGrp="1"/>
          </p:cNvSpPr>
          <p:nvPr>
            <p:ph type="ftr" sz="quarter" idx="11"/>
          </p:nvPr>
        </p:nvSpPr>
        <p:spPr/>
        <p:txBody>
          <a:bodyPr/>
          <a:lstStyle/>
          <a:p>
            <a:r>
              <a:rPr lang="en-US" dirty="0"/>
              <a:t>These materials are confidential and to be used only by the client to whom they are addressed</a:t>
            </a:r>
          </a:p>
        </p:txBody>
      </p:sp>
      <p:sp>
        <p:nvSpPr>
          <p:cNvPr id="2" name="Title 1">
            <a:extLst>
              <a:ext uri="{FF2B5EF4-FFF2-40B4-BE49-F238E27FC236}">
                <a16:creationId xmlns:a16="http://schemas.microsoft.com/office/drawing/2014/main" id="{DCD5F7FB-64B6-8861-A3B3-CCF3BA31441F}"/>
              </a:ext>
            </a:extLst>
          </p:cNvPr>
          <p:cNvSpPr>
            <a:spLocks noGrp="1"/>
          </p:cNvSpPr>
          <p:nvPr>
            <p:ph type="title"/>
          </p:nvPr>
        </p:nvSpPr>
        <p:spPr/>
        <p:txBody>
          <a:bodyPr/>
          <a:lstStyle/>
          <a:p>
            <a:r>
              <a:rPr lang="en-US" dirty="0"/>
              <a:t>Each year, ACME reviews </a:t>
            </a:r>
            <a:r>
              <a:rPr lang="en-US" dirty="0" err="1"/>
              <a:t>Plutos</a:t>
            </a:r>
            <a:r>
              <a:rPr lang="en-US" dirty="0"/>
              <a:t>’ Compensation Peer Group to ensure size, business, and strategic relevance. As part of our process, we addressed how </a:t>
            </a:r>
            <a:r>
              <a:rPr lang="en-US" dirty="0" err="1"/>
              <a:t>Plutos</a:t>
            </a:r>
            <a:r>
              <a:rPr lang="en-US" dirty="0"/>
              <a:t>’ acquisition of PA Consulting might influence </a:t>
            </a:r>
            <a:r>
              <a:rPr lang="en-US" dirty="0" err="1"/>
              <a:t>Plutos</a:t>
            </a:r>
            <a:r>
              <a:rPr lang="en-US" dirty="0"/>
              <a:t>’ peer group</a:t>
            </a:r>
          </a:p>
        </p:txBody>
      </p:sp>
      <p:sp>
        <p:nvSpPr>
          <p:cNvPr id="3" name="Content Placeholder 2">
            <a:extLst>
              <a:ext uri="{FF2B5EF4-FFF2-40B4-BE49-F238E27FC236}">
                <a16:creationId xmlns:a16="http://schemas.microsoft.com/office/drawing/2014/main" id="{1ABB32CA-8F4F-04AE-8A79-ACAD8DD5F9D2}"/>
              </a:ext>
            </a:extLst>
          </p:cNvPr>
          <p:cNvSpPr>
            <a:spLocks noGrp="1"/>
          </p:cNvSpPr>
          <p:nvPr>
            <p:ph idx="4294967295"/>
          </p:nvPr>
        </p:nvSpPr>
        <p:spPr>
          <a:xfrm>
            <a:off x="4821679" y="2070463"/>
            <a:ext cx="3517826" cy="1887224"/>
          </a:xfrm>
          <a:ln>
            <a:solidFill>
              <a:schemeClr val="tx1"/>
            </a:solidFill>
          </a:ln>
        </p:spPr>
        <p:txBody>
          <a:bodyPr vert="horz" lIns="91440" tIns="91440" rIns="91440" bIns="91440" rtlCol="0" anchor="t">
            <a:noAutofit/>
          </a:bodyPr>
          <a:lstStyle/>
          <a:p>
            <a:pPr marL="228600" indent="-128588"/>
            <a:r>
              <a:rPr lang="en-US" sz="1200" dirty="0"/>
              <a:t>Should our screening criteria change?</a:t>
            </a:r>
          </a:p>
          <a:p>
            <a:pPr marL="398463" lvl="1" indent="-166688"/>
            <a:r>
              <a:rPr lang="en-US" sz="1200" dirty="0"/>
              <a:t>Should our size parameters change given the addition of PA’s $1.4B revenue?</a:t>
            </a:r>
          </a:p>
          <a:p>
            <a:pPr marL="398463" lvl="1" indent="-166688"/>
            <a:r>
              <a:rPr lang="en-US" sz="1200" dirty="0"/>
              <a:t>Are there additional GICS codes that we should consider?</a:t>
            </a:r>
          </a:p>
          <a:p>
            <a:pPr marL="398463" lvl="1" indent="-166688"/>
            <a:r>
              <a:rPr lang="en-US" sz="1200" dirty="0"/>
              <a:t>Given </a:t>
            </a:r>
            <a:r>
              <a:rPr lang="en-US" sz="1200" dirty="0" err="1"/>
              <a:t>Plutos</a:t>
            </a:r>
            <a:r>
              <a:rPr lang="en-US" sz="1200" dirty="0"/>
              <a:t>’ geographic mix, should we include companies headquartered in the UK?</a:t>
            </a:r>
          </a:p>
          <a:p>
            <a:pPr marL="228600" indent="-128588"/>
            <a:r>
              <a:rPr lang="en-US" sz="1200" dirty="0"/>
              <a:t>How has the weighting of </a:t>
            </a:r>
            <a:r>
              <a:rPr lang="en-US" sz="1200" dirty="0" err="1"/>
              <a:t>Plutos</a:t>
            </a:r>
            <a:r>
              <a:rPr lang="en-US" sz="1200" dirty="0"/>
              <a:t>’ business sectors changed? Is the peer group sufficiently weighted toward consulting businesses?</a:t>
            </a:r>
          </a:p>
        </p:txBody>
      </p:sp>
      <p:graphicFrame>
        <p:nvGraphicFramePr>
          <p:cNvPr id="10" name="Table 9">
            <a:extLst>
              <a:ext uri="{FF2B5EF4-FFF2-40B4-BE49-F238E27FC236}">
                <a16:creationId xmlns:a16="http://schemas.microsoft.com/office/drawing/2014/main" id="{67C0FE79-7BCB-1238-016C-6312BEB90B76}"/>
              </a:ext>
            </a:extLst>
          </p:cNvPr>
          <p:cNvGraphicFramePr>
            <a:graphicFrameLocks noGrp="1"/>
          </p:cNvGraphicFramePr>
          <p:nvPr>
            <p:extLst>
              <p:ext uri="{D42A27DB-BD31-4B8C-83A1-F6EECF244321}">
                <p14:modId xmlns:p14="http://schemas.microsoft.com/office/powerpoint/2010/main" val="1345684391"/>
              </p:ext>
            </p:extLst>
          </p:nvPr>
        </p:nvGraphicFramePr>
        <p:xfrm>
          <a:off x="952599" y="1799058"/>
          <a:ext cx="3675860" cy="4349496"/>
        </p:xfrm>
        <a:graphic>
          <a:graphicData uri="http://schemas.openxmlformats.org/drawingml/2006/table">
            <a:tbl>
              <a:tblPr/>
              <a:tblGrid>
                <a:gridCol w="1189772">
                  <a:extLst>
                    <a:ext uri="{9D8B030D-6E8A-4147-A177-3AD203B41FA5}">
                      <a16:colId xmlns:a16="http://schemas.microsoft.com/office/drawing/2014/main" val="1580081404"/>
                    </a:ext>
                  </a:extLst>
                </a:gridCol>
                <a:gridCol w="791028">
                  <a:extLst>
                    <a:ext uri="{9D8B030D-6E8A-4147-A177-3AD203B41FA5}">
                      <a16:colId xmlns:a16="http://schemas.microsoft.com/office/drawing/2014/main" val="4051440281"/>
                    </a:ext>
                  </a:extLst>
                </a:gridCol>
                <a:gridCol w="904032">
                  <a:extLst>
                    <a:ext uri="{9D8B030D-6E8A-4147-A177-3AD203B41FA5}">
                      <a16:colId xmlns:a16="http://schemas.microsoft.com/office/drawing/2014/main" val="3873922838"/>
                    </a:ext>
                  </a:extLst>
                </a:gridCol>
                <a:gridCol w="791028">
                  <a:extLst>
                    <a:ext uri="{9D8B030D-6E8A-4147-A177-3AD203B41FA5}">
                      <a16:colId xmlns:a16="http://schemas.microsoft.com/office/drawing/2014/main" val="3911719177"/>
                    </a:ext>
                  </a:extLst>
                </a:gridCol>
              </a:tblGrid>
              <a:tr h="142814">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18288" marB="18288"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18288" marB="18288" anchor="b">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0">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0">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463409954"/>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noFill/>
                  </a:tcPr>
                </a:tc>
                <a:extLst>
                  <a:ext uri="{0D108BD9-81ED-4DB2-BD59-A6C34878D82A}">
                    <a16:rowId xmlns:a16="http://schemas.microsoft.com/office/drawing/2014/main" val="2726622385"/>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1214304150"/>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18288" marB="18288" anchor="b">
                    <a:lnL>
                      <a:noFill/>
                    </a:lnL>
                    <a:lnR>
                      <a:noFill/>
                    </a:lnR>
                    <a:lnT>
                      <a:noFill/>
                    </a:lnT>
                    <a:lnB>
                      <a:noFill/>
                    </a:lnB>
                    <a:noFill/>
                  </a:tcPr>
                </a:tc>
                <a:extLst>
                  <a:ext uri="{0D108BD9-81ED-4DB2-BD59-A6C34878D82A}">
                    <a16:rowId xmlns:a16="http://schemas.microsoft.com/office/drawing/2014/main" val="2362820788"/>
                  </a:ext>
                </a:extLst>
              </a:tr>
              <a:tr h="0">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chemeClr val="bg1">
                        <a:lumMod val="95000"/>
                      </a:schemeClr>
                    </a:solidFill>
                  </a:tcPr>
                </a:tc>
                <a:extLst>
                  <a:ext uri="{0D108BD9-81ED-4DB2-BD59-A6C34878D82A}">
                    <a16:rowId xmlns:a16="http://schemas.microsoft.com/office/drawing/2014/main" val="375556163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18288" marB="18288" anchor="b">
                    <a:lnL>
                      <a:noFill/>
                    </a:lnL>
                    <a:lnR>
                      <a:noFill/>
                    </a:lnR>
                    <a:lnT>
                      <a:noFill/>
                    </a:lnT>
                    <a:lnB>
                      <a:noFill/>
                    </a:lnB>
                    <a:noFill/>
                  </a:tcPr>
                </a:tc>
                <a:extLst>
                  <a:ext uri="{0D108BD9-81ED-4DB2-BD59-A6C34878D82A}">
                    <a16:rowId xmlns:a16="http://schemas.microsoft.com/office/drawing/2014/main" val="4193629857"/>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414760202"/>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1966385599"/>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299918039"/>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a:noFill/>
                    </a:lnB>
                    <a:noFill/>
                  </a:tcPr>
                </a:tc>
                <a:extLst>
                  <a:ext uri="{0D108BD9-81ED-4DB2-BD59-A6C34878D82A}">
                    <a16:rowId xmlns:a16="http://schemas.microsoft.com/office/drawing/2014/main" val="2867474206"/>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4200270487"/>
                  </a:ext>
                </a:extLst>
              </a:tr>
              <a:tr h="0">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3515799974"/>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391721504"/>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18288" marB="18288" anchor="b">
                    <a:lnL>
                      <a:noFill/>
                    </a:lnL>
                    <a:lnR>
                      <a:noFill/>
                    </a:lnR>
                    <a:lnT>
                      <a:noFill/>
                    </a:lnT>
                    <a:lnB>
                      <a:noFill/>
                    </a:lnB>
                    <a:noFill/>
                  </a:tcPr>
                </a:tc>
                <a:extLst>
                  <a:ext uri="{0D108BD9-81ED-4DB2-BD59-A6C34878D82A}">
                    <a16:rowId xmlns:a16="http://schemas.microsoft.com/office/drawing/2014/main" val="2150949897"/>
                  </a:ext>
                </a:extLst>
              </a:tr>
              <a:tr h="0">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solidFill>
                      <a:srgbClr val="FFFFDB"/>
                    </a:solidFill>
                  </a:tcPr>
                </a:tc>
                <a:extLst>
                  <a:ext uri="{0D108BD9-81ED-4DB2-BD59-A6C34878D82A}">
                    <a16:rowId xmlns:a16="http://schemas.microsoft.com/office/drawing/2014/main" val="1646738110"/>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sp>
        <p:nvSpPr>
          <p:cNvPr id="11" name="TextBox 10">
            <a:extLst>
              <a:ext uri="{FF2B5EF4-FFF2-40B4-BE49-F238E27FC236}">
                <a16:creationId xmlns:a16="http://schemas.microsoft.com/office/drawing/2014/main" id="{7A176926-8EA9-8F44-7290-2278EDAB48CA}"/>
              </a:ext>
            </a:extLst>
          </p:cNvPr>
          <p:cNvSpPr txBox="1"/>
          <p:nvPr/>
        </p:nvSpPr>
        <p:spPr>
          <a:xfrm>
            <a:off x="1603612" y="1511606"/>
            <a:ext cx="2372781"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2" name="TextBox 11">
            <a:extLst>
              <a:ext uri="{FF2B5EF4-FFF2-40B4-BE49-F238E27FC236}">
                <a16:creationId xmlns:a16="http://schemas.microsoft.com/office/drawing/2014/main" id="{DE19D66B-C281-5495-1796-D5E962950321}"/>
              </a:ext>
            </a:extLst>
          </p:cNvPr>
          <p:cNvSpPr txBox="1"/>
          <p:nvPr/>
        </p:nvSpPr>
        <p:spPr>
          <a:xfrm>
            <a:off x="4821679" y="1826113"/>
            <a:ext cx="3517826" cy="250710"/>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dirty="0">
                <a:solidFill>
                  <a:schemeClr val="bg1"/>
                </a:solidFill>
              </a:rPr>
              <a:t>Key Issues Given </a:t>
            </a:r>
            <a:r>
              <a:rPr lang="en-US" sz="1200" b="1" dirty="0" err="1">
                <a:solidFill>
                  <a:schemeClr val="bg1"/>
                </a:solidFill>
              </a:rPr>
              <a:t>Plutos</a:t>
            </a:r>
            <a:r>
              <a:rPr lang="en-US" sz="1200" b="1" dirty="0">
                <a:solidFill>
                  <a:schemeClr val="bg1"/>
                </a:solidFill>
              </a:rPr>
              <a:t>’ Acquisition of PA Consulting</a:t>
            </a:r>
          </a:p>
        </p:txBody>
      </p:sp>
      <p:sp>
        <p:nvSpPr>
          <p:cNvPr id="90004" name="acme-flag-90004"/>
          <p:cNvSpPr/>
          <p:nvPr/>
        </p:nvSpPr>
        <p:spPr>
          <a:xfrm>
            <a:off x="952599" y="1799058"/>
            <a:ext cx="3675860" cy="4349496"/>
          </a:xfrm>
          <a:prstGeom prst="rect">
            <a:avLst/>
          </a:prstGeom>
          <a:solidFill>
            <a:srgbClr val="FFD400">
              <a:alpha val="30000"/>
            </a:srgbClr>
          </a:solidFill>
          <a:ln w="19050">
            <a:solidFill>
              <a:srgbClr val="E80000"/>
            </a:solidFill>
          </a:ln>
        </p:spPr>
        <p:txBody>
          <a:bodyPr/>
          <a:lstStyle/>
          <a:p/>
        </p:txBody>
      </p:sp>
      <p:sp>
        <p:nvSpPr>
          <p:cNvPr id="90005" name="acme-flag-90005"/>
          <p:cNvSpPr/>
          <p:nvPr/>
        </p:nvSpPr>
        <p:spPr>
          <a:xfrm>
            <a:off x="952599" y="1799058"/>
            <a:ext cx="3675860" cy="4349496"/>
          </a:xfrm>
          <a:prstGeom prst="rect">
            <a:avLst/>
          </a:prstGeom>
          <a:solidFill>
            <a:srgbClr val="FFD400">
              <a:alpha val="30000"/>
            </a:srgbClr>
          </a:solidFill>
          <a:ln w="19050">
            <a:solidFill>
              <a:srgbClr val="E80000"/>
            </a:solidFill>
          </a:ln>
        </p:spPr>
        <p:txBody>
          <a:bodyPr/>
          <a:lstStyle/>
          <a:p/>
        </p:txBody>
      </p:sp>
      <p:sp>
        <p:nvSpPr>
          <p:cNvPr id="90006" name="acme-flag-90006"/>
          <p:cNvSpPr/>
          <p:nvPr/>
        </p:nvSpPr>
        <p:spPr>
          <a:xfrm>
            <a:off x="952599" y="1799058"/>
            <a:ext cx="3675860" cy="4349496"/>
          </a:xfrm>
          <a:prstGeom prst="rect">
            <a:avLst/>
          </a:prstGeom>
          <a:solidFill>
            <a:srgbClr val="FFD400">
              <a:alpha val="30000"/>
            </a:srgbClr>
          </a:solidFill>
          <a:ln w="19050">
            <a:solidFill>
              <a:srgbClr val="E80000"/>
            </a:solidFill>
          </a:ln>
        </p:spPr>
        <p:txBody>
          <a:bodyPr/>
          <a:lstStyle/>
          <a:p/>
        </p:txBody>
      </p:sp>
      <p:sp>
        <p:nvSpPr>
          <p:cNvPr id="90007" name="acme-flag-90007"/>
          <p:cNvSpPr/>
          <p:nvPr/>
        </p:nvSpPr>
        <p:spPr>
          <a:xfrm>
            <a:off x="4821679" y="2070463"/>
            <a:ext cx="3517826" cy="1887224"/>
          </a:xfrm>
          <a:prstGeom prst="rect">
            <a:avLst/>
          </a:prstGeom>
          <a:solidFill>
            <a:srgbClr val="FFD400">
              <a:alpha val="30000"/>
            </a:srgbClr>
          </a:solidFill>
          <a:ln w="19050">
            <a:solidFill>
              <a:srgbClr val="E80000"/>
            </a:solidFill>
          </a:ln>
        </p:spPr>
        <p:txBody>
          <a:bodyPr/>
          <a:lstStyle/>
          <a:p/>
        </p:txBody>
      </p:sp>
      <p:sp>
        <p:nvSpPr>
          <p:cNvPr id="90008" name="acme-flag-90008"/>
          <p:cNvSpPr/>
          <p:nvPr/>
        </p:nvSpPr>
        <p:spPr>
          <a:xfrm>
            <a:off x="4821679" y="2070463"/>
            <a:ext cx="3517826" cy="1887224"/>
          </a:xfrm>
          <a:prstGeom prst="rect">
            <a:avLst/>
          </a:prstGeom>
          <a:solidFill>
            <a:srgbClr val="FFD400">
              <a:alpha val="30000"/>
            </a:srgbClr>
          </a:solidFill>
          <a:ln w="19050">
            <a:solidFill>
              <a:srgbClr val="E80000"/>
            </a:solidFill>
          </a:ln>
        </p:spPr>
        <p:txBody>
          <a:bodyPr/>
          <a:lstStyle/>
          <a:p/>
        </p:txBody>
      </p:sp>
      <p:sp>
        <p:nvSpPr>
          <p:cNvPr id="90009" name="acme-flag-90009"/>
          <p:cNvSpPr/>
          <p:nvPr/>
        </p:nvSpPr>
        <p:spPr>
          <a:xfrm>
            <a:off x="952599" y="1799058"/>
            <a:ext cx="3675860" cy="4349496"/>
          </a:xfrm>
          <a:prstGeom prst="rect">
            <a:avLst/>
          </a:prstGeom>
          <a:solidFill>
            <a:srgbClr val="FFD400">
              <a:alpha val="30000"/>
            </a:srgbClr>
          </a:solidFill>
          <a:ln w="19050">
            <a:solidFill>
              <a:srgbClr val="E80000"/>
            </a:solidFill>
          </a:ln>
        </p:spPr>
        <p:txBody>
          <a:bodyPr/>
          <a:lstStyle/>
          <a:p/>
        </p:txBody>
      </p:sp>
      <p:sp>
        <p:nvSpPr>
          <p:cNvPr id="90010" name="acme-flag-90010"/>
          <p:cNvSpPr/>
          <p:nvPr/>
        </p:nvSpPr>
        <p:spPr>
          <a:xfrm>
            <a:off x="4821679" y="1826113"/>
            <a:ext cx="3517826" cy="250710"/>
          </a:xfrm>
          <a:prstGeom prst="rect">
            <a:avLst/>
          </a:prstGeom>
          <a:solidFill>
            <a:srgbClr val="FFD400">
              <a:alpha val="30000"/>
            </a:srgbClr>
          </a:solidFill>
          <a:ln w="19050">
            <a:solidFill>
              <a:srgbClr val="E80000"/>
            </a:solidFill>
          </a:ln>
        </p:spPr>
        <p:txBody>
          <a:bodyPr/>
          <a:lstStyle/>
          <a:p/>
        </p:txBody>
      </p:sp>
      <p:sp>
        <p:nvSpPr>
          <p:cNvPr id="90011" name="acme-note-90011"/>
          <p:cNvSpPr txBox="1"/>
          <p:nvPr/>
        </p:nvSpPr>
        <p:spPr>
          <a:xfrm>
            <a:off x="152400" y="5453000"/>
            <a:ext cx="8839200" cy="13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8 brand issues flagged:</a:t>
            </a:r>
          </a:p>
          <a:p>
            <a:r>
              <a:rPr lang="en-US" sz="1000" b="0" dirty="0">
                <a:solidFill>
                  <a:srgbClr val="9B0000"/>
                </a:solidFill>
                <a:latin typeface="Calibri"/>
              </a:rPr>
              <a:t>1. Table rows 18 and 20 label statistics as '75th Percentile' and '25th Percentile'; the guidelines require '%ile' not 'Percentile' (e.g., '75th %ile', '25th %ile').</a:t>
            </a:r>
          </a:p>
          <a:p>
            <a:r>
              <a:rPr lang="en-US" sz="1000" b="0" dirty="0">
                <a:solidFill>
                  <a:srgbClr val="9B0000"/>
                </a:solidFill>
                <a:latin typeface="Calibri"/>
              </a:rPr>
              <a:t>2. Shape [#2] bullet text is set at 12 pt; both primary and sub-bullets must be 16 pt per the bulleted-list guidelines.</a:t>
            </a:r>
          </a:p>
          <a:p>
            <a:r>
              <a:rPr lang="en-US" sz="1000" b="0" dirty="0">
                <a:solidFill>
                  <a:srgbClr val="9B0000"/>
                </a:solidFill>
                <a:latin typeface="Calibri"/>
              </a:rPr>
              <a:t>3. Shape [#2] bullet text ends with '?' (e.g., 'Should our screening criteria change?'); the guidelines require bullet text to not end in any punctuation.</a:t>
            </a:r>
          </a:p>
          <a:p>
            <a:r>
              <a:rPr lang="en-US" sz="1000" b="0" dirty="0">
                <a:solidFill>
                  <a:srgbClr val="9B0000"/>
                </a:solidFill>
                <a:latin typeface="Calibri"/>
              </a:rPr>
              <a:t>4. Row 6 (Kyndryl) has no fill ([]), but as the 6th body row in the alternating pattern it should carry #F2F2F2. Rows 1–5 correctly alternate, then the stripe breaks at row 6.</a:t>
            </a:r>
          </a:p>
          <a:p>
            <a:r>
              <a:rPr lang="en-US" sz="1000" b="0" dirty="0">
                <a:solidFill>
                  <a:srgbClr val="9B0000"/>
                </a:solidFill>
                <a:latin typeface="Calibri"/>
              </a:rPr>
              <a:t>5. No shape with 24 pt Calibri Bold is present on this content slide. The guidelines require every content slide to have a 24 pt Calibri Bold sentence-case headline communicating the takeaway.</a:t>
            </a:r>
          </a:p>
          <a:p>
            <a:r>
              <a:rPr lang="en-US" sz="1000" b="0" dirty="0">
                <a:solidFill>
                  <a:srgbClr val="9B0000"/>
                </a:solidFill>
                <a:latin typeface="Calibri"/>
              </a:rPr>
              <a:t>…and 3 more (see panel).</a:t>
            </a:r>
          </a:p>
        </p:txBody>
      </p:sp>
    </p:spTree>
    <p:extLst>
      <p:ext uri="{BB962C8B-B14F-4D97-AF65-F5344CB8AC3E}">
        <p14:creationId xmlns:p14="http://schemas.microsoft.com/office/powerpoint/2010/main" val="408918467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125303C1-786D-6F03-4C1B-65F5EA210732}"/>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7CD123C6-2F1D-66BE-A4DA-2F1D1D865E9F}"/>
              </a:ext>
            </a:extLst>
          </p:cNvPr>
          <p:cNvSpPr>
            <a:spLocks noGrp="1"/>
          </p:cNvSpPr>
          <p:nvPr>
            <p:ph type="title"/>
          </p:nvPr>
        </p:nvSpPr>
        <p:spPr>
          <a:xfrm>
            <a:off x="882797" y="44215"/>
            <a:ext cx="8074152" cy="1292899"/>
          </a:xfrm>
        </p:spPr>
        <p:txBody>
          <a:bodyPr/>
          <a:lstStyle/>
          <a:p>
            <a:r>
              <a:rPr lang="en-US" dirty="0" err="1"/>
              <a:t>Plutos</a:t>
            </a:r>
            <a:r>
              <a:rPr lang="en-US" dirty="0"/>
              <a:t>’ business profile has evolved with the addition of PA Consulting, which has implications for the peer group screening criteria</a:t>
            </a:r>
          </a:p>
        </p:txBody>
      </p:sp>
      <p:sp>
        <p:nvSpPr>
          <p:cNvPr id="4" name="Rectangle 3">
            <a:extLst>
              <a:ext uri="{FF2B5EF4-FFF2-40B4-BE49-F238E27FC236}">
                <a16:creationId xmlns:a16="http://schemas.microsoft.com/office/drawing/2014/main" id="{FDD11DD2-EFF1-68E6-50E3-8F3DD9459D38}"/>
              </a:ext>
            </a:extLst>
          </p:cNvPr>
          <p:cNvSpPr/>
          <p:nvPr/>
        </p:nvSpPr>
        <p:spPr>
          <a:xfrm>
            <a:off x="59256" y="1392912"/>
            <a:ext cx="2444688"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Segment Revenue Mix</a:t>
            </a:r>
          </a:p>
          <a:p>
            <a:pPr algn="ctr">
              <a:lnSpc>
                <a:spcPct val="85000"/>
              </a:lnSpc>
            </a:pPr>
            <a:r>
              <a:rPr lang="en-US" sz="1100" b="1" dirty="0">
                <a:solidFill>
                  <a:srgbClr val="000000"/>
                </a:solidFill>
                <a:latin typeface="Calibri" panose="020F0502020204030204" pitchFamily="34" charset="0"/>
              </a:rPr>
              <a:t>FY26E</a:t>
            </a:r>
            <a:r>
              <a:rPr lang="en-US" sz="1100" b="1" baseline="30000" dirty="0">
                <a:solidFill>
                  <a:srgbClr val="000000"/>
                </a:solidFill>
                <a:latin typeface="Calibri" panose="020F0502020204030204" pitchFamily="34" charset="0"/>
              </a:rPr>
              <a:t>(1)</a:t>
            </a:r>
            <a:endParaRPr lang="en-US" sz="1100" b="1" baseline="30000" dirty="0"/>
          </a:p>
        </p:txBody>
      </p:sp>
      <p:sp>
        <p:nvSpPr>
          <p:cNvPr id="6" name="Rectangle 5">
            <a:extLst>
              <a:ext uri="{FF2B5EF4-FFF2-40B4-BE49-F238E27FC236}">
                <a16:creationId xmlns:a16="http://schemas.microsoft.com/office/drawing/2014/main" id="{8F845FD9-2ED7-E37A-C259-B01686BEAD35}"/>
              </a:ext>
            </a:extLst>
          </p:cNvPr>
          <p:cNvSpPr/>
          <p:nvPr/>
        </p:nvSpPr>
        <p:spPr>
          <a:xfrm>
            <a:off x="53374" y="3234568"/>
            <a:ext cx="2444480" cy="497170"/>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pPr>
            <a:r>
              <a:rPr lang="en-US" sz="1100" b="1" dirty="0" err="1">
                <a:solidFill>
                  <a:schemeClr val="tx1"/>
                </a:solidFill>
              </a:rPr>
              <a:t>Plutos</a:t>
            </a:r>
            <a:r>
              <a:rPr lang="en-US" sz="1100" b="1" dirty="0">
                <a:solidFill>
                  <a:schemeClr val="tx1"/>
                </a:solidFill>
              </a:rPr>
              <a:t>’ Sector</a:t>
            </a:r>
          </a:p>
          <a:p>
            <a:pPr marL="171450" indent="-112713">
              <a:lnSpc>
                <a:spcPct val="80000"/>
              </a:lnSpc>
              <a:spcBef>
                <a:spcPts val="600"/>
              </a:spcBef>
              <a:buFont typeface="Wingdings" panose="05000000000000000000" pitchFamily="2" charset="2"/>
              <a:buChar char="§"/>
            </a:pPr>
            <a:r>
              <a:rPr lang="en-US" sz="1100" dirty="0">
                <a:solidFill>
                  <a:schemeClr val="tx1"/>
                </a:solidFill>
              </a:rPr>
              <a:t>Research &amp; Consulting</a:t>
            </a:r>
          </a:p>
        </p:txBody>
      </p:sp>
      <p:sp>
        <p:nvSpPr>
          <p:cNvPr id="7" name="Rectangle 6">
            <a:extLst>
              <a:ext uri="{FF2B5EF4-FFF2-40B4-BE49-F238E27FC236}">
                <a16:creationId xmlns:a16="http://schemas.microsoft.com/office/drawing/2014/main" id="{EC3E27AE-363A-81AD-700C-2532F4E3F390}"/>
              </a:ext>
            </a:extLst>
          </p:cNvPr>
          <p:cNvSpPr/>
          <p:nvPr/>
        </p:nvSpPr>
        <p:spPr>
          <a:xfrm>
            <a:off x="2565161" y="1392913"/>
            <a:ext cx="2314017"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Operating Unit Revenue Mix FY26E</a:t>
            </a:r>
            <a:r>
              <a:rPr lang="en-US" sz="1100" b="1" baseline="30000" dirty="0">
                <a:solidFill>
                  <a:srgbClr val="000000"/>
                </a:solidFill>
                <a:latin typeface="Calibri" panose="020F0502020204030204" pitchFamily="34" charset="0"/>
              </a:rPr>
              <a:t>(2)</a:t>
            </a:r>
            <a:endParaRPr lang="en-US" sz="1100" b="1" dirty="0">
              <a:solidFill>
                <a:schemeClr val="tx1"/>
              </a:solidFill>
            </a:endParaRPr>
          </a:p>
          <a:p>
            <a:pPr marL="171450" indent="-171450">
              <a:lnSpc>
                <a:spcPct val="85000"/>
              </a:lnSpc>
              <a:buFont typeface="Wingdings" panose="05000000000000000000" pitchFamily="2" charset="2"/>
              <a:buChar char="§"/>
            </a:pPr>
            <a:endParaRPr lang="en-US" sz="1100" dirty="0">
              <a:solidFill>
                <a:schemeClr val="tx1"/>
              </a:solidFill>
            </a:endParaRPr>
          </a:p>
          <a:p>
            <a:pPr marL="58737">
              <a:lnSpc>
                <a:spcPct val="85000"/>
              </a:lnSpc>
            </a:pPr>
            <a:endParaRPr lang="en-US" sz="1100" b="1" dirty="0">
              <a:solidFill>
                <a:schemeClr val="tx1"/>
              </a:solidFill>
            </a:endParaRPr>
          </a:p>
          <a:p>
            <a:pPr algn="ctr">
              <a:lnSpc>
                <a:spcPct val="85000"/>
              </a:lnSpc>
            </a:pPr>
            <a:endParaRPr lang="en-US" sz="1100" b="1" dirty="0">
              <a:solidFill>
                <a:schemeClr val="tx1"/>
              </a:solidFill>
            </a:endParaRPr>
          </a:p>
        </p:txBody>
      </p:sp>
      <p:sp>
        <p:nvSpPr>
          <p:cNvPr id="8" name="Rectangle 7">
            <a:extLst>
              <a:ext uri="{FF2B5EF4-FFF2-40B4-BE49-F238E27FC236}">
                <a16:creationId xmlns:a16="http://schemas.microsoft.com/office/drawing/2014/main" id="{EF267B8C-5092-9A43-5F7B-C1BA50DA43EF}"/>
              </a:ext>
            </a:extLst>
          </p:cNvPr>
          <p:cNvSpPr/>
          <p:nvPr/>
        </p:nvSpPr>
        <p:spPr>
          <a:xfrm>
            <a:off x="53270" y="3775742"/>
            <a:ext cx="2444689" cy="863312"/>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spcBef>
                <a:spcPts val="600"/>
              </a:spcBef>
            </a:pPr>
            <a:r>
              <a:rPr lang="en-US" sz="1100" b="1" dirty="0" err="1">
                <a:solidFill>
                  <a:schemeClr val="tx1"/>
                </a:solidFill>
              </a:rPr>
              <a:t>Plutos</a:t>
            </a:r>
            <a:r>
              <a:rPr lang="en-US" sz="1100" b="1" dirty="0">
                <a:solidFill>
                  <a:schemeClr val="tx1"/>
                </a:solidFill>
              </a:rPr>
              <a:t>’ Business Model</a:t>
            </a:r>
          </a:p>
          <a:p>
            <a:pPr marL="171450" indent="-112713">
              <a:lnSpc>
                <a:spcPct val="80000"/>
              </a:lnSpc>
              <a:spcBef>
                <a:spcPts val="600"/>
              </a:spcBef>
              <a:buFont typeface="Wingdings" panose="05000000000000000000" pitchFamily="2" charset="2"/>
              <a:buChar char="§"/>
            </a:pPr>
            <a:r>
              <a:rPr lang="en-US" sz="1100" dirty="0">
                <a:solidFill>
                  <a:schemeClr val="tx1"/>
                </a:solidFill>
              </a:rPr>
              <a:t>Consulting &amp; professional services</a:t>
            </a:r>
          </a:p>
          <a:p>
            <a:pPr marL="171450" indent="-112713">
              <a:lnSpc>
                <a:spcPct val="80000"/>
              </a:lnSpc>
              <a:spcBef>
                <a:spcPts val="600"/>
              </a:spcBef>
              <a:buFont typeface="Wingdings" panose="05000000000000000000" pitchFamily="2" charset="2"/>
              <a:buChar char="§"/>
            </a:pPr>
            <a:r>
              <a:rPr lang="en-US" sz="1100" dirty="0">
                <a:solidFill>
                  <a:schemeClr val="tx1"/>
                </a:solidFill>
              </a:rPr>
              <a:t>Advanced engineering and technology</a:t>
            </a:r>
          </a:p>
        </p:txBody>
      </p:sp>
      <p:sp>
        <p:nvSpPr>
          <p:cNvPr id="9" name="Rectangle 8">
            <a:extLst>
              <a:ext uri="{FF2B5EF4-FFF2-40B4-BE49-F238E27FC236}">
                <a16:creationId xmlns:a16="http://schemas.microsoft.com/office/drawing/2014/main" id="{09DCA786-F5F9-4EC0-FADC-8CCA4D618688}"/>
              </a:ext>
            </a:extLst>
          </p:cNvPr>
          <p:cNvSpPr/>
          <p:nvPr/>
        </p:nvSpPr>
        <p:spPr>
          <a:xfrm>
            <a:off x="59256" y="4685844"/>
            <a:ext cx="2444688"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Customers</a:t>
            </a:r>
          </a:p>
        </p:txBody>
      </p:sp>
      <p:graphicFrame>
        <p:nvGraphicFramePr>
          <p:cNvPr id="10" name="Table 9">
            <a:extLst>
              <a:ext uri="{FF2B5EF4-FFF2-40B4-BE49-F238E27FC236}">
                <a16:creationId xmlns:a16="http://schemas.microsoft.com/office/drawing/2014/main" id="{40153882-5954-76DF-40D1-08496F1FF069}"/>
              </a:ext>
            </a:extLst>
          </p:cNvPr>
          <p:cNvGraphicFramePr>
            <a:graphicFrameLocks noGrp="1"/>
          </p:cNvGraphicFramePr>
          <p:nvPr>
            <p:extLst>
              <p:ext uri="{D42A27DB-BD31-4B8C-83A1-F6EECF244321}">
                <p14:modId xmlns:p14="http://schemas.microsoft.com/office/powerpoint/2010/main" val="479422245"/>
              </p:ext>
            </p:extLst>
          </p:nvPr>
        </p:nvGraphicFramePr>
        <p:xfrm>
          <a:off x="4952039" y="1601027"/>
          <a:ext cx="4114800" cy="3849624"/>
        </p:xfrm>
        <a:graphic>
          <a:graphicData uri="http://schemas.openxmlformats.org/drawingml/2006/table">
            <a:tbl>
              <a:tblPr firstRow="1" bandRow="1">
                <a:tableStyleId>{A77E1047-C769-4665-AFDC-4AF39A3502B1}</a:tableStyleId>
              </a:tblPr>
              <a:tblGrid>
                <a:gridCol w="822960">
                  <a:extLst>
                    <a:ext uri="{9D8B030D-6E8A-4147-A177-3AD203B41FA5}">
                      <a16:colId xmlns:a16="http://schemas.microsoft.com/office/drawing/2014/main" val="2703726966"/>
                    </a:ext>
                  </a:extLst>
                </a:gridCol>
                <a:gridCol w="1366465">
                  <a:extLst>
                    <a:ext uri="{9D8B030D-6E8A-4147-A177-3AD203B41FA5}">
                      <a16:colId xmlns:a16="http://schemas.microsoft.com/office/drawing/2014/main" val="3757828032"/>
                    </a:ext>
                  </a:extLst>
                </a:gridCol>
                <a:gridCol w="1925375">
                  <a:extLst>
                    <a:ext uri="{9D8B030D-6E8A-4147-A177-3AD203B41FA5}">
                      <a16:colId xmlns:a16="http://schemas.microsoft.com/office/drawing/2014/main" val="189718360"/>
                    </a:ext>
                  </a:extLst>
                </a:gridCol>
              </a:tblGrid>
              <a:tr h="0">
                <a:tc>
                  <a:txBody>
                    <a:bodyPr/>
                    <a:lstStyle/>
                    <a:p>
                      <a:pPr algn="ctr"/>
                      <a:r>
                        <a:rPr lang="en-US" sz="900" dirty="0"/>
                        <a:t>Characteristic</a:t>
                      </a:r>
                    </a:p>
                  </a:txBody>
                  <a:tcPr marL="73152" marR="73152"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dirty="0" err="1"/>
                        <a:t>Plutos</a:t>
                      </a:r>
                      <a:endParaRPr lang="en-US" sz="900" dirty="0"/>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a:t>Criteria </a:t>
                      </a:r>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4926"/>
                  </a:ext>
                </a:extLst>
              </a:tr>
              <a:tr h="0">
                <a:tc>
                  <a:txBody>
                    <a:bodyPr/>
                    <a:lstStyle/>
                    <a:p>
                      <a:pPr>
                        <a:lnSpc>
                          <a:spcPct val="90000"/>
                        </a:lnSpc>
                      </a:pPr>
                      <a:r>
                        <a:rPr lang="en-US" sz="900" b="1"/>
                        <a:t>Universe</a:t>
                      </a:r>
                    </a:p>
                  </a:txBody>
                  <a:tcPr marL="73152" marR="73152" marT="18288" marB="18288">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lang="en-US" sz="900">
                        <a:solidFill>
                          <a:schemeClr val="tx1"/>
                        </a:solidFill>
                      </a:endParaRPr>
                    </a:p>
                  </a:txBody>
                  <a:tcPr marL="73152" marR="73152" marT="18288" marB="18288">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dirty="0">
                          <a:solidFill>
                            <a:srgbClr val="FF0000"/>
                          </a:solidFill>
                        </a:rPr>
                        <a:t>Review companies listed in </a:t>
                      </a:r>
                      <a:r>
                        <a:rPr lang="en-US" sz="900" b="1" dirty="0" err="1">
                          <a:solidFill>
                            <a:srgbClr val="FF0000"/>
                          </a:solidFill>
                        </a:rPr>
                        <a:t>Plutos</a:t>
                      </a:r>
                      <a:r>
                        <a:rPr lang="en-US" sz="900" b="1" dirty="0">
                          <a:solidFill>
                            <a:srgbClr val="FF0000"/>
                          </a:solidFill>
                        </a:rPr>
                        <a:t>’ and PA’s </a:t>
                      </a:r>
                      <a:r>
                        <a:rPr lang="en-US" sz="900" b="1" dirty="0" err="1">
                          <a:solidFill>
                            <a:srgbClr val="FF0000"/>
                          </a:solidFill>
                        </a:rPr>
                        <a:t>noncompetes</a:t>
                      </a:r>
                      <a:endParaRPr lang="en-US" sz="900" b="1" dirty="0">
                        <a:solidFill>
                          <a:srgbClr val="FF0000"/>
                        </a:solidFill>
                      </a:endParaRPr>
                    </a:p>
                  </a:txBody>
                  <a:tcPr marL="73152" marR="73152" marT="18288" marB="18288">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657361590"/>
                  </a:ext>
                </a:extLst>
              </a:tr>
              <a:tr h="0">
                <a:tc>
                  <a:txBody>
                    <a:bodyPr/>
                    <a:lstStyle/>
                    <a:p>
                      <a:pPr>
                        <a:lnSpc>
                          <a:spcPct val="90000"/>
                        </a:lnSpc>
                      </a:pPr>
                      <a:r>
                        <a:rPr lang="en-US" sz="900" b="1"/>
                        <a:t>Geography</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Expanded beyond US and Canada </a:t>
                      </a:r>
                      <a:r>
                        <a:rPr lang="en-US" sz="900" b="1">
                          <a:solidFill>
                            <a:srgbClr val="FF0000"/>
                          </a:solidFill>
                        </a:rPr>
                        <a:t>to include UK companies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42511456"/>
                  </a:ext>
                </a:extLst>
              </a:tr>
              <a:tr h="0">
                <a:tc>
                  <a:txBody>
                    <a:bodyPr/>
                    <a:lstStyle/>
                    <a:p>
                      <a:pPr>
                        <a:lnSpc>
                          <a:spcPct val="90000"/>
                        </a:lnSpc>
                      </a:pPr>
                      <a:r>
                        <a:rPr lang="en-US" sz="900" b="1"/>
                        <a:t>Sector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Construction &amp; Engineering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IT Consulting &amp; Other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Electrical Components &amp;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Industrial Conglomerates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Manufacturing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Environmental &amp; Facilities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Communications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Technology Hardware, Storage &amp; Peripherals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Equipment &amp; Instruments </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Application Software</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3829882"/>
                  </a:ext>
                </a:extLst>
              </a:tr>
              <a:tr h="0">
                <a:tc>
                  <a:txBody>
                    <a:bodyPr/>
                    <a:lstStyle/>
                    <a:p>
                      <a:pPr>
                        <a:lnSpc>
                          <a:spcPct val="90000"/>
                        </a:lnSpc>
                      </a:pPr>
                      <a:r>
                        <a:rPr lang="en-US" sz="900" b="1"/>
                        <a:t>Customer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indent="-91440">
                        <a:lnSpc>
                          <a:spcPct val="90000"/>
                        </a:lnSpc>
                        <a:buFont typeface="Wingdings" panose="05000000000000000000" pitchFamily="2" charset="2"/>
                        <a:buChar char="§"/>
                      </a:pPr>
                      <a:r>
                        <a:rPr lang="en-US" sz="900">
                          <a:solidFill>
                            <a:schemeClr val="tx1"/>
                          </a:solidFill>
                        </a:rPr>
                        <a:t>38% 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u="sng">
                          <a:solidFill>
                            <a:schemeClr val="tx1"/>
                          </a:solidFill>
                        </a:rPr>
                        <a:t>&gt;</a:t>
                      </a:r>
                      <a:r>
                        <a:rPr lang="en-US" sz="900">
                          <a:solidFill>
                            <a:schemeClr val="tx1"/>
                          </a:solidFill>
                        </a:rPr>
                        <a:t>30% international</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543477626"/>
                  </a:ext>
                </a:extLst>
              </a:tr>
              <a:tr h="0">
                <a:tc>
                  <a:txBody>
                    <a:bodyPr/>
                    <a:lstStyle/>
                    <a:p>
                      <a:pPr>
                        <a:lnSpc>
                          <a:spcPct val="90000"/>
                        </a:lnSpc>
                      </a:pPr>
                      <a:r>
                        <a:rPr lang="en-US" sz="900" b="1"/>
                        <a:t>Financial Health</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Strong financial performance</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a:solidFill>
                            <a:schemeClr val="accent4"/>
                          </a:solidFill>
                        </a:rPr>
                        <a:t>Financial viability, i.e., no material concerns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041730926"/>
                  </a:ext>
                </a:extLst>
              </a:tr>
              <a:tr h="0">
                <a:tc>
                  <a:txBody>
                    <a:bodyPr/>
                    <a:lstStyle/>
                    <a:p>
                      <a:pPr>
                        <a:lnSpc>
                          <a:spcPct val="90000"/>
                        </a:lnSpc>
                      </a:pPr>
                      <a:r>
                        <a:rPr lang="en-US" sz="900" b="1"/>
                        <a:t>Business Model</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Consulting &amp; professional services provider</a:t>
                      </a:r>
                    </a:p>
                    <a:p>
                      <a:pPr marL="91440" indent="-91440">
                        <a:lnSpc>
                          <a:spcPct val="90000"/>
                        </a:lnSpc>
                        <a:buFont typeface="Wingdings" panose="05000000000000000000" pitchFamily="2" charset="2"/>
                        <a:buChar char="§"/>
                      </a:pPr>
                      <a:r>
                        <a:rPr lang="en-US" sz="900">
                          <a:solidFill>
                            <a:schemeClr val="tx1"/>
                          </a:solidFill>
                        </a:rPr>
                        <a:t>Advanced engineering and technology capabilities</a:t>
                      </a:r>
                    </a:p>
                  </a:txBody>
                  <a:tcPr marL="73152" marR="73152" marT="18288" marB="18288">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Consulting &amp; professional services provider</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Advanced engineering and technology capabilities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617838"/>
                  </a:ext>
                </a:extLst>
              </a:tr>
            </a:tbl>
          </a:graphicData>
        </a:graphic>
      </p:graphicFrame>
      <p:sp>
        <p:nvSpPr>
          <p:cNvPr id="13" name="Rectangle 12">
            <a:extLst>
              <a:ext uri="{FF2B5EF4-FFF2-40B4-BE49-F238E27FC236}">
                <a16:creationId xmlns:a16="http://schemas.microsoft.com/office/drawing/2014/main" id="{5732D7B0-05D6-A91F-5B6C-8E69DE0D7080}"/>
              </a:ext>
            </a:extLst>
          </p:cNvPr>
          <p:cNvSpPr/>
          <p:nvPr/>
        </p:nvSpPr>
        <p:spPr>
          <a:xfrm>
            <a:off x="2562385" y="4685844"/>
            <a:ext cx="2313061"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Adj. Net Revenue ($B)</a:t>
            </a:r>
          </a:p>
          <a:p>
            <a:pPr algn="ctr">
              <a:lnSpc>
                <a:spcPct val="85000"/>
              </a:lnSpc>
            </a:pPr>
            <a:r>
              <a:rPr lang="en-US" sz="1100" b="1" dirty="0">
                <a:solidFill>
                  <a:schemeClr val="tx1"/>
                </a:solidFill>
              </a:rPr>
              <a:t>FY24A - FY29E</a:t>
            </a:r>
            <a:r>
              <a:rPr lang="en-US" sz="1100" b="1" baseline="30000" dirty="0">
                <a:solidFill>
                  <a:schemeClr val="tx1"/>
                </a:solidFill>
              </a:rPr>
              <a:t>(3)(4)</a:t>
            </a:r>
            <a:endParaRPr lang="en-US" sz="1100" b="1" dirty="0">
              <a:solidFill>
                <a:schemeClr val="tx1"/>
              </a:solidFill>
            </a:endParaRPr>
          </a:p>
          <a:p>
            <a:pPr algn="ctr">
              <a:lnSpc>
                <a:spcPct val="85000"/>
              </a:lnSpc>
            </a:pPr>
            <a:endParaRPr lang="en-US" sz="1100" b="1" dirty="0">
              <a:solidFill>
                <a:schemeClr val="tx1"/>
              </a:solidFill>
            </a:endParaRPr>
          </a:p>
        </p:txBody>
      </p:sp>
      <p:sp>
        <p:nvSpPr>
          <p:cNvPr id="18" name="TextBox 17">
            <a:extLst>
              <a:ext uri="{FF2B5EF4-FFF2-40B4-BE49-F238E27FC236}">
                <a16:creationId xmlns:a16="http://schemas.microsoft.com/office/drawing/2014/main" id="{5AFC04ED-A808-4DDE-7127-B425A3E9EF6B}"/>
              </a:ext>
            </a:extLst>
          </p:cNvPr>
          <p:cNvSpPr txBox="1"/>
          <p:nvPr/>
        </p:nvSpPr>
        <p:spPr>
          <a:xfrm>
            <a:off x="59256" y="1167893"/>
            <a:ext cx="4816190" cy="196541"/>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dirty="0" err="1">
                <a:solidFill>
                  <a:schemeClr val="bg1"/>
                </a:solidFill>
              </a:rPr>
              <a:t>Plutos</a:t>
            </a:r>
            <a:r>
              <a:rPr lang="en-US" sz="1100" b="1" dirty="0">
                <a:solidFill>
                  <a:schemeClr val="bg1"/>
                </a:solidFill>
              </a:rPr>
              <a:t> Business Profile</a:t>
            </a:r>
            <a:endParaRPr lang="en-US" sz="1100" b="1" baseline="30000" dirty="0">
              <a:solidFill>
                <a:schemeClr val="bg1"/>
              </a:solidFill>
            </a:endParaRPr>
          </a:p>
        </p:txBody>
      </p:sp>
      <p:sp>
        <p:nvSpPr>
          <p:cNvPr id="20" name="TextBox 19">
            <a:extLst>
              <a:ext uri="{FF2B5EF4-FFF2-40B4-BE49-F238E27FC236}">
                <a16:creationId xmlns:a16="http://schemas.microsoft.com/office/drawing/2014/main" id="{C321E67B-A179-A09B-A2FE-4E641C1F7413}"/>
              </a:ext>
            </a:extLst>
          </p:cNvPr>
          <p:cNvSpPr txBox="1"/>
          <p:nvPr/>
        </p:nvSpPr>
        <p:spPr>
          <a:xfrm>
            <a:off x="4953000" y="1159421"/>
            <a:ext cx="4113839" cy="205013"/>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a:solidFill>
                  <a:schemeClr val="bg1"/>
                </a:solidFill>
              </a:rPr>
              <a:t>Implications for Peer Screening Criteria</a:t>
            </a:r>
            <a:endParaRPr lang="en-US" sz="1100" b="1" baseline="30000">
              <a:solidFill>
                <a:schemeClr val="bg1"/>
              </a:solidFill>
            </a:endParaRPr>
          </a:p>
        </p:txBody>
      </p:sp>
      <p:pic>
        <p:nvPicPr>
          <p:cNvPr id="21" name="Picture 20">
            <a:extLst>
              <a:ext uri="{FF2B5EF4-FFF2-40B4-BE49-F238E27FC236}">
                <a16:creationId xmlns:a16="http://schemas.microsoft.com/office/drawing/2014/main" id="{90B84045-DD08-C4B1-4C12-853C67A412C0}"/>
              </a:ext>
            </a:extLst>
          </p:cNvPr>
          <p:cNvPicPr>
            <a:picLocks noChangeAspect="1"/>
          </p:cNvPicPr>
          <p:nvPr/>
        </p:nvPicPr>
        <p:blipFill>
          <a:blip r:embed="rId3"/>
          <a:stretch>
            <a:fillRect/>
          </a:stretch>
        </p:blipFill>
        <p:spPr>
          <a:xfrm>
            <a:off x="-34056" y="4926012"/>
            <a:ext cx="2631311" cy="1578787"/>
          </a:xfrm>
          <a:prstGeom prst="rect">
            <a:avLst/>
          </a:prstGeom>
        </p:spPr>
      </p:pic>
      <p:pic>
        <p:nvPicPr>
          <p:cNvPr id="25" name="Picture 66">
            <a:extLst>
              <a:ext uri="{FF2B5EF4-FFF2-40B4-BE49-F238E27FC236}">
                <a16:creationId xmlns:a16="http://schemas.microsoft.com/office/drawing/2014/main" id="{EE813D8B-FB42-291D-91DA-EA2DE7269E1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74772" y="1336153"/>
            <a:ext cx="3886295" cy="2303241"/>
          </a:xfrm>
          <a:prstGeom prst="rect">
            <a:avLst/>
          </a:prstGeom>
        </p:spPr>
      </p:pic>
      <p:sp>
        <p:nvSpPr>
          <p:cNvPr id="27" name="TextBox 26">
            <a:extLst>
              <a:ext uri="{FF2B5EF4-FFF2-40B4-BE49-F238E27FC236}">
                <a16:creationId xmlns:a16="http://schemas.microsoft.com/office/drawing/2014/main" id="{80388426-B593-34E0-7EA7-2D562A3B1B8D}"/>
              </a:ext>
            </a:extLst>
          </p:cNvPr>
          <p:cNvSpPr txBox="1"/>
          <p:nvPr/>
        </p:nvSpPr>
        <p:spPr>
          <a:xfrm>
            <a:off x="4952039" y="5457486"/>
            <a:ext cx="4123180" cy="1152880"/>
          </a:xfrm>
          <a:prstGeom prst="rect">
            <a:avLst/>
          </a:prstGeom>
          <a:noFill/>
        </p:spPr>
        <p:txBody>
          <a:bodyPr vert="horz" wrap="square" lIns="45720" tIns="45720" rIns="45720" bIns="45720" rtlCol="0" anchor="ctr">
            <a:spAutoFit/>
          </a:bodyPr>
          <a:lstStyle/>
          <a:p>
            <a:pPr marL="173038" indent="-173038">
              <a:lnSpc>
                <a:spcPct val="85000"/>
              </a:lnSpc>
              <a:buAutoNum type="arabicParenBoth"/>
            </a:pPr>
            <a:r>
              <a:rPr lang="en-US" sz="900" i="1" dirty="0"/>
              <a:t>FY26 segment mix estimated by applying Q1 FY26 adj. net revenue segment mix for I&amp;AF to projected $8B of full‑year FY26 I&amp;AF adj. net revenue and adding $1.4B of projected PA Consulting revenue</a:t>
            </a:r>
          </a:p>
          <a:p>
            <a:pPr marL="173038" indent="-173038">
              <a:lnSpc>
                <a:spcPct val="85000"/>
              </a:lnSpc>
              <a:buAutoNum type="arabicParenBoth"/>
            </a:pPr>
            <a:r>
              <a:rPr lang="en-US" sz="900" i="1" dirty="0"/>
              <a:t>Total revenue for all OUs is based on FY26e (3+9F) adjusted net revenue forecast as provided by management</a:t>
            </a:r>
          </a:p>
          <a:p>
            <a:pPr marL="173038" indent="-173038">
              <a:lnSpc>
                <a:spcPct val="85000"/>
              </a:lnSpc>
              <a:buAutoNum type="arabicParenBoth"/>
            </a:pPr>
            <a:r>
              <a:rPr lang="en-US" sz="900" i="1" dirty="0"/>
              <a:t>FY26 and FY29 revenues projected using guidance per </a:t>
            </a:r>
            <a:r>
              <a:rPr lang="en-US" sz="900" i="1" dirty="0" err="1"/>
              <a:t>Plutos</a:t>
            </a:r>
            <a:r>
              <a:rPr lang="en-US" sz="900" i="1" dirty="0"/>
              <a:t>’ 2026 investor day: </a:t>
            </a:r>
          </a:p>
          <a:p>
            <a:pPr marL="284163" lvl="1" indent="-90488">
              <a:lnSpc>
                <a:spcPct val="85000"/>
              </a:lnSpc>
              <a:buFont typeface="Wingdings" panose="05000000000000000000" pitchFamily="2" charset="2"/>
              <a:buChar char="§"/>
            </a:pPr>
            <a:r>
              <a:rPr lang="en-US" sz="900" i="1" dirty="0"/>
              <a:t>Midpoint of 6.5%-10% growth for FY26</a:t>
            </a:r>
          </a:p>
          <a:p>
            <a:pPr marL="284163" lvl="1" indent="-90488">
              <a:lnSpc>
                <a:spcPct val="85000"/>
              </a:lnSpc>
              <a:buFont typeface="Wingdings" panose="05000000000000000000" pitchFamily="2" charset="2"/>
              <a:buChar char="§"/>
            </a:pPr>
            <a:r>
              <a:rPr lang="en-US" sz="900" i="1" dirty="0"/>
              <a:t>Midpoint of 6-8% CAGR for FY29 (using FY24 as baseline)</a:t>
            </a:r>
          </a:p>
          <a:p>
            <a:pPr marL="173038" indent="-173038">
              <a:lnSpc>
                <a:spcPct val="85000"/>
              </a:lnSpc>
              <a:buAutoNum type="arabicParenBoth"/>
            </a:pPr>
            <a:r>
              <a:rPr lang="en-US" sz="900" i="1" dirty="0"/>
              <a:t>Assumes gross revenue = adj. net revenue for PA Consulting</a:t>
            </a:r>
          </a:p>
        </p:txBody>
      </p:sp>
      <p:pic>
        <p:nvPicPr>
          <p:cNvPr id="32" name="Picture 31">
            <a:extLst>
              <a:ext uri="{FF2B5EF4-FFF2-40B4-BE49-F238E27FC236}">
                <a16:creationId xmlns:a16="http://schemas.microsoft.com/office/drawing/2014/main" id="{C6447481-66F6-135F-E02F-09FE5E135053}"/>
              </a:ext>
            </a:extLst>
          </p:cNvPr>
          <p:cNvPicPr>
            <a:picLocks noChangeAspect="1"/>
          </p:cNvPicPr>
          <p:nvPr/>
        </p:nvPicPr>
        <p:blipFill>
          <a:blip r:embed="rId5"/>
          <a:stretch>
            <a:fillRect/>
          </a:stretch>
        </p:blipFill>
        <p:spPr>
          <a:xfrm>
            <a:off x="2558723" y="5055520"/>
            <a:ext cx="2325893" cy="1292162"/>
          </a:xfrm>
          <a:prstGeom prst="rect">
            <a:avLst/>
          </a:prstGeom>
        </p:spPr>
      </p:pic>
      <p:sp>
        <p:nvSpPr>
          <p:cNvPr id="34" name="Rectangle 33">
            <a:extLst>
              <a:ext uri="{FF2B5EF4-FFF2-40B4-BE49-F238E27FC236}">
                <a16:creationId xmlns:a16="http://schemas.microsoft.com/office/drawing/2014/main" id="{A841D095-5E52-D2F1-8DBB-10F852391E6C}"/>
              </a:ext>
            </a:extLst>
          </p:cNvPr>
          <p:cNvSpPr/>
          <p:nvPr/>
        </p:nvSpPr>
        <p:spPr>
          <a:xfrm>
            <a:off x="3142852" y="6392338"/>
            <a:ext cx="91440" cy="91440"/>
          </a:xfrm>
          <a:prstGeom prst="rect">
            <a:avLst/>
          </a:prstGeom>
          <a:solidFill>
            <a:schemeClr val="accent1">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5" name="TextBox 34">
            <a:extLst>
              <a:ext uri="{FF2B5EF4-FFF2-40B4-BE49-F238E27FC236}">
                <a16:creationId xmlns:a16="http://schemas.microsoft.com/office/drawing/2014/main" id="{9E4A4CE0-EB96-E9CC-C1A0-3EFCBCAAB192}"/>
              </a:ext>
            </a:extLst>
          </p:cNvPr>
          <p:cNvSpPr txBox="1"/>
          <p:nvPr/>
        </p:nvSpPr>
        <p:spPr>
          <a:xfrm>
            <a:off x="3242948" y="6339089"/>
            <a:ext cx="1280160" cy="197939"/>
          </a:xfrm>
          <a:prstGeom prst="rect">
            <a:avLst/>
          </a:prstGeom>
          <a:noFill/>
        </p:spPr>
        <p:txBody>
          <a:bodyPr vert="horz" wrap="square" lIns="45720" tIns="45720" rIns="45720" bIns="45720" rtlCol="0" anchor="ctr">
            <a:spAutoFit/>
          </a:bodyPr>
          <a:lstStyle/>
          <a:p>
            <a:pPr>
              <a:lnSpc>
                <a:spcPct val="85000"/>
              </a:lnSpc>
            </a:pPr>
            <a:r>
              <a:rPr lang="en-US" sz="800" b="1"/>
              <a:t>I&amp;AF</a:t>
            </a:r>
          </a:p>
        </p:txBody>
      </p:sp>
      <p:sp>
        <p:nvSpPr>
          <p:cNvPr id="36" name="TextBox 35">
            <a:extLst>
              <a:ext uri="{FF2B5EF4-FFF2-40B4-BE49-F238E27FC236}">
                <a16:creationId xmlns:a16="http://schemas.microsoft.com/office/drawing/2014/main" id="{7CFFBE14-4A07-FF3B-11C4-E7E9EC3C1BEC}"/>
              </a:ext>
            </a:extLst>
          </p:cNvPr>
          <p:cNvSpPr txBox="1"/>
          <p:nvPr/>
        </p:nvSpPr>
        <p:spPr>
          <a:xfrm>
            <a:off x="2975918" y="5103912"/>
            <a:ext cx="1280160" cy="163587"/>
          </a:xfrm>
          <a:prstGeom prst="rect">
            <a:avLst/>
          </a:prstGeom>
          <a:noFill/>
          <a:ln w="12700">
            <a:solidFill>
              <a:schemeClr val="tx1"/>
            </a:solidFill>
          </a:ln>
        </p:spPr>
        <p:txBody>
          <a:bodyPr vert="horz" wrap="square" lIns="45720" tIns="45720" rIns="45720" bIns="45720" rtlCol="0" anchor="ctr">
            <a:spAutoFit/>
          </a:bodyPr>
          <a:lstStyle/>
          <a:p>
            <a:pPr algn="ctr">
              <a:lnSpc>
                <a:spcPct val="85000"/>
              </a:lnSpc>
            </a:pPr>
            <a:r>
              <a:rPr lang="en-US" sz="800" b="1"/>
              <a:t>FY25-29 CAGR: 6% to 8% </a:t>
            </a:r>
          </a:p>
        </p:txBody>
      </p:sp>
      <p:sp>
        <p:nvSpPr>
          <p:cNvPr id="37" name="Rectangle 36">
            <a:extLst>
              <a:ext uri="{FF2B5EF4-FFF2-40B4-BE49-F238E27FC236}">
                <a16:creationId xmlns:a16="http://schemas.microsoft.com/office/drawing/2014/main" id="{83E381C2-80A4-E9AC-BF22-D852170146BD}"/>
              </a:ext>
            </a:extLst>
          </p:cNvPr>
          <p:cNvSpPr/>
          <p:nvPr/>
        </p:nvSpPr>
        <p:spPr>
          <a:xfrm>
            <a:off x="3641802" y="6392338"/>
            <a:ext cx="91440" cy="91440"/>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8" name="TextBox 37">
            <a:extLst>
              <a:ext uri="{FF2B5EF4-FFF2-40B4-BE49-F238E27FC236}">
                <a16:creationId xmlns:a16="http://schemas.microsoft.com/office/drawing/2014/main" id="{D91F996A-2D21-8996-527D-3698DFA447C2}"/>
              </a:ext>
            </a:extLst>
          </p:cNvPr>
          <p:cNvSpPr txBox="1"/>
          <p:nvPr/>
        </p:nvSpPr>
        <p:spPr>
          <a:xfrm>
            <a:off x="3741898" y="6339089"/>
            <a:ext cx="731520" cy="197939"/>
          </a:xfrm>
          <a:prstGeom prst="rect">
            <a:avLst/>
          </a:prstGeom>
          <a:noFill/>
        </p:spPr>
        <p:txBody>
          <a:bodyPr vert="horz" wrap="square" lIns="45720" tIns="45720" rIns="45720" bIns="45720" rtlCol="0" anchor="ctr">
            <a:spAutoFit/>
          </a:bodyPr>
          <a:lstStyle/>
          <a:p>
            <a:pPr>
              <a:lnSpc>
                <a:spcPct val="85000"/>
              </a:lnSpc>
            </a:pPr>
            <a:r>
              <a:rPr lang="en-US" sz="800" b="1"/>
              <a:t>PA Consulting</a:t>
            </a:r>
          </a:p>
        </p:txBody>
      </p:sp>
      <p:sp>
        <p:nvSpPr>
          <p:cNvPr id="46" name="TextBox 45">
            <a:extLst>
              <a:ext uri="{FF2B5EF4-FFF2-40B4-BE49-F238E27FC236}">
                <a16:creationId xmlns:a16="http://schemas.microsoft.com/office/drawing/2014/main" id="{C0D57FE3-F485-0F7A-DCDC-D3D1F0375940}"/>
              </a:ext>
            </a:extLst>
          </p:cNvPr>
          <p:cNvSpPr txBox="1"/>
          <p:nvPr/>
        </p:nvSpPr>
        <p:spPr>
          <a:xfrm>
            <a:off x="7547875" y="1380759"/>
            <a:ext cx="1235275" cy="224292"/>
          </a:xfrm>
          <a:prstGeom prst="rect">
            <a:avLst/>
          </a:prstGeom>
          <a:noFill/>
        </p:spPr>
        <p:txBody>
          <a:bodyPr vert="horz" wrap="none" lIns="45720" tIns="45720" rIns="45720" bIns="45720" rtlCol="0" anchor="ctr">
            <a:spAutoFit/>
          </a:bodyPr>
          <a:lstStyle/>
          <a:p>
            <a:pPr algn="ctr">
              <a:lnSpc>
                <a:spcPct val="85000"/>
              </a:lnSpc>
            </a:pPr>
            <a:r>
              <a:rPr lang="en-US" sz="1000" b="1" i="1">
                <a:solidFill>
                  <a:srgbClr val="FF0000"/>
                </a:solidFill>
              </a:rPr>
              <a:t>New criteria this year</a:t>
            </a:r>
          </a:p>
        </p:txBody>
      </p:sp>
      <p:sp>
        <p:nvSpPr>
          <p:cNvPr id="11" name="Rectangle 10">
            <a:extLst>
              <a:ext uri="{FF2B5EF4-FFF2-40B4-BE49-F238E27FC236}">
                <a16:creationId xmlns:a16="http://schemas.microsoft.com/office/drawing/2014/main" id="{6A8813E4-5433-D7EA-8401-B739253E3CC6}"/>
              </a:ext>
            </a:extLst>
          </p:cNvPr>
          <p:cNvSpPr/>
          <p:nvPr/>
        </p:nvSpPr>
        <p:spPr>
          <a:xfrm>
            <a:off x="2561428" y="3234570"/>
            <a:ext cx="2314018" cy="1402987"/>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PA Acquisition</a:t>
            </a:r>
          </a:p>
          <a:p>
            <a:pPr marL="171450" indent="-112713">
              <a:lnSpc>
                <a:spcPct val="90000"/>
              </a:lnSpc>
              <a:spcBef>
                <a:spcPts val="600"/>
              </a:spcBef>
              <a:buFont typeface="Wingdings" panose="05000000000000000000" pitchFamily="2" charset="2"/>
              <a:buChar char="§"/>
            </a:pPr>
            <a:r>
              <a:rPr lang="en-US" sz="1100">
                <a:solidFill>
                  <a:schemeClr val="tx1"/>
                </a:solidFill>
              </a:rPr>
              <a:t>Enables higher-value consulting by expanding offerings higher up the client decision-making cycle</a:t>
            </a:r>
          </a:p>
          <a:p>
            <a:pPr marL="171450" indent="-112713">
              <a:lnSpc>
                <a:spcPct val="90000"/>
              </a:lnSpc>
              <a:spcBef>
                <a:spcPts val="600"/>
              </a:spcBef>
              <a:buFont typeface="Wingdings" panose="05000000000000000000" pitchFamily="2" charset="2"/>
              <a:buChar char="§"/>
            </a:pPr>
            <a:r>
              <a:rPr lang="en-US" sz="1100">
                <a:solidFill>
                  <a:schemeClr val="tx1"/>
                </a:solidFill>
              </a:rPr>
              <a:t>Drive higher margins, EPS accretion, and strong returns</a:t>
            </a:r>
          </a:p>
        </p:txBody>
      </p:sp>
      <p:pic>
        <p:nvPicPr>
          <p:cNvPr id="2" name="Picture 1">
            <a:extLst>
              <a:ext uri="{FF2B5EF4-FFF2-40B4-BE49-F238E27FC236}">
                <a16:creationId xmlns:a16="http://schemas.microsoft.com/office/drawing/2014/main" id="{A2540D42-52DB-A352-4BC0-0F8633209E55}"/>
              </a:ext>
            </a:extLst>
          </p:cNvPr>
          <p:cNvPicPr>
            <a:picLocks noChangeAspect="1"/>
          </p:cNvPicPr>
          <p:nvPr/>
        </p:nvPicPr>
        <p:blipFill>
          <a:blip r:embed="rId6"/>
          <a:stretch>
            <a:fillRect/>
          </a:stretch>
        </p:blipFill>
        <p:spPr>
          <a:xfrm>
            <a:off x="2449588" y="1688625"/>
            <a:ext cx="2557057" cy="1596966"/>
          </a:xfrm>
          <a:prstGeom prst="rect">
            <a:avLst/>
          </a:prstGeom>
        </p:spPr>
      </p:pic>
    </p:spTree>
    <p:extLst>
      <p:ext uri="{BB962C8B-B14F-4D97-AF65-F5344CB8AC3E}">
        <p14:creationId xmlns:p14="http://schemas.microsoft.com/office/powerpoint/2010/main" val="16456305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433116" y="2634095"/>
            <a:ext cx="0" cy="2097762"/>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61" name="Straight Connector 60">
            <a:extLst>
              <a:ext uri="{FF2B5EF4-FFF2-40B4-BE49-F238E27FC236}">
                <a16:creationId xmlns:a16="http://schemas.microsoft.com/office/drawing/2014/main" id="{9039A34B-CE00-459D-BB59-EA3F23E66C75}"/>
              </a:ext>
            </a:extLst>
          </p:cNvPr>
          <p:cNvCxnSpPr>
            <a:cxnSpLocks/>
          </p:cNvCxnSpPr>
          <p:nvPr/>
        </p:nvCxnSpPr>
        <p:spPr>
          <a:xfrm>
            <a:off x="2786726"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4" name="Straight Connector 43"/>
          <p:cNvCxnSpPr>
            <a:cxnSpLocks/>
            <a:stCxn id="5" idx="3"/>
            <a:endCxn id="6" idx="1"/>
          </p:cNvCxnSpPr>
          <p:nvPr/>
        </p:nvCxnSpPr>
        <p:spPr>
          <a:xfrm>
            <a:off x="1984931" y="2453441"/>
            <a:ext cx="160359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2" name="Straight Connector 41"/>
          <p:cNvCxnSpPr>
            <a:cxnSpLocks/>
          </p:cNvCxnSpPr>
          <p:nvPr/>
        </p:nvCxnSpPr>
        <p:spPr>
          <a:xfrm>
            <a:off x="2842960" y="5820671"/>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0" name="Straight Connector 39"/>
          <p:cNvCxnSpPr>
            <a:cxnSpLocks/>
            <a:endCxn id="12" idx="1"/>
          </p:cNvCxnSpPr>
          <p:nvPr/>
        </p:nvCxnSpPr>
        <p:spPr>
          <a:xfrm>
            <a:off x="2851093" y="4307815"/>
            <a:ext cx="182880" cy="1"/>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a:off x="3519275" y="3611570"/>
            <a:ext cx="0" cy="23774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1" name="Straight Connector 30"/>
          <p:cNvCxnSpPr>
            <a:cxnSpLocks/>
          </p:cNvCxnSpPr>
          <p:nvPr/>
        </p:nvCxnSpPr>
        <p:spPr>
          <a:xfrm flipH="1">
            <a:off x="4159622" y="2728816"/>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a:stCxn id="9" idx="3"/>
            <a:endCxn id="11" idx="1"/>
          </p:cNvCxnSpPr>
          <p:nvPr/>
        </p:nvCxnSpPr>
        <p:spPr>
          <a:xfrm>
            <a:off x="4022195" y="3326670"/>
            <a:ext cx="280929"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5" name="Straight Connector 24"/>
          <p:cNvCxnSpPr>
            <a:cxnSpLocks/>
            <a:stCxn id="7" idx="3"/>
            <a:endCxn id="15" idx="1"/>
          </p:cNvCxnSpPr>
          <p:nvPr/>
        </p:nvCxnSpPr>
        <p:spPr>
          <a:xfrm flipV="1">
            <a:off x="1234151" y="4030600"/>
            <a:ext cx="368710" cy="268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6" name="Straight Connector 25"/>
          <p:cNvCxnSpPr>
            <a:cxnSpLocks/>
            <a:stCxn id="16" idx="3"/>
            <a:endCxn id="17" idx="1"/>
          </p:cNvCxnSpPr>
          <p:nvPr/>
        </p:nvCxnSpPr>
        <p:spPr>
          <a:xfrm>
            <a:off x="1234150" y="4731857"/>
            <a:ext cx="35748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7" name="Straight Connector 26"/>
          <p:cNvCxnSpPr>
            <a:cxnSpLocks/>
          </p:cNvCxnSpPr>
          <p:nvPr/>
        </p:nvCxnSpPr>
        <p:spPr>
          <a:xfrm>
            <a:off x="1234150" y="3331746"/>
            <a:ext cx="19202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4" name="Straight Connector 23"/>
          <p:cNvCxnSpPr>
            <a:cxnSpLocks/>
            <a:endCxn id="8" idx="1"/>
          </p:cNvCxnSpPr>
          <p:nvPr/>
        </p:nvCxnSpPr>
        <p:spPr>
          <a:xfrm>
            <a:off x="1433116" y="3326670"/>
            <a:ext cx="1697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19" name="Footer Placeholder 1">
            <a:extLst>
              <a:ext uri="{FF2B5EF4-FFF2-40B4-BE49-F238E27FC236}">
                <a16:creationId xmlns:a16="http://schemas.microsoft.com/office/drawing/2014/main" id="{75957B73-C0BB-1625-1014-6113D0ACDB5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ACME’s industry screen captures companies that provide consulting services, including competitors identified by </a:t>
            </a:r>
            <a:r>
              <a:rPr lang="en-US" dirty="0" err="1"/>
              <a:t>Plutos</a:t>
            </a:r>
            <a:r>
              <a:rPr lang="en-US" dirty="0"/>
              <a:t> and PA Consulting</a:t>
            </a:r>
          </a:p>
        </p:txBody>
      </p:sp>
      <p:sp>
        <p:nvSpPr>
          <p:cNvPr id="4" name="Rectangle 3"/>
          <p:cNvSpPr/>
          <p:nvPr/>
        </p:nvSpPr>
        <p:spPr>
          <a:xfrm>
            <a:off x="2207563"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Industrials</a:t>
            </a:r>
          </a:p>
        </p:txBody>
      </p:sp>
      <p:sp>
        <p:nvSpPr>
          <p:cNvPr id="5" name="Rectangle 4"/>
          <p:cNvSpPr/>
          <p:nvPr/>
        </p:nvSpPr>
        <p:spPr>
          <a:xfrm>
            <a:off x="841931"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Capital Goods</a:t>
            </a:r>
          </a:p>
        </p:txBody>
      </p:sp>
      <p:sp>
        <p:nvSpPr>
          <p:cNvPr id="6" name="Rectangle 5"/>
          <p:cNvSpPr/>
          <p:nvPr/>
        </p:nvSpPr>
        <p:spPr>
          <a:xfrm>
            <a:off x="3588522"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&amp; Professional Services</a:t>
            </a:r>
          </a:p>
        </p:txBody>
      </p:sp>
      <p:sp>
        <p:nvSpPr>
          <p:cNvPr id="7" name="Rectangle 6"/>
          <p:cNvSpPr/>
          <p:nvPr/>
        </p:nvSpPr>
        <p:spPr>
          <a:xfrm>
            <a:off x="228311" y="3758968"/>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Electrical</a:t>
            </a:r>
          </a:p>
          <a:p>
            <a:pPr algn="ctr"/>
            <a:r>
              <a:rPr lang="en-US" sz="1200" b="1">
                <a:solidFill>
                  <a:schemeClr val="tx1"/>
                </a:solidFill>
              </a:rPr>
              <a:t>Components &amp; Equipment</a:t>
            </a:r>
          </a:p>
        </p:txBody>
      </p:sp>
      <p:sp>
        <p:nvSpPr>
          <p:cNvPr id="8" name="Rectangle 7"/>
          <p:cNvSpPr/>
          <p:nvPr/>
        </p:nvSpPr>
        <p:spPr>
          <a:xfrm>
            <a:off x="1602860"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Building Products</a:t>
            </a:r>
          </a:p>
        </p:txBody>
      </p:sp>
      <p:sp>
        <p:nvSpPr>
          <p:cNvPr id="9" name="Rectangle 8"/>
          <p:cNvSpPr/>
          <p:nvPr/>
        </p:nvSpPr>
        <p:spPr>
          <a:xfrm>
            <a:off x="3016355"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Professional Services</a:t>
            </a:r>
          </a:p>
        </p:txBody>
      </p:sp>
      <p:sp>
        <p:nvSpPr>
          <p:cNvPr id="11" name="Rectangle 10"/>
          <p:cNvSpPr/>
          <p:nvPr/>
        </p:nvSpPr>
        <p:spPr>
          <a:xfrm>
            <a:off x="4303124"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Services &amp; Supplies</a:t>
            </a:r>
          </a:p>
        </p:txBody>
      </p:sp>
      <p:sp>
        <p:nvSpPr>
          <p:cNvPr id="12" name="Rectangle 11"/>
          <p:cNvSpPr/>
          <p:nvPr/>
        </p:nvSpPr>
        <p:spPr>
          <a:xfrm>
            <a:off x="3044173" y="4158271"/>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Research &amp; Consulting Services (4)</a:t>
            </a:r>
          </a:p>
        </p:txBody>
      </p:sp>
      <p:sp>
        <p:nvSpPr>
          <p:cNvPr id="13" name="Rectangle 12"/>
          <p:cNvSpPr/>
          <p:nvPr/>
        </p:nvSpPr>
        <p:spPr>
          <a:xfrm>
            <a:off x="3033973" y="5631021"/>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HR &amp; Employment Services</a:t>
            </a:r>
          </a:p>
        </p:txBody>
      </p:sp>
      <p:sp>
        <p:nvSpPr>
          <p:cNvPr id="15" name="Rectangle 14"/>
          <p:cNvSpPr/>
          <p:nvPr/>
        </p:nvSpPr>
        <p:spPr>
          <a:xfrm>
            <a:off x="1602861" y="375628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accent4"/>
                </a:solidFill>
              </a:rPr>
              <a:t>Construction &amp; Engineering (5)</a:t>
            </a:r>
          </a:p>
        </p:txBody>
      </p:sp>
      <p:sp>
        <p:nvSpPr>
          <p:cNvPr id="16" name="Rectangle 15"/>
          <p:cNvSpPr/>
          <p:nvPr/>
        </p:nvSpPr>
        <p:spPr>
          <a:xfrm>
            <a:off x="228310" y="4457537"/>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27432" tIns="45720" rIns="27432" bIns="45720" rtlCol="0" anchor="ctr">
            <a:noAutofit/>
          </a:bodyPr>
          <a:lstStyle/>
          <a:p>
            <a:pPr algn="ctr"/>
            <a:r>
              <a:rPr lang="en-US" sz="1200" b="1">
                <a:solidFill>
                  <a:schemeClr val="tx1"/>
                </a:solidFill>
              </a:rPr>
              <a:t>Industrial Conglomerates</a:t>
            </a:r>
          </a:p>
        </p:txBody>
      </p:sp>
      <p:sp>
        <p:nvSpPr>
          <p:cNvPr id="17" name="Rectangle 16"/>
          <p:cNvSpPr/>
          <p:nvPr/>
        </p:nvSpPr>
        <p:spPr>
          <a:xfrm>
            <a:off x="1591631" y="445753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Machinery</a:t>
            </a:r>
          </a:p>
        </p:txBody>
      </p:sp>
      <p:sp>
        <p:nvSpPr>
          <p:cNvPr id="18" name="Rectangle 17"/>
          <p:cNvSpPr/>
          <p:nvPr/>
        </p:nvSpPr>
        <p:spPr>
          <a:xfrm>
            <a:off x="228310" y="3064555"/>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Trading Companies &amp; Distributors</a:t>
            </a:r>
          </a:p>
        </p:txBody>
      </p:sp>
      <p:cxnSp>
        <p:nvCxnSpPr>
          <p:cNvPr id="35" name="Straight Connector 34"/>
          <p:cNvCxnSpPr>
            <a:cxnSpLocks/>
          </p:cNvCxnSpPr>
          <p:nvPr/>
        </p:nvCxnSpPr>
        <p:spPr>
          <a:xfrm>
            <a:off x="2843635" y="3842884"/>
            <a:ext cx="676656"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a:off x="2842131" y="3835498"/>
            <a:ext cx="10040" cy="1981979"/>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45" name="TextBox 44"/>
          <p:cNvSpPr txBox="1"/>
          <p:nvPr/>
        </p:nvSpPr>
        <p:spPr>
          <a:xfrm>
            <a:off x="2188795" y="1109675"/>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a:ln>
                  <a:noFill/>
                </a:ln>
                <a:effectLst/>
                <a:uLnTx/>
                <a:uFillTx/>
                <a:latin typeface="Calibri" panose="020F0502020204030204"/>
                <a:ea typeface="+mn-ea"/>
                <a:cs typeface="+mn-cs"/>
              </a:rPr>
              <a:t>Select Global Industry Classifications</a:t>
            </a:r>
          </a:p>
        </p:txBody>
      </p:sp>
      <p:cxnSp>
        <p:nvCxnSpPr>
          <p:cNvPr id="65" name="Straight Connector 64">
            <a:extLst>
              <a:ext uri="{FF2B5EF4-FFF2-40B4-BE49-F238E27FC236}">
                <a16:creationId xmlns:a16="http://schemas.microsoft.com/office/drawing/2014/main" id="{8D374B47-93F0-4E2C-AC69-EB9426EB74FA}"/>
              </a:ext>
            </a:extLst>
          </p:cNvPr>
          <p:cNvCxnSpPr>
            <a:cxnSpLocks/>
          </p:cNvCxnSpPr>
          <p:nvPr/>
        </p:nvCxnSpPr>
        <p:spPr>
          <a:xfrm>
            <a:off x="5978016" y="3592520"/>
            <a:ext cx="0" cy="121224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66" name="Rectangle 65">
            <a:extLst>
              <a:ext uri="{FF2B5EF4-FFF2-40B4-BE49-F238E27FC236}">
                <a16:creationId xmlns:a16="http://schemas.microsoft.com/office/drawing/2014/main" id="{95486E80-2D59-4766-8098-65745CDA1A61}"/>
              </a:ext>
            </a:extLst>
          </p:cNvPr>
          <p:cNvSpPr/>
          <p:nvPr/>
        </p:nvSpPr>
        <p:spPr>
          <a:xfrm>
            <a:off x="6811400"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Information Technology</a:t>
            </a:r>
          </a:p>
        </p:txBody>
      </p:sp>
      <p:sp>
        <p:nvSpPr>
          <p:cNvPr id="67" name="Rectangle 66">
            <a:extLst>
              <a:ext uri="{FF2B5EF4-FFF2-40B4-BE49-F238E27FC236}">
                <a16:creationId xmlns:a16="http://schemas.microsoft.com/office/drawing/2014/main" id="{6C0E179C-9C35-44F1-96F8-5370534E3505}"/>
              </a:ext>
            </a:extLst>
          </p:cNvPr>
          <p:cNvSpPr/>
          <p:nvPr/>
        </p:nvSpPr>
        <p:spPr>
          <a:xfrm>
            <a:off x="6073814"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 &amp; Services</a:t>
            </a:r>
          </a:p>
        </p:txBody>
      </p:sp>
      <p:sp>
        <p:nvSpPr>
          <p:cNvPr id="68" name="Rectangle 67">
            <a:extLst>
              <a:ext uri="{FF2B5EF4-FFF2-40B4-BE49-F238E27FC236}">
                <a16:creationId xmlns:a16="http://schemas.microsoft.com/office/drawing/2014/main" id="{E7C2D08A-ED86-4634-98F6-34A7140FF1B0}"/>
              </a:ext>
            </a:extLst>
          </p:cNvPr>
          <p:cNvSpPr/>
          <p:nvPr/>
        </p:nvSpPr>
        <p:spPr>
          <a:xfrm>
            <a:off x="5475096"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IT Services</a:t>
            </a:r>
          </a:p>
        </p:txBody>
      </p:sp>
      <p:sp>
        <p:nvSpPr>
          <p:cNvPr id="69" name="Rectangle 68">
            <a:extLst>
              <a:ext uri="{FF2B5EF4-FFF2-40B4-BE49-F238E27FC236}">
                <a16:creationId xmlns:a16="http://schemas.microsoft.com/office/drawing/2014/main" id="{6113E160-2A38-444B-B4D2-566B04F68686}"/>
              </a:ext>
            </a:extLst>
          </p:cNvPr>
          <p:cNvSpPr/>
          <p:nvPr/>
        </p:nvSpPr>
        <p:spPr>
          <a:xfrm>
            <a:off x="6147986" y="3840942"/>
            <a:ext cx="1015888"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IT Consulting &amp; Other Services (6)</a:t>
            </a:r>
          </a:p>
        </p:txBody>
      </p:sp>
      <p:sp>
        <p:nvSpPr>
          <p:cNvPr id="48" name="Rectangle 47">
            <a:extLst>
              <a:ext uri="{FF2B5EF4-FFF2-40B4-BE49-F238E27FC236}">
                <a16:creationId xmlns:a16="http://schemas.microsoft.com/office/drawing/2014/main" id="{DE80DE30-7CC1-4180-B81C-5FE9484E1DF9}"/>
              </a:ext>
            </a:extLst>
          </p:cNvPr>
          <p:cNvSpPr/>
          <p:nvPr/>
        </p:nvSpPr>
        <p:spPr>
          <a:xfrm>
            <a:off x="4412828" y="6078523"/>
            <a:ext cx="366563" cy="212583"/>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51" name="TextBox 50">
            <a:extLst>
              <a:ext uri="{FF2B5EF4-FFF2-40B4-BE49-F238E27FC236}">
                <a16:creationId xmlns:a16="http://schemas.microsoft.com/office/drawing/2014/main" id="{33FDAC42-A1CF-440E-A56F-C1CA295AB564}"/>
              </a:ext>
            </a:extLst>
          </p:cNvPr>
          <p:cNvSpPr txBox="1"/>
          <p:nvPr/>
        </p:nvSpPr>
        <p:spPr>
          <a:xfrm>
            <a:off x="4786136" y="6002548"/>
            <a:ext cx="1837996" cy="400110"/>
          </a:xfrm>
          <a:prstGeom prst="rect">
            <a:avLst/>
          </a:prstGeom>
          <a:noFill/>
        </p:spPr>
        <p:txBody>
          <a:bodyPr wrap="square" rtlCol="0" anchor="ctr">
            <a:spAutoFit/>
          </a:bodyPr>
          <a:lstStyle/>
          <a:p>
            <a:r>
              <a:rPr lang="en-US" sz="1000" i="1"/>
              <a:t>Industry or sub-industry captured in industry screen</a:t>
            </a:r>
          </a:p>
        </p:txBody>
      </p:sp>
      <p:sp>
        <p:nvSpPr>
          <p:cNvPr id="52" name="Rectangle 51">
            <a:extLst>
              <a:ext uri="{FF2B5EF4-FFF2-40B4-BE49-F238E27FC236}">
                <a16:creationId xmlns:a16="http://schemas.microsoft.com/office/drawing/2014/main" id="{CE26F4D0-AE39-4E97-B082-9F4868D5F0A7}"/>
              </a:ext>
            </a:extLst>
          </p:cNvPr>
          <p:cNvSpPr/>
          <p:nvPr/>
        </p:nvSpPr>
        <p:spPr>
          <a:xfrm>
            <a:off x="7547637"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&amp; Equipment</a:t>
            </a:r>
          </a:p>
        </p:txBody>
      </p:sp>
      <p:cxnSp>
        <p:nvCxnSpPr>
          <p:cNvPr id="53" name="Straight Connector 52">
            <a:extLst>
              <a:ext uri="{FF2B5EF4-FFF2-40B4-BE49-F238E27FC236}">
                <a16:creationId xmlns:a16="http://schemas.microsoft.com/office/drawing/2014/main" id="{491669D0-9D22-4003-A768-8DE61772F532}"/>
              </a:ext>
            </a:extLst>
          </p:cNvPr>
          <p:cNvCxnSpPr>
            <a:cxnSpLocks/>
            <a:stCxn id="66" idx="2"/>
          </p:cNvCxnSpPr>
          <p:nvPr/>
        </p:nvCxnSpPr>
        <p:spPr>
          <a:xfrm>
            <a:off x="7382900"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4" name="Straight Connector 53">
            <a:extLst>
              <a:ext uri="{FF2B5EF4-FFF2-40B4-BE49-F238E27FC236}">
                <a16:creationId xmlns:a16="http://schemas.microsoft.com/office/drawing/2014/main" id="{CC8D0CED-FA97-4DE5-9BE8-FB2D7BA4DCD1}"/>
              </a:ext>
            </a:extLst>
          </p:cNvPr>
          <p:cNvCxnSpPr>
            <a:cxnSpLocks/>
            <a:stCxn id="67" idx="3"/>
            <a:endCxn id="52" idx="1"/>
          </p:cNvCxnSpPr>
          <p:nvPr/>
        </p:nvCxnSpPr>
        <p:spPr>
          <a:xfrm>
            <a:off x="7216814" y="2453441"/>
            <a:ext cx="33082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0" name="Straight Connector 69">
            <a:extLst>
              <a:ext uri="{FF2B5EF4-FFF2-40B4-BE49-F238E27FC236}">
                <a16:creationId xmlns:a16="http://schemas.microsoft.com/office/drawing/2014/main" id="{4580A61E-4F8F-4912-B3AB-CA2FC9972773}"/>
              </a:ext>
            </a:extLst>
          </p:cNvPr>
          <p:cNvCxnSpPr>
            <a:cxnSpLocks/>
          </p:cNvCxnSpPr>
          <p:nvPr/>
        </p:nvCxnSpPr>
        <p:spPr>
          <a:xfrm flipH="1">
            <a:off x="6638738" y="2727761"/>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3" name="Straight Connector 72">
            <a:extLst>
              <a:ext uri="{FF2B5EF4-FFF2-40B4-BE49-F238E27FC236}">
                <a16:creationId xmlns:a16="http://schemas.microsoft.com/office/drawing/2014/main" id="{DDB5E07B-A1D1-4E40-B003-8A3A1C93EDF0}"/>
              </a:ext>
            </a:extLst>
          </p:cNvPr>
          <p:cNvCxnSpPr>
            <a:cxnSpLocks/>
            <a:stCxn id="68" idx="3"/>
            <a:endCxn id="74" idx="1"/>
          </p:cNvCxnSpPr>
          <p:nvPr/>
        </p:nvCxnSpPr>
        <p:spPr>
          <a:xfrm>
            <a:off x="6480936" y="3326670"/>
            <a:ext cx="316447"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74" name="Rectangle 73">
            <a:extLst>
              <a:ext uri="{FF2B5EF4-FFF2-40B4-BE49-F238E27FC236}">
                <a16:creationId xmlns:a16="http://schemas.microsoft.com/office/drawing/2014/main" id="{8C2D18A8-D5B4-49EA-B64A-B9BEFFAE457E}"/>
              </a:ext>
            </a:extLst>
          </p:cNvPr>
          <p:cNvSpPr/>
          <p:nvPr/>
        </p:nvSpPr>
        <p:spPr>
          <a:xfrm>
            <a:off x="6797383" y="305235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a:t>
            </a:r>
          </a:p>
          <a:p>
            <a:pPr marL="119063" indent="-119063">
              <a:buFont typeface="Wingdings" panose="05000000000000000000" pitchFamily="2" charset="2"/>
              <a:buChar char="§"/>
            </a:pPr>
            <a:r>
              <a:rPr lang="en-US" sz="1100" b="1">
                <a:solidFill>
                  <a:schemeClr val="tx1"/>
                </a:solidFill>
              </a:rPr>
              <a:t>Application</a:t>
            </a:r>
          </a:p>
          <a:p>
            <a:pPr marL="119063" indent="-119063">
              <a:buFont typeface="Wingdings" panose="05000000000000000000" pitchFamily="2" charset="2"/>
              <a:buChar char="§"/>
            </a:pPr>
            <a:r>
              <a:rPr lang="en-US" sz="1100">
                <a:solidFill>
                  <a:schemeClr val="tx1"/>
                </a:solidFill>
              </a:rPr>
              <a:t>System</a:t>
            </a:r>
          </a:p>
        </p:txBody>
      </p:sp>
      <p:cxnSp>
        <p:nvCxnSpPr>
          <p:cNvPr id="78" name="Straight Connector 77">
            <a:extLst>
              <a:ext uri="{FF2B5EF4-FFF2-40B4-BE49-F238E27FC236}">
                <a16:creationId xmlns:a16="http://schemas.microsoft.com/office/drawing/2014/main" id="{81BE8E91-3DD6-46BA-BC0F-8729B21F32B0}"/>
              </a:ext>
            </a:extLst>
          </p:cNvPr>
          <p:cNvCxnSpPr>
            <a:cxnSpLocks/>
            <a:stCxn id="52" idx="2"/>
          </p:cNvCxnSpPr>
          <p:nvPr/>
        </p:nvCxnSpPr>
        <p:spPr>
          <a:xfrm>
            <a:off x="8119137" y="2727761"/>
            <a:ext cx="0" cy="67171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9" name="Straight Connector 78">
            <a:extLst>
              <a:ext uri="{FF2B5EF4-FFF2-40B4-BE49-F238E27FC236}">
                <a16:creationId xmlns:a16="http://schemas.microsoft.com/office/drawing/2014/main" id="{08BFF46B-86CA-4A59-8D4E-D765CF631733}"/>
              </a:ext>
            </a:extLst>
          </p:cNvPr>
          <p:cNvCxnSpPr>
            <a:cxnSpLocks/>
          </p:cNvCxnSpPr>
          <p:nvPr/>
        </p:nvCxnSpPr>
        <p:spPr>
          <a:xfrm>
            <a:off x="8119137" y="3399475"/>
            <a:ext cx="76226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0" name="Straight Connector 79">
            <a:extLst>
              <a:ext uri="{FF2B5EF4-FFF2-40B4-BE49-F238E27FC236}">
                <a16:creationId xmlns:a16="http://schemas.microsoft.com/office/drawing/2014/main" id="{0983C54F-4320-415D-A4F8-84FA2E464CFC}"/>
              </a:ext>
            </a:extLst>
          </p:cNvPr>
          <p:cNvCxnSpPr>
            <a:cxnSpLocks/>
          </p:cNvCxnSpPr>
          <p:nvPr/>
        </p:nvCxnSpPr>
        <p:spPr>
          <a:xfrm>
            <a:off x="8882880" y="3395805"/>
            <a:ext cx="15154" cy="268271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4" name="Straight Connector 83">
            <a:extLst>
              <a:ext uri="{FF2B5EF4-FFF2-40B4-BE49-F238E27FC236}">
                <a16:creationId xmlns:a16="http://schemas.microsoft.com/office/drawing/2014/main" id="{86B89806-BA44-48D3-9FF4-2EBCA9FF450C}"/>
              </a:ext>
            </a:extLst>
          </p:cNvPr>
          <p:cNvCxnSpPr>
            <a:cxnSpLocks/>
            <a:stCxn id="87" idx="3"/>
          </p:cNvCxnSpPr>
          <p:nvPr/>
        </p:nvCxnSpPr>
        <p:spPr>
          <a:xfrm>
            <a:off x="8751596" y="3989790"/>
            <a:ext cx="137160" cy="1983"/>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7" name="Rectangle 86">
            <a:extLst>
              <a:ext uri="{FF2B5EF4-FFF2-40B4-BE49-F238E27FC236}">
                <a16:creationId xmlns:a16="http://schemas.microsoft.com/office/drawing/2014/main" id="{991204CC-9149-4E8F-8ADB-398696A990D9}"/>
              </a:ext>
            </a:extLst>
          </p:cNvPr>
          <p:cNvSpPr/>
          <p:nvPr/>
        </p:nvSpPr>
        <p:spPr>
          <a:xfrm>
            <a:off x="7654317" y="3840245"/>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err="1">
                <a:solidFill>
                  <a:schemeClr val="tx1"/>
                </a:solidFill>
              </a:rPr>
              <a:t>Communica-tions</a:t>
            </a:r>
            <a:r>
              <a:rPr lang="en-US" sz="1200" b="1">
                <a:solidFill>
                  <a:schemeClr val="tx1"/>
                </a:solidFill>
              </a:rPr>
              <a:t> Equipment</a:t>
            </a:r>
          </a:p>
        </p:txBody>
      </p:sp>
      <p:cxnSp>
        <p:nvCxnSpPr>
          <p:cNvPr id="90" name="Straight Connector 89">
            <a:extLst>
              <a:ext uri="{FF2B5EF4-FFF2-40B4-BE49-F238E27FC236}">
                <a16:creationId xmlns:a16="http://schemas.microsoft.com/office/drawing/2014/main" id="{305473B5-A00E-4C55-9EA1-B992BE55A675}"/>
              </a:ext>
            </a:extLst>
          </p:cNvPr>
          <p:cNvCxnSpPr>
            <a:cxnSpLocks/>
            <a:stCxn id="91" idx="3"/>
          </p:cNvCxnSpPr>
          <p:nvPr/>
        </p:nvCxnSpPr>
        <p:spPr>
          <a:xfrm flipV="1">
            <a:off x="8754080" y="4654987"/>
            <a:ext cx="137160" cy="396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1" name="Rectangle 90">
            <a:extLst>
              <a:ext uri="{FF2B5EF4-FFF2-40B4-BE49-F238E27FC236}">
                <a16:creationId xmlns:a16="http://schemas.microsoft.com/office/drawing/2014/main" id="{94E5808C-C1AB-489A-A0C6-824DEDEDC3B2}"/>
              </a:ext>
            </a:extLst>
          </p:cNvPr>
          <p:cNvSpPr/>
          <p:nvPr/>
        </p:nvSpPr>
        <p:spPr>
          <a:xfrm>
            <a:off x="7656801" y="4509409"/>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Storage &amp; Peripherals</a:t>
            </a:r>
          </a:p>
        </p:txBody>
      </p:sp>
      <p:cxnSp>
        <p:nvCxnSpPr>
          <p:cNvPr id="92" name="Straight Connector 91">
            <a:extLst>
              <a:ext uri="{FF2B5EF4-FFF2-40B4-BE49-F238E27FC236}">
                <a16:creationId xmlns:a16="http://schemas.microsoft.com/office/drawing/2014/main" id="{6F174CD5-4332-408A-A9DF-9688C4D50DF9}"/>
              </a:ext>
            </a:extLst>
          </p:cNvPr>
          <p:cNvCxnSpPr>
            <a:cxnSpLocks/>
            <a:stCxn id="93" idx="3"/>
          </p:cNvCxnSpPr>
          <p:nvPr/>
        </p:nvCxnSpPr>
        <p:spPr>
          <a:xfrm>
            <a:off x="8744240" y="5313857"/>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3" name="Rectangle 92">
            <a:extLst>
              <a:ext uri="{FF2B5EF4-FFF2-40B4-BE49-F238E27FC236}">
                <a16:creationId xmlns:a16="http://schemas.microsoft.com/office/drawing/2014/main" id="{B4CF0916-B98A-4A5D-BF21-DB0A70E2ABA3}"/>
              </a:ext>
            </a:extLst>
          </p:cNvPr>
          <p:cNvSpPr/>
          <p:nvPr/>
        </p:nvSpPr>
        <p:spPr>
          <a:xfrm>
            <a:off x="7646961" y="5164312"/>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Equipment &amp; Instruments</a:t>
            </a:r>
          </a:p>
        </p:txBody>
      </p:sp>
      <p:sp>
        <p:nvSpPr>
          <p:cNvPr id="63" name="Rectangle 62">
            <a:extLst>
              <a:ext uri="{FF2B5EF4-FFF2-40B4-BE49-F238E27FC236}">
                <a16:creationId xmlns:a16="http://schemas.microsoft.com/office/drawing/2014/main" id="{5EDE5BFE-BB06-4936-9873-A75B794CD18A}"/>
              </a:ext>
            </a:extLst>
          </p:cNvPr>
          <p:cNvSpPr/>
          <p:nvPr/>
        </p:nvSpPr>
        <p:spPr>
          <a:xfrm>
            <a:off x="4412828" y="5767806"/>
            <a:ext cx="366563" cy="212583"/>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64" name="TextBox 63">
            <a:extLst>
              <a:ext uri="{FF2B5EF4-FFF2-40B4-BE49-F238E27FC236}">
                <a16:creationId xmlns:a16="http://schemas.microsoft.com/office/drawing/2014/main" id="{D77A1F44-3DC6-40DB-A3CA-FAA889932C3F}"/>
              </a:ext>
            </a:extLst>
          </p:cNvPr>
          <p:cNvSpPr txBox="1"/>
          <p:nvPr/>
        </p:nvSpPr>
        <p:spPr>
          <a:xfrm>
            <a:off x="4779391" y="5757493"/>
            <a:ext cx="1894079" cy="246221"/>
          </a:xfrm>
          <a:prstGeom prst="rect">
            <a:avLst/>
          </a:prstGeom>
          <a:noFill/>
        </p:spPr>
        <p:txBody>
          <a:bodyPr wrap="square" rtlCol="0" anchor="ctr">
            <a:spAutoFit/>
          </a:bodyPr>
          <a:lstStyle/>
          <a:p>
            <a:r>
              <a:rPr lang="en-US" sz="1000" i="1"/>
              <a:t>Industry</a:t>
            </a:r>
          </a:p>
        </p:txBody>
      </p:sp>
      <p:sp>
        <p:nvSpPr>
          <p:cNvPr id="71" name="Rectangle 70">
            <a:extLst>
              <a:ext uri="{FF2B5EF4-FFF2-40B4-BE49-F238E27FC236}">
                <a16:creationId xmlns:a16="http://schemas.microsoft.com/office/drawing/2014/main" id="{4B4A9ECB-85A3-4DDE-BE52-050CB8E7E781}"/>
              </a:ext>
            </a:extLst>
          </p:cNvPr>
          <p:cNvSpPr/>
          <p:nvPr/>
        </p:nvSpPr>
        <p:spPr>
          <a:xfrm>
            <a:off x="4408915" y="5478129"/>
            <a:ext cx="366563" cy="212583"/>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2" name="TextBox 71">
            <a:extLst>
              <a:ext uri="{FF2B5EF4-FFF2-40B4-BE49-F238E27FC236}">
                <a16:creationId xmlns:a16="http://schemas.microsoft.com/office/drawing/2014/main" id="{B6DB1E1D-123E-42A8-92DB-E1C7CE49C5B7}"/>
              </a:ext>
            </a:extLst>
          </p:cNvPr>
          <p:cNvSpPr txBox="1"/>
          <p:nvPr/>
        </p:nvSpPr>
        <p:spPr>
          <a:xfrm>
            <a:off x="4779391" y="5474730"/>
            <a:ext cx="1894079" cy="246221"/>
          </a:xfrm>
          <a:prstGeom prst="rect">
            <a:avLst/>
          </a:prstGeom>
          <a:noFill/>
        </p:spPr>
        <p:txBody>
          <a:bodyPr wrap="square" rtlCol="0" anchor="ctr">
            <a:spAutoFit/>
          </a:bodyPr>
          <a:lstStyle/>
          <a:p>
            <a:r>
              <a:rPr lang="en-US" sz="1000" i="1"/>
              <a:t>Industry Group</a:t>
            </a:r>
          </a:p>
        </p:txBody>
      </p:sp>
      <p:sp>
        <p:nvSpPr>
          <p:cNvPr id="76" name="Rectangle 75">
            <a:extLst>
              <a:ext uri="{FF2B5EF4-FFF2-40B4-BE49-F238E27FC236}">
                <a16:creationId xmlns:a16="http://schemas.microsoft.com/office/drawing/2014/main" id="{8A9D051D-A7B9-487F-92CD-F3C82A2FC3ED}"/>
              </a:ext>
            </a:extLst>
          </p:cNvPr>
          <p:cNvSpPr/>
          <p:nvPr/>
        </p:nvSpPr>
        <p:spPr>
          <a:xfrm>
            <a:off x="4408915" y="5192646"/>
            <a:ext cx="366563" cy="212583"/>
          </a:xfrm>
          <a:prstGeom prst="rect">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7" name="TextBox 76">
            <a:extLst>
              <a:ext uri="{FF2B5EF4-FFF2-40B4-BE49-F238E27FC236}">
                <a16:creationId xmlns:a16="http://schemas.microsoft.com/office/drawing/2014/main" id="{A5EEF779-32D6-4ABF-A2A1-5CBA80D43431}"/>
              </a:ext>
            </a:extLst>
          </p:cNvPr>
          <p:cNvSpPr txBox="1"/>
          <p:nvPr/>
        </p:nvSpPr>
        <p:spPr>
          <a:xfrm>
            <a:off x="4775478" y="5182333"/>
            <a:ext cx="1894079" cy="246221"/>
          </a:xfrm>
          <a:prstGeom prst="rect">
            <a:avLst/>
          </a:prstGeom>
          <a:noFill/>
        </p:spPr>
        <p:txBody>
          <a:bodyPr wrap="square" rtlCol="0" anchor="ctr">
            <a:spAutoFit/>
          </a:bodyPr>
          <a:lstStyle/>
          <a:p>
            <a:r>
              <a:rPr lang="en-US" sz="1000" i="1"/>
              <a:t>Sector</a:t>
            </a:r>
          </a:p>
        </p:txBody>
      </p:sp>
      <p:sp>
        <p:nvSpPr>
          <p:cNvPr id="81" name="TextBox 80">
            <a:extLst>
              <a:ext uri="{FF2B5EF4-FFF2-40B4-BE49-F238E27FC236}">
                <a16:creationId xmlns:a16="http://schemas.microsoft.com/office/drawing/2014/main" id="{9A5896A0-A5B8-4CEB-9F93-1151620448D3}"/>
              </a:ext>
            </a:extLst>
          </p:cNvPr>
          <p:cNvSpPr txBox="1"/>
          <p:nvPr/>
        </p:nvSpPr>
        <p:spPr>
          <a:xfrm>
            <a:off x="4286368" y="4923315"/>
            <a:ext cx="1038712" cy="246221"/>
          </a:xfrm>
          <a:prstGeom prst="rect">
            <a:avLst/>
          </a:prstGeom>
          <a:noFill/>
        </p:spPr>
        <p:txBody>
          <a:bodyPr wrap="square" rtlCol="0" anchor="ctr">
            <a:spAutoFit/>
          </a:bodyPr>
          <a:lstStyle/>
          <a:p>
            <a:r>
              <a:rPr lang="en-US" sz="1000" b="1" i="1"/>
              <a:t>Legend:</a:t>
            </a:r>
          </a:p>
        </p:txBody>
      </p:sp>
      <p:cxnSp>
        <p:nvCxnSpPr>
          <p:cNvPr id="82" name="Straight Connector 81">
            <a:extLst>
              <a:ext uri="{FF2B5EF4-FFF2-40B4-BE49-F238E27FC236}">
                <a16:creationId xmlns:a16="http://schemas.microsoft.com/office/drawing/2014/main" id="{A30BC225-CC3D-4A95-9191-ED64B6B70A67}"/>
              </a:ext>
            </a:extLst>
          </p:cNvPr>
          <p:cNvCxnSpPr>
            <a:cxnSpLocks/>
            <a:stCxn id="11" idx="2"/>
            <a:endCxn id="83" idx="0"/>
          </p:cNvCxnSpPr>
          <p:nvPr/>
        </p:nvCxnSpPr>
        <p:spPr>
          <a:xfrm flipH="1">
            <a:off x="4802421" y="3600990"/>
            <a:ext cx="3623" cy="242376"/>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3" name="Rectangle 82">
            <a:extLst>
              <a:ext uri="{FF2B5EF4-FFF2-40B4-BE49-F238E27FC236}">
                <a16:creationId xmlns:a16="http://schemas.microsoft.com/office/drawing/2014/main" id="{8E906457-C988-4286-92C2-ADFD2E56514E}"/>
              </a:ext>
            </a:extLst>
          </p:cNvPr>
          <p:cNvSpPr/>
          <p:nvPr/>
        </p:nvSpPr>
        <p:spPr>
          <a:xfrm>
            <a:off x="4249209" y="3843366"/>
            <a:ext cx="1106424"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Environmental &amp; Facilities Services (1)</a:t>
            </a:r>
          </a:p>
        </p:txBody>
      </p:sp>
      <p:pic>
        <p:nvPicPr>
          <p:cNvPr id="85" name="Picture 2" descr="Image result for jacobs logo">
            <a:extLst>
              <a:ext uri="{FF2B5EF4-FFF2-40B4-BE49-F238E27FC236}">
                <a16:creationId xmlns:a16="http://schemas.microsoft.com/office/drawing/2014/main" id="{BBA2FDA2-DDBB-4BCE-A8A8-00D85B21A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266" y="3973587"/>
            <a:ext cx="587700" cy="137058"/>
          </a:xfrm>
          <a:prstGeom prst="rect">
            <a:avLst/>
          </a:prstGeom>
          <a:noFill/>
          <a:extLst>
            <a:ext uri="{909E8E84-426E-40DD-AFC4-6F175D3DCCD1}">
              <a14:hiddenFill xmlns:a14="http://schemas.microsoft.com/office/drawing/2010/main">
                <a:solidFill>
                  <a:srgbClr val="FFFFFF"/>
                </a:solidFill>
              </a14:hiddenFill>
            </a:ext>
          </a:extLst>
        </p:spPr>
      </p:pic>
      <p:cxnSp>
        <p:nvCxnSpPr>
          <p:cNvPr id="86" name="Straight Connector 85">
            <a:extLst>
              <a:ext uri="{FF2B5EF4-FFF2-40B4-BE49-F238E27FC236}">
                <a16:creationId xmlns:a16="http://schemas.microsoft.com/office/drawing/2014/main" id="{6AE683CD-2E7A-4F6D-8106-2653CC7B00C6}"/>
              </a:ext>
            </a:extLst>
          </p:cNvPr>
          <p:cNvCxnSpPr>
            <a:cxnSpLocks/>
          </p:cNvCxnSpPr>
          <p:nvPr/>
        </p:nvCxnSpPr>
        <p:spPr>
          <a:xfrm>
            <a:off x="5970559" y="4813230"/>
            <a:ext cx="1845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6" name="Rectangle 95">
            <a:extLst>
              <a:ext uri="{FF2B5EF4-FFF2-40B4-BE49-F238E27FC236}">
                <a16:creationId xmlns:a16="http://schemas.microsoft.com/office/drawing/2014/main" id="{315B84E6-21D3-421D-9C79-BAC65E24FE15}"/>
              </a:ext>
            </a:extLst>
          </p:cNvPr>
          <p:cNvSpPr/>
          <p:nvPr/>
        </p:nvSpPr>
        <p:spPr>
          <a:xfrm>
            <a:off x="6147986" y="454531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Internet Services &amp; Infrastructure</a:t>
            </a:r>
          </a:p>
        </p:txBody>
      </p:sp>
      <p:cxnSp>
        <p:nvCxnSpPr>
          <p:cNvPr id="98" name="Straight Connector 97">
            <a:extLst>
              <a:ext uri="{FF2B5EF4-FFF2-40B4-BE49-F238E27FC236}">
                <a16:creationId xmlns:a16="http://schemas.microsoft.com/office/drawing/2014/main" id="{735B35C0-3BC1-4DE8-A7F2-B4F77655C457}"/>
              </a:ext>
            </a:extLst>
          </p:cNvPr>
          <p:cNvCxnSpPr>
            <a:cxnSpLocks/>
            <a:endCxn id="69" idx="1"/>
          </p:cNvCxnSpPr>
          <p:nvPr/>
        </p:nvCxnSpPr>
        <p:spPr>
          <a:xfrm>
            <a:off x="5970559" y="4114565"/>
            <a:ext cx="177427" cy="69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9" name="Rectangle 28">
            <a:extLst>
              <a:ext uri="{FF2B5EF4-FFF2-40B4-BE49-F238E27FC236}">
                <a16:creationId xmlns:a16="http://schemas.microsoft.com/office/drawing/2014/main" id="{BE1960EF-DBDC-ED3E-C953-E75D02556A44}"/>
              </a:ext>
            </a:extLst>
          </p:cNvPr>
          <p:cNvSpPr/>
          <p:nvPr/>
        </p:nvSpPr>
        <p:spPr>
          <a:xfrm>
            <a:off x="3051631" y="4889992"/>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Data Process. &amp; Outsourced Services</a:t>
            </a:r>
            <a:endParaRPr lang="en-US" sz="1200" b="1" baseline="30000">
              <a:solidFill>
                <a:schemeClr val="tx1"/>
              </a:solidFill>
            </a:endParaRPr>
          </a:p>
        </p:txBody>
      </p:sp>
      <p:cxnSp>
        <p:nvCxnSpPr>
          <p:cNvPr id="34" name="Straight Connector 33">
            <a:extLst>
              <a:ext uri="{FF2B5EF4-FFF2-40B4-BE49-F238E27FC236}">
                <a16:creationId xmlns:a16="http://schemas.microsoft.com/office/drawing/2014/main" id="{49274BC5-0D48-B058-BBC8-1CF66A741BD6}"/>
              </a:ext>
            </a:extLst>
          </p:cNvPr>
          <p:cNvCxnSpPr>
            <a:cxnSpLocks/>
          </p:cNvCxnSpPr>
          <p:nvPr/>
        </p:nvCxnSpPr>
        <p:spPr>
          <a:xfrm>
            <a:off x="2851093" y="5093957"/>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2" name="TextBox 21">
            <a:extLst>
              <a:ext uri="{FF2B5EF4-FFF2-40B4-BE49-F238E27FC236}">
                <a16:creationId xmlns:a16="http://schemas.microsoft.com/office/drawing/2014/main" id="{A968031C-8D79-78B4-6A31-861988DD6BF7}"/>
              </a:ext>
            </a:extLst>
          </p:cNvPr>
          <p:cNvSpPr txBox="1"/>
          <p:nvPr/>
        </p:nvSpPr>
        <p:spPr>
          <a:xfrm>
            <a:off x="6729242" y="1039686"/>
            <a:ext cx="2200275" cy="355097"/>
          </a:xfrm>
          <a:prstGeom prst="rect">
            <a:avLst/>
          </a:prstGeom>
          <a:noFill/>
        </p:spPr>
        <p:txBody>
          <a:bodyPr vert="horz" wrap="square" lIns="45720" tIns="45720" rIns="45720" bIns="45720" rtlCol="0" anchor="ctr">
            <a:spAutoFit/>
          </a:bodyPr>
          <a:lstStyle/>
          <a:p>
            <a:pPr>
              <a:lnSpc>
                <a:spcPct val="85000"/>
              </a:lnSpc>
            </a:pPr>
            <a:r>
              <a:rPr lang="en-US" sz="1000" b="1" i="1">
                <a:solidFill>
                  <a:schemeClr val="accent4"/>
                </a:solidFill>
              </a:rPr>
              <a:t>Current Peers’ Industry or Sub-Industry (number of companies)</a:t>
            </a:r>
          </a:p>
        </p:txBody>
      </p:sp>
      <p:sp>
        <p:nvSpPr>
          <p:cNvPr id="10" name="Rectangle 9">
            <a:extLst>
              <a:ext uri="{FF2B5EF4-FFF2-40B4-BE49-F238E27FC236}">
                <a16:creationId xmlns:a16="http://schemas.microsoft.com/office/drawing/2014/main" id="{0C1F71B0-05E6-B238-79BD-5C83C67B5C8E}"/>
              </a:ext>
            </a:extLst>
          </p:cNvPr>
          <p:cNvSpPr/>
          <p:nvPr/>
        </p:nvSpPr>
        <p:spPr>
          <a:xfrm>
            <a:off x="7649138" y="5834188"/>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Manufacturing Services</a:t>
            </a:r>
          </a:p>
        </p:txBody>
      </p:sp>
      <p:cxnSp>
        <p:nvCxnSpPr>
          <p:cNvPr id="28" name="Straight Connector 27">
            <a:extLst>
              <a:ext uri="{FF2B5EF4-FFF2-40B4-BE49-F238E27FC236}">
                <a16:creationId xmlns:a16="http://schemas.microsoft.com/office/drawing/2014/main" id="{184C565C-42E1-CC90-D2A2-F74ACB283FFB}"/>
              </a:ext>
            </a:extLst>
          </p:cNvPr>
          <p:cNvCxnSpPr>
            <a:cxnSpLocks/>
          </p:cNvCxnSpPr>
          <p:nvPr/>
        </p:nvCxnSpPr>
        <p:spPr>
          <a:xfrm>
            <a:off x="8755696" y="6078523"/>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8907223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03ABD530-29EC-4637-A6AE-EC7A41BD6223}"/>
              </a:ext>
            </a:extLst>
          </p:cNvPr>
          <p:cNvSpPr txBox="1"/>
          <p:nvPr/>
        </p:nvSpPr>
        <p:spPr>
          <a:xfrm>
            <a:off x="3105720" y="2007811"/>
            <a:ext cx="5062003" cy="692497"/>
          </a:xfrm>
          <a:prstGeom prst="rect">
            <a:avLst/>
          </a:prstGeom>
          <a:noFill/>
        </p:spPr>
        <p:txBody>
          <a:bodyPr wrap="square" lIns="45720" tIns="45720" rIns="45720" bIns="45720" rtlCol="0" anchor="ctr">
            <a:spAutoFit/>
          </a:bodyPr>
          <a:lstStyle/>
          <a:p>
            <a:pPr marL="169863" lvl="0" indent="-169863">
              <a:buFont typeface="Wingdings" panose="05000000000000000000" pitchFamily="2" charset="2"/>
              <a:buChar char="§"/>
            </a:pPr>
            <a:r>
              <a:rPr lang="en-US" sz="1400" dirty="0"/>
              <a:t>US, Canadian, </a:t>
            </a:r>
            <a:r>
              <a:rPr lang="en-US" sz="1400" b="1" dirty="0">
                <a:solidFill>
                  <a:srgbClr val="FF0000"/>
                </a:solidFill>
              </a:rPr>
              <a:t>and UK </a:t>
            </a:r>
            <a:r>
              <a:rPr lang="en-US" sz="1400" dirty="0"/>
              <a:t>listed companies</a:t>
            </a:r>
          </a:p>
          <a:p>
            <a:pPr marL="169863" lvl="1"/>
            <a:r>
              <a:rPr lang="en-US" sz="1100" i="1" dirty="0">
                <a:solidFill>
                  <a:prstClr val="black"/>
                </a:solidFill>
              </a:rPr>
              <a:t>(exception for companies with atypical pay/disclosure, especially if outside the U.S.)</a:t>
            </a:r>
            <a:endParaRPr lang="en-US" sz="1100" dirty="0">
              <a:solidFill>
                <a:prstClr val="black"/>
              </a:solidFill>
            </a:endParaRPr>
          </a:p>
          <a:p>
            <a:pPr marL="177800" lvl="1" indent="-177800">
              <a:buFont typeface="Wingdings" panose="05000000000000000000" pitchFamily="2" charset="2"/>
              <a:buChar char="§"/>
            </a:pPr>
            <a:r>
              <a:rPr lang="en-US" sz="1400" b="1" dirty="0">
                <a:solidFill>
                  <a:schemeClr val="accent4"/>
                </a:solidFill>
              </a:rPr>
              <a:t>Companies listed as </a:t>
            </a:r>
            <a:r>
              <a:rPr lang="en-US" sz="1400" b="1" dirty="0" err="1">
                <a:solidFill>
                  <a:schemeClr val="accent4"/>
                </a:solidFill>
              </a:rPr>
              <a:t>Plutos</a:t>
            </a:r>
            <a:r>
              <a:rPr lang="en-US" sz="1400" b="1" dirty="0">
                <a:solidFill>
                  <a:schemeClr val="accent4"/>
                </a:solidFill>
              </a:rPr>
              <a:t>’ and/or PA Consulting’s competitors</a:t>
            </a:r>
          </a:p>
        </p:txBody>
      </p: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p:cNvSpPr>
            <a:spLocks noGrp="1"/>
          </p:cNvSpPr>
          <p:nvPr>
            <p:ph type="title"/>
          </p:nvPr>
        </p:nvSpPr>
        <p:spPr/>
        <p:txBody>
          <a:bodyPr/>
          <a:lstStyle/>
          <a:p>
            <a:r>
              <a:rPr lang="en-US" dirty="0"/>
              <a:t>As a result, ACME suggests modifying the screening criteria to:</a:t>
            </a:r>
            <a:br>
              <a:rPr lang="en-US" dirty="0"/>
            </a:br>
            <a:r>
              <a:rPr lang="en-US" dirty="0"/>
              <a:t>(1) include UK-listed companies, and companies that are  </a:t>
            </a:r>
            <a:r>
              <a:rPr lang="en-US" dirty="0" err="1"/>
              <a:t>Plutos</a:t>
            </a:r>
            <a:r>
              <a:rPr lang="en-US" dirty="0"/>
              <a:t>’ and PA’s competitors; (2) require financial viability; and (3) de-emphasize mission-critical businesses</a:t>
            </a:r>
          </a:p>
        </p:txBody>
      </p:sp>
      <p:sp>
        <p:nvSpPr>
          <p:cNvPr id="23" name="TextBox 22"/>
          <p:cNvSpPr txBox="1"/>
          <p:nvPr/>
        </p:nvSpPr>
        <p:spPr>
          <a:xfrm>
            <a:off x="657279" y="1517697"/>
            <a:ext cx="1920186" cy="307777"/>
          </a:xfrm>
          <a:prstGeom prst="rect">
            <a:avLst/>
          </a:prstGeom>
          <a:noFill/>
        </p:spPr>
        <p:txBody>
          <a:bodyPr wrap="square" lIns="45720" tIns="45720" rIns="45720" bIns="45720" rtlCol="0" anchor="ctr">
            <a:spAutoFit/>
          </a:bodyPr>
          <a:lstStyle/>
          <a:p>
            <a:pPr algn="ctr"/>
            <a:r>
              <a:rPr lang="en-US" sz="1400" b="1"/>
              <a:t>Peer Screen</a:t>
            </a:r>
          </a:p>
        </p:txBody>
      </p:sp>
      <p:sp>
        <p:nvSpPr>
          <p:cNvPr id="35" name="TextBox 34"/>
          <p:cNvSpPr txBox="1"/>
          <p:nvPr/>
        </p:nvSpPr>
        <p:spPr>
          <a:xfrm>
            <a:off x="3099910" y="4017995"/>
            <a:ext cx="5052160" cy="646331"/>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u="sng" dirty="0"/>
              <a:t>&gt;</a:t>
            </a:r>
            <a:r>
              <a:rPr lang="en-US" sz="1400" dirty="0"/>
              <a:t>$3B and ≤</a:t>
            </a:r>
            <a:r>
              <a:rPr lang="en-US" sz="1400" b="1" dirty="0">
                <a:solidFill>
                  <a:srgbClr val="FF0000"/>
                </a:solidFill>
              </a:rPr>
              <a:t>$48B</a:t>
            </a:r>
            <a:r>
              <a:rPr lang="en-US" sz="1400" dirty="0"/>
              <a:t> total Last Twelve Months (LTM) gross revenue </a:t>
            </a:r>
            <a:br>
              <a:rPr lang="en-US" sz="1400" dirty="0"/>
            </a:br>
            <a:r>
              <a:rPr lang="en-US" sz="1100" dirty="0"/>
              <a:t>(≈ 0.25x-4x </a:t>
            </a:r>
            <a:r>
              <a:rPr lang="en-US" sz="1100" dirty="0" err="1"/>
              <a:t>Plutos</a:t>
            </a:r>
            <a:r>
              <a:rPr lang="en-US" sz="1100" dirty="0"/>
              <a:t>’ FY26e total revenue, including PA; was $3B to $46B)</a:t>
            </a:r>
          </a:p>
          <a:p>
            <a:pPr marL="288925" indent="-115888"/>
            <a:r>
              <a:rPr lang="en-US" sz="1100" i="1" dirty="0"/>
              <a:t>Note: ACME also considered revenue outliers that are strong business model fits</a:t>
            </a:r>
            <a:endParaRPr lang="en-US" sz="900" i="1" dirty="0"/>
          </a:p>
        </p:txBody>
      </p:sp>
      <p:cxnSp>
        <p:nvCxnSpPr>
          <p:cNvPr id="24" name="Straight Connector 23"/>
          <p:cNvCxnSpPr>
            <a:cxnSpLocks/>
          </p:cNvCxnSpPr>
          <p:nvPr/>
        </p:nvCxnSpPr>
        <p:spPr>
          <a:xfrm>
            <a:off x="3084869" y="2774781"/>
            <a:ext cx="51206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p:cNvCxnSpPr>
          <p:nvPr/>
        </p:nvCxnSpPr>
        <p:spPr>
          <a:xfrm flipV="1">
            <a:off x="2627669" y="4647618"/>
            <a:ext cx="55778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flipV="1">
            <a:off x="2810549" y="4047932"/>
            <a:ext cx="539496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flipV="1">
            <a:off x="2444789" y="6389961"/>
            <a:ext cx="576072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46" name="TextBox 45"/>
          <p:cNvSpPr txBox="1"/>
          <p:nvPr/>
        </p:nvSpPr>
        <p:spPr>
          <a:xfrm>
            <a:off x="3153391" y="1517696"/>
            <a:ext cx="4956820" cy="307777"/>
          </a:xfrm>
          <a:prstGeom prst="rect">
            <a:avLst/>
          </a:prstGeom>
          <a:noFill/>
        </p:spPr>
        <p:txBody>
          <a:bodyPr wrap="square" lIns="45720" tIns="45720" rIns="45720" bIns="45720" rtlCol="0" anchor="ctr">
            <a:spAutoFit/>
          </a:bodyPr>
          <a:lstStyle/>
          <a:p>
            <a:pPr algn="ctr"/>
            <a:r>
              <a:rPr lang="en-US" sz="1400" b="1" dirty="0"/>
              <a:t>ACME’s Current and Recommended FY27 Screening Criteria</a:t>
            </a:r>
          </a:p>
        </p:txBody>
      </p:sp>
      <p:sp>
        <p:nvSpPr>
          <p:cNvPr id="49" name="TextBox 48"/>
          <p:cNvSpPr txBox="1"/>
          <p:nvPr/>
        </p:nvSpPr>
        <p:spPr>
          <a:xfrm>
            <a:off x="2365583" y="5201686"/>
            <a:ext cx="6412108" cy="1154162"/>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Business model criteria (at least 3 out of 4): </a:t>
            </a:r>
          </a:p>
          <a:p>
            <a:pPr marL="346075" lvl="1" indent="-173038">
              <a:buFont typeface="Calibri" panose="020F0502020204030204" pitchFamily="34" charset="0"/>
              <a:buChar char="‒"/>
            </a:pPr>
            <a:r>
              <a:rPr lang="en-US" sz="1100" b="1"/>
              <a:t>What</a:t>
            </a:r>
            <a:r>
              <a:rPr lang="en-US" sz="1100"/>
              <a:t>: Advanced engineering and technology capabilities in select areas including, but not necessarily requiring, an emphasis on civil infrastructure</a:t>
            </a:r>
            <a:endParaRPr lang="en-US" sz="1100" strike="sngStrike" baseline="30000"/>
          </a:p>
          <a:p>
            <a:pPr marL="346075" lvl="1" indent="-173038">
              <a:buFont typeface="Calibri" panose="020F0502020204030204" pitchFamily="34" charset="0"/>
              <a:buChar char="‒"/>
            </a:pPr>
            <a:r>
              <a:rPr lang="en-US" sz="1100" b="1"/>
              <a:t>How</a:t>
            </a:r>
            <a:r>
              <a:rPr lang="en-US" sz="1100"/>
              <a:t>: Delivery of solutions mainly through consulting and professional services</a:t>
            </a:r>
          </a:p>
          <a:p>
            <a:pPr marL="346075" lvl="1" indent="-173038">
              <a:buFont typeface="Calibri" panose="020F0502020204030204" pitchFamily="34" charset="0"/>
              <a:buChar char="‒"/>
            </a:pPr>
            <a:r>
              <a:rPr lang="en-US" sz="1100" b="1"/>
              <a:t>For Whom</a:t>
            </a:r>
            <a:r>
              <a:rPr lang="en-US" sz="1100"/>
              <a:t>: Major commercial clients </a:t>
            </a:r>
            <a:r>
              <a:rPr lang="en-US" sz="1100" b="1">
                <a:solidFill>
                  <a:srgbClr val="FF0000"/>
                </a:solidFill>
              </a:rPr>
              <a:t>in similar end markets </a:t>
            </a:r>
            <a:r>
              <a:rPr lang="en-US" sz="1100"/>
              <a:t>and </a:t>
            </a:r>
            <a:r>
              <a:rPr lang="en-US" sz="1100" b="1">
                <a:solidFill>
                  <a:srgbClr val="FF0000"/>
                </a:solidFill>
              </a:rPr>
              <a:t>non-mission critical </a:t>
            </a:r>
            <a:r>
              <a:rPr lang="en-US" sz="1100"/>
              <a:t>government clients</a:t>
            </a:r>
          </a:p>
          <a:p>
            <a:pPr marL="346075" lvl="1" indent="-173038">
              <a:buFont typeface="Calibri" panose="020F0502020204030204" pitchFamily="34" charset="0"/>
              <a:buChar char="‒"/>
            </a:pPr>
            <a:r>
              <a:rPr lang="en-US" sz="1100" b="1"/>
              <a:t>Where</a:t>
            </a:r>
            <a:r>
              <a:rPr lang="en-US" sz="1100"/>
              <a:t>: Significant percent of international revenue and employees (≥ 30%)</a:t>
            </a:r>
          </a:p>
        </p:txBody>
      </p:sp>
      <p:sp>
        <p:nvSpPr>
          <p:cNvPr id="37" name="TextBox 36"/>
          <p:cNvSpPr txBox="1"/>
          <p:nvPr/>
        </p:nvSpPr>
        <p:spPr>
          <a:xfrm>
            <a:off x="3105722" y="2746399"/>
            <a:ext cx="2532888" cy="1323439"/>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Potentially relevant industries</a:t>
            </a:r>
          </a:p>
          <a:p>
            <a:pPr marL="284163" lvl="1" indent="-120650">
              <a:buFont typeface="Calibri" panose="020F0502020204030204" pitchFamily="34" charset="0"/>
              <a:buChar char="‒"/>
            </a:pPr>
            <a:r>
              <a:rPr lang="en-US" sz="1100"/>
              <a:t>Construction &amp; Engineering</a:t>
            </a:r>
          </a:p>
          <a:p>
            <a:pPr marL="284163" lvl="1" indent="-120650">
              <a:buFont typeface="Calibri" panose="020F0502020204030204" pitchFamily="34" charset="0"/>
              <a:buChar char="‒"/>
            </a:pPr>
            <a:r>
              <a:rPr lang="en-US" sz="1100"/>
              <a:t>Research &amp; Consulting</a:t>
            </a:r>
          </a:p>
          <a:p>
            <a:pPr marL="284163" lvl="1" indent="-120650">
              <a:buFont typeface="Calibri" panose="020F0502020204030204" pitchFamily="34" charset="0"/>
              <a:buChar char="‒"/>
            </a:pPr>
            <a:r>
              <a:rPr lang="en-US" sz="1100"/>
              <a:t>IT Consulting &amp; Other Services</a:t>
            </a:r>
          </a:p>
          <a:p>
            <a:pPr marL="284163" lvl="1" indent="-120650">
              <a:buFont typeface="Calibri" panose="020F0502020204030204" pitchFamily="34" charset="0"/>
              <a:buChar char="‒"/>
            </a:pPr>
            <a:r>
              <a:rPr lang="en-US" sz="1100"/>
              <a:t>Electrical Components &amp; Equipment</a:t>
            </a:r>
            <a:endParaRPr lang="en-US" sz="1100" baseline="30000"/>
          </a:p>
          <a:p>
            <a:pPr marL="284163" lvl="1" indent="-120650">
              <a:buFont typeface="Calibri" panose="020F0502020204030204" pitchFamily="34" charset="0"/>
              <a:buChar char="‒"/>
            </a:pPr>
            <a:r>
              <a:rPr lang="en-US" sz="1100"/>
              <a:t>Industrial Conglomerates</a:t>
            </a:r>
          </a:p>
          <a:p>
            <a:pPr marL="284163" lvl="1" indent="-120650">
              <a:buFont typeface="Calibri" panose="020F0502020204030204" pitchFamily="34" charset="0"/>
              <a:buChar char="‒"/>
            </a:pPr>
            <a:r>
              <a:rPr lang="en-US" sz="1100"/>
              <a:t>Electronic Manufacturing Services</a:t>
            </a:r>
          </a:p>
        </p:txBody>
      </p:sp>
      <p:sp>
        <p:nvSpPr>
          <p:cNvPr id="50" name="Rectangle 49"/>
          <p:cNvSpPr/>
          <p:nvPr/>
        </p:nvSpPr>
        <p:spPr>
          <a:xfrm>
            <a:off x="5416589" y="2963719"/>
            <a:ext cx="3295770" cy="938719"/>
          </a:xfrm>
          <a:prstGeom prst="rect">
            <a:avLst/>
          </a:prstGeom>
        </p:spPr>
        <p:txBody>
          <a:bodyPr wrap="square">
            <a:spAutoFit/>
          </a:bodyPr>
          <a:lstStyle/>
          <a:p>
            <a:pPr marL="233363" lvl="1" indent="-120650">
              <a:buFont typeface="Calibri" panose="020F0502020204030204" pitchFamily="34" charset="0"/>
              <a:buChar char="‒"/>
            </a:pPr>
            <a:r>
              <a:rPr lang="en-US" sz="1100"/>
              <a:t>Environmental &amp; Facilities Services</a:t>
            </a:r>
          </a:p>
          <a:p>
            <a:pPr marL="233363" lvl="1" indent="-120650">
              <a:buFont typeface="Calibri" panose="020F0502020204030204" pitchFamily="34" charset="0"/>
              <a:buChar char="‒"/>
            </a:pPr>
            <a:r>
              <a:rPr lang="en-US" sz="1100"/>
              <a:t>Communications Equipment</a:t>
            </a:r>
          </a:p>
          <a:p>
            <a:pPr marL="233363" lvl="1" indent="-120650">
              <a:buFont typeface="Calibri" panose="020F0502020204030204" pitchFamily="34" charset="0"/>
              <a:buChar char="‒"/>
            </a:pPr>
            <a:r>
              <a:rPr lang="en-US" sz="1100"/>
              <a:t>Technology Hardware, Storage &amp; Peripherals</a:t>
            </a:r>
          </a:p>
          <a:p>
            <a:pPr marL="233363" lvl="1" indent="-120650">
              <a:buFont typeface="Calibri" panose="020F0502020204030204" pitchFamily="34" charset="0"/>
              <a:buChar char="‒"/>
            </a:pPr>
            <a:r>
              <a:rPr lang="en-US" sz="1100"/>
              <a:t>Electronic Equipment &amp; Instruments </a:t>
            </a:r>
          </a:p>
          <a:p>
            <a:pPr marL="233363" lvl="1" indent="-120650">
              <a:buFont typeface="Calibri" panose="020F0502020204030204" pitchFamily="34" charset="0"/>
              <a:buChar char="‒"/>
            </a:pPr>
            <a:r>
              <a:rPr lang="en-US" sz="1100"/>
              <a:t>Application Software</a:t>
            </a:r>
          </a:p>
        </p:txBody>
      </p:sp>
      <p:sp>
        <p:nvSpPr>
          <p:cNvPr id="44" name="Trapezoid 43"/>
          <p:cNvSpPr/>
          <p:nvPr/>
        </p:nvSpPr>
        <p:spPr>
          <a:xfrm rot="10800000">
            <a:off x="252575" y="2099852"/>
            <a:ext cx="2678736" cy="3910359"/>
          </a:xfrm>
          <a:prstGeom prst="trapezoid">
            <a:avLst>
              <a:gd name="adj" fmla="val 30668"/>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800">
              <a:solidFill>
                <a:schemeClr val="tx1"/>
              </a:solidFill>
            </a:endParaRPr>
          </a:p>
        </p:txBody>
      </p:sp>
      <p:sp>
        <p:nvSpPr>
          <p:cNvPr id="10" name="Oval 9"/>
          <p:cNvSpPr/>
          <p:nvPr/>
        </p:nvSpPr>
        <p:spPr>
          <a:xfrm>
            <a:off x="245571" y="1830665"/>
            <a:ext cx="2695975" cy="45720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Universe of Publicly</a:t>
            </a:r>
          </a:p>
          <a:p>
            <a:pPr algn="ctr"/>
            <a:r>
              <a:rPr lang="en-US" sz="1200" b="1">
                <a:solidFill>
                  <a:schemeClr val="tx1"/>
                </a:solidFill>
              </a:rPr>
              <a:t>Traded Companies</a:t>
            </a:r>
          </a:p>
        </p:txBody>
      </p:sp>
      <p:sp>
        <p:nvSpPr>
          <p:cNvPr id="21" name="Oval 20"/>
          <p:cNvSpPr/>
          <p:nvPr/>
        </p:nvSpPr>
        <p:spPr>
          <a:xfrm>
            <a:off x="390159" y="2582757"/>
            <a:ext cx="2387172" cy="384048"/>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Industry</a:t>
            </a:r>
          </a:p>
        </p:txBody>
      </p:sp>
      <p:sp>
        <p:nvSpPr>
          <p:cNvPr id="26" name="Oval 25"/>
          <p:cNvSpPr/>
          <p:nvPr/>
        </p:nvSpPr>
        <p:spPr>
          <a:xfrm>
            <a:off x="648930" y="3845842"/>
            <a:ext cx="1869052"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Size</a:t>
            </a:r>
          </a:p>
        </p:txBody>
      </p:sp>
      <p:sp>
        <p:nvSpPr>
          <p:cNvPr id="27" name="Oval 26"/>
          <p:cNvSpPr/>
          <p:nvPr/>
        </p:nvSpPr>
        <p:spPr>
          <a:xfrm>
            <a:off x="930102" y="5107868"/>
            <a:ext cx="132908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Business Model</a:t>
            </a:r>
          </a:p>
        </p:txBody>
      </p:sp>
      <p:sp>
        <p:nvSpPr>
          <p:cNvPr id="40" name="Oval 39"/>
          <p:cNvSpPr/>
          <p:nvPr/>
        </p:nvSpPr>
        <p:spPr>
          <a:xfrm>
            <a:off x="1080571" y="5819094"/>
            <a:ext cx="102597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Peers</a:t>
            </a:r>
          </a:p>
        </p:txBody>
      </p:sp>
      <p:sp>
        <p:nvSpPr>
          <p:cNvPr id="12" name="TextBox 11">
            <a:extLst>
              <a:ext uri="{FF2B5EF4-FFF2-40B4-BE49-F238E27FC236}">
                <a16:creationId xmlns:a16="http://schemas.microsoft.com/office/drawing/2014/main" id="{A7451DC5-BC5B-7454-6F8D-2DEA2937D722}"/>
              </a:ext>
            </a:extLst>
          </p:cNvPr>
          <p:cNvSpPr txBox="1"/>
          <p:nvPr/>
        </p:nvSpPr>
        <p:spPr>
          <a:xfrm>
            <a:off x="1251837" y="2297289"/>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10,911</a:t>
            </a:r>
          </a:p>
        </p:txBody>
      </p:sp>
      <p:sp>
        <p:nvSpPr>
          <p:cNvPr id="13" name="TextBox 12">
            <a:extLst>
              <a:ext uri="{FF2B5EF4-FFF2-40B4-BE49-F238E27FC236}">
                <a16:creationId xmlns:a16="http://schemas.microsoft.com/office/drawing/2014/main" id="{BAB381D0-2317-1A42-970C-B52626F0BCB4}"/>
              </a:ext>
            </a:extLst>
          </p:cNvPr>
          <p:cNvSpPr txBox="1"/>
          <p:nvPr/>
        </p:nvSpPr>
        <p:spPr>
          <a:xfrm>
            <a:off x="1261243" y="2975214"/>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10,500</a:t>
            </a:r>
          </a:p>
        </p:txBody>
      </p:sp>
      <p:sp>
        <p:nvSpPr>
          <p:cNvPr id="14" name="TextBox 13">
            <a:extLst>
              <a:ext uri="{FF2B5EF4-FFF2-40B4-BE49-F238E27FC236}">
                <a16:creationId xmlns:a16="http://schemas.microsoft.com/office/drawing/2014/main" id="{A1808DFE-8345-F09F-07B2-895D806346E8}"/>
              </a:ext>
            </a:extLst>
          </p:cNvPr>
          <p:cNvSpPr txBox="1"/>
          <p:nvPr/>
        </p:nvSpPr>
        <p:spPr>
          <a:xfrm>
            <a:off x="1353040" y="4207850"/>
            <a:ext cx="496291"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983</a:t>
            </a:r>
          </a:p>
        </p:txBody>
      </p:sp>
      <p:sp>
        <p:nvSpPr>
          <p:cNvPr id="8" name="Oval 7">
            <a:extLst>
              <a:ext uri="{FF2B5EF4-FFF2-40B4-BE49-F238E27FC236}">
                <a16:creationId xmlns:a16="http://schemas.microsoft.com/office/drawing/2014/main" id="{A83B7DDD-DCF3-3C89-EB93-4C048A8EDF2D}"/>
              </a:ext>
            </a:extLst>
          </p:cNvPr>
          <p:cNvSpPr/>
          <p:nvPr/>
        </p:nvSpPr>
        <p:spPr>
          <a:xfrm>
            <a:off x="792399" y="4464738"/>
            <a:ext cx="1603541"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Financial Health</a:t>
            </a:r>
          </a:p>
        </p:txBody>
      </p:sp>
      <p:cxnSp>
        <p:nvCxnSpPr>
          <p:cNvPr id="9" name="Straight Connector 8">
            <a:extLst>
              <a:ext uri="{FF2B5EF4-FFF2-40B4-BE49-F238E27FC236}">
                <a16:creationId xmlns:a16="http://schemas.microsoft.com/office/drawing/2014/main" id="{93421D23-78A5-63F3-16BF-0168674DE74C}"/>
              </a:ext>
            </a:extLst>
          </p:cNvPr>
          <p:cNvCxnSpPr>
            <a:cxnSpLocks/>
          </p:cNvCxnSpPr>
          <p:nvPr/>
        </p:nvCxnSpPr>
        <p:spPr>
          <a:xfrm>
            <a:off x="2527825" y="5189147"/>
            <a:ext cx="5677684"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57E579DA-A825-2C20-BFA3-29F173AEC997}"/>
              </a:ext>
            </a:extLst>
          </p:cNvPr>
          <p:cNvSpPr txBox="1"/>
          <p:nvPr/>
        </p:nvSpPr>
        <p:spPr>
          <a:xfrm>
            <a:off x="3099910" y="4770429"/>
            <a:ext cx="5052160" cy="307777"/>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b="1">
                <a:solidFill>
                  <a:srgbClr val="FF0000"/>
                </a:solidFill>
              </a:rPr>
              <a:t>Financial viability; no material concerns</a:t>
            </a:r>
            <a:endParaRPr lang="en-US" sz="1400">
              <a:solidFill>
                <a:srgbClr val="FF0000"/>
              </a:solidFill>
            </a:endParaRPr>
          </a:p>
        </p:txBody>
      </p:sp>
      <p:sp>
        <p:nvSpPr>
          <p:cNvPr id="15" name="TextBox 14">
            <a:extLst>
              <a:ext uri="{FF2B5EF4-FFF2-40B4-BE49-F238E27FC236}">
                <a16:creationId xmlns:a16="http://schemas.microsoft.com/office/drawing/2014/main" id="{9F27B59C-603C-0319-04DE-0DF66D20C277}"/>
              </a:ext>
            </a:extLst>
          </p:cNvPr>
          <p:cNvSpPr txBox="1"/>
          <p:nvPr/>
        </p:nvSpPr>
        <p:spPr>
          <a:xfrm>
            <a:off x="7132439" y="1944692"/>
            <a:ext cx="1579920" cy="224292"/>
          </a:xfrm>
          <a:prstGeom prst="rect">
            <a:avLst/>
          </a:prstGeom>
          <a:noFill/>
        </p:spPr>
        <p:txBody>
          <a:bodyPr vert="horz" wrap="none" lIns="45720" tIns="45720" rIns="45720" bIns="45720" rtlCol="0" anchor="ctr">
            <a:spAutoFit/>
          </a:bodyPr>
          <a:lstStyle/>
          <a:p>
            <a:pPr algn="ctr">
              <a:lnSpc>
                <a:spcPct val="85000"/>
              </a:lnSpc>
            </a:pPr>
            <a:r>
              <a:rPr lang="en-US" sz="1000" b="1">
                <a:solidFill>
                  <a:srgbClr val="FF0000"/>
                </a:solidFill>
              </a:rPr>
              <a:t>Refined criteria for this year</a:t>
            </a:r>
          </a:p>
        </p:txBody>
      </p:sp>
      <p:sp>
        <p:nvSpPr>
          <p:cNvPr id="90012" name="acme-flag-90012"/>
          <p:cNvSpPr/>
          <p:nvPr/>
        </p:nvSpPr>
        <p:spPr>
          <a:xfrm>
            <a:off x="3153391" y="1517696"/>
            <a:ext cx="4956820" cy="307777"/>
          </a:xfrm>
          <a:prstGeom prst="rect">
            <a:avLst/>
          </a:prstGeom>
          <a:solidFill>
            <a:srgbClr val="FFD400">
              <a:alpha val="30000"/>
            </a:srgbClr>
          </a:solidFill>
          <a:ln w="19050">
            <a:solidFill>
              <a:srgbClr val="E80000"/>
            </a:solidFill>
          </a:ln>
        </p:spPr>
        <p:txBody>
          <a:bodyPr/>
          <a:lstStyle/>
          <a:p/>
        </p:txBody>
      </p:sp>
      <p:sp>
        <p:nvSpPr>
          <p:cNvPr id="90013" name="acme-flag-90013"/>
          <p:cNvSpPr/>
          <p:nvPr/>
        </p:nvSpPr>
        <p:spPr>
          <a:xfrm>
            <a:off x="3105720" y="2007811"/>
            <a:ext cx="5062003" cy="692497"/>
          </a:xfrm>
          <a:prstGeom prst="rect">
            <a:avLst/>
          </a:prstGeom>
          <a:solidFill>
            <a:srgbClr val="FFD400">
              <a:alpha val="30000"/>
            </a:srgbClr>
          </a:solidFill>
          <a:ln w="19050">
            <a:solidFill>
              <a:srgbClr val="E80000"/>
            </a:solidFill>
          </a:ln>
        </p:spPr>
        <p:txBody>
          <a:bodyPr/>
          <a:lstStyle/>
          <a:p/>
        </p:txBody>
      </p:sp>
      <p:sp>
        <p:nvSpPr>
          <p:cNvPr id="90014" name="acme-flag-90014"/>
          <p:cNvSpPr/>
          <p:nvPr/>
        </p:nvSpPr>
        <p:spPr>
          <a:xfrm>
            <a:off x="3153391" y="1517696"/>
            <a:ext cx="4956820" cy="307777"/>
          </a:xfrm>
          <a:prstGeom prst="rect">
            <a:avLst/>
          </a:prstGeom>
          <a:solidFill>
            <a:srgbClr val="FFD400">
              <a:alpha val="30000"/>
            </a:srgbClr>
          </a:solidFill>
          <a:ln w="19050">
            <a:solidFill>
              <a:srgbClr val="E80000"/>
            </a:solidFill>
          </a:ln>
        </p:spPr>
        <p:txBody>
          <a:bodyPr/>
          <a:lstStyle/>
          <a:p/>
        </p:txBody>
      </p:sp>
      <p:sp>
        <p:nvSpPr>
          <p:cNvPr id="90015" name="acme-flag-90015"/>
          <p:cNvSpPr/>
          <p:nvPr/>
        </p:nvSpPr>
        <p:spPr>
          <a:xfrm>
            <a:off x="245571" y="1830665"/>
            <a:ext cx="2695975" cy="457200"/>
          </a:xfrm>
          <a:prstGeom prst="rect">
            <a:avLst/>
          </a:prstGeom>
          <a:solidFill>
            <a:srgbClr val="FFD400">
              <a:alpha val="30000"/>
            </a:srgbClr>
          </a:solidFill>
          <a:ln w="19050">
            <a:solidFill>
              <a:srgbClr val="E80000"/>
            </a:solidFill>
          </a:ln>
        </p:spPr>
        <p:txBody>
          <a:bodyPr/>
          <a:lstStyle/>
          <a:p/>
        </p:txBody>
      </p:sp>
      <p:sp>
        <p:nvSpPr>
          <p:cNvPr id="90016" name="acme-flag-90016"/>
          <p:cNvSpPr/>
          <p:nvPr/>
        </p:nvSpPr>
        <p:spPr>
          <a:xfrm>
            <a:off x="390159" y="2582757"/>
            <a:ext cx="2387172" cy="384048"/>
          </a:xfrm>
          <a:prstGeom prst="rect">
            <a:avLst/>
          </a:prstGeom>
          <a:solidFill>
            <a:srgbClr val="FFD400">
              <a:alpha val="30000"/>
            </a:srgbClr>
          </a:solidFill>
          <a:ln w="19050">
            <a:solidFill>
              <a:srgbClr val="E80000"/>
            </a:solidFill>
          </a:ln>
        </p:spPr>
        <p:txBody>
          <a:bodyPr/>
          <a:lstStyle/>
          <a:p/>
        </p:txBody>
      </p:sp>
      <p:sp>
        <p:nvSpPr>
          <p:cNvPr id="90017" name="acme-flag-90017"/>
          <p:cNvSpPr/>
          <p:nvPr/>
        </p:nvSpPr>
        <p:spPr>
          <a:xfrm>
            <a:off x="648930" y="3845842"/>
            <a:ext cx="1869052" cy="365760"/>
          </a:xfrm>
          <a:prstGeom prst="rect">
            <a:avLst/>
          </a:prstGeom>
          <a:solidFill>
            <a:srgbClr val="FFD400">
              <a:alpha val="30000"/>
            </a:srgbClr>
          </a:solidFill>
          <a:ln w="19050">
            <a:solidFill>
              <a:srgbClr val="E80000"/>
            </a:solidFill>
          </a:ln>
        </p:spPr>
        <p:txBody>
          <a:bodyPr/>
          <a:lstStyle/>
          <a:p/>
        </p:txBody>
      </p:sp>
      <p:sp>
        <p:nvSpPr>
          <p:cNvPr id="90018" name="acme-flag-90018"/>
          <p:cNvSpPr/>
          <p:nvPr/>
        </p:nvSpPr>
        <p:spPr>
          <a:xfrm>
            <a:off x="792399" y="4464738"/>
            <a:ext cx="1603541" cy="365760"/>
          </a:xfrm>
          <a:prstGeom prst="rect">
            <a:avLst/>
          </a:prstGeom>
          <a:solidFill>
            <a:srgbClr val="FFD400">
              <a:alpha val="30000"/>
            </a:srgbClr>
          </a:solidFill>
          <a:ln w="19050">
            <a:solidFill>
              <a:srgbClr val="E80000"/>
            </a:solidFill>
          </a:ln>
        </p:spPr>
        <p:txBody>
          <a:bodyPr/>
          <a:lstStyle/>
          <a:p/>
        </p:txBody>
      </p:sp>
      <p:sp>
        <p:nvSpPr>
          <p:cNvPr id="90019" name="acme-flag-90019"/>
          <p:cNvSpPr/>
          <p:nvPr/>
        </p:nvSpPr>
        <p:spPr>
          <a:xfrm>
            <a:off x="3105722" y="2746399"/>
            <a:ext cx="2532888" cy="1323439"/>
          </a:xfrm>
          <a:prstGeom prst="rect">
            <a:avLst/>
          </a:prstGeom>
          <a:solidFill>
            <a:srgbClr val="FFD400">
              <a:alpha val="30000"/>
            </a:srgbClr>
          </a:solidFill>
          <a:ln w="19050">
            <a:solidFill>
              <a:srgbClr val="E80000"/>
            </a:solidFill>
          </a:ln>
        </p:spPr>
        <p:txBody>
          <a:bodyPr/>
          <a:lstStyle/>
          <a:p/>
        </p:txBody>
      </p:sp>
      <p:sp>
        <p:nvSpPr>
          <p:cNvPr id="90020" name="acme-flag-90020"/>
          <p:cNvSpPr/>
          <p:nvPr/>
        </p:nvSpPr>
        <p:spPr>
          <a:xfrm>
            <a:off x="3105720" y="2007811"/>
            <a:ext cx="5062003" cy="692497"/>
          </a:xfrm>
          <a:prstGeom prst="rect">
            <a:avLst/>
          </a:prstGeom>
          <a:solidFill>
            <a:srgbClr val="FFD400">
              <a:alpha val="30000"/>
            </a:srgbClr>
          </a:solidFill>
          <a:ln w="19050">
            <a:solidFill>
              <a:srgbClr val="E80000"/>
            </a:solidFill>
          </a:ln>
        </p:spPr>
        <p:txBody>
          <a:bodyPr/>
          <a:lstStyle/>
          <a:p/>
        </p:txBody>
      </p:sp>
      <p:sp>
        <p:nvSpPr>
          <p:cNvPr id="90021" name="acme-flag-90021"/>
          <p:cNvSpPr/>
          <p:nvPr/>
        </p:nvSpPr>
        <p:spPr>
          <a:xfrm>
            <a:off x="3153391" y="1517696"/>
            <a:ext cx="4956820" cy="307777"/>
          </a:xfrm>
          <a:prstGeom prst="rect">
            <a:avLst/>
          </a:prstGeom>
          <a:solidFill>
            <a:srgbClr val="FFD400">
              <a:alpha val="30000"/>
            </a:srgbClr>
          </a:solidFill>
          <a:ln w="19050">
            <a:solidFill>
              <a:srgbClr val="E80000"/>
            </a:solidFill>
          </a:ln>
        </p:spPr>
        <p:txBody>
          <a:bodyPr/>
          <a:lstStyle/>
          <a:p/>
        </p:txBody>
      </p:sp>
      <p:sp>
        <p:nvSpPr>
          <p:cNvPr id="90022" name="acme-flag-90022"/>
          <p:cNvSpPr/>
          <p:nvPr/>
        </p:nvSpPr>
        <p:spPr>
          <a:xfrm>
            <a:off x="3099910" y="4770429"/>
            <a:ext cx="5052160" cy="307777"/>
          </a:xfrm>
          <a:prstGeom prst="rect">
            <a:avLst/>
          </a:prstGeom>
          <a:solidFill>
            <a:srgbClr val="FFD400">
              <a:alpha val="30000"/>
            </a:srgbClr>
          </a:solidFill>
          <a:ln w="19050">
            <a:solidFill>
              <a:srgbClr val="E80000"/>
            </a:solidFill>
          </a:ln>
        </p:spPr>
        <p:txBody>
          <a:bodyPr/>
          <a:lstStyle/>
          <a:p/>
        </p:txBody>
      </p:sp>
      <p:sp>
        <p:nvSpPr>
          <p:cNvPr id="90023" name="acme-note-90023"/>
          <p:cNvSpPr txBox="1"/>
          <p:nvPr/>
        </p:nvSpPr>
        <p:spPr>
          <a:xfrm>
            <a:off x="152400" y="5453000"/>
            <a:ext cx="8839200" cy="13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12 brand issues flagged:</a:t>
            </a:r>
          </a:p>
          <a:p>
            <a:r>
              <a:rPr lang="en-US" sz="1000" b="0" dirty="0">
                <a:solidFill>
                  <a:srgbClr val="9B0000"/>
                </a:solidFill>
                <a:latin typeface="Calibri"/>
              </a:rPr>
              <a:t>1. Slide title [#9] is set to 14pt bold; brand guidelines require 24pt Calibri Bold for content slide titles.</a:t>
            </a:r>
          </a:p>
          <a:p>
            <a:r>
              <a:rPr lang="en-US" sz="1000" b="0" dirty="0">
                <a:solidFill>
                  <a:srgbClr val="9B0000"/>
                </a:solidFill>
                <a:latin typeface="Calibri"/>
              </a:rPr>
              <a:t>2. Font color #FF0000 (used in shapes #0, #4, #10, #24, #25) is not in the ACME color palette; the nearest valid palette reds are #FF3737 or #E80000.</a:t>
            </a:r>
          </a:p>
          <a:p>
            <a:r>
              <a:rPr lang="en-US" sz="1000" b="0" dirty="0">
                <a:solidFill>
                  <a:srgbClr val="9B0000"/>
                </a:solidFill>
                <a:latin typeface="Calibri"/>
              </a:rPr>
              <a:t>3. Slide title [#9] 'ACME's Current and Recommended FY27 Screening Criteria' uses title case; brand guidelines require sentence case — 'Current', 'Recommended', 'Screening', and 'Criteria' should be lowercase.</a:t>
            </a:r>
          </a:p>
          <a:p>
            <a:r>
              <a:rPr lang="en-US" sz="1000" b="0" dirty="0">
                <a:solidFill>
                  <a:srgbClr val="9B0000"/>
                </a:solidFill>
                <a:latin typeface="Calibri"/>
              </a:rPr>
              <a:t>4. Shape #14 ('Universe of Publicly / Traded Companies') is positioned at x=0.27in; brand guidelines prohibit content elements below the header from being closer than 1.0in to the left slide edge.</a:t>
            </a:r>
          </a:p>
          <a:p>
            <a:r>
              <a:rPr lang="en-US" sz="1000" b="0" dirty="0">
                <a:solidFill>
                  <a:srgbClr val="9B0000"/>
                </a:solidFill>
                <a:latin typeface="Calibri"/>
              </a:rPr>
              <a:t>5. Shape #15 ('Industry') is positioned at x=0.43in, violating the 1.0in minimum left-margin rule for content below the header.</a:t>
            </a:r>
          </a:p>
          <a:p>
            <a:r>
              <a:rPr lang="en-US" sz="1000" b="0" dirty="0">
                <a:solidFill>
                  <a:srgbClr val="9B0000"/>
                </a:solidFill>
                <a:latin typeface="Calibri"/>
              </a:rPr>
              <a:t>…and 7 more (see panel).</a:t>
            </a:r>
          </a:p>
        </p:txBody>
      </p:sp>
    </p:spTree>
    <p:extLst>
      <p:ext uri="{BB962C8B-B14F-4D97-AF65-F5344CB8AC3E}">
        <p14:creationId xmlns:p14="http://schemas.microsoft.com/office/powerpoint/2010/main" val="183693139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5C2C52-D3EA-C46D-8689-389E4FEBD5B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58F74E8-3A23-A16B-EFEB-19D51279A8E0}"/>
              </a:ext>
            </a:extLst>
          </p:cNvPr>
          <p:cNvSpPr>
            <a:spLocks noGrp="1"/>
          </p:cNvSpPr>
          <p:nvPr>
            <p:ph type="title"/>
          </p:nvPr>
        </p:nvSpPr>
        <p:spPr/>
        <p:txBody>
          <a:bodyPr/>
          <a:lstStyle/>
          <a:p>
            <a:r>
              <a:rPr lang="en-US" dirty="0" err="1"/>
              <a:t>Plutos</a:t>
            </a:r>
            <a:r>
              <a:rPr lang="en-US" dirty="0"/>
              <a:t>’ current peers continue to meet most of the screening criteria; however, DXC and Kyndryl are under financial duress </a:t>
            </a:r>
            <a:r>
              <a:rPr lang="en-US" i="1" dirty="0"/>
              <a:t>(see next page)</a:t>
            </a:r>
            <a:r>
              <a:rPr lang="en-US" dirty="0"/>
              <a:t>, and KBR is planning a spin-off</a:t>
            </a:r>
          </a:p>
        </p:txBody>
      </p:sp>
      <p:sp>
        <p:nvSpPr>
          <p:cNvPr id="7" name="TextBox 6">
            <a:extLst>
              <a:ext uri="{FF2B5EF4-FFF2-40B4-BE49-F238E27FC236}">
                <a16:creationId xmlns:a16="http://schemas.microsoft.com/office/drawing/2014/main" id="{4BA9C702-4C52-F5CA-E336-11BB0AE07E46}"/>
              </a:ext>
            </a:extLst>
          </p:cNvPr>
          <p:cNvSpPr txBox="1"/>
          <p:nvPr/>
        </p:nvSpPr>
        <p:spPr>
          <a:xfrm>
            <a:off x="2188795" y="119973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D3014650-61A5-F95D-13C4-4FFA639D2BB1}"/>
              </a:ext>
            </a:extLst>
          </p:cNvPr>
          <p:cNvSpPr txBox="1"/>
          <p:nvPr/>
        </p:nvSpPr>
        <p:spPr>
          <a:xfrm>
            <a:off x="88602" y="6108749"/>
            <a:ext cx="3780147" cy="3693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a:p>
            <a:pPr marL="169863" indent="-169863">
              <a:buAutoNum type="arabicParenBoth"/>
            </a:pPr>
            <a:r>
              <a:rPr lang="en-US" sz="900" i="1"/>
              <a:t>Values represent non-U.S. revenue as a % of total revenue</a:t>
            </a:r>
          </a:p>
        </p:txBody>
      </p:sp>
      <p:sp>
        <p:nvSpPr>
          <p:cNvPr id="17" name="Rectangle 16">
            <a:extLst>
              <a:ext uri="{FF2B5EF4-FFF2-40B4-BE49-F238E27FC236}">
                <a16:creationId xmlns:a16="http://schemas.microsoft.com/office/drawing/2014/main" id="{9C1B790D-357C-5895-FF1F-2257A6F6FDD3}"/>
              </a:ext>
            </a:extLst>
          </p:cNvPr>
          <p:cNvSpPr/>
          <p:nvPr/>
        </p:nvSpPr>
        <p:spPr bwMode="auto">
          <a:xfrm>
            <a:off x="5624368" y="6298078"/>
            <a:ext cx="317079" cy="105446"/>
          </a:xfrm>
          <a:prstGeom prst="rect">
            <a:avLst/>
          </a:prstGeom>
          <a:solidFill>
            <a:schemeClr val="accent6">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8" name="TextBox 17">
            <a:extLst>
              <a:ext uri="{FF2B5EF4-FFF2-40B4-BE49-F238E27FC236}">
                <a16:creationId xmlns:a16="http://schemas.microsoft.com/office/drawing/2014/main" id="{ED6B1530-812D-7B75-6C67-5CD63EEFDFC3}"/>
              </a:ext>
            </a:extLst>
          </p:cNvPr>
          <p:cNvSpPr txBox="1"/>
          <p:nvPr/>
        </p:nvSpPr>
        <p:spPr>
          <a:xfrm>
            <a:off x="5913173" y="6214172"/>
            <a:ext cx="2950201" cy="369332"/>
          </a:xfrm>
          <a:prstGeom prst="rect">
            <a:avLst/>
          </a:prstGeom>
          <a:noFill/>
        </p:spPr>
        <p:txBody>
          <a:bodyPr wrap="square" rtlCol="0" anchor="ctr">
            <a:spAutoFit/>
          </a:bodyPr>
          <a:lstStyle/>
          <a:p>
            <a:r>
              <a:rPr lang="en-US" sz="900" i="1"/>
              <a:t>Requires monitoring due to the anticipated spin-off of the Mission Technology Solutions business</a:t>
            </a:r>
          </a:p>
        </p:txBody>
      </p:sp>
      <p:sp>
        <p:nvSpPr>
          <p:cNvPr id="9" name="Rectangle 8">
            <a:extLst>
              <a:ext uri="{FF2B5EF4-FFF2-40B4-BE49-F238E27FC236}">
                <a16:creationId xmlns:a16="http://schemas.microsoft.com/office/drawing/2014/main" id="{17C20E07-31F0-384A-9AD4-1CD227D7DDA0}"/>
              </a:ext>
            </a:extLst>
          </p:cNvPr>
          <p:cNvSpPr/>
          <p:nvPr/>
        </p:nvSpPr>
        <p:spPr bwMode="auto">
          <a:xfrm>
            <a:off x="4636630" y="6147064"/>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30D00DAE-502E-A0A0-D737-89F470BFC6C7}"/>
              </a:ext>
            </a:extLst>
          </p:cNvPr>
          <p:cNvSpPr txBox="1"/>
          <p:nvPr/>
        </p:nvSpPr>
        <p:spPr>
          <a:xfrm>
            <a:off x="4898189" y="6079319"/>
            <a:ext cx="717035" cy="230831"/>
          </a:xfrm>
          <a:prstGeom prst="rect">
            <a:avLst/>
          </a:prstGeom>
          <a:noFill/>
        </p:spPr>
        <p:txBody>
          <a:bodyPr wrap="square" rtlCol="0" anchor="ctr">
            <a:spAutoFit/>
          </a:bodyPr>
          <a:lstStyle/>
          <a:p>
            <a:r>
              <a:rPr lang="en-US" sz="900" i="1"/>
              <a:t>Fails screen</a:t>
            </a:r>
          </a:p>
        </p:txBody>
      </p:sp>
      <p:graphicFrame>
        <p:nvGraphicFramePr>
          <p:cNvPr id="11" name="Table 10">
            <a:extLst>
              <a:ext uri="{FF2B5EF4-FFF2-40B4-BE49-F238E27FC236}">
                <a16:creationId xmlns:a16="http://schemas.microsoft.com/office/drawing/2014/main" id="{8934C269-E2ED-3938-466A-0083C1CD9F74}"/>
              </a:ext>
            </a:extLst>
          </p:cNvPr>
          <p:cNvGraphicFramePr>
            <a:graphicFrameLocks noGrp="1"/>
          </p:cNvGraphicFramePr>
          <p:nvPr>
            <p:extLst>
              <p:ext uri="{D42A27DB-BD31-4B8C-83A1-F6EECF244321}">
                <p14:modId xmlns:p14="http://schemas.microsoft.com/office/powerpoint/2010/main" val="760872278"/>
              </p:ext>
            </p:extLst>
          </p:nvPr>
        </p:nvGraphicFramePr>
        <p:xfrm>
          <a:off x="74317" y="1470280"/>
          <a:ext cx="9024704" cy="4604512"/>
        </p:xfrm>
        <a:graphic>
          <a:graphicData uri="http://schemas.openxmlformats.org/drawingml/2006/table">
            <a:tbl>
              <a:tblPr/>
              <a:tblGrid>
                <a:gridCol w="1005840">
                  <a:extLst>
                    <a:ext uri="{9D8B030D-6E8A-4147-A177-3AD203B41FA5}">
                      <a16:colId xmlns:a16="http://schemas.microsoft.com/office/drawing/2014/main" val="3498740264"/>
                    </a:ext>
                  </a:extLst>
                </a:gridCol>
                <a:gridCol w="1920240">
                  <a:extLst>
                    <a:ext uri="{9D8B030D-6E8A-4147-A177-3AD203B41FA5}">
                      <a16:colId xmlns:a16="http://schemas.microsoft.com/office/drawing/2014/main" val="2672747293"/>
                    </a:ext>
                  </a:extLst>
                </a:gridCol>
                <a:gridCol w="581977">
                  <a:extLst>
                    <a:ext uri="{9D8B030D-6E8A-4147-A177-3AD203B41FA5}">
                      <a16:colId xmlns:a16="http://schemas.microsoft.com/office/drawing/2014/main" val="4055734719"/>
                    </a:ext>
                  </a:extLst>
                </a:gridCol>
                <a:gridCol w="578803">
                  <a:extLst>
                    <a:ext uri="{9D8B030D-6E8A-4147-A177-3AD203B41FA5}">
                      <a16:colId xmlns:a16="http://schemas.microsoft.com/office/drawing/2014/main" val="3175602178"/>
                    </a:ext>
                  </a:extLst>
                </a:gridCol>
                <a:gridCol w="618490">
                  <a:extLst>
                    <a:ext uri="{9D8B030D-6E8A-4147-A177-3AD203B41FA5}">
                      <a16:colId xmlns:a16="http://schemas.microsoft.com/office/drawing/2014/main" val="1998022990"/>
                    </a:ext>
                  </a:extLst>
                </a:gridCol>
                <a:gridCol w="578803">
                  <a:extLst>
                    <a:ext uri="{9D8B030D-6E8A-4147-A177-3AD203B41FA5}">
                      <a16:colId xmlns:a16="http://schemas.microsoft.com/office/drawing/2014/main" val="1028378551"/>
                    </a:ext>
                  </a:extLst>
                </a:gridCol>
                <a:gridCol w="932751">
                  <a:extLst>
                    <a:ext uri="{9D8B030D-6E8A-4147-A177-3AD203B41FA5}">
                      <a16:colId xmlns:a16="http://schemas.microsoft.com/office/drawing/2014/main" val="635879128"/>
                    </a:ext>
                  </a:extLst>
                </a:gridCol>
                <a:gridCol w="869251">
                  <a:extLst>
                    <a:ext uri="{9D8B030D-6E8A-4147-A177-3AD203B41FA5}">
                      <a16:colId xmlns:a16="http://schemas.microsoft.com/office/drawing/2014/main" val="1604285976"/>
                    </a:ext>
                  </a:extLst>
                </a:gridCol>
                <a:gridCol w="739077">
                  <a:extLst>
                    <a:ext uri="{9D8B030D-6E8A-4147-A177-3AD203B41FA5}">
                      <a16:colId xmlns:a16="http://schemas.microsoft.com/office/drawing/2014/main" val="1903442265"/>
                    </a:ext>
                  </a:extLst>
                </a:gridCol>
                <a:gridCol w="774001">
                  <a:extLst>
                    <a:ext uri="{9D8B030D-6E8A-4147-A177-3AD203B41FA5}">
                      <a16:colId xmlns:a16="http://schemas.microsoft.com/office/drawing/2014/main" val="2149508805"/>
                    </a:ext>
                  </a:extLst>
                </a:gridCol>
                <a:gridCol w="425471">
                  <a:extLst>
                    <a:ext uri="{9D8B030D-6E8A-4147-A177-3AD203B41FA5}">
                      <a16:colId xmlns:a16="http://schemas.microsoft.com/office/drawing/2014/main" val="186923601"/>
                    </a:ext>
                  </a:extLst>
                </a:gridCol>
              </a:tblGrid>
              <a:tr h="0">
                <a:tc>
                  <a:txBody>
                    <a:bodyPr/>
                    <a:lstStyle/>
                    <a:p>
                      <a:pPr algn="ctr" fontAlgn="b">
                        <a:buNone/>
                      </a:pPr>
                      <a:endParaRPr lang="en-US" sz="10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3">
                  <a:txBody>
                    <a:bodyPr/>
                    <a:lstStyle/>
                    <a:p>
                      <a:pPr algn="ctr" fontAlgn="b">
                        <a:buNone/>
                      </a:pPr>
                      <a:r>
                        <a:rPr lang="fr-FR" sz="1000" b="1" i="0" u="none" strike="noStrike">
                          <a:solidFill>
                            <a:srgbClr val="FFFFFF"/>
                          </a:solidFill>
                          <a:effectLst/>
                          <a:latin typeface="Calibri" panose="020F0502020204030204" pitchFamily="34" charset="0"/>
                        </a:rPr>
                        <a:t>For Reference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5">
                  <a:txBody>
                    <a:bodyPr/>
                    <a:lstStyle/>
                    <a:p>
                      <a:pPr algn="ctr" fontAlgn="b"/>
                      <a:r>
                        <a:rPr lang="en-US" sz="1000" b="1" i="0" u="none" strike="noStrike">
                          <a:solidFill>
                            <a:srgbClr val="FFFFFF"/>
                          </a:solidFill>
                          <a:effectLst/>
                          <a:latin typeface="Calibri" panose="020F0502020204030204" pitchFamily="34" charset="0"/>
                        </a:rPr>
                        <a:t>Business Model</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baseline="30000">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894052986"/>
                  </a:ext>
                </a:extLst>
              </a:tr>
              <a:tr h="0">
                <a:tc>
                  <a:txBody>
                    <a:bodyPr/>
                    <a:lstStyle/>
                    <a:p>
                      <a:pPr algn="ctr" fontAlgn="b">
                        <a:buNone/>
                      </a:pPr>
                      <a:r>
                        <a:rPr lang="en-US" sz="10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1000" b="1" i="0" u="none" strike="noStrike" err="1">
                          <a:solidFill>
                            <a:srgbClr val="FFFFFF"/>
                          </a:solidFill>
                          <a:effectLst/>
                          <a:latin typeface="Calibri" panose="020F0502020204030204" pitchFamily="34" charset="0"/>
                        </a:rPr>
                        <a:t>LTM</a:t>
                      </a:r>
                      <a:endParaRPr lang="fr-FR" sz="1000" b="1" i="0" u="none" strike="noStrike">
                        <a:solidFill>
                          <a:srgbClr val="FFFFFF"/>
                        </a:solidFill>
                        <a:effectLst/>
                        <a:latin typeface="Calibri" panose="020F0502020204030204" pitchFamily="34" charset="0"/>
                      </a:endParaRPr>
                    </a:p>
                    <a:p>
                      <a:pPr algn="ctr" fontAlgn="b">
                        <a:buNone/>
                      </a:pPr>
                      <a:r>
                        <a:rPr lang="fr-FR" sz="1000" b="1" i="0" u="none" strike="noStrike">
                          <a:solidFill>
                            <a:srgbClr val="FFFFFF"/>
                          </a:solidFill>
                          <a:effectLst/>
                          <a:latin typeface="Calibri" panose="020F0502020204030204" pitchFamily="34" charset="0"/>
                        </a:rPr>
                        <a:t>Revenue</a:t>
                      </a:r>
                    </a:p>
                    <a:p>
                      <a:pPr algn="ctr" fontAlgn="b">
                        <a:buNone/>
                      </a:pPr>
                      <a:r>
                        <a:rPr lang="fr-FR" sz="1000" b="1" i="0" u="none" strike="noStrike">
                          <a:solidFill>
                            <a:srgbClr val="FFFFFF"/>
                          </a:solidFill>
                          <a:effectLst/>
                          <a:latin typeface="Calibri" panose="020F0502020204030204" pitchFamily="34" charset="0"/>
                        </a:rPr>
                        <a:t>($</a:t>
                      </a:r>
                      <a:r>
                        <a:rPr lang="fr-FR" sz="1000" b="1" i="0" u="none" strike="noStrike" err="1">
                          <a:solidFill>
                            <a:srgbClr val="FFFFFF"/>
                          </a:solidFill>
                          <a:effectLst/>
                          <a:latin typeface="Calibri" panose="020F0502020204030204" pitchFamily="34" charset="0"/>
                        </a:rPr>
                        <a:t>MMs</a:t>
                      </a:r>
                      <a:r>
                        <a:rPr lang="fr-FR"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a:t>
                      </a:r>
                    </a:p>
                    <a:p>
                      <a:pPr algn="ctr" fontAlgn="b">
                        <a:buNone/>
                      </a:pPr>
                      <a:r>
                        <a:rPr lang="en-US" sz="1000" b="1" i="0" u="none" strike="noStrike">
                          <a:solidFill>
                            <a:srgbClr val="FFFFFF"/>
                          </a:solidFill>
                          <a:effectLst/>
                          <a:latin typeface="Calibri" panose="020F0502020204030204" pitchFamily="34" charset="0"/>
                        </a:rPr>
                        <a:t>3/5/2026</a:t>
                      </a:r>
                    </a:p>
                    <a:p>
                      <a:pPr algn="ctr" fontAlgn="b">
                        <a:buNone/>
                      </a:pPr>
                      <a:r>
                        <a:rPr lang="en-US" sz="1000" b="1" i="0" u="none" strike="noStrike">
                          <a:solidFill>
                            <a:srgbClr val="FFFFFF"/>
                          </a:solidFill>
                          <a:effectLst/>
                          <a:latin typeface="Calibri" panose="020F0502020204030204" pitchFamily="34" charset="0"/>
                        </a:rPr>
                        <a:t>($</a:t>
                      </a:r>
                      <a:r>
                        <a:rPr lang="en-US" sz="1000" b="1" i="0" u="none" strike="noStrike" err="1">
                          <a:solidFill>
                            <a:srgbClr val="FFFFFF"/>
                          </a:solidFill>
                          <a:effectLst/>
                          <a:latin typeface="Calibri" panose="020F0502020204030204" pitchFamily="34" charset="0"/>
                        </a:rPr>
                        <a:t>MMs</a:t>
                      </a:r>
                      <a:r>
                        <a:rPr lang="en-US"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 to</a:t>
                      </a:r>
                    </a:p>
                    <a:p>
                      <a:pPr algn="ctr" fontAlgn="b">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Advanced</a:t>
                      </a:r>
                    </a:p>
                    <a:p>
                      <a:pPr algn="ctr" fontAlgn="b"/>
                      <a:r>
                        <a:rPr lang="en-US" sz="1000" b="1" i="0" u="none" strike="noStrike">
                          <a:solidFill>
                            <a:srgbClr val="FFFFFF"/>
                          </a:solidFill>
                          <a:effectLst/>
                          <a:latin typeface="Calibri" panose="020F0502020204030204" pitchFamily="34" charset="0"/>
                        </a:rPr>
                        <a:t>Engineering and</a:t>
                      </a:r>
                    </a:p>
                    <a:p>
                      <a:pPr algn="ctr" fontAlgn="b"/>
                      <a:r>
                        <a:rPr lang="en-US" sz="1000" b="1" i="0" u="none" strike="noStrike">
                          <a:solidFill>
                            <a:srgbClr val="FFFFFF"/>
                          </a:solidFill>
                          <a:effectLst/>
                          <a:latin typeface="Calibri" panose="020F0502020204030204" pitchFamily="34" charset="0"/>
                        </a:rPr>
                        <a:t>Technology Capabilities</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Consulting and</a:t>
                      </a:r>
                    </a:p>
                    <a:p>
                      <a:pPr algn="ctr" fontAlgn="b"/>
                      <a:r>
                        <a:rPr lang="en-US" sz="1000" b="1" i="0" u="none" strike="noStrike">
                          <a:solidFill>
                            <a:srgbClr val="FFFFFF"/>
                          </a:solidFill>
                          <a:effectLst/>
                          <a:latin typeface="Calibri" panose="020F0502020204030204" pitchFamily="34" charset="0"/>
                        </a:rPr>
                        <a:t>Professional</a:t>
                      </a:r>
                    </a:p>
                    <a:p>
                      <a:pPr algn="ctr" fontAlgn="b"/>
                      <a:r>
                        <a:rPr lang="en-US" sz="1000" b="1" i="0" u="none" strike="noStrike">
                          <a:solidFill>
                            <a:srgbClr val="FFFFFF"/>
                          </a:solidFill>
                          <a:effectLst/>
                          <a:latin typeface="Calibri" panose="020F0502020204030204" pitchFamily="34" charset="0"/>
                        </a:rPr>
                        <a:t>Services</a:t>
                      </a:r>
                    </a:p>
                    <a:p>
                      <a:pPr algn="ctr" fontAlgn="b"/>
                      <a:r>
                        <a:rPr lang="en-US" sz="10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Major </a:t>
                      </a:r>
                    </a:p>
                    <a:p>
                      <a:pPr algn="ctr" fontAlgn="b"/>
                      <a:r>
                        <a:rPr lang="en-US" sz="1000" b="1" i="0" u="none" strike="noStrike">
                          <a:solidFill>
                            <a:srgbClr val="FFFFFF"/>
                          </a:solidFill>
                          <a:effectLst/>
                          <a:latin typeface="Calibri" panose="020F0502020204030204" pitchFamily="34" charset="0"/>
                        </a:rPr>
                        <a:t>Commercial </a:t>
                      </a:r>
                    </a:p>
                    <a:p>
                      <a:pPr algn="ctr" fontAlgn="b"/>
                      <a:r>
                        <a:rPr lang="en-US" sz="1000" b="1" i="0" u="none" strike="noStrike">
                          <a:solidFill>
                            <a:srgbClr val="FFFFFF"/>
                          </a:solidFill>
                          <a:effectLst/>
                          <a:latin typeface="Calibri" panose="020F0502020204030204" pitchFamily="34" charset="0"/>
                        </a:rPr>
                        <a:t>and Gov’t </a:t>
                      </a:r>
                    </a:p>
                    <a:p>
                      <a:pPr algn="ctr" fontAlgn="b"/>
                      <a:r>
                        <a:rPr lang="en-US" sz="10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30%</a:t>
                      </a:r>
                    </a:p>
                    <a:p>
                      <a:pPr algn="ctr" fontAlgn="b"/>
                      <a:r>
                        <a:rPr lang="en-US" sz="1000" b="1" i="0" u="none" strike="noStrike">
                          <a:solidFill>
                            <a:srgbClr val="FFFFFF"/>
                          </a:solidFill>
                          <a:effectLst/>
                          <a:latin typeface="Calibri" panose="020F0502020204030204" pitchFamily="34" charset="0"/>
                        </a:rPr>
                        <a:t>International</a:t>
                      </a:r>
                    </a:p>
                    <a:p>
                      <a:pPr algn="ctr" fontAlgn="b"/>
                      <a:r>
                        <a:rPr lang="en-US" sz="1000" b="1" i="0" u="none" strike="noStrike">
                          <a:solidFill>
                            <a:srgbClr val="FFFFFF"/>
                          </a:solidFill>
                          <a:effectLst/>
                          <a:latin typeface="Calibri" panose="020F0502020204030204" pitchFamily="34" charset="0"/>
                        </a:rPr>
                        <a:t>Revenue and</a:t>
                      </a:r>
                    </a:p>
                    <a:p>
                      <a:pPr algn="ctr" fontAlgn="b"/>
                      <a:r>
                        <a:rPr lang="en-US" sz="1000" b="1" i="0" u="none" strike="noStrike">
                          <a:solidFill>
                            <a:srgbClr val="FFFFFF"/>
                          </a:solidFill>
                          <a:effectLst/>
                          <a:latin typeface="Calibri" panose="020F0502020204030204" pitchFamily="34" charset="0"/>
                        </a:rPr>
                        <a:t>Employees</a:t>
                      </a:r>
                      <a:r>
                        <a:rPr lang="en-US" sz="10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Count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006612381"/>
                  </a:ext>
                </a:extLst>
              </a:tr>
              <a:tr h="0">
                <a:tc>
                  <a:txBody>
                    <a:bodyPr/>
                    <a:lstStyle/>
                    <a:p>
                      <a:pPr algn="l" fontAlgn="b">
                        <a:buNone/>
                      </a:pPr>
                      <a:r>
                        <a:rPr lang="en-US" sz="1000" b="0" i="0" u="none" strike="noStrike">
                          <a:solidFill>
                            <a:schemeClr val="tx1"/>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34470819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17449434"/>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0" marR="0" marT="0" marB="0" anchor="b">
                    <a:lnL>
                      <a:noFill/>
                    </a:lnL>
                    <a:lnR>
                      <a:noFill/>
                    </a:lnR>
                    <a:lnT>
                      <a:noFill/>
                    </a:lnT>
                    <a:lnB>
                      <a:noFill/>
                    </a:lnB>
                    <a:solidFill>
                      <a:schemeClr val="accent5">
                        <a:lumMod val="40000"/>
                        <a:lumOff val="60000"/>
                      </a:schemeClr>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48669820"/>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32166356"/>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742670015"/>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EAD5FF"/>
                    </a:solid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10635801"/>
                  </a:ext>
                </a:extLst>
              </a:tr>
              <a:tr h="0">
                <a:tc>
                  <a:txBody>
                    <a:bodyPr/>
                    <a:lstStyle/>
                    <a:p>
                      <a:pPr algn="l" fontAlgn="b">
                        <a:buNone/>
                      </a:pPr>
                      <a:r>
                        <a:rPr lang="en-US" sz="1000" b="0" i="0" u="none" strike="noStrike">
                          <a:solidFill>
                            <a:schemeClr val="tx1"/>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1422271757"/>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86223489"/>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9144" marB="9144" anchor="ctr">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Environmental and Facilities </a:t>
                      </a:r>
                      <a:r>
                        <a:rPr lang="en-US" sz="1000" b="0" i="0" u="none" strike="noStrike" err="1">
                          <a:solidFill>
                            <a:srgbClr val="000000"/>
                          </a:solidFill>
                          <a:effectLst/>
                          <a:latin typeface="Calibri" panose="020F0502020204030204" pitchFamily="34" charset="0"/>
                        </a:rPr>
                        <a:t>Svcs</a:t>
                      </a:r>
                      <a:endParaRPr lang="en-US" sz="1000" b="0" i="0" u="none" strike="noStrike">
                        <a:solidFill>
                          <a:srgbClr val="000000"/>
                        </a:solidFill>
                        <a:effectLst/>
                        <a:latin typeface="Calibri" panose="020F0502020204030204" pitchFamily="34" charset="0"/>
                      </a:endParaRP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noFill/>
                  </a:tcPr>
                </a:tc>
                <a:extLst>
                  <a:ext uri="{0D108BD9-81ED-4DB2-BD59-A6C34878D82A}">
                    <a16:rowId xmlns:a16="http://schemas.microsoft.com/office/drawing/2014/main" val="1291660921"/>
                  </a:ext>
                </a:extLst>
              </a:tr>
              <a:tr h="0">
                <a:tc>
                  <a:txBody>
                    <a:bodyPr/>
                    <a:lstStyle/>
                    <a:p>
                      <a:pPr algn="l" fontAlgn="b">
                        <a:buNone/>
                      </a:pPr>
                      <a:r>
                        <a:rPr lang="en-US" sz="1000" b="0" i="0" u="none" strike="noStrike">
                          <a:solidFill>
                            <a:schemeClr val="tx1"/>
                          </a:solidFill>
                          <a:effectLst/>
                          <a:latin typeface="Calibri" panose="020F0502020204030204" pitchFamily="34" charset="0"/>
                        </a:rPr>
                        <a:t>Cognizant</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68778428"/>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Mainly U.S.</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780848612"/>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814794057"/>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156821816"/>
                  </a:ext>
                </a:extLst>
              </a:tr>
              <a:tr h="0">
                <a:tc>
                  <a:txBody>
                    <a:bodyPr/>
                    <a:lstStyle/>
                    <a:p>
                      <a:pPr algn="l" fontAlgn="ctr">
                        <a:buNone/>
                      </a:pPr>
                      <a:r>
                        <a:rPr lang="en-US" sz="10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$15,123</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$3,046</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0.2x</a:t>
                      </a:r>
                    </a:p>
                  </a:txBody>
                  <a:tcPr marL="0" marR="0" marT="0" marB="0" anchor="ctr">
                    <a:lnL>
                      <a:noFill/>
                    </a:lnL>
                    <a:lnR>
                      <a:noFill/>
                    </a:lnR>
                    <a:lnT>
                      <a:noFill/>
                    </a:lnT>
                    <a:lnB>
                      <a:noFill/>
                    </a:lnB>
                    <a:solidFill>
                      <a:schemeClr val="accent5">
                        <a:lumMod val="40000"/>
                        <a:lumOff val="60000"/>
                      </a:schemeClr>
                    </a:solidFill>
                  </a:tcPr>
                </a:tc>
                <a:tc>
                  <a:txBody>
                    <a:bodyPr/>
                    <a:lstStyle/>
                    <a:p>
                      <a:pPr algn="ctr" fontAlgn="ctr">
                        <a:buNone/>
                      </a:pPr>
                      <a:r>
                        <a:rPr lang="en-US" sz="1000" b="0" i="0" u="none" strike="noStrike">
                          <a:solidFill>
                            <a:schemeClr val="tx1"/>
                          </a:solidFill>
                          <a:effectLst/>
                          <a:latin typeface="Calibri" panose="020F0502020204030204" pitchFamily="34" charset="0"/>
                        </a:rPr>
                        <a:t>IT Infrastructure Ops</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044625981"/>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74547200"/>
                  </a:ext>
                </a:extLst>
              </a:tr>
              <a:tr h="0">
                <a:tc>
                  <a:txBody>
                    <a:bodyPr/>
                    <a:lstStyle/>
                    <a:p>
                      <a:pPr algn="l" fontAlgn="ctr">
                        <a:buNone/>
                      </a:pPr>
                      <a:r>
                        <a:rPr lang="en-US" sz="1000" b="0" i="0" u="none" strike="noStrike">
                          <a:solidFill>
                            <a:srgbClr val="000000"/>
                          </a:solidFill>
                          <a:effectLst/>
                          <a:latin typeface="Calibri" panose="020F0502020204030204" pitchFamily="34" charset="0"/>
                        </a:rPr>
                        <a:t>FTI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$3,789</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$4,967</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1.3x</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Management</a:t>
                      </a:r>
                    </a:p>
                    <a:p>
                      <a:pPr algn="ctr" fontAlgn="ctr">
                        <a:buNone/>
                      </a:pPr>
                      <a:r>
                        <a:rPr lang="en-US" sz="1000" b="0" i="0" u="none" strike="noStrike">
                          <a:solidFill>
                            <a:srgbClr val="000000"/>
                          </a:solidFill>
                          <a:effectLst/>
                          <a:latin typeface="Calibri" panose="020F0502020204030204" pitchFamily="34" charset="0"/>
                        </a:rPr>
                        <a:t>Consulting Only</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540889896"/>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790349"/>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$15,616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$17,513</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1.5x</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909323377"/>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$12,142</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$9,778</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377064740"/>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$6,137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$6,345</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0.7x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733945848"/>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8695572"/>
                  </a:ext>
                </a:extLst>
              </a:tr>
              <a:tr h="0">
                <a:tc>
                  <a:txBody>
                    <a:bodyPr/>
                    <a:lstStyle/>
                    <a:p>
                      <a:pPr algn="l" fontAlgn="b">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US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$12,390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$15,984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208191878"/>
                  </a:ext>
                </a:extLst>
              </a:tr>
            </a:tbl>
          </a:graphicData>
        </a:graphic>
      </p:graphicFrame>
      <p:sp>
        <p:nvSpPr>
          <p:cNvPr id="12" name="Rectangle 11">
            <a:extLst>
              <a:ext uri="{FF2B5EF4-FFF2-40B4-BE49-F238E27FC236}">
                <a16:creationId xmlns:a16="http://schemas.microsoft.com/office/drawing/2014/main" id="{A394B268-0ADC-6A91-2227-45D1347C622E}"/>
              </a:ext>
            </a:extLst>
          </p:cNvPr>
          <p:cNvSpPr/>
          <p:nvPr/>
        </p:nvSpPr>
        <p:spPr bwMode="auto">
          <a:xfrm>
            <a:off x="5624368" y="6143109"/>
            <a:ext cx="317079" cy="105446"/>
          </a:xfrm>
          <a:prstGeom prst="rect">
            <a:avLst/>
          </a:prstGeom>
          <a:solidFill>
            <a:schemeClr val="accent5">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96625D42-CDEA-4CB6-C548-7E60F0CA44A3}"/>
              </a:ext>
            </a:extLst>
          </p:cNvPr>
          <p:cNvSpPr txBox="1"/>
          <p:nvPr/>
        </p:nvSpPr>
        <p:spPr>
          <a:xfrm>
            <a:off x="5908596" y="6072143"/>
            <a:ext cx="1809562" cy="230832"/>
          </a:xfrm>
          <a:prstGeom prst="rect">
            <a:avLst/>
          </a:prstGeom>
          <a:noFill/>
        </p:spPr>
        <p:txBody>
          <a:bodyPr wrap="square" rtlCol="0" anchor="ctr">
            <a:spAutoFit/>
          </a:bodyPr>
          <a:lstStyle/>
          <a:p>
            <a:r>
              <a:rPr lang="en-US" sz="900" i="1"/>
              <a:t>Is in poor financial condition</a:t>
            </a:r>
          </a:p>
        </p:txBody>
      </p:sp>
      <p:sp>
        <p:nvSpPr>
          <p:cNvPr id="4" name="TextBox 3">
            <a:extLst>
              <a:ext uri="{FF2B5EF4-FFF2-40B4-BE49-F238E27FC236}">
                <a16:creationId xmlns:a16="http://schemas.microsoft.com/office/drawing/2014/main" id="{C78F2EEE-E5D7-B8FA-A94C-13DB030EA2F7}"/>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
        <p:nvSpPr>
          <p:cNvPr id="90024" name="acme-flag-90024"/>
          <p:cNvSpPr/>
          <p:nvPr/>
        </p:nvSpPr>
        <p:spPr>
          <a:xfrm>
            <a:off x="74317" y="1470280"/>
            <a:ext cx="9024704" cy="4604512"/>
          </a:xfrm>
          <a:prstGeom prst="rect">
            <a:avLst/>
          </a:prstGeom>
          <a:solidFill>
            <a:srgbClr val="FFD400">
              <a:alpha val="30000"/>
            </a:srgbClr>
          </a:solidFill>
          <a:ln w="19050">
            <a:solidFill>
              <a:srgbClr val="E80000"/>
            </a:solidFill>
          </a:ln>
        </p:spPr>
        <p:txBody>
          <a:bodyPr/>
          <a:lstStyle/>
          <a:p/>
        </p:txBody>
      </p:sp>
      <p:sp>
        <p:nvSpPr>
          <p:cNvPr id="90025" name="acme-flag-90025"/>
          <p:cNvSpPr/>
          <p:nvPr/>
        </p:nvSpPr>
        <p:spPr>
          <a:xfrm>
            <a:off x="74317" y="1470280"/>
            <a:ext cx="9024704" cy="4604512"/>
          </a:xfrm>
          <a:prstGeom prst="rect">
            <a:avLst/>
          </a:prstGeom>
          <a:solidFill>
            <a:srgbClr val="FFD400">
              <a:alpha val="30000"/>
            </a:srgbClr>
          </a:solidFill>
          <a:ln w="19050">
            <a:solidFill>
              <a:srgbClr val="E80000"/>
            </a:solidFill>
          </a:ln>
        </p:spPr>
        <p:txBody>
          <a:bodyPr/>
          <a:lstStyle/>
          <a:p/>
        </p:txBody>
      </p:sp>
      <p:sp>
        <p:nvSpPr>
          <p:cNvPr id="90026" name="acme-flag-90026"/>
          <p:cNvSpPr/>
          <p:nvPr/>
        </p:nvSpPr>
        <p:spPr>
          <a:xfrm>
            <a:off x="74317" y="1470280"/>
            <a:ext cx="9024704" cy="4604512"/>
          </a:xfrm>
          <a:prstGeom prst="rect">
            <a:avLst/>
          </a:prstGeom>
          <a:solidFill>
            <a:srgbClr val="FFD400">
              <a:alpha val="30000"/>
            </a:srgbClr>
          </a:solidFill>
          <a:ln w="19050">
            <a:solidFill>
              <a:srgbClr val="E80000"/>
            </a:solidFill>
          </a:ln>
        </p:spPr>
        <p:txBody>
          <a:bodyPr/>
          <a:lstStyle/>
          <a:p/>
        </p:txBody>
      </p:sp>
      <p:sp>
        <p:nvSpPr>
          <p:cNvPr id="90027" name="acme-flag-90027"/>
          <p:cNvSpPr/>
          <p:nvPr/>
        </p:nvSpPr>
        <p:spPr>
          <a:xfrm>
            <a:off x="6955206" y="897946"/>
            <a:ext cx="1675086" cy="328808"/>
          </a:xfrm>
          <a:prstGeom prst="rect">
            <a:avLst/>
          </a:prstGeom>
          <a:solidFill>
            <a:srgbClr val="FFD400">
              <a:alpha val="30000"/>
            </a:srgbClr>
          </a:solidFill>
          <a:ln w="19050">
            <a:solidFill>
              <a:srgbClr val="E80000"/>
            </a:solidFill>
          </a:ln>
        </p:spPr>
        <p:txBody>
          <a:bodyPr/>
          <a:lstStyle/>
          <a:p/>
        </p:txBody>
      </p:sp>
      <p:sp>
        <p:nvSpPr>
          <p:cNvPr id="90028" name="acme-flag-90028"/>
          <p:cNvSpPr/>
          <p:nvPr/>
        </p:nvSpPr>
        <p:spPr>
          <a:xfrm>
            <a:off x="2188795" y="1199737"/>
            <a:ext cx="4766411" cy="307777"/>
          </a:xfrm>
          <a:prstGeom prst="rect">
            <a:avLst/>
          </a:prstGeom>
          <a:solidFill>
            <a:srgbClr val="FFD400">
              <a:alpha val="30000"/>
            </a:srgbClr>
          </a:solidFill>
          <a:ln w="19050">
            <a:solidFill>
              <a:srgbClr val="E80000"/>
            </a:solidFill>
          </a:ln>
        </p:spPr>
        <p:txBody>
          <a:bodyPr/>
          <a:lstStyle/>
          <a:p/>
        </p:txBody>
      </p:sp>
      <p:sp>
        <p:nvSpPr>
          <p:cNvPr id="90029" name="acme-flag-90029"/>
          <p:cNvSpPr/>
          <p:nvPr/>
        </p:nvSpPr>
        <p:spPr>
          <a:xfrm>
            <a:off x="74317" y="1470280"/>
            <a:ext cx="9024704" cy="4604512"/>
          </a:xfrm>
          <a:prstGeom prst="rect">
            <a:avLst/>
          </a:prstGeom>
          <a:solidFill>
            <a:srgbClr val="FFD400">
              <a:alpha val="30000"/>
            </a:srgbClr>
          </a:solidFill>
          <a:ln w="19050">
            <a:solidFill>
              <a:srgbClr val="E80000"/>
            </a:solidFill>
          </a:ln>
        </p:spPr>
        <p:txBody>
          <a:bodyPr/>
          <a:lstStyle/>
          <a:p/>
        </p:txBody>
      </p:sp>
      <p:sp>
        <p:nvSpPr>
          <p:cNvPr id="90030" name="acme-flag-90030"/>
          <p:cNvSpPr/>
          <p:nvPr/>
        </p:nvSpPr>
        <p:spPr>
          <a:xfrm>
            <a:off x="88602" y="6108749"/>
            <a:ext cx="3780147" cy="369332"/>
          </a:xfrm>
          <a:prstGeom prst="rect">
            <a:avLst/>
          </a:prstGeom>
          <a:solidFill>
            <a:srgbClr val="FFD400">
              <a:alpha val="30000"/>
            </a:srgbClr>
          </a:solidFill>
          <a:ln w="19050">
            <a:solidFill>
              <a:srgbClr val="E80000"/>
            </a:solidFill>
          </a:ln>
        </p:spPr>
        <p:txBody>
          <a:bodyPr/>
          <a:lstStyle/>
          <a:p/>
        </p:txBody>
      </p:sp>
      <p:sp>
        <p:nvSpPr>
          <p:cNvPr id="90031" name="acme-flag-90031"/>
          <p:cNvSpPr/>
          <p:nvPr/>
        </p:nvSpPr>
        <p:spPr>
          <a:xfrm>
            <a:off x="5913173" y="6214172"/>
            <a:ext cx="2950201" cy="369332"/>
          </a:xfrm>
          <a:prstGeom prst="rect">
            <a:avLst/>
          </a:prstGeom>
          <a:solidFill>
            <a:srgbClr val="FFD400">
              <a:alpha val="30000"/>
            </a:srgbClr>
          </a:solidFill>
          <a:ln w="19050">
            <a:solidFill>
              <a:srgbClr val="E80000"/>
            </a:solidFill>
          </a:ln>
        </p:spPr>
        <p:txBody>
          <a:bodyPr/>
          <a:lstStyle/>
          <a:p/>
        </p:txBody>
      </p:sp>
      <p:sp>
        <p:nvSpPr>
          <p:cNvPr id="90032" name="acme-note-90032"/>
          <p:cNvSpPr txBox="1"/>
          <p:nvPr/>
        </p:nvSpPr>
        <p:spPr>
          <a:xfrm>
            <a:off x="152400" y="5453000"/>
            <a:ext cx="8839200" cy="13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11 brand issues flagged:</a:t>
            </a:r>
          </a:p>
          <a:p>
            <a:r>
              <a:rPr lang="en-US" sz="1000" b="0" dirty="0">
                <a:solidFill>
                  <a:srgbClr val="9B0000"/>
                </a:solidFill>
                <a:latin typeface="Calibri"/>
              </a:rPr>
              <a:t>1. Stats rows (row19, row21) display '75th Percentile' and '25th Percentile'; guidelines explicitly require '%ile' notation (e.g., '75th %ile', '25th %ile') — 'Percentile' is not permitted</a:t>
            </a:r>
          </a:p>
          <a:p>
            <a:r>
              <a:rPr lang="en-US" sz="1000" b="0" dirty="0">
                <a:solidFill>
                  <a:srgbClr val="9B0000"/>
                </a:solidFill>
                <a:latin typeface="Calibri"/>
              </a:rPr>
              <a:t>2. Shape #11 contains an internal annotation ('TW question - Is Accenture US, with Irish Tax Inversion?') that must not appear on a client-facing slide; guidelines require a board-ready, professional presentation with no internal commentary</a:t>
            </a:r>
          </a:p>
          <a:p>
            <a:r>
              <a:rPr lang="en-US" sz="1000" b="0" dirty="0">
                <a:solidFill>
                  <a:srgbClr val="9B0000"/>
                </a:solidFill>
                <a:latin typeface="Calibri"/>
              </a:rPr>
              <a:t>3. Slide title [#1] font is described as 'inherited; italic'; guidelines require Calibri Bold 24 pt for content slide titles — italic style directly conflicts with the Bold-only requirement</a:t>
            </a:r>
          </a:p>
          <a:p>
            <a:r>
              <a:rPr lang="en-US" sz="1000" b="0" dirty="0">
                <a:solidFill>
                  <a:srgbClr val="9B0000"/>
                </a:solidFill>
                <a:latin typeface="Calibri"/>
              </a:rPr>
              <a:t>4. Table title [#2] contains footnote marker '(1)' but no matching footnote entry numbered '(1)' appears anywhere on the slide; guidelines state all footnote markers must have a matching entry at the bottom of the same slide</a:t>
            </a:r>
          </a:p>
          <a:p>
            <a:r>
              <a:rPr lang="en-US" sz="1000" b="0" dirty="0">
                <a:solidFill>
                  <a:srgbClr val="9B0000"/>
                </a:solidFill>
                <a:latin typeface="Calibri"/>
              </a:rPr>
              <a:t>5. Use "%ile", not "Percentile": Replace "Percentile" with "%ile".</a:t>
            </a:r>
          </a:p>
          <a:p>
            <a:r>
              <a:rPr lang="en-US" sz="1000" b="0" dirty="0">
                <a:solidFill>
                  <a:srgbClr val="9B0000"/>
                </a:solidFill>
                <a:latin typeface="Calibri"/>
              </a:rPr>
              <a:t>…and 6 more (see panel).</a:t>
            </a:r>
          </a:p>
        </p:txBody>
      </p:sp>
    </p:spTree>
    <p:extLst>
      <p:ext uri="{BB962C8B-B14F-4D97-AF65-F5344CB8AC3E}">
        <p14:creationId xmlns:p14="http://schemas.microsoft.com/office/powerpoint/2010/main" val="335867645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682BAB-3B55-620D-3093-DF6950F1AE6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D8075050-DED0-711D-C222-6ACD57B5988E}"/>
              </a:ext>
            </a:extLst>
          </p:cNvPr>
          <p:cNvSpPr>
            <a:spLocks noGrp="1"/>
          </p:cNvSpPr>
          <p:nvPr>
            <p:ph type="title"/>
          </p:nvPr>
        </p:nvSpPr>
        <p:spPr/>
        <p:txBody>
          <a:bodyPr/>
          <a:lstStyle/>
          <a:p>
            <a:r>
              <a:rPr lang="en-US"/>
              <a:t>Kyndryl and DXC rank in the bottom quartile on most financial and market measures, raising questions about the financial viability of these companies for the peer group</a:t>
            </a:r>
          </a:p>
        </p:txBody>
      </p:sp>
      <p:sp>
        <p:nvSpPr>
          <p:cNvPr id="5" name="TextBox 4">
            <a:extLst>
              <a:ext uri="{FF2B5EF4-FFF2-40B4-BE49-F238E27FC236}">
                <a16:creationId xmlns:a16="http://schemas.microsoft.com/office/drawing/2014/main" id="{217BC1CD-FB38-933C-348C-3DF8ACC5A1C0}"/>
              </a:ext>
            </a:extLst>
          </p:cNvPr>
          <p:cNvSpPr txBox="1"/>
          <p:nvPr/>
        </p:nvSpPr>
        <p:spPr>
          <a:xfrm>
            <a:off x="2188793" y="1313309"/>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Financial 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37F69384-8134-F6EB-1A07-687677650FEA}"/>
              </a:ext>
            </a:extLst>
          </p:cNvPr>
          <p:cNvGraphicFramePr>
            <a:graphicFrameLocks noGrp="1"/>
          </p:cNvGraphicFramePr>
          <p:nvPr>
            <p:extLst>
              <p:ext uri="{D42A27DB-BD31-4B8C-83A1-F6EECF244321}">
                <p14:modId xmlns:p14="http://schemas.microsoft.com/office/powerpoint/2010/main" val="1330180067"/>
              </p:ext>
            </p:extLst>
          </p:nvPr>
        </p:nvGraphicFramePr>
        <p:xfrm>
          <a:off x="89653" y="1625979"/>
          <a:ext cx="8964694" cy="3781552"/>
        </p:xfrm>
        <a:graphic>
          <a:graphicData uri="http://schemas.openxmlformats.org/drawingml/2006/table">
            <a:tbl>
              <a:tblPr/>
              <a:tblGrid>
                <a:gridCol w="831639">
                  <a:extLst>
                    <a:ext uri="{9D8B030D-6E8A-4147-A177-3AD203B41FA5}">
                      <a16:colId xmlns:a16="http://schemas.microsoft.com/office/drawing/2014/main" val="2010070584"/>
                    </a:ext>
                  </a:extLst>
                </a:gridCol>
                <a:gridCol w="1831340">
                  <a:extLst>
                    <a:ext uri="{9D8B030D-6E8A-4147-A177-3AD203B41FA5}">
                      <a16:colId xmlns:a16="http://schemas.microsoft.com/office/drawing/2014/main" val="2054700537"/>
                    </a:ext>
                  </a:extLst>
                </a:gridCol>
                <a:gridCol w="534352">
                  <a:extLst>
                    <a:ext uri="{9D8B030D-6E8A-4147-A177-3AD203B41FA5}">
                      <a16:colId xmlns:a16="http://schemas.microsoft.com/office/drawing/2014/main" val="2844164286"/>
                    </a:ext>
                  </a:extLst>
                </a:gridCol>
                <a:gridCol w="494602">
                  <a:extLst>
                    <a:ext uri="{9D8B030D-6E8A-4147-A177-3AD203B41FA5}">
                      <a16:colId xmlns:a16="http://schemas.microsoft.com/office/drawing/2014/main" val="3519048605"/>
                    </a:ext>
                  </a:extLst>
                </a:gridCol>
                <a:gridCol w="545465">
                  <a:extLst>
                    <a:ext uri="{9D8B030D-6E8A-4147-A177-3AD203B41FA5}">
                      <a16:colId xmlns:a16="http://schemas.microsoft.com/office/drawing/2014/main" val="668972597"/>
                    </a:ext>
                  </a:extLst>
                </a:gridCol>
                <a:gridCol w="521056">
                  <a:extLst>
                    <a:ext uri="{9D8B030D-6E8A-4147-A177-3AD203B41FA5}">
                      <a16:colId xmlns:a16="http://schemas.microsoft.com/office/drawing/2014/main" val="3601716928"/>
                    </a:ext>
                  </a:extLst>
                </a:gridCol>
                <a:gridCol w="457200">
                  <a:extLst>
                    <a:ext uri="{9D8B030D-6E8A-4147-A177-3AD203B41FA5}">
                      <a16:colId xmlns:a16="http://schemas.microsoft.com/office/drawing/2014/main" val="708405666"/>
                    </a:ext>
                  </a:extLst>
                </a:gridCol>
                <a:gridCol w="457200">
                  <a:extLst>
                    <a:ext uri="{9D8B030D-6E8A-4147-A177-3AD203B41FA5}">
                      <a16:colId xmlns:a16="http://schemas.microsoft.com/office/drawing/2014/main" val="1994589338"/>
                    </a:ext>
                  </a:extLst>
                </a:gridCol>
                <a:gridCol w="457200">
                  <a:extLst>
                    <a:ext uri="{9D8B030D-6E8A-4147-A177-3AD203B41FA5}">
                      <a16:colId xmlns:a16="http://schemas.microsoft.com/office/drawing/2014/main" val="1067866513"/>
                    </a:ext>
                  </a:extLst>
                </a:gridCol>
                <a:gridCol w="457200">
                  <a:extLst>
                    <a:ext uri="{9D8B030D-6E8A-4147-A177-3AD203B41FA5}">
                      <a16:colId xmlns:a16="http://schemas.microsoft.com/office/drawing/2014/main" val="714836468"/>
                    </a:ext>
                  </a:extLst>
                </a:gridCol>
                <a:gridCol w="457200">
                  <a:extLst>
                    <a:ext uri="{9D8B030D-6E8A-4147-A177-3AD203B41FA5}">
                      <a16:colId xmlns:a16="http://schemas.microsoft.com/office/drawing/2014/main" val="203911306"/>
                    </a:ext>
                  </a:extLst>
                </a:gridCol>
                <a:gridCol w="457200">
                  <a:extLst>
                    <a:ext uri="{9D8B030D-6E8A-4147-A177-3AD203B41FA5}">
                      <a16:colId xmlns:a16="http://schemas.microsoft.com/office/drawing/2014/main" val="558661927"/>
                    </a:ext>
                  </a:extLst>
                </a:gridCol>
                <a:gridCol w="457200">
                  <a:extLst>
                    <a:ext uri="{9D8B030D-6E8A-4147-A177-3AD203B41FA5}">
                      <a16:colId xmlns:a16="http://schemas.microsoft.com/office/drawing/2014/main" val="2334488175"/>
                    </a:ext>
                  </a:extLst>
                </a:gridCol>
                <a:gridCol w="457200">
                  <a:extLst>
                    <a:ext uri="{9D8B030D-6E8A-4147-A177-3AD203B41FA5}">
                      <a16:colId xmlns:a16="http://schemas.microsoft.com/office/drawing/2014/main" val="1689892221"/>
                    </a:ext>
                  </a:extLst>
                </a:gridCol>
                <a:gridCol w="548640">
                  <a:extLst>
                    <a:ext uri="{9D8B030D-6E8A-4147-A177-3AD203B41FA5}">
                      <a16:colId xmlns:a16="http://schemas.microsoft.com/office/drawing/2014/main" val="3879426364"/>
                    </a:ext>
                  </a:extLst>
                </a:gridCol>
              </a:tblGrid>
              <a:tr h="0">
                <a:tc>
                  <a:txBody>
                    <a:bodyPr/>
                    <a:lstStyle/>
                    <a:p>
                      <a:pPr algn="ctr" fontAlgn="b">
                        <a:buNone/>
                      </a:pPr>
                      <a:endParaRPr lang="en-US" sz="9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Operating</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Net Income</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err="1">
                          <a:solidFill>
                            <a:srgbClr val="FFFFFF"/>
                          </a:solidFill>
                          <a:effectLst/>
                          <a:latin typeface="Calibri" panose="020F0502020204030204" pitchFamily="34" charset="0"/>
                        </a:rPr>
                        <a:t>TSR</a:t>
                      </a: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Business Model</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409338986"/>
                  </a:ext>
                </a:extLst>
              </a:tr>
              <a:tr h="0">
                <a:tc>
                  <a:txBody>
                    <a:bodyPr/>
                    <a:lstStyle/>
                    <a:p>
                      <a:pPr algn="ctr" fontAlgn="b">
                        <a:buNone/>
                      </a:pPr>
                      <a:r>
                        <a:rPr lang="en-US" sz="9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Criteria Met</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112836875"/>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$70,726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$131,676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42790770"/>
                  </a:ext>
                </a:extLst>
              </a:tr>
              <a:tr h="0">
                <a:tc>
                  <a:txBody>
                    <a:bodyPr/>
                    <a:lstStyle/>
                    <a:p>
                      <a:pPr algn="l" fontAlgn="b">
                        <a:buNone/>
                      </a:pPr>
                      <a:r>
                        <a:rPr lang="en-US" sz="900" b="0" i="0" u="none" strike="noStrike" err="1">
                          <a:solidFill>
                            <a:srgbClr val="000000"/>
                          </a:solidFill>
                          <a:effectLst/>
                          <a:latin typeface="Calibri" panose="020F0502020204030204" pitchFamily="34" charset="0"/>
                        </a:rPr>
                        <a:t>WSP</a:t>
                      </a:r>
                      <a:r>
                        <a:rPr lang="en-US" sz="900" b="0" i="0" u="none" strike="noStrike">
                          <a:solidFill>
                            <a:srgbClr val="000000"/>
                          </a:solidFill>
                          <a:effectLst/>
                          <a:latin typeface="Calibri" panose="020F0502020204030204" pitchFamily="34" charset="0"/>
                        </a:rPr>
                        <a:t>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$13,090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$22,279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23326301"/>
                  </a:ext>
                </a:extLst>
              </a:tr>
              <a:tr h="0">
                <a:tc>
                  <a:txBody>
                    <a:bodyPr/>
                    <a:lstStyle/>
                    <a:p>
                      <a:pPr algn="l" fontAlgn="b">
                        <a:buNone/>
                      </a:pPr>
                      <a:r>
                        <a:rPr lang="en-US" sz="9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$12,683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$2,239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4107548468"/>
                  </a:ext>
                </a:extLst>
              </a:tr>
              <a:tr h="0">
                <a:tc>
                  <a:txBody>
                    <a:bodyPr/>
                    <a:lstStyle/>
                    <a:p>
                      <a:pPr algn="l" fontAlgn="b">
                        <a:buNone/>
                      </a:pPr>
                      <a:r>
                        <a:rPr lang="en-US" sz="9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3461500652"/>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AtkinsRéalis</a:t>
                      </a: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$7,876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$11,561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82039972"/>
                  </a:ext>
                </a:extLst>
              </a:tr>
              <a:tr h="0">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$7,786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$5,075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142993902"/>
                  </a:ext>
                </a:extLst>
              </a:tr>
              <a:tr h="0">
                <a:tc>
                  <a:txBody>
                    <a:bodyPr/>
                    <a:lstStyle/>
                    <a:p>
                      <a:pPr algn="l" fontAlgn="b">
                        <a:buNone/>
                      </a:pPr>
                      <a:r>
                        <a:rPr lang="en-US" sz="900" b="0" i="0" u="none" strike="noStrike">
                          <a:solidFill>
                            <a:srgbClr val="000000"/>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$5,457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$7,828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267621713"/>
                  </a:ext>
                </a:extLst>
              </a:tr>
              <a:tr h="0">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$4,649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337817522"/>
                  </a:ext>
                </a:extLst>
              </a:tr>
              <a:tr h="0">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Environmental and Facilities Services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$4,457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$9,163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445060"/>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$21,108</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$31,459</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37775602"/>
                  </a:ext>
                </a:extLst>
              </a:tr>
              <a:tr h="0">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$17,174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$22,202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22087471"/>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$12,125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2137373110"/>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$15,503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$6,768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0.4x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31908593"/>
                  </a:ext>
                </a:extLst>
              </a:tr>
              <a:tr h="0">
                <a:tc>
                  <a:txBody>
                    <a:bodyPr/>
                    <a:lstStyle/>
                    <a:p>
                      <a:pPr algn="l" fontAlgn="ctr">
                        <a:buNone/>
                      </a:pPr>
                      <a:r>
                        <a:rPr lang="en-US" sz="9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$15,123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$3,046</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0.2x</a:t>
                      </a:r>
                    </a:p>
                  </a:txBody>
                  <a:tcPr marL="45720" marR="4572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-5%</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3200878070"/>
                  </a:ext>
                </a:extLst>
              </a:tr>
              <a:tr h="0">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$6,364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$7,004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1415641442"/>
                  </a:ext>
                </a:extLst>
              </a:tr>
              <a:tr h="0">
                <a:tc>
                  <a:txBody>
                    <a:bodyPr/>
                    <a:lstStyle/>
                    <a:p>
                      <a:pPr algn="l" fontAlgn="ctr">
                        <a:buNone/>
                      </a:pPr>
                      <a:r>
                        <a:rPr lang="en-US" sz="900" b="0" i="0" u="none" strike="noStrike" err="1">
                          <a:solidFill>
                            <a:srgbClr val="000000"/>
                          </a:solidFill>
                          <a:effectLst/>
                          <a:latin typeface="Calibri" panose="020F0502020204030204" pitchFamily="34" charset="0"/>
                        </a:rPr>
                        <a:t>FTI</a:t>
                      </a:r>
                      <a:r>
                        <a:rPr lang="en-US" sz="900" b="0" i="0" u="none" strike="noStrike">
                          <a:solidFill>
                            <a:srgbClr val="000000"/>
                          </a:solidFill>
                          <a:effectLst/>
                          <a:latin typeface="Calibri" panose="020F0502020204030204" pitchFamily="34" charset="0"/>
                        </a:rPr>
                        <a:t>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$3,789</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$4,967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1.3x</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11%</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10%</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1805274820"/>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7872434"/>
                  </a:ext>
                </a:extLst>
              </a:tr>
              <a:tr h="0">
                <a:tc>
                  <a:txBody>
                    <a:bodyPr/>
                    <a:lstStyle/>
                    <a:p>
                      <a:pPr algn="l" rtl="0" fontAlgn="b">
                        <a:buNone/>
                      </a:pPr>
                      <a:r>
                        <a:rPr lang="en-US" sz="900" b="1" i="0" u="none" strike="noStrike">
                          <a:solidFill>
                            <a:srgbClr val="000000"/>
                          </a:solidFill>
                          <a:effectLst/>
                          <a:latin typeface="Calibri" panose="020F0502020204030204" pitchFamily="34" charset="0"/>
                        </a:rPr>
                        <a:t>75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059015926"/>
                  </a:ext>
                </a:extLst>
              </a:tr>
              <a:tr h="0">
                <a:tc>
                  <a:txBody>
                    <a:bodyPr/>
                    <a:lstStyle/>
                    <a:p>
                      <a:pPr algn="l" rtl="0" fontAlgn="b">
                        <a:buNone/>
                      </a:pPr>
                      <a:r>
                        <a:rPr lang="en-US" sz="9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2048259717"/>
                  </a:ext>
                </a:extLst>
              </a:tr>
              <a:tr h="0">
                <a:tc>
                  <a:txBody>
                    <a:bodyPr/>
                    <a:lstStyle/>
                    <a:p>
                      <a:pPr algn="l" rtl="0" fontAlgn="b">
                        <a:buNone/>
                      </a:pPr>
                      <a:r>
                        <a:rPr lang="en-US" sz="900" b="1" i="0" u="none" strike="noStrike">
                          <a:solidFill>
                            <a:srgbClr val="000000"/>
                          </a:solidFill>
                          <a:effectLst/>
                          <a:latin typeface="Calibri" panose="020F0502020204030204" pitchFamily="34" charset="0"/>
                        </a:rPr>
                        <a:t>25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20247447"/>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4131073"/>
                  </a:ext>
                </a:extLst>
              </a:tr>
              <a:tr h="0">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174197552"/>
                  </a:ext>
                </a:extLst>
              </a:tr>
            </a:tbl>
          </a:graphicData>
        </a:graphic>
      </p:graphicFrame>
      <p:sp>
        <p:nvSpPr>
          <p:cNvPr id="10" name="Rectangle 9">
            <a:extLst>
              <a:ext uri="{FF2B5EF4-FFF2-40B4-BE49-F238E27FC236}">
                <a16:creationId xmlns:a16="http://schemas.microsoft.com/office/drawing/2014/main" id="{70EE00D5-E6A8-C073-8756-3F7EB092F062}"/>
              </a:ext>
            </a:extLst>
          </p:cNvPr>
          <p:cNvSpPr/>
          <p:nvPr/>
        </p:nvSpPr>
        <p:spPr bwMode="auto">
          <a:xfrm>
            <a:off x="7026407" y="5496296"/>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AD3ED72B-F382-460C-0E7B-0999EA95D425}"/>
              </a:ext>
            </a:extLst>
          </p:cNvPr>
          <p:cNvSpPr txBox="1"/>
          <p:nvPr/>
        </p:nvSpPr>
        <p:spPr>
          <a:xfrm>
            <a:off x="7301491" y="5433603"/>
            <a:ext cx="2508646" cy="230832"/>
          </a:xfrm>
          <a:prstGeom prst="rect">
            <a:avLst/>
          </a:prstGeom>
          <a:noFill/>
        </p:spPr>
        <p:txBody>
          <a:bodyPr wrap="square" rtlCol="0" anchor="ctr">
            <a:spAutoFit/>
          </a:bodyPr>
          <a:lstStyle/>
          <a:p>
            <a:r>
              <a:rPr lang="en-US" sz="900" i="1" u="sng"/>
              <a:t>&lt;</a:t>
            </a:r>
            <a:r>
              <a:rPr lang="en-US" sz="900" i="1"/>
              <a:t>25</a:t>
            </a:r>
            <a:r>
              <a:rPr lang="en-US" sz="900" i="1" baseline="30000"/>
              <a:t>th</a:t>
            </a:r>
            <a:r>
              <a:rPr lang="en-US" sz="900" i="1"/>
              <a:t>%ile performance</a:t>
            </a:r>
          </a:p>
        </p:txBody>
      </p:sp>
      <p:sp>
        <p:nvSpPr>
          <p:cNvPr id="14" name="TextBox 13">
            <a:extLst>
              <a:ext uri="{FF2B5EF4-FFF2-40B4-BE49-F238E27FC236}">
                <a16:creationId xmlns:a16="http://schemas.microsoft.com/office/drawing/2014/main" id="{44631C8A-DFA6-1232-B117-8254F9F2F10B}"/>
              </a:ext>
            </a:extLst>
          </p:cNvPr>
          <p:cNvSpPr txBox="1"/>
          <p:nvPr/>
        </p:nvSpPr>
        <p:spPr>
          <a:xfrm>
            <a:off x="89653" y="5429275"/>
            <a:ext cx="3780147" cy="2308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p:txBody>
      </p:sp>
      <p:sp>
        <p:nvSpPr>
          <p:cNvPr id="4" name="TextBox 3">
            <a:extLst>
              <a:ext uri="{FF2B5EF4-FFF2-40B4-BE49-F238E27FC236}">
                <a16:creationId xmlns:a16="http://schemas.microsoft.com/office/drawing/2014/main" id="{9C43E5AB-F2A3-D806-E3B0-456FBA2BE055}"/>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
        <p:nvSpPr>
          <p:cNvPr id="90033" name="acme-flag-90033"/>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34" name="acme-flag-90034"/>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35" name="acme-flag-90035"/>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36" name="acme-flag-90036"/>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37" name="acme-flag-90037"/>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38" name="acme-flag-90038"/>
          <p:cNvSpPr/>
          <p:nvPr/>
        </p:nvSpPr>
        <p:spPr>
          <a:xfrm>
            <a:off x="6955206" y="897946"/>
            <a:ext cx="1675086" cy="328808"/>
          </a:xfrm>
          <a:prstGeom prst="rect">
            <a:avLst/>
          </a:prstGeom>
          <a:solidFill>
            <a:srgbClr val="FFD400">
              <a:alpha val="30000"/>
            </a:srgbClr>
          </a:solidFill>
          <a:ln w="19050">
            <a:solidFill>
              <a:srgbClr val="E80000"/>
            </a:solidFill>
          </a:ln>
        </p:spPr>
        <p:txBody>
          <a:bodyPr/>
          <a:lstStyle/>
          <a:p/>
        </p:txBody>
      </p:sp>
      <p:sp>
        <p:nvSpPr>
          <p:cNvPr id="90039" name="acme-flag-90039"/>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40" name="acme-flag-90040"/>
          <p:cNvSpPr/>
          <p:nvPr/>
        </p:nvSpPr>
        <p:spPr>
          <a:xfrm>
            <a:off x="89653" y="5429275"/>
            <a:ext cx="3780147" cy="230832"/>
          </a:xfrm>
          <a:prstGeom prst="rect">
            <a:avLst/>
          </a:prstGeom>
          <a:solidFill>
            <a:srgbClr val="FFD400">
              <a:alpha val="30000"/>
            </a:srgbClr>
          </a:solidFill>
          <a:ln w="19050">
            <a:solidFill>
              <a:srgbClr val="E80000"/>
            </a:solidFill>
          </a:ln>
        </p:spPr>
        <p:txBody>
          <a:bodyPr/>
          <a:lstStyle/>
          <a:p/>
        </p:txBody>
      </p:sp>
      <p:sp>
        <p:nvSpPr>
          <p:cNvPr id="90041" name="acme-flag-90041"/>
          <p:cNvSpPr/>
          <p:nvPr/>
        </p:nvSpPr>
        <p:spPr>
          <a:xfrm>
            <a:off x="89653" y="5429275"/>
            <a:ext cx="3780147" cy="230832"/>
          </a:xfrm>
          <a:prstGeom prst="rect">
            <a:avLst/>
          </a:prstGeom>
          <a:solidFill>
            <a:srgbClr val="FFD400">
              <a:alpha val="30000"/>
            </a:srgbClr>
          </a:solidFill>
          <a:ln w="19050">
            <a:solidFill>
              <a:srgbClr val="E80000"/>
            </a:solidFill>
          </a:ln>
        </p:spPr>
        <p:txBody>
          <a:bodyPr/>
          <a:lstStyle/>
          <a:p/>
        </p:txBody>
      </p:sp>
      <p:sp>
        <p:nvSpPr>
          <p:cNvPr id="90042" name="acme-flag-90042"/>
          <p:cNvSpPr/>
          <p:nvPr/>
        </p:nvSpPr>
        <p:spPr>
          <a:xfrm>
            <a:off x="2188793" y="1313309"/>
            <a:ext cx="4766411" cy="307777"/>
          </a:xfrm>
          <a:prstGeom prst="rect">
            <a:avLst/>
          </a:prstGeom>
          <a:solidFill>
            <a:srgbClr val="FFD400">
              <a:alpha val="30000"/>
            </a:srgbClr>
          </a:solidFill>
          <a:ln w="19050">
            <a:solidFill>
              <a:srgbClr val="E80000"/>
            </a:solidFill>
          </a:ln>
        </p:spPr>
        <p:txBody>
          <a:bodyPr/>
          <a:lstStyle/>
          <a:p/>
        </p:txBody>
      </p:sp>
      <p:sp>
        <p:nvSpPr>
          <p:cNvPr id="90043" name="acme-flag-90043"/>
          <p:cNvSpPr/>
          <p:nvPr/>
        </p:nvSpPr>
        <p:spPr>
          <a:xfrm>
            <a:off x="2188793" y="1313309"/>
            <a:ext cx="4766411" cy="307777"/>
          </a:xfrm>
          <a:prstGeom prst="rect">
            <a:avLst/>
          </a:prstGeom>
          <a:solidFill>
            <a:srgbClr val="FFD400">
              <a:alpha val="30000"/>
            </a:srgbClr>
          </a:solidFill>
          <a:ln w="19050">
            <a:solidFill>
              <a:srgbClr val="E80000"/>
            </a:solidFill>
          </a:ln>
        </p:spPr>
        <p:txBody>
          <a:bodyPr/>
          <a:lstStyle/>
          <a:p/>
        </p:txBody>
      </p:sp>
      <p:sp>
        <p:nvSpPr>
          <p:cNvPr id="90044" name="acme-note-90044"/>
          <p:cNvSpPr txBox="1"/>
          <p:nvPr/>
        </p:nvSpPr>
        <p:spPr>
          <a:xfrm>
            <a:off x="152400" y="5453000"/>
            <a:ext cx="8839200" cy="13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12 brand issues flagged:</a:t>
            </a:r>
          </a:p>
          <a:p>
            <a:r>
              <a:rPr lang="en-US" sz="1000" b="0" dirty="0">
                <a:solidFill>
                  <a:srgbClr val="9B0000"/>
                </a:solidFill>
                <a:latin typeface="Calibri"/>
              </a:rPr>
              <a:t>1. Every table row uses 9pt font; guideline requires 10–12pt consistently across the table body.</a:t>
            </a:r>
          </a:p>
          <a:p>
            <a:r>
              <a:rPr lang="en-US" sz="1000" b="0" dirty="0">
                <a:solidFill>
                  <a:srgbClr val="9B0000"/>
                </a:solidFill>
                <a:latin typeface="Calibri"/>
              </a:rPr>
              <a:t>2. Statistics rows 19 and 21 label summary statistics as '75th Percentile' and '25th Percentile'; guideline requires the abbreviation '%ile' (e.g., '75th %ile', '25th %ile').</a:t>
            </a:r>
          </a:p>
          <a:p>
            <a:r>
              <a:rPr lang="en-US" sz="1000" b="0" dirty="0">
                <a:solidFill>
                  <a:srgbClr val="9B0000"/>
                </a:solidFill>
                <a:latin typeface="Calibri"/>
              </a:rPr>
              <a:t>3. Table is positioned at x=0.10in from the left edge of the slide; guideline requires no element below the header be closer than 1in to the left edge.</a:t>
            </a:r>
          </a:p>
          <a:p>
            <a:r>
              <a:rPr lang="en-US" sz="1000" b="0" dirty="0">
                <a:solidFill>
                  <a:srgbClr val="9B0000"/>
                </a:solidFill>
                <a:latin typeface="Calibri"/>
              </a:rPr>
              <a:t>4. Shape #7 contains an unresolved internal working note ('TW question - Is Accenture US, with Irish Tax Inversion?'); guideline requires board-ready, professional tone with no draft annotations.</a:t>
            </a:r>
          </a:p>
          <a:p>
            <a:r>
              <a:rPr lang="en-US" sz="1000" b="0" dirty="0">
                <a:solidFill>
                  <a:srgbClr val="9B0000"/>
                </a:solidFill>
                <a:latin typeface="Calibri"/>
              </a:rPr>
              <a:t>5. Multiple body rows (e.g., rows 2, 4, 6, 8, 14, 16) carry a #FFD7D7 fill; guideline permits only no-fill and #F2F2F2 zebra striping in table body rows. #FFD7D7 is not an approved table body shading color.</a:t>
            </a:r>
          </a:p>
          <a:p>
            <a:r>
              <a:rPr lang="en-US" sz="1000" b="0" dirty="0">
                <a:solidFill>
                  <a:srgbClr val="9B0000"/>
                </a:solidFill>
                <a:latin typeface="Calibri"/>
              </a:rPr>
              <a:t>…and 7 more (see panel).</a:t>
            </a:r>
          </a:p>
        </p:txBody>
      </p:sp>
    </p:spTree>
    <p:extLst>
      <p:ext uri="{BB962C8B-B14F-4D97-AF65-F5344CB8AC3E}">
        <p14:creationId xmlns:p14="http://schemas.microsoft.com/office/powerpoint/2010/main" val="145901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AFEE9-DF29-92C1-1D3D-10F70C091ED5}"/>
            </a:ext>
          </a:extLst>
        </p:cNvPr>
        <p:cNvGrpSpPr/>
        <p:nvPr/>
      </p:nvGrpSpPr>
      <p:grpSpPr>
        <a:xfrm>
          <a:off x="0" y="0"/>
          <a:ext cx="0" cy="0"/>
          <a:chOff x="0" y="0"/>
          <a:chExt cx="0" cy="0"/>
        </a:xfrm>
      </p:grpSpPr>
      <p:sp>
        <p:nvSpPr>
          <p:cNvPr id="6" name="Rounded Rectangle 26">
            <a:extLst>
              <a:ext uri="{FF2B5EF4-FFF2-40B4-BE49-F238E27FC236}">
                <a16:creationId xmlns:a16="http://schemas.microsoft.com/office/drawing/2014/main" id="{B130AC1C-081B-8DD7-7492-7098611EBAF4}"/>
              </a:ext>
            </a:extLst>
          </p:cNvPr>
          <p:cNvSpPr/>
          <p:nvPr/>
        </p:nvSpPr>
        <p:spPr bwMode="auto">
          <a:xfrm>
            <a:off x="4952330" y="4087295"/>
            <a:ext cx="1586251" cy="1238820"/>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7" name="Rounded Rectangle 27">
            <a:extLst>
              <a:ext uri="{FF2B5EF4-FFF2-40B4-BE49-F238E27FC236}">
                <a16:creationId xmlns:a16="http://schemas.microsoft.com/office/drawing/2014/main" id="{AE0D8384-88CB-063C-218F-54FBDABCBD6E}"/>
              </a:ext>
            </a:extLst>
          </p:cNvPr>
          <p:cNvSpPr/>
          <p:nvPr/>
        </p:nvSpPr>
        <p:spPr bwMode="auto">
          <a:xfrm>
            <a:off x="4972751" y="3899054"/>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SpinCo</a:t>
            </a:r>
          </a:p>
        </p:txBody>
      </p:sp>
      <p:sp>
        <p:nvSpPr>
          <p:cNvPr id="8" name="Rounded Rectangle 28">
            <a:extLst>
              <a:ext uri="{FF2B5EF4-FFF2-40B4-BE49-F238E27FC236}">
                <a16:creationId xmlns:a16="http://schemas.microsoft.com/office/drawing/2014/main" id="{C691EC42-B112-35CE-DE3C-F5A59CE2499C}"/>
              </a:ext>
            </a:extLst>
          </p:cNvPr>
          <p:cNvSpPr/>
          <p:nvPr/>
        </p:nvSpPr>
        <p:spPr bwMode="auto">
          <a:xfrm>
            <a:off x="5357625" y="5220719"/>
            <a:ext cx="775659" cy="244258"/>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$6B</a:t>
            </a:r>
            <a:endParaRPr lang="en-US" b="1" baseline="30000">
              <a:solidFill>
                <a:srgbClr val="000000"/>
              </a:solidFill>
            </a:endParaRPr>
          </a:p>
        </p:txBody>
      </p:sp>
      <p:sp>
        <p:nvSpPr>
          <p:cNvPr id="9" name="Rounded Rectangle 30">
            <a:extLst>
              <a:ext uri="{FF2B5EF4-FFF2-40B4-BE49-F238E27FC236}">
                <a16:creationId xmlns:a16="http://schemas.microsoft.com/office/drawing/2014/main" id="{9814A4F4-4327-9FAB-5F69-0F8261170D3B}"/>
              </a:ext>
            </a:extLst>
          </p:cNvPr>
          <p:cNvSpPr/>
          <p:nvPr/>
        </p:nvSpPr>
        <p:spPr bwMode="auto">
          <a:xfrm>
            <a:off x="461532" y="2814497"/>
            <a:ext cx="3513973" cy="1458561"/>
          </a:xfrm>
          <a:prstGeom prst="roundRect">
            <a:avLst/>
          </a:prstGeom>
          <a:noFill/>
          <a:ln w="12700"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10" name="Rounded Rectangle 51">
            <a:extLst>
              <a:ext uri="{FF2B5EF4-FFF2-40B4-BE49-F238E27FC236}">
                <a16:creationId xmlns:a16="http://schemas.microsoft.com/office/drawing/2014/main" id="{A06EE14B-0ECB-B508-01DA-B654FA77D8A0}"/>
              </a:ext>
            </a:extLst>
          </p:cNvPr>
          <p:cNvSpPr/>
          <p:nvPr/>
        </p:nvSpPr>
        <p:spPr bwMode="auto">
          <a:xfrm>
            <a:off x="1397734" y="4177214"/>
            <a:ext cx="1513633" cy="222054"/>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$8B</a:t>
            </a:r>
            <a:endParaRPr lang="en-US" b="1" baseline="30000">
              <a:solidFill>
                <a:srgbClr val="000000"/>
              </a:solidFill>
            </a:endParaRPr>
          </a:p>
        </p:txBody>
      </p:sp>
      <p:sp>
        <p:nvSpPr>
          <p:cNvPr id="14" name="Equal 5">
            <a:extLst>
              <a:ext uri="{FF2B5EF4-FFF2-40B4-BE49-F238E27FC236}">
                <a16:creationId xmlns:a16="http://schemas.microsoft.com/office/drawing/2014/main" id="{736EB785-1FAC-AC6E-22BF-B2CBD8B4E151}"/>
              </a:ext>
            </a:extLst>
          </p:cNvPr>
          <p:cNvSpPr/>
          <p:nvPr/>
        </p:nvSpPr>
        <p:spPr>
          <a:xfrm>
            <a:off x="4256849" y="3475755"/>
            <a:ext cx="434558" cy="332720"/>
          </a:xfrm>
          <a:prstGeom prst="mathEqual">
            <a:avLst/>
          </a:prstGeom>
          <a:solidFill>
            <a:schemeClr val="accent3">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1200">
              <a:solidFill>
                <a:schemeClr val="tx1"/>
              </a:solidFill>
            </a:endParaRPr>
          </a:p>
        </p:txBody>
      </p:sp>
      <p:sp>
        <p:nvSpPr>
          <p:cNvPr id="25" name="Rounded Rectangle 140">
            <a:extLst>
              <a:ext uri="{FF2B5EF4-FFF2-40B4-BE49-F238E27FC236}">
                <a16:creationId xmlns:a16="http://schemas.microsoft.com/office/drawing/2014/main" id="{B54CF8EF-4794-CC3C-1A71-FE91CD948D99}"/>
              </a:ext>
            </a:extLst>
          </p:cNvPr>
          <p:cNvSpPr/>
          <p:nvPr/>
        </p:nvSpPr>
        <p:spPr bwMode="auto">
          <a:xfrm>
            <a:off x="1216861" y="2735432"/>
            <a:ext cx="2003314" cy="233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KBR</a:t>
            </a:r>
          </a:p>
        </p:txBody>
      </p:sp>
      <p:sp>
        <p:nvSpPr>
          <p:cNvPr id="26" name="TextBox 64">
            <a:extLst>
              <a:ext uri="{FF2B5EF4-FFF2-40B4-BE49-F238E27FC236}">
                <a16:creationId xmlns:a16="http://schemas.microsoft.com/office/drawing/2014/main" id="{0BB44D8F-A545-58E9-F681-B324A726AC19}"/>
              </a:ext>
            </a:extLst>
          </p:cNvPr>
          <p:cNvSpPr txBox="1"/>
          <p:nvPr/>
        </p:nvSpPr>
        <p:spPr>
          <a:xfrm>
            <a:off x="1360033" y="23479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Pre-Transaction:</a:t>
            </a:r>
            <a:endParaRPr lang="en-US" sz="1600" b="1" baseline="30000"/>
          </a:p>
        </p:txBody>
      </p:sp>
      <p:sp>
        <p:nvSpPr>
          <p:cNvPr id="32" name="Rounded Rectangle 26">
            <a:extLst>
              <a:ext uri="{FF2B5EF4-FFF2-40B4-BE49-F238E27FC236}">
                <a16:creationId xmlns:a16="http://schemas.microsoft.com/office/drawing/2014/main" id="{B4ACE051-1A52-E885-8260-9D3F982F4BB7}"/>
              </a:ext>
            </a:extLst>
          </p:cNvPr>
          <p:cNvSpPr/>
          <p:nvPr/>
        </p:nvSpPr>
        <p:spPr bwMode="auto">
          <a:xfrm>
            <a:off x="4952329" y="2105507"/>
            <a:ext cx="1586252" cy="1288594"/>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33" name="Rounded Rectangle 27">
            <a:extLst>
              <a:ext uri="{FF2B5EF4-FFF2-40B4-BE49-F238E27FC236}">
                <a16:creationId xmlns:a16="http://schemas.microsoft.com/office/drawing/2014/main" id="{E31FD6C2-6302-9C6D-A392-343B1DFD1C3F}"/>
              </a:ext>
            </a:extLst>
          </p:cNvPr>
          <p:cNvSpPr/>
          <p:nvPr/>
        </p:nvSpPr>
        <p:spPr bwMode="auto">
          <a:xfrm>
            <a:off x="4972751" y="1985861"/>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New KBR</a:t>
            </a:r>
          </a:p>
        </p:txBody>
      </p:sp>
      <p:sp>
        <p:nvSpPr>
          <p:cNvPr id="34" name="Rounded Rectangle 28">
            <a:extLst>
              <a:ext uri="{FF2B5EF4-FFF2-40B4-BE49-F238E27FC236}">
                <a16:creationId xmlns:a16="http://schemas.microsoft.com/office/drawing/2014/main" id="{BE9732D1-ED76-C67D-522F-C4465C6062B6}"/>
              </a:ext>
            </a:extLst>
          </p:cNvPr>
          <p:cNvSpPr/>
          <p:nvPr/>
        </p:nvSpPr>
        <p:spPr bwMode="auto">
          <a:xfrm>
            <a:off x="5357625" y="3249649"/>
            <a:ext cx="775659" cy="281451"/>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$2B</a:t>
            </a:r>
            <a:endParaRPr lang="en-US" b="1" baseline="30000">
              <a:solidFill>
                <a:srgbClr val="000000"/>
              </a:solidFill>
            </a:endParaRPr>
          </a:p>
        </p:txBody>
      </p:sp>
      <p:sp>
        <p:nvSpPr>
          <p:cNvPr id="62" name="TextBox 64">
            <a:extLst>
              <a:ext uri="{FF2B5EF4-FFF2-40B4-BE49-F238E27FC236}">
                <a16:creationId xmlns:a16="http://schemas.microsoft.com/office/drawing/2014/main" id="{01A9E789-C5C9-B2DA-3D16-A6A5F8DD186B}"/>
              </a:ext>
            </a:extLst>
          </p:cNvPr>
          <p:cNvSpPr txBox="1"/>
          <p:nvPr/>
        </p:nvSpPr>
        <p:spPr>
          <a:xfrm>
            <a:off x="4886970" y="15515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Post-Transaction:</a:t>
            </a:r>
            <a:endParaRPr lang="en-US" sz="1600" b="1" baseline="30000"/>
          </a:p>
        </p:txBody>
      </p:sp>
      <p:sp>
        <p:nvSpPr>
          <p:cNvPr id="63" name="TextBox 62">
            <a:extLst>
              <a:ext uri="{FF2B5EF4-FFF2-40B4-BE49-F238E27FC236}">
                <a16:creationId xmlns:a16="http://schemas.microsoft.com/office/drawing/2014/main" id="{4D218CAE-1906-8C5B-A7BC-EA3A2D24D4C9}"/>
              </a:ext>
            </a:extLst>
          </p:cNvPr>
          <p:cNvSpPr txBox="1"/>
          <p:nvPr/>
        </p:nvSpPr>
        <p:spPr>
          <a:xfrm>
            <a:off x="6830121" y="2256668"/>
            <a:ext cx="1737360" cy="1015663"/>
          </a:xfrm>
          <a:prstGeom prst="rect">
            <a:avLst/>
          </a:prstGeom>
          <a:solidFill>
            <a:schemeClr val="accent1">
              <a:lumMod val="20000"/>
              <a:lumOff val="80000"/>
            </a:schemeClr>
          </a:solidFill>
          <a:ln>
            <a:solidFill>
              <a:schemeClr val="tx1"/>
            </a:solidFill>
          </a:ln>
        </p:spPr>
        <p:txBody>
          <a:bodyPr wrap="square" lIns="45720" tIns="45720" rIns="45720" bIns="45720" rtlCol="0" anchor="ctr">
            <a:spAutoFit/>
          </a:bodyPr>
          <a:lstStyle/>
          <a:p>
            <a:pPr algn="ctr"/>
            <a:r>
              <a:rPr lang="en-US" sz="1200"/>
              <a:t>Trusted technology-enabled solutions provider focused on diversified energy and critical infrastructure </a:t>
            </a:r>
          </a:p>
        </p:txBody>
      </p:sp>
      <p:sp>
        <p:nvSpPr>
          <p:cNvPr id="64" name="TextBox 63">
            <a:extLst>
              <a:ext uri="{FF2B5EF4-FFF2-40B4-BE49-F238E27FC236}">
                <a16:creationId xmlns:a16="http://schemas.microsoft.com/office/drawing/2014/main" id="{0118520B-4F2C-5B98-CB36-15457A7975F3}"/>
              </a:ext>
            </a:extLst>
          </p:cNvPr>
          <p:cNvSpPr txBox="1"/>
          <p:nvPr/>
        </p:nvSpPr>
        <p:spPr>
          <a:xfrm>
            <a:off x="6830121" y="4201091"/>
            <a:ext cx="1737360" cy="1015663"/>
          </a:xfrm>
          <a:prstGeom prst="rect">
            <a:avLst/>
          </a:prstGeom>
          <a:solidFill>
            <a:schemeClr val="accent2">
              <a:lumMod val="20000"/>
              <a:lumOff val="80000"/>
            </a:schemeClr>
          </a:solidFill>
          <a:ln>
            <a:solidFill>
              <a:schemeClr val="tx1"/>
            </a:solidFill>
          </a:ln>
        </p:spPr>
        <p:txBody>
          <a:bodyPr wrap="square" lIns="45720" tIns="45720" rIns="45720" bIns="45720" rtlCol="0" anchor="ctr">
            <a:spAutoFit/>
          </a:bodyPr>
          <a:lstStyle/>
          <a:p>
            <a:pPr algn="ctr"/>
            <a:r>
              <a:rPr lang="en-US" sz="1200"/>
              <a:t>Leading government services provider focused on critical national security and space solutions</a:t>
            </a:r>
          </a:p>
        </p:txBody>
      </p:sp>
      <p:graphicFrame>
        <p:nvGraphicFramePr>
          <p:cNvPr id="5" name="Table 10">
            <a:extLst>
              <a:ext uri="{FF2B5EF4-FFF2-40B4-BE49-F238E27FC236}">
                <a16:creationId xmlns:a16="http://schemas.microsoft.com/office/drawing/2014/main" id="{AE57E95A-529D-A148-BE86-5E6493FCB266}"/>
              </a:ext>
            </a:extLst>
          </p:cNvPr>
          <p:cNvGraphicFramePr>
            <a:graphicFrameLocks noGrp="1"/>
          </p:cNvGraphicFramePr>
          <p:nvPr>
            <p:extLst>
              <p:ext uri="{D42A27DB-BD31-4B8C-83A1-F6EECF244321}">
                <p14:modId xmlns:p14="http://schemas.microsoft.com/office/powerpoint/2010/main" val="3998342751"/>
              </p:ext>
            </p:extLst>
          </p:nvPr>
        </p:nvGraphicFramePr>
        <p:xfrm>
          <a:off x="691511" y="3137393"/>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11" name="Table 10">
            <a:extLst>
              <a:ext uri="{FF2B5EF4-FFF2-40B4-BE49-F238E27FC236}">
                <a16:creationId xmlns:a16="http://schemas.microsoft.com/office/drawing/2014/main" id="{ACFBE435-F07F-23A0-4754-19E880BCFD87}"/>
              </a:ext>
            </a:extLst>
          </p:cNvPr>
          <p:cNvGraphicFramePr>
            <a:graphicFrameLocks noGrp="1"/>
          </p:cNvGraphicFramePr>
          <p:nvPr>
            <p:extLst>
              <p:ext uri="{D42A27DB-BD31-4B8C-83A1-F6EECF244321}">
                <p14:modId xmlns:p14="http://schemas.microsoft.com/office/powerpoint/2010/main" val="2062990924"/>
              </p:ext>
            </p:extLst>
          </p:nvPr>
        </p:nvGraphicFramePr>
        <p:xfrm>
          <a:off x="2244888" y="313110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2" name="Table 21">
            <a:extLst>
              <a:ext uri="{FF2B5EF4-FFF2-40B4-BE49-F238E27FC236}">
                <a16:creationId xmlns:a16="http://schemas.microsoft.com/office/drawing/2014/main" id="{295921BF-5B62-75B3-3A40-954EBDCB444B}"/>
              </a:ext>
            </a:extLst>
          </p:cNvPr>
          <p:cNvGraphicFramePr>
            <a:graphicFrameLocks noGrp="1"/>
          </p:cNvGraphicFramePr>
          <p:nvPr>
            <p:extLst>
              <p:ext uri="{D42A27DB-BD31-4B8C-83A1-F6EECF244321}">
                <p14:modId xmlns:p14="http://schemas.microsoft.com/office/powerpoint/2010/main" val="2622213142"/>
              </p:ext>
            </p:extLst>
          </p:nvPr>
        </p:nvGraphicFramePr>
        <p:xfrm>
          <a:off x="5013935" y="4273058"/>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3" name="Table 10">
            <a:extLst>
              <a:ext uri="{FF2B5EF4-FFF2-40B4-BE49-F238E27FC236}">
                <a16:creationId xmlns:a16="http://schemas.microsoft.com/office/drawing/2014/main" id="{EF8FD14D-FE09-A85E-92A0-26F57EEBC3F5}"/>
              </a:ext>
            </a:extLst>
          </p:cNvPr>
          <p:cNvGraphicFramePr>
            <a:graphicFrameLocks noGrp="1"/>
          </p:cNvGraphicFramePr>
          <p:nvPr>
            <p:extLst>
              <p:ext uri="{D42A27DB-BD31-4B8C-83A1-F6EECF244321}">
                <p14:modId xmlns:p14="http://schemas.microsoft.com/office/powerpoint/2010/main" val="724373228"/>
              </p:ext>
            </p:extLst>
          </p:nvPr>
        </p:nvGraphicFramePr>
        <p:xfrm>
          <a:off x="5013935" y="232863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sp>
        <p:nvSpPr>
          <p:cNvPr id="2" name="Footer Placeholder 1">
            <a:extLst>
              <a:ext uri="{FF2B5EF4-FFF2-40B4-BE49-F238E27FC236}">
                <a16:creationId xmlns:a16="http://schemas.microsoft.com/office/drawing/2014/main" id="{A532957E-4CD2-371D-6E0C-BAF63D0B9770}"/>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7" name="Title 16">
            <a:extLst>
              <a:ext uri="{FF2B5EF4-FFF2-40B4-BE49-F238E27FC236}">
                <a16:creationId xmlns:a16="http://schemas.microsoft.com/office/drawing/2014/main" id="{FE8B52D1-D62B-D1D9-5FAC-5072DA765A54}"/>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KBR announced a spin-off of its Mission Technology Solutions unit, which is expected to close later this year. The surviving entity may be too small to be a viable </a:t>
            </a:r>
            <a:r>
              <a:rPr lang="en-US" dirty="0" err="1">
                <a:latin typeface="Calibri" panose="020F0502020204030204" pitchFamily="34" charset="0"/>
                <a:cs typeface="Calibri" panose="020F0502020204030204" pitchFamily="34" charset="0"/>
              </a:rPr>
              <a:t>Plutos</a:t>
            </a:r>
            <a:r>
              <a:rPr lang="en-US" dirty="0">
                <a:latin typeface="Calibri" panose="020F0502020204030204" pitchFamily="34" charset="0"/>
                <a:cs typeface="Calibri" panose="020F0502020204030204" pitchFamily="34" charset="0"/>
              </a:rPr>
              <a:t> peer</a:t>
            </a:r>
            <a:endParaRPr lang="en-US" dirty="0"/>
          </a:p>
        </p:txBody>
      </p:sp>
    </p:spTree>
    <p:extLst>
      <p:ext uri="{BB962C8B-B14F-4D97-AF65-F5344CB8AC3E}">
        <p14:creationId xmlns:p14="http://schemas.microsoft.com/office/powerpoint/2010/main" val="46015000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5B22B7-6445-7674-0278-FCE3729994B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C232CD57-BB06-B7EA-1DB5-369702BF6AB3}"/>
              </a:ext>
            </a:extLst>
          </p:cNvPr>
          <p:cNvSpPr>
            <a:spLocks noGrp="1"/>
          </p:cNvSpPr>
          <p:nvPr>
            <p:ph type="title"/>
          </p:nvPr>
        </p:nvSpPr>
        <p:spPr>
          <a:xfrm>
            <a:off x="882797" y="44215"/>
            <a:ext cx="8074152" cy="1292899"/>
          </a:xfrm>
        </p:spPr>
        <p:txBody>
          <a:bodyPr/>
          <a:lstStyle/>
          <a:p>
            <a:r>
              <a:rPr lang="en-US" dirty="0"/>
              <a:t>At this juncture, ACME recommends removing Kyndryl in light of its poor business and operational performance, monitoring DXC, given its business fit with </a:t>
            </a:r>
            <a:r>
              <a:rPr lang="en-US" dirty="0" err="1"/>
              <a:t>Plutos</a:t>
            </a:r>
            <a:r>
              <a:rPr lang="en-US" dirty="0"/>
              <a:t>, and monitoring KBR, given that its planned spin-off has not yet occurred</a:t>
            </a:r>
          </a:p>
        </p:txBody>
      </p:sp>
      <p:graphicFrame>
        <p:nvGraphicFramePr>
          <p:cNvPr id="7" name="Table 6">
            <a:extLst>
              <a:ext uri="{FF2B5EF4-FFF2-40B4-BE49-F238E27FC236}">
                <a16:creationId xmlns:a16="http://schemas.microsoft.com/office/drawing/2014/main" id="{97D8DE6F-1311-4D03-B78A-252E3BF9D84E}"/>
              </a:ext>
            </a:extLst>
          </p:cNvPr>
          <p:cNvGraphicFramePr>
            <a:graphicFrameLocks noGrp="1"/>
          </p:cNvGraphicFramePr>
          <p:nvPr>
            <p:extLst>
              <p:ext uri="{D42A27DB-BD31-4B8C-83A1-F6EECF244321}">
                <p14:modId xmlns:p14="http://schemas.microsoft.com/office/powerpoint/2010/main" val="2670292684"/>
              </p:ext>
            </p:extLst>
          </p:nvPr>
        </p:nvGraphicFramePr>
        <p:xfrm>
          <a:off x="1068923" y="1953961"/>
          <a:ext cx="7955280" cy="4413504"/>
        </p:xfrm>
        <a:graphic>
          <a:graphicData uri="http://schemas.openxmlformats.org/drawingml/2006/table">
            <a:tbl>
              <a:tblPr/>
              <a:tblGrid>
                <a:gridCol w="640080">
                  <a:extLst>
                    <a:ext uri="{9D8B030D-6E8A-4147-A177-3AD203B41FA5}">
                      <a16:colId xmlns:a16="http://schemas.microsoft.com/office/drawing/2014/main" val="1219495189"/>
                    </a:ext>
                  </a:extLst>
                </a:gridCol>
                <a:gridCol w="3474720">
                  <a:extLst>
                    <a:ext uri="{9D8B030D-6E8A-4147-A177-3AD203B41FA5}">
                      <a16:colId xmlns:a16="http://schemas.microsoft.com/office/drawing/2014/main" val="272026038"/>
                    </a:ext>
                  </a:extLst>
                </a:gridCol>
                <a:gridCol w="3840480">
                  <a:extLst>
                    <a:ext uri="{9D8B030D-6E8A-4147-A177-3AD203B41FA5}">
                      <a16:colId xmlns:a16="http://schemas.microsoft.com/office/drawing/2014/main" val="560436882"/>
                    </a:ext>
                  </a:extLst>
                </a:gridCol>
              </a:tblGrid>
              <a:tr h="105476">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dirty="0">
                          <a:solidFill>
                            <a:schemeClr val="bg1"/>
                          </a:solidFill>
                          <a:effectLst/>
                          <a:latin typeface="Calibri" panose="020F0502020204030204" pitchFamily="34" charset="0"/>
                        </a:rPr>
                        <a:t>Company</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Business Description</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Considerations</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253792308"/>
                  </a:ext>
                </a:extLst>
              </a:tr>
              <a:tr h="785968">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Kyndryl</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Technology services company and IT infrastructure services provider</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Offers cloud services; core enterprise and zCloud services; application, data, and artificial intelligence services; digital workplace services; security and resiliency services; and network services and edge services</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Serves financial, healthcare, public, technology, media and telecom, retail, travel, and automotive industries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some consulting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Narrow focus on IT infrastructure operations; has limited overlap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offerings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financial performance (negative margins, declining revenues, and negative TSR over 3- and 5-year periods)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Undergoing SEC investigation and multiple class-action lawsuits for material weaknesses in its internal controls over financial reporting</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Experiencing significant executive (CFO, General Counsel) turnover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835266709"/>
                  </a:ext>
                </a:extLst>
              </a:tr>
              <a:tr h="956091">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Information technology services and solutions provider</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Segments: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Business Services: delivers analytics, consulting, software engineering, and industry-specific solutions that help clients modernize mission‑critical operations, automate processes, and drive digital transformation across insurance and financial services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Infrastructure Services: provides cybersecurity, cloud infrastructure, and IT outsourcing services that centralize IT management, secure data, optimize costs, and enable efficient hybrid and multi-cloud operations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consulting and professional services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advanced infrastructure engineering capabilities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 strong emphasis on data center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recent financial performance (negative margins, declining revenues, weak TSR performance over the last 3 years)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Legacy GIS business, which is less relevant to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is dragging down investor perception of 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6222397"/>
                  </a:ext>
                </a:extLst>
              </a:tr>
              <a:tr h="615845">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KBR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Provides proprietary process technologies and engineering services that support energy transition, decarbonization, and circular economy solutions across chemicals, refining, and clean energy</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Announced a spin-off of its separate Mission Solutions business, expected to close in 2026</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Strong business model alignment</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Adequate financial performance; investors viewed the spinoff announcement positively</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Spinoff intended to strengthen alignment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endParaRPr lang="en-US" sz="1000" b="0" kern="1200" dirty="0">
                        <a:solidFill>
                          <a:schemeClr val="tx1">
                            <a:lumMod val="50000"/>
                          </a:schemeClr>
                        </a:solidFill>
                        <a:latin typeface="Calibri" panose="020F0502020204030204" pitchFamily="34" charset="0"/>
                        <a:ea typeface="+mn-ea"/>
                        <a:cs typeface="Calibri" panose="020F0502020204030204" pitchFamily="34" charset="0"/>
                      </a:endParaRP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Mission Technology segment spin-off may reduce overall government exposure</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Continuing entity likely to be on the lower end of the revenue screen</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23981"/>
                  </a:ext>
                </a:extLst>
              </a:tr>
            </a:tbl>
          </a:graphicData>
        </a:graphic>
      </p:graphicFrame>
      <p:pic>
        <p:nvPicPr>
          <p:cNvPr id="8" name="Picture 7">
            <a:extLst>
              <a:ext uri="{FF2B5EF4-FFF2-40B4-BE49-F238E27FC236}">
                <a16:creationId xmlns:a16="http://schemas.microsoft.com/office/drawing/2014/main" id="{02088C1D-6A16-671E-6000-F1CEF2DCE96C}"/>
              </a:ext>
            </a:extLst>
          </p:cNvPr>
          <p:cNvPicPr>
            <a:picLocks noChangeAspect="1"/>
          </p:cNvPicPr>
          <p:nvPr/>
        </p:nvPicPr>
        <p:blipFill>
          <a:blip r:embed="rId2">
            <a:duotone>
              <a:schemeClr val="accent4">
                <a:shade val="45000"/>
                <a:satMod val="135000"/>
              </a:schemeClr>
              <a:prstClr val="white"/>
            </a:duotone>
          </a:blip>
          <a:stretch>
            <a:fillRect/>
          </a:stretch>
        </p:blipFill>
        <p:spPr>
          <a:xfrm>
            <a:off x="52652" y="2967245"/>
            <a:ext cx="969348" cy="2856301"/>
          </a:xfrm>
          <a:prstGeom prst="rect">
            <a:avLst/>
          </a:prstGeom>
        </p:spPr>
      </p:pic>
      <p:sp>
        <p:nvSpPr>
          <p:cNvPr id="9" name="TextBox 8">
            <a:extLst>
              <a:ext uri="{FF2B5EF4-FFF2-40B4-BE49-F238E27FC236}">
                <a16:creationId xmlns:a16="http://schemas.microsoft.com/office/drawing/2014/main" id="{AE47C21B-0CC4-E35B-9E1C-CAEDA695E8A2}"/>
              </a:ext>
            </a:extLst>
          </p:cNvPr>
          <p:cNvSpPr txBox="1"/>
          <p:nvPr/>
        </p:nvSpPr>
        <p:spPr>
          <a:xfrm>
            <a:off x="58701" y="5370012"/>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Stronger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0" name="TextBox 9">
            <a:extLst>
              <a:ext uri="{FF2B5EF4-FFF2-40B4-BE49-F238E27FC236}">
                <a16:creationId xmlns:a16="http://schemas.microsoft.com/office/drawing/2014/main" id="{F6C4CE23-E2DB-18D5-4423-980D370D81FB}"/>
              </a:ext>
            </a:extLst>
          </p:cNvPr>
          <p:cNvSpPr txBox="1"/>
          <p:nvPr/>
        </p:nvSpPr>
        <p:spPr>
          <a:xfrm>
            <a:off x="58701" y="2854866"/>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Weaker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4" name="TextBox 13">
            <a:extLst>
              <a:ext uri="{FF2B5EF4-FFF2-40B4-BE49-F238E27FC236}">
                <a16:creationId xmlns:a16="http://schemas.microsoft.com/office/drawing/2014/main" id="{792B17A0-C7ED-90FE-A47A-C8DEDAF046EF}"/>
              </a:ext>
            </a:extLst>
          </p:cNvPr>
          <p:cNvSpPr txBox="1"/>
          <p:nvPr/>
        </p:nvSpPr>
        <p:spPr>
          <a:xfrm>
            <a:off x="1918215" y="1632070"/>
            <a:ext cx="5290636"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Detailed Considerations for Specific Peers</a:t>
            </a:r>
            <a:endParaRPr kumimoji="0" lang="en-US" sz="1400" b="1" i="0" u="none" strike="noStrike" kern="1200" cap="none" spc="0" normalizeH="0" noProof="0">
              <a:ln>
                <a:noFill/>
              </a:ln>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FF0CAC31-CEBD-CC2A-85C2-34544F9E38D2}"/>
              </a:ext>
            </a:extLst>
          </p:cNvPr>
          <p:cNvGrpSpPr/>
          <p:nvPr/>
        </p:nvGrpSpPr>
        <p:grpSpPr>
          <a:xfrm>
            <a:off x="7276843" y="1416042"/>
            <a:ext cx="1784869" cy="507831"/>
            <a:chOff x="7391400" y="1097623"/>
            <a:chExt cx="1830888" cy="507831"/>
          </a:xfrm>
        </p:grpSpPr>
        <p:sp>
          <p:nvSpPr>
            <p:cNvPr id="13" name="TextBox 12">
              <a:extLst>
                <a:ext uri="{FF2B5EF4-FFF2-40B4-BE49-F238E27FC236}">
                  <a16:creationId xmlns:a16="http://schemas.microsoft.com/office/drawing/2014/main" id="{01FA68A5-EE5A-196B-92EB-E6FFFA940C18}"/>
                </a:ext>
              </a:extLst>
            </p:cNvPr>
            <p:cNvSpPr txBox="1"/>
            <p:nvPr/>
          </p:nvSpPr>
          <p:spPr>
            <a:xfrm>
              <a:off x="7391400" y="1097623"/>
              <a:ext cx="1830888" cy="507831"/>
            </a:xfrm>
            <a:prstGeom prst="rect">
              <a:avLst/>
            </a:prstGeom>
            <a:noFill/>
          </p:spPr>
          <p:txBody>
            <a:bodyPr wrap="square" rtlCol="0">
              <a:spAutoFit/>
            </a:bodyPr>
            <a:lstStyle/>
            <a:p>
              <a:pPr marL="171450" indent="-171450">
                <a:buClr>
                  <a:srgbClr val="00B050"/>
                </a:buClr>
                <a:buSzPct val="150000"/>
                <a:buFont typeface="Wingdings 2" panose="05020102010507070707" pitchFamily="18" charset="2"/>
                <a:buChar char="P"/>
              </a:pPr>
              <a:r>
                <a:rPr lang="en-US" sz="900" i="1" dirty="0">
                  <a:latin typeface="Calibri" panose="020F0502020204030204" pitchFamily="34" charset="0"/>
                  <a:cs typeface="Calibri" panose="020F0502020204030204" pitchFamily="34" charset="0"/>
                </a:rPr>
                <a:t>Strong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indent="-171450">
                <a:buClr>
                  <a:srgbClr val="C00000"/>
                </a:buClr>
                <a:buSzPct val="150000"/>
                <a:buFont typeface="Calibri" panose="020F0502020204030204" pitchFamily="34" charset="0"/>
                <a:buChar char="×"/>
              </a:pPr>
              <a:r>
                <a:rPr lang="en-US" sz="900" i="1" dirty="0">
                  <a:latin typeface="Calibri" panose="020F0502020204030204" pitchFamily="34" charset="0"/>
                  <a:cs typeface="Calibri" panose="020F0502020204030204" pitchFamily="34" charset="0"/>
                </a:rPr>
                <a:t>Weak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a:buClr>
                  <a:srgbClr val="C00000"/>
                </a:buClr>
                <a:buSzPct val="150000"/>
              </a:pPr>
              <a:r>
                <a:rPr lang="en-US" sz="900" i="1" dirty="0"/>
                <a:t>Recommended for removal</a:t>
              </a:r>
            </a:p>
          </p:txBody>
        </p:sp>
        <p:sp>
          <p:nvSpPr>
            <p:cNvPr id="15" name="Rectangle 14">
              <a:extLst>
                <a:ext uri="{FF2B5EF4-FFF2-40B4-BE49-F238E27FC236}">
                  <a16:creationId xmlns:a16="http://schemas.microsoft.com/office/drawing/2014/main" id="{2C801335-EDAF-8EE6-F967-3BEE59E2B5DE}"/>
                </a:ext>
              </a:extLst>
            </p:cNvPr>
            <p:cNvSpPr/>
            <p:nvPr/>
          </p:nvSpPr>
          <p:spPr bwMode="auto">
            <a:xfrm>
              <a:off x="7452147" y="1452521"/>
              <a:ext cx="141942" cy="73152"/>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grpSp>
      <p:sp>
        <p:nvSpPr>
          <p:cNvPr id="90045" name="acme-flag-90045"/>
          <p:cNvSpPr/>
          <p:nvPr/>
        </p:nvSpPr>
        <p:spPr>
          <a:xfrm>
            <a:off x="52652" y="2967245"/>
            <a:ext cx="969348" cy="2856301"/>
          </a:xfrm>
          <a:prstGeom prst="rect">
            <a:avLst/>
          </a:prstGeom>
          <a:solidFill>
            <a:srgbClr val="FFD400">
              <a:alpha val="30000"/>
            </a:srgbClr>
          </a:solidFill>
          <a:ln w="19050">
            <a:solidFill>
              <a:srgbClr val="E80000"/>
            </a:solidFill>
          </a:ln>
        </p:spPr>
        <p:txBody>
          <a:bodyPr/>
          <a:lstStyle/>
          <a:p/>
        </p:txBody>
      </p:sp>
      <p:sp>
        <p:nvSpPr>
          <p:cNvPr id="90046" name="acme-flag-90046"/>
          <p:cNvSpPr/>
          <p:nvPr/>
        </p:nvSpPr>
        <p:spPr>
          <a:xfrm>
            <a:off x="58701" y="5370012"/>
            <a:ext cx="957250" cy="523220"/>
          </a:xfrm>
          <a:prstGeom prst="rect">
            <a:avLst/>
          </a:prstGeom>
          <a:solidFill>
            <a:srgbClr val="FFD400">
              <a:alpha val="30000"/>
            </a:srgbClr>
          </a:solidFill>
          <a:ln w="19050">
            <a:solidFill>
              <a:srgbClr val="E80000"/>
            </a:solidFill>
          </a:ln>
        </p:spPr>
        <p:txBody>
          <a:bodyPr/>
          <a:lstStyle/>
          <a:p/>
        </p:txBody>
      </p:sp>
      <p:sp>
        <p:nvSpPr>
          <p:cNvPr id="90047" name="acme-flag-90047"/>
          <p:cNvSpPr/>
          <p:nvPr/>
        </p:nvSpPr>
        <p:spPr>
          <a:xfrm>
            <a:off x="58701" y="2854866"/>
            <a:ext cx="957250" cy="523220"/>
          </a:xfrm>
          <a:prstGeom prst="rect">
            <a:avLst/>
          </a:prstGeom>
          <a:solidFill>
            <a:srgbClr val="FFD400">
              <a:alpha val="30000"/>
            </a:srgbClr>
          </a:solidFill>
          <a:ln w="19050">
            <a:solidFill>
              <a:srgbClr val="E80000"/>
            </a:solidFill>
          </a:ln>
        </p:spPr>
        <p:txBody>
          <a:bodyPr/>
          <a:lstStyle/>
          <a:p/>
        </p:txBody>
      </p:sp>
      <p:sp>
        <p:nvSpPr>
          <p:cNvPr id="90048" name="acme-flag-90048"/>
          <p:cNvSpPr/>
          <p:nvPr/>
        </p:nvSpPr>
        <p:spPr>
          <a:xfrm>
            <a:off x="1068923" y="1953961"/>
            <a:ext cx="7955280" cy="4413504"/>
          </a:xfrm>
          <a:prstGeom prst="rect">
            <a:avLst/>
          </a:prstGeom>
          <a:solidFill>
            <a:srgbClr val="FFD400">
              <a:alpha val="30000"/>
            </a:srgbClr>
          </a:solidFill>
          <a:ln w="19050">
            <a:solidFill>
              <a:srgbClr val="E80000"/>
            </a:solidFill>
          </a:ln>
        </p:spPr>
        <p:txBody>
          <a:bodyPr/>
          <a:lstStyle/>
          <a:p/>
        </p:txBody>
      </p:sp>
      <p:sp>
        <p:nvSpPr>
          <p:cNvPr id="90049" name="acme-flag-90049"/>
          <p:cNvSpPr/>
          <p:nvPr/>
        </p:nvSpPr>
        <p:spPr>
          <a:xfrm>
            <a:off x="882797" y="44215"/>
            <a:ext cx="8074152" cy="1292899"/>
          </a:xfrm>
          <a:prstGeom prst="rect">
            <a:avLst/>
          </a:prstGeom>
          <a:solidFill>
            <a:srgbClr val="FFD400">
              <a:alpha val="30000"/>
            </a:srgbClr>
          </a:solidFill>
          <a:ln w="19050">
            <a:solidFill>
              <a:srgbClr val="E80000"/>
            </a:solidFill>
          </a:ln>
        </p:spPr>
        <p:txBody>
          <a:bodyPr/>
          <a:lstStyle/>
          <a:p/>
        </p:txBody>
      </p:sp>
      <p:sp>
        <p:nvSpPr>
          <p:cNvPr id="90050" name="acme-flag-90050"/>
          <p:cNvSpPr/>
          <p:nvPr/>
        </p:nvSpPr>
        <p:spPr>
          <a:xfrm>
            <a:off x="863745" y="6591503"/>
            <a:ext cx="7416510" cy="184151"/>
          </a:xfrm>
          <a:prstGeom prst="rect">
            <a:avLst/>
          </a:prstGeom>
          <a:solidFill>
            <a:srgbClr val="FFD400">
              <a:alpha val="30000"/>
            </a:srgbClr>
          </a:solidFill>
          <a:ln w="19050">
            <a:solidFill>
              <a:srgbClr val="E80000"/>
            </a:solidFill>
          </a:ln>
        </p:spPr>
        <p:txBody>
          <a:bodyPr/>
          <a:lstStyle/>
          <a:p/>
        </p:txBody>
      </p:sp>
      <p:sp>
        <p:nvSpPr>
          <p:cNvPr id="90051" name="acme-flag-90051"/>
          <p:cNvSpPr/>
          <p:nvPr/>
        </p:nvSpPr>
        <p:spPr>
          <a:xfrm>
            <a:off x="882797" y="44215"/>
            <a:ext cx="8074152" cy="1292899"/>
          </a:xfrm>
          <a:prstGeom prst="rect">
            <a:avLst/>
          </a:prstGeom>
          <a:solidFill>
            <a:srgbClr val="FFD400">
              <a:alpha val="30000"/>
            </a:srgbClr>
          </a:solidFill>
          <a:ln w="19050">
            <a:solidFill>
              <a:srgbClr val="E80000"/>
            </a:solidFill>
          </a:ln>
        </p:spPr>
        <p:txBody>
          <a:bodyPr/>
          <a:lstStyle/>
          <a:p/>
        </p:txBody>
      </p:sp>
      <p:sp>
        <p:nvSpPr>
          <p:cNvPr id="90052" name="acme-flag-90052"/>
          <p:cNvSpPr/>
          <p:nvPr/>
        </p:nvSpPr>
        <p:spPr>
          <a:xfrm>
            <a:off x="863745" y="6591503"/>
            <a:ext cx="7416510" cy="184151"/>
          </a:xfrm>
          <a:prstGeom prst="rect">
            <a:avLst/>
          </a:prstGeom>
          <a:solidFill>
            <a:srgbClr val="FFD400">
              <a:alpha val="30000"/>
            </a:srgbClr>
          </a:solidFill>
          <a:ln w="19050">
            <a:solidFill>
              <a:srgbClr val="E80000"/>
            </a:solidFill>
          </a:ln>
        </p:spPr>
        <p:txBody>
          <a:bodyPr/>
          <a:lstStyle/>
          <a:p/>
        </p:txBody>
      </p:sp>
      <p:sp>
        <p:nvSpPr>
          <p:cNvPr id="90053" name="acme-note-90053"/>
          <p:cNvSpPr txBox="1"/>
          <p:nvPr/>
        </p:nvSpPr>
        <p:spPr>
          <a:xfrm>
            <a:off x="152400" y="5453000"/>
            <a:ext cx="8839200" cy="13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8 brand issues flagged:</a:t>
            </a:r>
          </a:p>
          <a:p>
            <a:r>
              <a:rPr lang="en-US" sz="1000" b="0" dirty="0">
                <a:solidFill>
                  <a:srgbClr val="9B0000"/>
                </a:solidFill>
                <a:latin typeface="Calibri"/>
              </a:rPr>
              <a:t>1. Shape #3 is at x=0.06in, which is less than the required 1" minimum from the left edge of the slide and also left of the slide title's left edge (x=0.97in). Guidelines state no element below the header should be less than 1" from the left edge, and warn when content is closer to the left edge than t</a:t>
            </a:r>
          </a:p>
          <a:p>
            <a:r>
              <a:rPr lang="en-US" sz="1000" b="0" dirty="0">
                <a:solidFill>
                  <a:srgbClr val="9B0000"/>
                </a:solidFill>
                <a:latin typeface="Calibri"/>
              </a:rPr>
              <a:t>2. Shape #4 ('Stronger / Alignment') is at x=0.06in, which is less than the required 1" minimum from the left edge and also left of the slide title's left edge (x=0.97in). Guidelines require no element below the header to be less than 1" from the left edge.</a:t>
            </a:r>
          </a:p>
          <a:p>
            <a:r>
              <a:rPr lang="en-US" sz="1000" b="0" dirty="0">
                <a:solidFill>
                  <a:srgbClr val="9B0000"/>
                </a:solidFill>
                <a:latin typeface="Calibri"/>
              </a:rPr>
              <a:t>3. Shape #5 ('Weaker / Alignment') is at x=0.06in, which is less than the required 1" minimum from the left edge and also left of the slide title's left edge (x=0.97in). Guidelines require no element below the header to be less than 1" from the left edge.</a:t>
            </a:r>
          </a:p>
          <a:p>
            <a:r>
              <a:rPr lang="en-US" sz="1000" b="0" dirty="0">
                <a:solidFill>
                  <a:srgbClr val="9B0000"/>
                </a:solidFill>
                <a:latin typeface="Calibri"/>
              </a:rPr>
              <a:t>4. Table row 2 ('DXC') has no fill (fills=[]), but guidelines require alternating zebra striping: first body row no fill, second body row #F2F2F2. DXC is the second body row and must have #F2F2F2 shading.</a:t>
            </a:r>
          </a:p>
          <a:p>
            <a:r>
              <a:rPr lang="en-US" sz="1000" b="0" dirty="0">
                <a:solidFill>
                  <a:srgbClr val="9B0000"/>
                </a:solidFill>
                <a:latin typeface="Calibri"/>
              </a:rPr>
              <a:t>5. Slide headline runs approximately 230 characters and will almost certainly exceed 3 lines at 24pt in a standard title placeholder. Guidelines require flagging headlines that exceed 3 lines.</a:t>
            </a:r>
          </a:p>
          <a:p>
            <a:r>
              <a:rPr lang="en-US" sz="1000" b="0" dirty="0">
                <a:solidFill>
                  <a:srgbClr val="9B0000"/>
                </a:solidFill>
                <a:latin typeface="Calibri"/>
              </a:rPr>
              <a:t>…and 3 more (see panel).</a:t>
            </a:r>
          </a:p>
        </p:txBody>
      </p:sp>
    </p:spTree>
    <p:extLst>
      <p:ext uri="{BB962C8B-B14F-4D97-AF65-F5344CB8AC3E}">
        <p14:creationId xmlns:p14="http://schemas.microsoft.com/office/powerpoint/2010/main" val="181882202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78CB0D-1028-7F35-99D8-6F420B1DC843}"/>
              </a:ext>
            </a:extLst>
          </p:cNvPr>
          <p:cNvSpPr>
            <a:spLocks noGrp="1"/>
          </p:cNvSpPr>
          <p:nvPr>
            <p:ph idx="1"/>
          </p:nvPr>
        </p:nvSpPr>
        <p:spPr/>
        <p:txBody>
          <a:bodyPr/>
          <a:lstStyle/>
          <a:p>
            <a:r>
              <a:rPr lang="en-US" dirty="0"/>
              <a:t>Fifteen UK-listed companies </a:t>
            </a:r>
            <a:r>
              <a:rPr lang="en-US" i="1" dirty="0"/>
              <a:t>(see Appendix page 17)</a:t>
            </a:r>
          </a:p>
          <a:p>
            <a:r>
              <a:rPr lang="en-US" dirty="0"/>
              <a:t>Peers of peer companies </a:t>
            </a:r>
            <a:r>
              <a:rPr lang="en-US" i="1" dirty="0"/>
              <a:t>(see Appendix page 18)</a:t>
            </a:r>
          </a:p>
          <a:p>
            <a:r>
              <a:rPr lang="en-US" dirty="0" err="1"/>
              <a:t>Plutos</a:t>
            </a:r>
            <a:r>
              <a:rPr lang="en-US" dirty="0"/>
              <a:t>’ and PA’s named competitors (including Capgemini, Arcadis, and Worley, among others) </a:t>
            </a:r>
            <a:r>
              <a:rPr lang="en-US" i="1" dirty="0"/>
              <a:t>(see Appendix pages 19-21)</a:t>
            </a:r>
          </a:p>
          <a:p>
            <a:r>
              <a:rPr lang="en-US" dirty="0"/>
              <a:t>Other companies raised for monitoring in prior discussions (i.e., Quanta, </a:t>
            </a:r>
            <a:r>
              <a:rPr lang="en-US" dirty="0" err="1"/>
              <a:t>Primoris</a:t>
            </a:r>
            <a:r>
              <a:rPr lang="en-US" dirty="0"/>
              <a:t>, and Palantir) </a:t>
            </a:r>
            <a:r>
              <a:rPr lang="en-US" i="1" dirty="0"/>
              <a:t>(see Appendix page 22)</a:t>
            </a:r>
          </a:p>
        </p:txBody>
      </p:sp>
      <p:sp>
        <p:nvSpPr>
          <p:cNvPr id="3" name="Footer Placeholder 2">
            <a:extLst>
              <a:ext uri="{FF2B5EF4-FFF2-40B4-BE49-F238E27FC236}">
                <a16:creationId xmlns:a16="http://schemas.microsoft.com/office/drawing/2014/main" id="{575DC7E6-6068-6D04-9434-DC44E53B7D1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A8041038-C630-62B6-4A0A-7ACB242A0FB8}"/>
              </a:ext>
            </a:extLst>
          </p:cNvPr>
          <p:cNvSpPr>
            <a:spLocks noGrp="1"/>
          </p:cNvSpPr>
          <p:nvPr>
            <p:ph type="title"/>
          </p:nvPr>
        </p:nvSpPr>
        <p:spPr/>
        <p:txBody>
          <a:bodyPr/>
          <a:lstStyle/>
          <a:p>
            <a:r>
              <a:rPr lang="en-US" dirty="0"/>
              <a:t>ACME broadened the list of companies it put through the screen to include:</a:t>
            </a:r>
          </a:p>
        </p:txBody>
      </p:sp>
      <p:sp>
        <p:nvSpPr>
          <p:cNvPr id="5" name="TextBox 4">
            <a:extLst>
              <a:ext uri="{FF2B5EF4-FFF2-40B4-BE49-F238E27FC236}">
                <a16:creationId xmlns:a16="http://schemas.microsoft.com/office/drawing/2014/main" id="{FFB97C46-AA9C-0335-6006-44F1B6E8E11F}"/>
              </a:ext>
            </a:extLst>
          </p:cNvPr>
          <p:cNvSpPr txBox="1"/>
          <p:nvPr/>
        </p:nvSpPr>
        <p:spPr>
          <a:xfrm>
            <a:off x="2210269" y="3692804"/>
            <a:ext cx="4796634" cy="277064"/>
          </a:xfrm>
          <a:prstGeom prst="rect">
            <a:avLst/>
          </a:prstGeom>
          <a:solidFill>
            <a:schemeClr val="accent1">
              <a:lumMod val="20000"/>
              <a:lumOff val="80000"/>
            </a:schemeClr>
          </a:solidFill>
          <a:ln>
            <a:solidFill>
              <a:schemeClr val="tx1"/>
            </a:solidFill>
          </a:ln>
        </p:spPr>
        <p:txBody>
          <a:bodyPr vert="horz" wrap="none" lIns="45720" tIns="45720" rIns="45720" bIns="45720" rtlCol="0" anchor="ctr">
            <a:spAutoFit/>
          </a:bodyPr>
          <a:lstStyle/>
          <a:p>
            <a:pPr algn="ctr">
              <a:lnSpc>
                <a:spcPct val="85000"/>
              </a:lnSpc>
            </a:pPr>
            <a:r>
              <a:rPr lang="en-US" sz="1400" i="1"/>
              <a:t>None of these companies sufficiently meets the screening criteria</a:t>
            </a:r>
          </a:p>
        </p:txBody>
      </p:sp>
    </p:spTree>
    <p:extLst>
      <p:ext uri="{BB962C8B-B14F-4D97-AF65-F5344CB8AC3E}">
        <p14:creationId xmlns:p14="http://schemas.microsoft.com/office/powerpoint/2010/main" val="35606082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04A95F3-2838-F73E-2E9C-DA1FC4A881E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657555" y="5057707"/>
            <a:ext cx="4818296" cy="1782954"/>
          </a:xfrm>
          <a:prstGeom prst="rect">
            <a:avLst/>
          </a:prstGeom>
        </p:spPr>
      </p:pic>
      <p:sp>
        <p:nvSpPr>
          <p:cNvPr id="2" name="Footer Placeholder 1">
            <a:extLst>
              <a:ext uri="{FF2B5EF4-FFF2-40B4-BE49-F238E27FC236}">
                <a16:creationId xmlns:a16="http://schemas.microsoft.com/office/drawing/2014/main" id="{8B4E9C8D-BCBF-4D94-F510-DA276B92A10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7DE127B-2B5E-AC45-8678-D8289A28FCB8}"/>
              </a:ext>
            </a:extLst>
          </p:cNvPr>
          <p:cNvSpPr>
            <a:spLocks noGrp="1"/>
          </p:cNvSpPr>
          <p:nvPr>
            <p:ph type="title"/>
          </p:nvPr>
        </p:nvSpPr>
        <p:spPr/>
        <p:txBody>
          <a:bodyPr/>
          <a:lstStyle/>
          <a:p>
            <a:r>
              <a:rPr lang="en-US" dirty="0" err="1"/>
              <a:t>Plutos</a:t>
            </a:r>
            <a:r>
              <a:rPr lang="en-US" dirty="0"/>
              <a:t>’ peer group would tilt slightly more towards Critical Infrastructure and Consulting if Kyndryl were removed from the mix</a:t>
            </a:r>
          </a:p>
        </p:txBody>
      </p:sp>
      <p:sp>
        <p:nvSpPr>
          <p:cNvPr id="8" name="TextBox 7">
            <a:extLst>
              <a:ext uri="{FF2B5EF4-FFF2-40B4-BE49-F238E27FC236}">
                <a16:creationId xmlns:a16="http://schemas.microsoft.com/office/drawing/2014/main" id="{7805FA84-0946-0298-1B7A-B5EA57A45CB1}"/>
              </a:ext>
            </a:extLst>
          </p:cNvPr>
          <p:cNvSpPr txBox="1"/>
          <p:nvPr/>
        </p:nvSpPr>
        <p:spPr>
          <a:xfrm>
            <a:off x="4842156" y="1283672"/>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 Group (n=15)</a:t>
            </a:r>
          </a:p>
        </p:txBody>
      </p:sp>
      <p:graphicFrame>
        <p:nvGraphicFramePr>
          <p:cNvPr id="11" name="Table 10">
            <a:extLst>
              <a:ext uri="{FF2B5EF4-FFF2-40B4-BE49-F238E27FC236}">
                <a16:creationId xmlns:a16="http://schemas.microsoft.com/office/drawing/2014/main" id="{B66491E8-2B70-F117-3BCD-C5CAE3783CAB}"/>
              </a:ext>
            </a:extLst>
          </p:cNvPr>
          <p:cNvGraphicFramePr>
            <a:graphicFrameLocks noGrp="1"/>
          </p:cNvGraphicFramePr>
          <p:nvPr>
            <p:extLst>
              <p:ext uri="{D42A27DB-BD31-4B8C-83A1-F6EECF244321}">
                <p14:modId xmlns:p14="http://schemas.microsoft.com/office/powerpoint/2010/main" val="518737561"/>
              </p:ext>
            </p:extLst>
          </p:nvPr>
        </p:nvGraphicFramePr>
        <p:xfrm>
          <a:off x="915594" y="1451136"/>
          <a:ext cx="2974414" cy="3584984"/>
        </p:xfrm>
        <a:graphic>
          <a:graphicData uri="http://schemas.openxmlformats.org/drawingml/2006/table">
            <a:tbl>
              <a:tblPr/>
              <a:tblGrid>
                <a:gridCol w="962734">
                  <a:extLst>
                    <a:ext uri="{9D8B030D-6E8A-4147-A177-3AD203B41FA5}">
                      <a16:colId xmlns:a16="http://schemas.microsoft.com/office/drawing/2014/main" val="1580081404"/>
                    </a:ext>
                  </a:extLst>
                </a:gridCol>
                <a:gridCol w="640080">
                  <a:extLst>
                    <a:ext uri="{9D8B030D-6E8A-4147-A177-3AD203B41FA5}">
                      <a16:colId xmlns:a16="http://schemas.microsoft.com/office/drawing/2014/main" val="4051440281"/>
                    </a:ext>
                  </a:extLst>
                </a:gridCol>
                <a:gridCol w="731520">
                  <a:extLst>
                    <a:ext uri="{9D8B030D-6E8A-4147-A177-3AD203B41FA5}">
                      <a16:colId xmlns:a16="http://schemas.microsoft.com/office/drawing/2014/main" val="3873922838"/>
                    </a:ext>
                  </a:extLst>
                </a:gridCol>
                <a:gridCol w="640080">
                  <a:extLst>
                    <a:ext uri="{9D8B030D-6E8A-4147-A177-3AD203B41FA5}">
                      <a16:colId xmlns:a16="http://schemas.microsoft.com/office/drawing/2014/main" val="3911719177"/>
                    </a:ext>
                  </a:extLst>
                </a:gridCol>
              </a:tblGrid>
              <a:tr h="422663">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46340995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2726622385"/>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214304150"/>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2362820788"/>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FD7D7"/>
                    </a:solidFill>
                  </a:tcPr>
                </a:tc>
                <a:extLst>
                  <a:ext uri="{0D108BD9-81ED-4DB2-BD59-A6C34878D82A}">
                    <a16:rowId xmlns:a16="http://schemas.microsoft.com/office/drawing/2014/main" val="3755561633"/>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noFill/>
                  </a:tcPr>
                </a:tc>
                <a:extLst>
                  <a:ext uri="{0D108BD9-81ED-4DB2-BD59-A6C34878D82A}">
                    <a16:rowId xmlns:a16="http://schemas.microsoft.com/office/drawing/2014/main" val="419362985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41476020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196638559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29991803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noFill/>
                  </a:tcPr>
                </a:tc>
                <a:extLst>
                  <a:ext uri="{0D108BD9-81ED-4DB2-BD59-A6C34878D82A}">
                    <a16:rowId xmlns:a16="http://schemas.microsoft.com/office/drawing/2014/main" val="2867474206"/>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420027048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351579997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9172150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noFill/>
                  </a:tcPr>
                </a:tc>
                <a:extLst>
                  <a:ext uri="{0D108BD9-81ED-4DB2-BD59-A6C34878D82A}">
                    <a16:rowId xmlns:a16="http://schemas.microsoft.com/office/drawing/2014/main" val="215094989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46738110"/>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152878">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graphicFrame>
        <p:nvGraphicFramePr>
          <p:cNvPr id="13" name="Table 12">
            <a:extLst>
              <a:ext uri="{FF2B5EF4-FFF2-40B4-BE49-F238E27FC236}">
                <a16:creationId xmlns:a16="http://schemas.microsoft.com/office/drawing/2014/main" id="{D1EB550F-F840-1C43-FFD3-97326C49E2A9}"/>
              </a:ext>
            </a:extLst>
          </p:cNvPr>
          <p:cNvGraphicFramePr>
            <a:graphicFrameLocks noGrp="1"/>
          </p:cNvGraphicFramePr>
          <p:nvPr>
            <p:extLst>
              <p:ext uri="{D42A27DB-BD31-4B8C-83A1-F6EECF244321}">
                <p14:modId xmlns:p14="http://schemas.microsoft.com/office/powerpoint/2010/main" val="2658863670"/>
              </p:ext>
            </p:extLst>
          </p:nvPr>
        </p:nvGraphicFramePr>
        <p:xfrm>
          <a:off x="5093251" y="1565330"/>
          <a:ext cx="2971800" cy="3424936"/>
        </p:xfrm>
        <a:graphic>
          <a:graphicData uri="http://schemas.openxmlformats.org/drawingml/2006/table">
            <a:tbl>
              <a:tblPr/>
              <a:tblGrid>
                <a:gridCol w="960120">
                  <a:extLst>
                    <a:ext uri="{9D8B030D-6E8A-4147-A177-3AD203B41FA5}">
                      <a16:colId xmlns:a16="http://schemas.microsoft.com/office/drawing/2014/main" val="1439108807"/>
                    </a:ext>
                  </a:extLst>
                </a:gridCol>
                <a:gridCol w="640080">
                  <a:extLst>
                    <a:ext uri="{9D8B030D-6E8A-4147-A177-3AD203B41FA5}">
                      <a16:colId xmlns:a16="http://schemas.microsoft.com/office/drawing/2014/main" val="2183462360"/>
                    </a:ext>
                  </a:extLst>
                </a:gridCol>
                <a:gridCol w="731520">
                  <a:extLst>
                    <a:ext uri="{9D8B030D-6E8A-4147-A177-3AD203B41FA5}">
                      <a16:colId xmlns:a16="http://schemas.microsoft.com/office/drawing/2014/main" val="1136581877"/>
                    </a:ext>
                  </a:extLst>
                </a:gridCol>
                <a:gridCol w="640080">
                  <a:extLst>
                    <a:ext uri="{9D8B030D-6E8A-4147-A177-3AD203B41FA5}">
                      <a16:colId xmlns:a16="http://schemas.microsoft.com/office/drawing/2014/main" val="457838467"/>
                    </a:ext>
                  </a:extLst>
                </a:gridCol>
              </a:tblGrid>
              <a:tr h="373657">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411850859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670309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69066103"/>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1396389550"/>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3925788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7243572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8027977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noFill/>
                  </a:tcPr>
                </a:tc>
                <a:extLst>
                  <a:ext uri="{0D108BD9-81ED-4DB2-BD59-A6C34878D82A}">
                    <a16:rowId xmlns:a16="http://schemas.microsoft.com/office/drawing/2014/main" val="2566125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474468131"/>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noFill/>
                  </a:tcPr>
                </a:tc>
                <a:extLst>
                  <a:ext uri="{0D108BD9-81ED-4DB2-BD59-A6C34878D82A}">
                    <a16:rowId xmlns:a16="http://schemas.microsoft.com/office/drawing/2014/main" val="34055872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991745866"/>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noFill/>
                  </a:tcPr>
                </a:tc>
                <a:extLst>
                  <a:ext uri="{0D108BD9-81ED-4DB2-BD59-A6C34878D82A}">
                    <a16:rowId xmlns:a16="http://schemas.microsoft.com/office/drawing/2014/main" val="189105220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22114709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noFill/>
                  </a:tcPr>
                </a:tc>
                <a:extLst>
                  <a:ext uri="{0D108BD9-81ED-4DB2-BD59-A6C34878D82A}">
                    <a16:rowId xmlns:a16="http://schemas.microsoft.com/office/drawing/2014/main" val="356746193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70847005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348877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1898001"/>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$15,730</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$19,076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1.6x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427179996"/>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22783638"/>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$5,911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$6,886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0.9x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971744473"/>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455139"/>
                  </a:ext>
                </a:extLst>
              </a:tr>
              <a:tr h="135152">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450371325"/>
                  </a:ext>
                </a:extLst>
              </a:tr>
            </a:tbl>
          </a:graphicData>
        </a:graphic>
      </p:graphicFrame>
      <p:sp>
        <p:nvSpPr>
          <p:cNvPr id="14" name="TextBox 13">
            <a:extLst>
              <a:ext uri="{FF2B5EF4-FFF2-40B4-BE49-F238E27FC236}">
                <a16:creationId xmlns:a16="http://schemas.microsoft.com/office/drawing/2014/main" id="{19416814-8224-F936-013C-408279BE24BA}"/>
              </a:ext>
            </a:extLst>
          </p:cNvPr>
          <p:cNvSpPr txBox="1"/>
          <p:nvPr/>
        </p:nvSpPr>
        <p:spPr>
          <a:xfrm>
            <a:off x="665806" y="1164904"/>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5" name="Arrow: Right 14">
            <a:extLst>
              <a:ext uri="{FF2B5EF4-FFF2-40B4-BE49-F238E27FC236}">
                <a16:creationId xmlns:a16="http://schemas.microsoft.com/office/drawing/2014/main" id="{B30A6EFD-7CFA-CE9C-CA90-4722E4328640}"/>
              </a:ext>
            </a:extLst>
          </p:cNvPr>
          <p:cNvSpPr/>
          <p:nvPr/>
        </p:nvSpPr>
        <p:spPr>
          <a:xfrm>
            <a:off x="4325704" y="3091006"/>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graphicFrame>
        <p:nvGraphicFramePr>
          <p:cNvPr id="16" name="Table 15">
            <a:extLst>
              <a:ext uri="{FF2B5EF4-FFF2-40B4-BE49-F238E27FC236}">
                <a16:creationId xmlns:a16="http://schemas.microsoft.com/office/drawing/2014/main" id="{2EF1E1A0-60A5-BC58-AA0B-BA7708BB70F0}"/>
              </a:ext>
            </a:extLst>
          </p:cNvPr>
          <p:cNvGraphicFramePr>
            <a:graphicFrameLocks noGrp="1"/>
          </p:cNvGraphicFramePr>
          <p:nvPr>
            <p:extLst>
              <p:ext uri="{D42A27DB-BD31-4B8C-83A1-F6EECF244321}">
                <p14:modId xmlns:p14="http://schemas.microsoft.com/office/powerpoint/2010/main" val="3704521991"/>
              </p:ext>
            </p:extLst>
          </p:nvPr>
        </p:nvGraphicFramePr>
        <p:xfrm>
          <a:off x="3986004" y="2648219"/>
          <a:ext cx="1011253" cy="341376"/>
        </p:xfrm>
        <a:graphic>
          <a:graphicData uri="http://schemas.openxmlformats.org/drawingml/2006/table">
            <a:tbl>
              <a:tblPr/>
              <a:tblGrid>
                <a:gridCol w="1011253">
                  <a:extLst>
                    <a:ext uri="{9D8B030D-6E8A-4147-A177-3AD203B41FA5}">
                      <a16:colId xmlns:a16="http://schemas.microsoft.com/office/drawing/2014/main" val="3932681074"/>
                    </a:ext>
                  </a:extLst>
                </a:gridCol>
              </a:tblGrid>
              <a:tr h="0">
                <a:tc>
                  <a:txBody>
                    <a:bodyPr/>
                    <a:lstStyle/>
                    <a:p>
                      <a:pPr algn="ctr" fontAlgn="b">
                        <a:buNone/>
                      </a:pPr>
                      <a:r>
                        <a:rPr lang="en-US" sz="1000" b="1" i="0" u="none" strike="noStrike">
                          <a:solidFill>
                            <a:srgbClr val="FFFFFF"/>
                          </a:solidFill>
                          <a:effectLst/>
                          <a:latin typeface="Calibri" panose="020F0502020204030204" pitchFamily="34" charset="0"/>
                        </a:rPr>
                        <a:t>Removals (n=1)</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2753272152"/>
                  </a:ext>
                </a:extLst>
              </a:tr>
              <a:tr h="0">
                <a:tc>
                  <a:txBody>
                    <a:bodyPr/>
                    <a:lstStyle/>
                    <a:p>
                      <a:pPr algn="ctr" fontAlgn="b">
                        <a:buNone/>
                      </a:pPr>
                      <a:r>
                        <a:rPr lang="en-US" sz="1000" b="0" i="0" u="none" strike="noStrike">
                          <a:solidFill>
                            <a:srgbClr val="000000"/>
                          </a:solidFill>
                          <a:effectLst/>
                          <a:latin typeface="Calibri" panose="020F0502020204030204" pitchFamily="34" charset="0"/>
                        </a:rPr>
                        <a:t>Kyndryl</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extLst>
                  <a:ext uri="{0D108BD9-81ED-4DB2-BD59-A6C34878D82A}">
                    <a16:rowId xmlns:a16="http://schemas.microsoft.com/office/drawing/2014/main" val="984723978"/>
                  </a:ext>
                </a:extLst>
              </a:tr>
            </a:tbl>
          </a:graphicData>
        </a:graphic>
      </p:graphicFrame>
      <p:pic>
        <p:nvPicPr>
          <p:cNvPr id="17" name="Picture 16">
            <a:extLst>
              <a:ext uri="{FF2B5EF4-FFF2-40B4-BE49-F238E27FC236}">
                <a16:creationId xmlns:a16="http://schemas.microsoft.com/office/drawing/2014/main" id="{CB0A5A2C-4649-9538-5BC1-624B7FB0B33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36573" y="5142747"/>
            <a:ext cx="4657243" cy="1723359"/>
          </a:xfrm>
          <a:prstGeom prst="rect">
            <a:avLst/>
          </a:prstGeom>
        </p:spPr>
      </p:pic>
      <p:sp>
        <p:nvSpPr>
          <p:cNvPr id="19" name="TextBox 18">
            <a:extLst>
              <a:ext uri="{FF2B5EF4-FFF2-40B4-BE49-F238E27FC236}">
                <a16:creationId xmlns:a16="http://schemas.microsoft.com/office/drawing/2014/main" id="{C16A8B26-0A13-AA71-FC3C-59ABF74F7909}"/>
              </a:ext>
            </a:extLst>
          </p:cNvPr>
          <p:cNvSpPr txBox="1"/>
          <p:nvPr/>
        </p:nvSpPr>
        <p:spPr>
          <a:xfrm>
            <a:off x="234266" y="5134219"/>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Peers Segment Mix</a:t>
            </a:r>
          </a:p>
        </p:txBody>
      </p:sp>
      <p:sp>
        <p:nvSpPr>
          <p:cNvPr id="20" name="TextBox 19">
            <a:extLst>
              <a:ext uri="{FF2B5EF4-FFF2-40B4-BE49-F238E27FC236}">
                <a16:creationId xmlns:a16="http://schemas.microsoft.com/office/drawing/2014/main" id="{4DAAE9A9-C37F-4FB8-FF11-749C74F8C8E8}"/>
              </a:ext>
            </a:extLst>
          </p:cNvPr>
          <p:cNvSpPr txBox="1"/>
          <p:nvPr/>
        </p:nvSpPr>
        <p:spPr>
          <a:xfrm>
            <a:off x="4903851" y="5147793"/>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Peers Segment Mix</a:t>
            </a:r>
          </a:p>
        </p:txBody>
      </p:sp>
      <p:sp>
        <p:nvSpPr>
          <p:cNvPr id="21" name="Arrow: Right 20">
            <a:extLst>
              <a:ext uri="{FF2B5EF4-FFF2-40B4-BE49-F238E27FC236}">
                <a16:creationId xmlns:a16="http://schemas.microsoft.com/office/drawing/2014/main" id="{037D8AF1-5C11-BCB5-FD4B-BB23AD9D4BC2}"/>
              </a:ext>
            </a:extLst>
          </p:cNvPr>
          <p:cNvSpPr/>
          <p:nvPr/>
        </p:nvSpPr>
        <p:spPr>
          <a:xfrm>
            <a:off x="4344754" y="5666762"/>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90054" name="acme-flag-90054"/>
          <p:cNvSpPr/>
          <p:nvPr/>
        </p:nvSpPr>
        <p:spPr>
          <a:xfrm>
            <a:off x="915594" y="1451136"/>
            <a:ext cx="2974414" cy="3584984"/>
          </a:xfrm>
          <a:prstGeom prst="rect">
            <a:avLst/>
          </a:prstGeom>
          <a:solidFill>
            <a:srgbClr val="FFD400">
              <a:alpha val="30000"/>
            </a:srgbClr>
          </a:solidFill>
          <a:ln w="19050">
            <a:solidFill>
              <a:srgbClr val="E80000"/>
            </a:solidFill>
          </a:ln>
        </p:spPr>
        <p:txBody>
          <a:bodyPr/>
          <a:lstStyle/>
          <a:p/>
        </p:txBody>
      </p:sp>
      <p:sp>
        <p:nvSpPr>
          <p:cNvPr id="90055" name="acme-flag-90055"/>
          <p:cNvSpPr/>
          <p:nvPr/>
        </p:nvSpPr>
        <p:spPr>
          <a:xfrm>
            <a:off x="915594" y="1451136"/>
            <a:ext cx="2974414" cy="3584984"/>
          </a:xfrm>
          <a:prstGeom prst="rect">
            <a:avLst/>
          </a:prstGeom>
          <a:solidFill>
            <a:srgbClr val="FFD400">
              <a:alpha val="30000"/>
            </a:srgbClr>
          </a:solidFill>
          <a:ln w="19050">
            <a:solidFill>
              <a:srgbClr val="E80000"/>
            </a:solidFill>
          </a:ln>
        </p:spPr>
        <p:txBody>
          <a:bodyPr/>
          <a:lstStyle/>
          <a:p/>
        </p:txBody>
      </p:sp>
      <p:sp>
        <p:nvSpPr>
          <p:cNvPr id="90056" name="acme-flag-90056"/>
          <p:cNvSpPr/>
          <p:nvPr/>
        </p:nvSpPr>
        <p:spPr>
          <a:xfrm>
            <a:off x="5093251" y="1565330"/>
            <a:ext cx="2971800" cy="3424936"/>
          </a:xfrm>
          <a:prstGeom prst="rect">
            <a:avLst/>
          </a:prstGeom>
          <a:solidFill>
            <a:srgbClr val="FFD400">
              <a:alpha val="30000"/>
            </a:srgbClr>
          </a:solidFill>
          <a:ln w="19050">
            <a:solidFill>
              <a:srgbClr val="E80000"/>
            </a:solidFill>
          </a:ln>
        </p:spPr>
        <p:txBody>
          <a:bodyPr/>
          <a:lstStyle/>
          <a:p/>
        </p:txBody>
      </p:sp>
      <p:sp>
        <p:nvSpPr>
          <p:cNvPr id="90057" name="acme-flag-90057"/>
          <p:cNvSpPr/>
          <p:nvPr/>
        </p:nvSpPr>
        <p:spPr>
          <a:xfrm>
            <a:off x="5093251" y="1565330"/>
            <a:ext cx="2971800" cy="3424936"/>
          </a:xfrm>
          <a:prstGeom prst="rect">
            <a:avLst/>
          </a:prstGeom>
          <a:solidFill>
            <a:srgbClr val="FFD400">
              <a:alpha val="30000"/>
            </a:srgbClr>
          </a:solidFill>
          <a:ln w="19050">
            <a:solidFill>
              <a:srgbClr val="E80000"/>
            </a:solidFill>
          </a:ln>
        </p:spPr>
        <p:txBody>
          <a:bodyPr/>
          <a:lstStyle/>
          <a:p/>
        </p:txBody>
      </p:sp>
      <p:sp>
        <p:nvSpPr>
          <p:cNvPr id="90058" name="acme-note-90058"/>
          <p:cNvSpPr txBox="1"/>
          <p:nvPr/>
        </p:nvSpPr>
        <p:spPr>
          <a:xfrm>
            <a:off x="152400" y="5803000"/>
            <a:ext cx="8839200" cy="99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4 brand issues flagged:</a:t>
            </a:r>
          </a:p>
          <a:p>
            <a:r>
              <a:rPr lang="en-US" sz="1000" b="0" dirty="0">
                <a:solidFill>
                  <a:srgbClr val="9B0000"/>
                </a:solidFill>
                <a:latin typeface="Calibri"/>
              </a:rPr>
              <a:t>1. Use "%ile", not "Percentile": Replace "Percentile" with "%ile".</a:t>
            </a:r>
          </a:p>
          <a:p>
            <a:r>
              <a:rPr lang="en-US" sz="1000" b="0" dirty="0">
                <a:solidFill>
                  <a:srgbClr val="9B0000"/>
                </a:solidFill>
                <a:latin typeface="Calibri"/>
              </a:rPr>
              <a:t>2. Use "%ile", not "Percentile": Replace "Percentile" with "%ile".</a:t>
            </a:r>
          </a:p>
          <a:p>
            <a:r>
              <a:rPr lang="en-US" sz="1000" b="0" dirty="0">
                <a:solidFill>
                  <a:srgbClr val="9B0000"/>
                </a:solidFill>
                <a:latin typeface="Calibri"/>
              </a:rPr>
              <a:t>3. Use "%ile", not "Percentile": Replace "Percentile" with "%ile".</a:t>
            </a:r>
          </a:p>
          <a:p>
            <a:r>
              <a:rPr lang="en-US" sz="1000" b="0" dirty="0">
                <a:solidFill>
                  <a:srgbClr val="9B0000"/>
                </a:solidFill>
                <a:latin typeface="Calibri"/>
              </a:rPr>
              <a:t>4. Use "%ile", not "Percentile": Replace "Percentile" with "%ile".</a:t>
            </a:r>
          </a:p>
        </p:txBody>
      </p:sp>
    </p:spTree>
    <p:extLst>
      <p:ext uri="{BB962C8B-B14F-4D97-AF65-F5344CB8AC3E}">
        <p14:creationId xmlns:p14="http://schemas.microsoft.com/office/powerpoint/2010/main" val="346248862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2024 Farient Advisors_Rev 3 TEST ONLY">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6350">
          <a:solidFill>
            <a:schemeClr val="tx1"/>
          </a:solidFill>
        </a:ln>
      </a:spPr>
      <a:bodyPr vert="horz" wrap="none" lIns="45720" tIns="45720" rIns="45720" bIns="45720" rtlCol="0" anchor="ctr">
        <a:spAutoFit/>
      </a:bodyPr>
      <a:lstStyle>
        <a:defPPr algn="ctr">
          <a:lnSpc>
            <a:spcPct val="85000"/>
          </a:lnSpc>
          <a:defRPr sz="1400" i="1" dirty="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6350"/>
      </a:spPr>
      <a:bodyPr/>
      <a:lstStyle/>
      <a:style>
        <a:lnRef idx="1">
          <a:schemeClr val="dk1"/>
        </a:lnRef>
        <a:fillRef idx="0">
          <a:schemeClr val="dk1"/>
        </a:fillRef>
        <a:effectRef idx="0">
          <a:schemeClr val="dk1"/>
        </a:effectRef>
        <a:fontRef idx="minor">
          <a:schemeClr val="tx1"/>
        </a:fontRef>
      </a:style>
    </a:lnDef>
    <a:txDef>
      <a:spPr>
        <a:noFill/>
      </a:spPr>
      <a:bodyPr vert="horz" wrap="square" lIns="45720" tIns="45720" rIns="45720" bIns="45720" rtlCol="0" anchor="ctr">
        <a:spAutoFit/>
      </a:bodyPr>
      <a:lstStyle>
        <a:defPPr algn="ctr">
          <a:lnSpc>
            <a:spcPct val="85000"/>
          </a:lnSpc>
          <a:defRPr sz="1400" dirty="0"/>
        </a:defPPr>
      </a:lstStyle>
    </a:txDef>
  </a:objectDefaults>
  <a:extraClrSchemeLst/>
  <a:extLst>
    <a:ext uri="{05A4C25C-085E-4340-85A3-A5531E510DB2}">
      <thm15:themeFamily xmlns:thm15="http://schemas.microsoft.com/office/thememl/2012/main" name="20250515 Farient PowerPoint Template  -  Read-Only" id="{1E5992C5-BD26-4B7A-ACC9-5EDB4A4EB2A5}" vid="{78EA21E3-7583-4F1B-BE43-D58532D13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B684825C2CA60448274693B8A15A795" ma:contentTypeVersion="6" ma:contentTypeDescription="Create a new document." ma:contentTypeScope="" ma:versionID="04ef7d074a108e92322a779622f5b6da">
  <xsd:schema xmlns:xsd="http://www.w3.org/2001/XMLSchema" xmlns:xs="http://www.w3.org/2001/XMLSchema" xmlns:p="http://schemas.microsoft.com/office/2006/metadata/properties" xmlns:ns2="6143a6d9-df45-426f-a460-3a2ff8d00b42" xmlns:ns3="64170087-19d8-4941-bdb3-9ccdd7b63d9f" targetNamespace="http://schemas.microsoft.com/office/2006/metadata/properties" ma:root="true" ma:fieldsID="25628d64d8a342793ab02279a7e67a82" ns2:_="" ns3:_="">
    <xsd:import namespace="6143a6d9-df45-426f-a460-3a2ff8d00b42"/>
    <xsd:import namespace="64170087-19d8-4941-bdb3-9ccdd7b63d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43a6d9-df45-426f-a460-3a2ff8d00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170087-19d8-4941-bdb3-9ccdd7b63d9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BAEBA8C-A544-4DCB-AE37-BB8ED14B733A}">
  <ds:schemaRefs>
    <ds:schemaRef ds:uri="6143a6d9-df45-426f-a460-3a2ff8d00b42"/>
    <ds:schemaRef ds:uri="64170087-19d8-4941-bdb3-9ccdd7b63d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700C7E3-4356-4EFE-B7AB-B6AF087C0D2A}">
  <ds:schemaRef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6143a6d9-df45-426f-a460-3a2ff8d00b42"/>
    <ds:schemaRef ds:uri="http://purl.org/dc/elements/1.1/"/>
    <ds:schemaRef ds:uri="http://purl.org/dc/terms/"/>
    <ds:schemaRef ds:uri="http://purl.org/dc/dcmitype/"/>
    <ds:schemaRef ds:uri="http://schemas.microsoft.com/office/infopath/2007/PartnerControls"/>
    <ds:schemaRef ds:uri="64170087-19d8-4941-bdb3-9ccdd7b63d9f"/>
  </ds:schemaRefs>
</ds:datastoreItem>
</file>

<file path=customXml/itemProps3.xml><?xml version="1.0" encoding="utf-8"?>
<ds:datastoreItem xmlns:ds="http://schemas.openxmlformats.org/officeDocument/2006/customXml" ds:itemID="{B1C5CD68-6BFE-44B9-98DE-D8B3611294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20250515 FA Template</Template>
  <TotalTime>1463</TotalTime>
  <Words>3420</Words>
  <Application>Microsoft Office PowerPoint</Application>
  <PresentationFormat>On-screen Show (4:3)</PresentationFormat>
  <Paragraphs>1124</Paragraphs>
  <Slides>11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Courier New</vt:lpstr>
      <vt:lpstr>Tw Cen MT</vt:lpstr>
      <vt:lpstr>Wingdings</vt:lpstr>
      <vt:lpstr>Wingdings 2</vt:lpstr>
      <vt:lpstr>2024 Farient Advisors_Rev 3 TEST ONLY</vt:lpstr>
      <vt:lpstr>Assessment of Compensation Peers</vt:lpstr>
      <vt:lpstr>Each year, ACME reviews Plutos’ Compensation Peer Group to ensure size, business, and strategic relevance. As part of our process, we addressed how Plutos’ acquisition of PA Consulting might influence Plutos’ peer group</vt:lpstr>
      <vt:lpstr>Plutos’ business profile has evolved with the addition of PA Consulting, which has implications for the peer group screening criteria</vt:lpstr>
      <vt:lpstr>ACME’s industry screen captures companies that provide consulting services, including competitors identified by Plutos and PA Consulting</vt:lpstr>
      <vt:lpstr>As a result, ACME suggests modifying the screening criteria to: (1) include UK-listed companies, and companies that are  Plutos’ and PA’s competitors; (2) require financial viability; and (3) de-emphasize mission-critical businesses</vt:lpstr>
      <vt:lpstr>Plutos’ current peers continue to meet most of the screening criteria; however, DXC and Kyndryl are under financial duress (see next page), and KBR is planning a spin-off</vt:lpstr>
      <vt:lpstr>Kyndryl and DXC rank in the bottom quartile on most financial and market measures, raising questions about the financial viability of these companies for the peer group</vt:lpstr>
      <vt:lpstr>KBR announced a spin-off of its Mission Technology Solutions unit, which is expected to close later this year. The surviving entity may be too small to be a viable Plutos peer</vt:lpstr>
      <vt:lpstr>At this juncture, ACME recommends removing Kyndryl in light of its poor business and operational performance, monitoring DXC, given its business fit with Plutos, and monitoring KBR, given that its planned spin-off has not yet occurred</vt:lpstr>
      <vt:lpstr>ACME broadened the list of companies it put through the screen to include:</vt:lpstr>
      <vt:lpstr>Plutos’ peer group would tilt slightly more towards Critical Infrastructure and Consulting if Kyndryl were removed from the mix</vt:lpstr>
    </vt:vector>
  </TitlesOfParts>
  <Manager/>
  <Company/>
  <LinksUpToDate>false</LinksUpToDate>
  <SharedDoc>false</SharedDoc>
  <HyperlinkBase>https://farient.com/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Sachit Jain</dc:creator>
  <dc:description>PowerPoint Template Design By:
TLC Creative Services, Inc.
www.tlccreative.com</dc:description>
  <cp:lastModifiedBy>Milorad Djukovic</cp:lastModifiedBy>
  <cp:revision>9</cp:revision>
  <cp:lastPrinted>2026-03-10T21:58:33Z</cp:lastPrinted>
  <dcterms:created xsi:type="dcterms:W3CDTF">2026-02-10T21:27:18Z</dcterms:created>
  <dcterms:modified xsi:type="dcterms:W3CDTF">2026-06-24T11:02:13Z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0x0101009B684825C2CA60448274693B8A15A795</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