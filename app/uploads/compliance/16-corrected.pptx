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handoutMasterIdLst>
    <p:handoutMasterId r:id="rId39"/>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 id="2247" r:id="rId16"/>
    <p:sldId id="423" r:id="rId17"/>
    <p:sldId id="700" r:id="rId18"/>
    <p:sldId id="2254" r:id="rId19"/>
    <p:sldId id="2231" r:id="rId20"/>
    <p:sldId id="2255" r:id="rId21"/>
    <p:sldId id="2225" r:id="rId22"/>
    <p:sldId id="2164" r:id="rId23"/>
    <p:sldId id="2162" r:id="rId24"/>
    <p:sldId id="2163" r:id="rId25"/>
    <p:sldId id="2250" r:id="rId26"/>
    <p:sldId id="2262" r:id="rId27"/>
    <p:sldId id="2263" r:id="rId28"/>
    <p:sldId id="2234" r:id="rId29"/>
    <p:sldId id="2249" r:id="rId30"/>
    <p:sldId id="2226" r:id="rId31"/>
    <p:sldId id="2227" r:id="rId32"/>
    <p:sldId id="2228" r:id="rId33"/>
    <p:sldId id="2229" r:id="rId34"/>
    <p:sldId id="2230" r:id="rId35"/>
    <p:sldId id="2252" r:id="rId36"/>
    <p:sldId id="2259" r:id="rId37"/>
  </p:sldIdLst>
  <p:sldSz cx="9144000" cy="6858000" type="screen4x3"/>
  <p:notesSz cx="7010400" cy="9296400"/>
  <p:custDataLst>
    <p:tags r:id="rId40"/>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200593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18</a:t>
            </a:fld>
            <a:endParaRPr lang="en-US"/>
          </a:p>
        </p:txBody>
      </p:sp>
    </p:spTree>
    <p:extLst>
      <p:ext uri="{BB962C8B-B14F-4D97-AF65-F5344CB8AC3E}">
        <p14:creationId xmlns:p14="http://schemas.microsoft.com/office/powerpoint/2010/main" val="40363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22</a:t>
            </a:fld>
            <a:endParaRPr lang="en-US"/>
          </a:p>
        </p:txBody>
      </p:sp>
    </p:spTree>
    <p:extLst>
      <p:ext uri="{BB962C8B-B14F-4D97-AF65-F5344CB8AC3E}">
        <p14:creationId xmlns:p14="http://schemas.microsoft.com/office/powerpoint/2010/main" val="113352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4624886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744FBE-C1A2-C724-5520-191F997206F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A14C0C5D-B207-56E5-512D-4C8BD82E9AE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37459181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3C699FE-F6A3-DF4F-E542-1DCBA19B2E1D}"/>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1B9611E8-59AC-4D95-8DA9-7B540CD842F5}"/>
              </a:ext>
            </a:extLst>
          </p:cNvPr>
          <p:cNvSpPr>
            <a:spLocks noGrp="1"/>
          </p:cNvSpPr>
          <p:nvPr>
            <p:ph type="title"/>
          </p:nvPr>
        </p:nvSpPr>
        <p:spPr/>
        <p:txBody>
          <a:bodyPr/>
          <a:lstStyle/>
          <a:p>
            <a:r>
              <a:rPr lang="en-US" dirty="0" err="1"/>
              <a:t>Plutos</a:t>
            </a:r>
            <a:r>
              <a:rPr lang="en-US" dirty="0"/>
              <a:t>’ Compensation Peer group is used for a variety of analytical applications</a:t>
            </a:r>
          </a:p>
        </p:txBody>
      </p:sp>
      <p:sp>
        <p:nvSpPr>
          <p:cNvPr id="6" name="TextBox 5">
            <a:extLst>
              <a:ext uri="{FF2B5EF4-FFF2-40B4-BE49-F238E27FC236}">
                <a16:creationId xmlns:a16="http://schemas.microsoft.com/office/drawing/2014/main" id="{AA4C5BF6-6A67-5A63-834A-B5969CB04A2C}"/>
              </a:ext>
            </a:extLst>
          </p:cNvPr>
          <p:cNvSpPr txBox="1"/>
          <p:nvPr/>
        </p:nvSpPr>
        <p:spPr>
          <a:xfrm>
            <a:off x="2905776" y="1336136"/>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err="1"/>
              <a:t>Plutos</a:t>
            </a:r>
            <a:r>
              <a:rPr lang="en-US" sz="1400" b="1" dirty="0"/>
              <a:t> Comparator Group Framework</a:t>
            </a:r>
          </a:p>
        </p:txBody>
      </p:sp>
      <p:graphicFrame>
        <p:nvGraphicFramePr>
          <p:cNvPr id="7" name="Table 6">
            <a:extLst>
              <a:ext uri="{FF2B5EF4-FFF2-40B4-BE49-F238E27FC236}">
                <a16:creationId xmlns:a16="http://schemas.microsoft.com/office/drawing/2014/main" id="{D5C58EC4-1955-7148-4B92-53AE9B130E30}"/>
              </a:ext>
            </a:extLst>
          </p:cNvPr>
          <p:cNvGraphicFramePr>
            <a:graphicFrameLocks noGrp="1"/>
          </p:cNvGraphicFramePr>
          <p:nvPr>
            <p:extLst>
              <p:ext uri="{D42A27DB-BD31-4B8C-83A1-F6EECF244321}">
                <p14:modId xmlns:p14="http://schemas.microsoft.com/office/powerpoint/2010/main" val="537328818"/>
              </p:ext>
            </p:extLst>
          </p:nvPr>
        </p:nvGraphicFramePr>
        <p:xfrm>
          <a:off x="362460" y="1670934"/>
          <a:ext cx="8419079" cy="2026920"/>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3200937497"/>
                    </a:ext>
                  </a:extLst>
                </a:gridCol>
                <a:gridCol w="2103120">
                  <a:extLst>
                    <a:ext uri="{9D8B030D-6E8A-4147-A177-3AD203B41FA5}">
                      <a16:colId xmlns:a16="http://schemas.microsoft.com/office/drawing/2014/main" val="2954239048"/>
                    </a:ext>
                  </a:extLst>
                </a:gridCol>
                <a:gridCol w="738119">
                  <a:extLst>
                    <a:ext uri="{9D8B030D-6E8A-4147-A177-3AD203B41FA5}">
                      <a16:colId xmlns:a16="http://schemas.microsoft.com/office/drawing/2014/main" val="3590747133"/>
                    </a:ext>
                  </a:extLst>
                </a:gridCol>
                <a:gridCol w="914400">
                  <a:extLst>
                    <a:ext uri="{9D8B030D-6E8A-4147-A177-3AD203B41FA5}">
                      <a16:colId xmlns:a16="http://schemas.microsoft.com/office/drawing/2014/main" val="1267910357"/>
                    </a:ext>
                  </a:extLst>
                </a:gridCol>
                <a:gridCol w="914400">
                  <a:extLst>
                    <a:ext uri="{9D8B030D-6E8A-4147-A177-3AD203B41FA5}">
                      <a16:colId xmlns:a16="http://schemas.microsoft.com/office/drawing/2014/main" val="3192940460"/>
                    </a:ext>
                  </a:extLst>
                </a:gridCol>
                <a:gridCol w="914400">
                  <a:extLst>
                    <a:ext uri="{9D8B030D-6E8A-4147-A177-3AD203B41FA5}">
                      <a16:colId xmlns:a16="http://schemas.microsoft.com/office/drawing/2014/main" val="545235574"/>
                    </a:ext>
                  </a:extLst>
                </a:gridCol>
                <a:gridCol w="914400">
                  <a:extLst>
                    <a:ext uri="{9D8B030D-6E8A-4147-A177-3AD203B41FA5}">
                      <a16:colId xmlns:a16="http://schemas.microsoft.com/office/drawing/2014/main" val="2401771797"/>
                    </a:ext>
                  </a:extLst>
                </a:gridCol>
                <a:gridCol w="914400">
                  <a:extLst>
                    <a:ext uri="{9D8B030D-6E8A-4147-A177-3AD203B41FA5}">
                      <a16:colId xmlns:a16="http://schemas.microsoft.com/office/drawing/2014/main" val="2210728792"/>
                    </a:ext>
                  </a:extLst>
                </a:gridCol>
              </a:tblGrid>
              <a:tr h="0">
                <a:tc rowSpan="2">
                  <a:txBody>
                    <a:bodyPr/>
                    <a:lstStyle/>
                    <a:p>
                      <a:r>
                        <a:rPr lang="en-US" sz="1100" b="1">
                          <a:solidFill>
                            <a:schemeClr val="bg1"/>
                          </a:solidFill>
                          <a:latin typeface="+mn-lt"/>
                        </a:rPr>
                        <a:t>Comparator</a:t>
                      </a:r>
                    </a:p>
                  </a:txBody>
                  <a:tcPr marL="45720" marR="45720"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r>
                        <a:rPr lang="en-US" sz="1100" b="1">
                          <a:solidFill>
                            <a:schemeClr val="bg1"/>
                          </a:solidFill>
                          <a:latin typeface="+mn-lt"/>
                        </a:rPr>
                        <a:t>Description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pPr algn="ctr"/>
                      <a:r>
                        <a:rPr lang="en-US" sz="1100" b="1">
                          <a:solidFill>
                            <a:schemeClr val="bg1"/>
                          </a:solidFill>
                          <a:latin typeface="+mn-lt"/>
                        </a:rPr>
                        <a:t># Companies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gridSpan="5">
                  <a:txBody>
                    <a:bodyPr/>
                    <a:lstStyle/>
                    <a:p>
                      <a:pPr algn="ctr"/>
                      <a:r>
                        <a:rPr lang="en-US" sz="1100" b="1">
                          <a:solidFill>
                            <a:schemeClr val="bg1"/>
                          </a:solidFill>
                          <a:latin typeface="+mn-lt"/>
                        </a:rPr>
                        <a:t>Application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pPr algn="ctr"/>
                      <a:endParaRPr lang="en-US" b="1">
                        <a:solidFill>
                          <a:schemeClr val="bg1"/>
                        </a:solidFill>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011107"/>
                  </a:ext>
                </a:extLst>
              </a:tr>
              <a:tr h="0">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a:txBody>
                    <a:bodyPr/>
                    <a:lstStyle/>
                    <a:p>
                      <a:pPr algn="ctr"/>
                      <a:r>
                        <a:rPr lang="en-US" sz="1100" b="1">
                          <a:solidFill>
                            <a:schemeClr val="bg1"/>
                          </a:solidFill>
                          <a:latin typeface="+mn-lt"/>
                        </a:rPr>
                        <a:t>Pay Levels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Pay Practices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Performance/Goal-Setting</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PvP Table</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n-lt"/>
                        </a:rPr>
                        <a:t>10-K Graph</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9748740"/>
                  </a:ext>
                </a:extLst>
              </a:tr>
              <a:tr h="0">
                <a:tc>
                  <a:txBody>
                    <a:bodyPr/>
                    <a:lstStyle/>
                    <a:p>
                      <a:r>
                        <a:rPr lang="en-US" sz="1100" b="1">
                          <a:latin typeface="+mn-lt"/>
                        </a:rPr>
                        <a:t>Compensation Peers</a:t>
                      </a:r>
                    </a:p>
                  </a:txBody>
                  <a:tcPr marL="45720" marR="45720" marT="18288" marB="18288">
                    <a:lnL w="19050" cap="flat" cmpd="sng" algn="ctr">
                      <a:solidFill>
                        <a:schemeClr val="accent4"/>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Competitors for talent and capital based on application of tailored screening criteria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algn="ctr"/>
                      <a:r>
                        <a:rPr lang="en-US" sz="1100">
                          <a:latin typeface="+mn-lt"/>
                        </a:rPr>
                        <a:t>16</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mn-lt"/>
                        </a:rPr>
                        <a:t>(CEO, CFO)</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3775634214"/>
                  </a:ext>
                </a:extLst>
              </a:tr>
              <a:tr h="0">
                <a:tc>
                  <a:txBody>
                    <a:bodyPr/>
                    <a:lstStyle/>
                    <a:p>
                      <a:r>
                        <a:rPr lang="en-US" sz="1100" b="1">
                          <a:latin typeface="+mn-lt"/>
                        </a:rPr>
                        <a:t>WTW Survey</a:t>
                      </a:r>
                    </a:p>
                  </a:txBody>
                  <a:tcPr marL="45720" marR="45720" marT="18288" marB="18288">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mn-lt"/>
                        </a:rPr>
                        <a:t>Willis Towers</a:t>
                      </a:r>
                      <a:r>
                        <a:rPr lang="en-US" sz="1100" b="0" baseline="0">
                          <a:solidFill>
                            <a:schemeClr val="tx1"/>
                          </a:solidFill>
                          <a:latin typeface="+mn-lt"/>
                        </a:rPr>
                        <a:t> </a:t>
                      </a:r>
                      <a:r>
                        <a:rPr lang="en-US" sz="1100" b="0">
                          <a:solidFill>
                            <a:schemeClr val="tx1"/>
                          </a:solidFill>
                          <a:latin typeface="+mn-lt"/>
                        </a:rPr>
                        <a:t>Watson</a:t>
                      </a:r>
                      <a:r>
                        <a:rPr lang="en-US" sz="1100">
                          <a:latin typeface="+mn-lt"/>
                        </a:rPr>
                        <a:t> </a:t>
                      </a:r>
                      <a:r>
                        <a:rPr lang="en-US" sz="1100" kern="1200">
                          <a:solidFill>
                            <a:schemeClr val="tx1"/>
                          </a:solidFill>
                          <a:latin typeface="+mn-lt"/>
                          <a:ea typeface="+mn-ea"/>
                          <a:cs typeface="+mn-cs"/>
                        </a:rPr>
                        <a:t>General Industry Executive Compensation Survey – North America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a:r>
                        <a:rPr lang="en-US" sz="1100">
                          <a:latin typeface="+mn-lt"/>
                        </a:rPr>
                        <a:t>~500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24406177"/>
                  </a:ext>
                </a:extLst>
              </a:tr>
              <a:tr h="0">
                <a:tc>
                  <a:txBody>
                    <a:bodyPr/>
                    <a:lstStyle/>
                    <a:p>
                      <a:r>
                        <a:rPr lang="en-US" sz="1100" b="1">
                          <a:latin typeface="+mn-lt"/>
                        </a:rPr>
                        <a:t>S&amp;P</a:t>
                      </a:r>
                    </a:p>
                  </a:txBody>
                  <a:tcPr marL="45720" marR="45720"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S&amp;P 500 Index</a:t>
                      </a:r>
                    </a:p>
                    <a:p>
                      <a:r>
                        <a:rPr lang="en-US" sz="1100">
                          <a:latin typeface="+mn-lt"/>
                        </a:rPr>
                        <a:t>S&amp;P 1500 IT Consulting &amp; Services</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100">
                          <a:latin typeface="+mn-lt"/>
                        </a:rPr>
                        <a:t>500</a:t>
                      </a:r>
                    </a:p>
                    <a:p>
                      <a:pPr algn="ctr"/>
                      <a:r>
                        <a:rPr lang="en-US" sz="1100">
                          <a:latin typeface="+mn-lt"/>
                        </a:rPr>
                        <a:t>1500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mn-lt"/>
                      </a:endParaRP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 </a:t>
                      </a:r>
                    </a:p>
                    <a:p>
                      <a:pPr marL="0" indent="0" algn="ctr">
                        <a:buFont typeface="Wingdings" panose="05000000000000000000" pitchFamily="2" charset="2"/>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Wingdings 2" panose="05020102010507070707" pitchFamily="18" charset="2"/>
                        </a:rPr>
                        <a:t>P </a:t>
                      </a:r>
                    </a:p>
                  </a:txBody>
                  <a:tcPr marL="45720" marR="45720" marT="18288" marB="18288" anchor="ctr">
                    <a:lnL w="6350" cap="flat" cmpd="sng" algn="ctr">
                      <a:no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357837"/>
                  </a:ext>
                </a:extLst>
              </a:tr>
            </a:tbl>
          </a:graphicData>
        </a:graphic>
      </p:graphicFrame>
      <p:sp>
        <p:nvSpPr>
          <p:cNvPr id="4" name="TextBox 3">
            <a:extLst>
              <a:ext uri="{FF2B5EF4-FFF2-40B4-BE49-F238E27FC236}">
                <a16:creationId xmlns:a16="http://schemas.microsoft.com/office/drawing/2014/main" id="{D8C31AFB-A62B-5361-2FDD-F57E35AAA28A}"/>
              </a:ext>
            </a:extLst>
          </p:cNvPr>
          <p:cNvSpPr txBox="1"/>
          <p:nvPr/>
        </p:nvSpPr>
        <p:spPr>
          <a:xfrm flipH="1">
            <a:off x="7370061" y="1433889"/>
            <a:ext cx="1411478" cy="224292"/>
          </a:xfrm>
          <a:prstGeom prst="rect">
            <a:avLst/>
          </a:prstGeom>
          <a:noFill/>
        </p:spPr>
        <p:txBody>
          <a:bodyPr vert="horz" wrap="square" lIns="45720" tIns="45720" rIns="45720" bIns="45720" rtlCol="0" anchor="ctr">
            <a:spAutoFit/>
          </a:bodyPr>
          <a:lstStyle/>
          <a:p>
            <a:pPr>
              <a:lnSpc>
                <a:spcPct val="85000"/>
              </a:lnSpc>
            </a:pPr>
            <a:r>
              <a:rPr lang="en-US" sz="1000" i="1"/>
              <a:t>Focus of this presentation </a:t>
            </a:r>
          </a:p>
        </p:txBody>
      </p:sp>
      <p:sp>
        <p:nvSpPr>
          <p:cNvPr id="8" name="Rectangle 7">
            <a:extLst>
              <a:ext uri="{FF2B5EF4-FFF2-40B4-BE49-F238E27FC236}">
                <a16:creationId xmlns:a16="http://schemas.microsoft.com/office/drawing/2014/main" id="{1A49B4FF-D2F3-869C-FD30-AC865DA286B2}"/>
              </a:ext>
            </a:extLst>
          </p:cNvPr>
          <p:cNvSpPr/>
          <p:nvPr/>
        </p:nvSpPr>
        <p:spPr>
          <a:xfrm>
            <a:off x="7235593" y="1489698"/>
            <a:ext cx="127973" cy="93625"/>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04265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56392B06-E395-E2A9-0073-2D2024C5B66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For FY25, </a:t>
            </a:r>
            <a:r>
              <a:rPr lang="en-US" dirty="0" err="1"/>
              <a:t>Plutos</a:t>
            </a:r>
            <a:r>
              <a:rPr lang="en-US" dirty="0"/>
              <a:t> rotated its peer group as a result of its CMS spin-off and go-forward strategy</a:t>
            </a:r>
          </a:p>
        </p:txBody>
      </p:sp>
      <p:sp>
        <p:nvSpPr>
          <p:cNvPr id="8" name="TextBox 7"/>
          <p:cNvSpPr txBox="1"/>
          <p:nvPr/>
        </p:nvSpPr>
        <p:spPr>
          <a:xfrm>
            <a:off x="2456546" y="1292489"/>
            <a:ext cx="4123525" cy="307777"/>
          </a:xfrm>
          <a:prstGeom prst="rect">
            <a:avLst/>
          </a:prstGeom>
          <a:noFill/>
        </p:spPr>
        <p:txBody>
          <a:bodyPr wrap="square" rtlCol="0">
            <a:spAutoFit/>
          </a:bodyPr>
          <a:lstStyle/>
          <a:p>
            <a:pPr algn="ctr"/>
            <a:r>
              <a:rPr lang="en-US" sz="1400" b="1" dirty="0" err="1"/>
              <a:t>Plutos</a:t>
            </a:r>
            <a:r>
              <a:rPr lang="en-US" sz="1400" b="1" dirty="0"/>
              <a:t> Proxy Peer Group FY22 to Present</a:t>
            </a:r>
          </a:p>
        </p:txBody>
      </p:sp>
      <p:sp>
        <p:nvSpPr>
          <p:cNvPr id="6" name="Rectangle 5">
            <a:extLst>
              <a:ext uri="{FF2B5EF4-FFF2-40B4-BE49-F238E27FC236}">
                <a16:creationId xmlns:a16="http://schemas.microsoft.com/office/drawing/2014/main" id="{ADD8E2AC-203B-472F-B498-2662623A039C}"/>
              </a:ext>
            </a:extLst>
          </p:cNvPr>
          <p:cNvSpPr/>
          <p:nvPr/>
        </p:nvSpPr>
        <p:spPr bwMode="auto">
          <a:xfrm>
            <a:off x="6867381" y="6106990"/>
            <a:ext cx="196881" cy="105446"/>
          </a:xfrm>
          <a:prstGeom prst="rect">
            <a:avLst/>
          </a:prstGeom>
          <a:solidFill>
            <a:schemeClr val="accent2">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7" name="TextBox 6">
            <a:extLst>
              <a:ext uri="{FF2B5EF4-FFF2-40B4-BE49-F238E27FC236}">
                <a16:creationId xmlns:a16="http://schemas.microsoft.com/office/drawing/2014/main" id="{5AAFF2BF-4F47-4C5B-9A7F-CC46A3432EEB}"/>
              </a:ext>
            </a:extLst>
          </p:cNvPr>
          <p:cNvSpPr txBox="1"/>
          <p:nvPr/>
        </p:nvSpPr>
        <p:spPr>
          <a:xfrm>
            <a:off x="7038985" y="6036603"/>
            <a:ext cx="1750572" cy="246221"/>
          </a:xfrm>
          <a:prstGeom prst="rect">
            <a:avLst/>
          </a:prstGeom>
          <a:noFill/>
        </p:spPr>
        <p:txBody>
          <a:bodyPr wrap="square" rtlCol="0" anchor="ctr">
            <a:spAutoFit/>
          </a:bodyPr>
          <a:lstStyle/>
          <a:p>
            <a:r>
              <a:rPr lang="en-US" sz="1000" i="1"/>
              <a:t>Companies added in that year</a:t>
            </a:r>
          </a:p>
        </p:txBody>
      </p:sp>
      <p:sp>
        <p:nvSpPr>
          <p:cNvPr id="9" name="TextBox 8">
            <a:extLst>
              <a:ext uri="{FF2B5EF4-FFF2-40B4-BE49-F238E27FC236}">
                <a16:creationId xmlns:a16="http://schemas.microsoft.com/office/drawing/2014/main" id="{864BD0BC-112F-1968-45DE-5D8DA62384F6}"/>
              </a:ext>
            </a:extLst>
          </p:cNvPr>
          <p:cNvSpPr txBox="1"/>
          <p:nvPr/>
        </p:nvSpPr>
        <p:spPr>
          <a:xfrm>
            <a:off x="354443" y="5991077"/>
            <a:ext cx="576322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b="0" i="1" u="none" strike="noStrike">
                <a:solidFill>
                  <a:srgbClr val="000000"/>
                </a:solidFill>
                <a:effectLst/>
                <a:latin typeface="Calibri" panose="020F0502020204030204" pitchFamily="34" charset="0"/>
              </a:rPr>
              <a:t>Compan</a:t>
            </a:r>
            <a:r>
              <a:rPr lang="en-US" sz="1000" i="1">
                <a:solidFill>
                  <a:srgbClr val="000000"/>
                </a:solidFill>
                <a:latin typeface="Calibri" panose="020F0502020204030204" pitchFamily="34" charset="0"/>
              </a:rPr>
              <a:t>y previously known as </a:t>
            </a:r>
            <a:r>
              <a:rPr lang="en-US" sz="1000" b="0" i="1" u="none" strike="noStrike">
                <a:solidFill>
                  <a:srgbClr val="000000"/>
                </a:solidFill>
                <a:effectLst/>
                <a:latin typeface="Calibri" panose="020F0502020204030204" pitchFamily="34" charset="0"/>
              </a:rPr>
              <a:t>SNC-Lavalin</a:t>
            </a:r>
          </a:p>
        </p:txBody>
      </p:sp>
      <p:graphicFrame>
        <p:nvGraphicFramePr>
          <p:cNvPr id="11" name="Table 10">
            <a:extLst>
              <a:ext uri="{FF2B5EF4-FFF2-40B4-BE49-F238E27FC236}">
                <a16:creationId xmlns:a16="http://schemas.microsoft.com/office/drawing/2014/main" id="{33BFC4F2-EFA1-7E03-4541-44E3C75256EF}"/>
              </a:ext>
            </a:extLst>
          </p:cNvPr>
          <p:cNvGraphicFramePr>
            <a:graphicFrameLocks noGrp="1"/>
          </p:cNvGraphicFramePr>
          <p:nvPr>
            <p:extLst>
              <p:ext uri="{D42A27DB-BD31-4B8C-83A1-F6EECF244321}">
                <p14:modId xmlns:p14="http://schemas.microsoft.com/office/powerpoint/2010/main" val="988015280"/>
              </p:ext>
            </p:extLst>
          </p:nvPr>
        </p:nvGraphicFramePr>
        <p:xfrm>
          <a:off x="339879" y="1592335"/>
          <a:ext cx="8464243" cy="4373880"/>
        </p:xfrm>
        <a:graphic>
          <a:graphicData uri="http://schemas.openxmlformats.org/drawingml/2006/table">
            <a:tbl>
              <a:tblPr/>
              <a:tblGrid>
                <a:gridCol w="731520">
                  <a:extLst>
                    <a:ext uri="{9D8B030D-6E8A-4147-A177-3AD203B41FA5}">
                      <a16:colId xmlns:a16="http://schemas.microsoft.com/office/drawing/2014/main" val="3846520385"/>
                    </a:ext>
                  </a:extLst>
                </a:gridCol>
                <a:gridCol w="1463040">
                  <a:extLst>
                    <a:ext uri="{9D8B030D-6E8A-4147-A177-3AD203B41FA5}">
                      <a16:colId xmlns:a16="http://schemas.microsoft.com/office/drawing/2014/main" val="3897067108"/>
                    </a:ext>
                  </a:extLst>
                </a:gridCol>
                <a:gridCol w="87389">
                  <a:extLst>
                    <a:ext uri="{9D8B030D-6E8A-4147-A177-3AD203B41FA5}">
                      <a16:colId xmlns:a16="http://schemas.microsoft.com/office/drawing/2014/main" val="2596510373"/>
                    </a:ext>
                  </a:extLst>
                </a:gridCol>
                <a:gridCol w="1463040">
                  <a:extLst>
                    <a:ext uri="{9D8B030D-6E8A-4147-A177-3AD203B41FA5}">
                      <a16:colId xmlns:a16="http://schemas.microsoft.com/office/drawing/2014/main" val="1750889848"/>
                    </a:ext>
                  </a:extLst>
                </a:gridCol>
                <a:gridCol w="126228">
                  <a:extLst>
                    <a:ext uri="{9D8B030D-6E8A-4147-A177-3AD203B41FA5}">
                      <a16:colId xmlns:a16="http://schemas.microsoft.com/office/drawing/2014/main" val="4017723283"/>
                    </a:ext>
                  </a:extLst>
                </a:gridCol>
                <a:gridCol w="1463040">
                  <a:extLst>
                    <a:ext uri="{9D8B030D-6E8A-4147-A177-3AD203B41FA5}">
                      <a16:colId xmlns:a16="http://schemas.microsoft.com/office/drawing/2014/main" val="2846269139"/>
                    </a:ext>
                  </a:extLst>
                </a:gridCol>
                <a:gridCol w="97098">
                  <a:extLst>
                    <a:ext uri="{9D8B030D-6E8A-4147-A177-3AD203B41FA5}">
                      <a16:colId xmlns:a16="http://schemas.microsoft.com/office/drawing/2014/main" val="1423557181"/>
                    </a:ext>
                  </a:extLst>
                </a:gridCol>
                <a:gridCol w="1463040">
                  <a:extLst>
                    <a:ext uri="{9D8B030D-6E8A-4147-A177-3AD203B41FA5}">
                      <a16:colId xmlns:a16="http://schemas.microsoft.com/office/drawing/2014/main" val="1735599158"/>
                    </a:ext>
                  </a:extLst>
                </a:gridCol>
                <a:gridCol w="106808">
                  <a:extLst>
                    <a:ext uri="{9D8B030D-6E8A-4147-A177-3AD203B41FA5}">
                      <a16:colId xmlns:a16="http://schemas.microsoft.com/office/drawing/2014/main" val="2474799959"/>
                    </a:ext>
                  </a:extLst>
                </a:gridCol>
                <a:gridCol w="1463040">
                  <a:extLst>
                    <a:ext uri="{9D8B030D-6E8A-4147-A177-3AD203B41FA5}">
                      <a16:colId xmlns:a16="http://schemas.microsoft.com/office/drawing/2014/main" val="1046669399"/>
                    </a:ext>
                  </a:extLst>
                </a:gridCol>
              </a:tblGrid>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FY27 Proposed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51751145"/>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45760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180936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27411198"/>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9365691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539232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1640620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091184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8387440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0698009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056843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3184886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67969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1537024"/>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5871716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30859330"/>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97175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6814324"/>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3642695"/>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Additions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Calibri" panose="020F0502020204030204" pitchFamily="34" charset="0"/>
                        </a:rPr>
                        <a:t>CGI, EPAM, Tetra Tech, Stantec, FTI Consulting, Kyndryl</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147489"/>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 b="0" i="0" u="none" strike="noStrike">
                        <a:solidFill>
                          <a:srgbClr val="000000"/>
                        </a:solidFill>
                        <a:effectLst/>
                        <a:latin typeface="Arial" panose="020B060402020202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655539"/>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Deletions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General Dynamics, Northrop Grumman, L3Harris, Textron, Booz Allen Hamilton, CACI</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1" i="0" u="none" strike="noStrike">
                          <a:solidFill>
                            <a:srgbClr val="000000"/>
                          </a:solidFill>
                          <a:effectLst/>
                          <a:latin typeface="Calibri" panose="020F0502020204030204" pitchFamily="34" charset="0"/>
                        </a:rPr>
                        <a:t>Kyndryl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extLst>
                  <a:ext uri="{0D108BD9-81ED-4DB2-BD59-A6C34878D82A}">
                    <a16:rowId xmlns:a16="http://schemas.microsoft.com/office/drawing/2014/main" val="452253792"/>
                  </a:ext>
                </a:extLst>
              </a:tr>
            </a:tbl>
          </a:graphicData>
        </a:graphic>
      </p:graphicFrame>
    </p:spTree>
    <p:extLst>
      <p:ext uri="{BB962C8B-B14F-4D97-AF65-F5344CB8AC3E}">
        <p14:creationId xmlns:p14="http://schemas.microsoft.com/office/powerpoint/2010/main" val="11269352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B8660F-05C5-A98E-D2CC-01F9BD81255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592924" y="5013109"/>
            <a:ext cx="4791772" cy="1773140"/>
          </a:xfrm>
          <a:prstGeom prst="rect">
            <a:avLst/>
          </a:prstGeom>
        </p:spPr>
      </p:pic>
      <p:pic>
        <p:nvPicPr>
          <p:cNvPr id="25" name="Picture 24">
            <a:extLst>
              <a:ext uri="{FF2B5EF4-FFF2-40B4-BE49-F238E27FC236}">
                <a16:creationId xmlns:a16="http://schemas.microsoft.com/office/drawing/2014/main" id="{BA461139-7F62-D85F-79D9-090270189A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4045" y="5032780"/>
            <a:ext cx="3358332" cy="1809286"/>
          </a:xfrm>
          <a:prstGeom prst="rect">
            <a:avLst/>
          </a:prstGeom>
        </p:spPr>
      </p:pic>
      <p:sp>
        <p:nvSpPr>
          <p:cNvPr id="2" name="Footer Placeholder 1">
            <a:extLst>
              <a:ext uri="{FF2B5EF4-FFF2-40B4-BE49-F238E27FC236}">
                <a16:creationId xmlns:a16="http://schemas.microsoft.com/office/drawing/2014/main" id="{0CADAC6F-244A-3DE6-BCB8-25C88E0B742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9ADAF595-F61D-410C-7BF7-0E650A0A1BED}"/>
              </a:ext>
            </a:extLst>
          </p:cNvPr>
          <p:cNvSpPr>
            <a:spLocks noGrp="1"/>
          </p:cNvSpPr>
          <p:nvPr>
            <p:ph type="title"/>
          </p:nvPr>
        </p:nvSpPr>
        <p:spPr>
          <a:xfrm>
            <a:off x="882797" y="44215"/>
            <a:ext cx="8074152" cy="1292899"/>
          </a:xfrm>
        </p:spPr>
        <p:txBody>
          <a:bodyPr/>
          <a:lstStyle/>
          <a:p>
            <a:r>
              <a:rPr lang="en-US" dirty="0" err="1"/>
              <a:t>Plutos</a:t>
            </a:r>
            <a:r>
              <a:rPr lang="en-US" dirty="0"/>
              <a:t>’ current peer group has an average segment mix that emphasizes critical infrastructure and consulting businesses</a:t>
            </a:r>
          </a:p>
        </p:txBody>
      </p:sp>
      <p:graphicFrame>
        <p:nvGraphicFramePr>
          <p:cNvPr id="9" name="Table 8">
            <a:extLst>
              <a:ext uri="{FF2B5EF4-FFF2-40B4-BE49-F238E27FC236}">
                <a16:creationId xmlns:a16="http://schemas.microsoft.com/office/drawing/2014/main" id="{1192B97F-8E57-3C89-3A00-AC4B9D537E99}"/>
              </a:ext>
            </a:extLst>
          </p:cNvPr>
          <p:cNvGraphicFramePr>
            <a:graphicFrameLocks noGrp="1"/>
          </p:cNvGraphicFramePr>
          <p:nvPr>
            <p:extLst>
              <p:ext uri="{D42A27DB-BD31-4B8C-83A1-F6EECF244321}">
                <p14:modId xmlns:p14="http://schemas.microsoft.com/office/powerpoint/2010/main" val="4138944593"/>
              </p:ext>
            </p:extLst>
          </p:nvPr>
        </p:nvGraphicFramePr>
        <p:xfrm>
          <a:off x="577850" y="1300119"/>
          <a:ext cx="7988300" cy="3513328"/>
        </p:xfrm>
        <a:graphic>
          <a:graphicData uri="http://schemas.openxmlformats.org/drawingml/2006/table">
            <a:tbl>
              <a:tblPr/>
              <a:tblGrid>
                <a:gridCol w="1097280">
                  <a:extLst>
                    <a:ext uri="{9D8B030D-6E8A-4147-A177-3AD203B41FA5}">
                      <a16:colId xmlns:a16="http://schemas.microsoft.com/office/drawing/2014/main" val="3266536670"/>
                    </a:ext>
                  </a:extLst>
                </a:gridCol>
                <a:gridCol w="848677">
                  <a:extLst>
                    <a:ext uri="{9D8B030D-6E8A-4147-A177-3AD203B41FA5}">
                      <a16:colId xmlns:a16="http://schemas.microsoft.com/office/drawing/2014/main" val="2426311938"/>
                    </a:ext>
                  </a:extLst>
                </a:gridCol>
                <a:gridCol w="896303">
                  <a:extLst>
                    <a:ext uri="{9D8B030D-6E8A-4147-A177-3AD203B41FA5}">
                      <a16:colId xmlns:a16="http://schemas.microsoft.com/office/drawing/2014/main" val="2277864327"/>
                    </a:ext>
                  </a:extLst>
                </a:gridCol>
                <a:gridCol w="901065">
                  <a:extLst>
                    <a:ext uri="{9D8B030D-6E8A-4147-A177-3AD203B41FA5}">
                      <a16:colId xmlns:a16="http://schemas.microsoft.com/office/drawing/2014/main" val="3981700119"/>
                    </a:ext>
                  </a:extLst>
                </a:gridCol>
                <a:gridCol w="678815">
                  <a:extLst>
                    <a:ext uri="{9D8B030D-6E8A-4147-A177-3AD203B41FA5}">
                      <a16:colId xmlns:a16="http://schemas.microsoft.com/office/drawing/2014/main" val="3539281089"/>
                    </a:ext>
                  </a:extLst>
                </a:gridCol>
                <a:gridCol w="457200">
                  <a:extLst>
                    <a:ext uri="{9D8B030D-6E8A-4147-A177-3AD203B41FA5}">
                      <a16:colId xmlns:a16="http://schemas.microsoft.com/office/drawing/2014/main" val="2583893155"/>
                    </a:ext>
                  </a:extLst>
                </a:gridCol>
                <a:gridCol w="3108960">
                  <a:extLst>
                    <a:ext uri="{9D8B030D-6E8A-4147-A177-3AD203B41FA5}">
                      <a16:colId xmlns:a16="http://schemas.microsoft.com/office/drawing/2014/main" val="3856941185"/>
                    </a:ext>
                  </a:extLst>
                </a:gridCol>
              </a:tblGrid>
              <a:tr h="425045">
                <a:tc>
                  <a:txBody>
                    <a:bodyPr/>
                    <a:lstStyle/>
                    <a:p>
                      <a:pPr algn="l" fontAlgn="b">
                        <a:lnSpc>
                          <a:spcPct val="90000"/>
                        </a:lnSpc>
                        <a:buNone/>
                      </a:pPr>
                      <a:r>
                        <a:rPr lang="en-US" sz="1000" b="1" i="0" u="none" strike="noStrike" dirty="0">
                          <a:solidFill>
                            <a:srgbClr val="FFFFFF"/>
                          </a:solidFill>
                          <a:effectLst/>
                          <a:latin typeface="Calibri" panose="020F0502020204030204" pitchFamily="34" charset="0"/>
                        </a:rPr>
                        <a:t> Company</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Critical</a:t>
                      </a:r>
                    </a:p>
                    <a:p>
                      <a:pPr algn="ctr" fontAlgn="b">
                        <a:lnSpc>
                          <a:spcPct val="90000"/>
                        </a:lnSpc>
                        <a:buNone/>
                      </a:pPr>
                      <a:r>
                        <a:rPr lang="en-US" sz="1000" b="1" i="0" u="none" strike="noStrike">
                          <a:solidFill>
                            <a:srgbClr val="FFFFFF"/>
                          </a:solidFill>
                          <a:effectLst/>
                          <a:latin typeface="Calibri" panose="020F0502020204030204" pitchFamily="34" charset="0"/>
                        </a:rPr>
                        <a:t>Infrastructure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Water &amp;</a:t>
                      </a:r>
                    </a:p>
                    <a:p>
                      <a:pPr algn="ctr" fontAlgn="b">
                        <a:lnSpc>
                          <a:spcPct val="90000"/>
                        </a:lnSpc>
                        <a:buNone/>
                      </a:pPr>
                      <a:r>
                        <a:rPr lang="en-US" sz="1000" b="1" i="0" u="none" strike="noStrike">
                          <a:solidFill>
                            <a:srgbClr val="FFFFFF"/>
                          </a:solidFill>
                          <a:effectLst/>
                          <a:latin typeface="Calibri" panose="020F0502020204030204" pitchFamily="34" charset="0"/>
                        </a:rPr>
                        <a:t>Environmental</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Life Sciences &amp;</a:t>
                      </a:r>
                    </a:p>
                    <a:p>
                      <a:pPr algn="ctr" fontAlgn="b">
                        <a:lnSpc>
                          <a:spcPct val="90000"/>
                        </a:lnSpc>
                        <a:buNone/>
                      </a:pPr>
                      <a:r>
                        <a:rPr lang="en-US" sz="1000" b="1" i="0" u="none" strike="noStrike">
                          <a:solidFill>
                            <a:srgbClr val="FFFFFF"/>
                          </a:solidFill>
                          <a:effectLst/>
                          <a:latin typeface="Calibri" panose="020F0502020204030204" pitchFamily="34" charset="0"/>
                        </a:rPr>
                        <a:t>Advanced</a:t>
                      </a:r>
                    </a:p>
                    <a:p>
                      <a:pPr algn="ctr" fontAlgn="b">
                        <a:lnSpc>
                          <a:spcPct val="90000"/>
                        </a:lnSpc>
                        <a:buNone/>
                      </a:pPr>
                      <a:r>
                        <a:rPr lang="en-US" sz="1000" b="1" i="0" u="none" strike="noStrike">
                          <a:solidFill>
                            <a:srgbClr val="FFFFFF"/>
                          </a:solidFill>
                          <a:effectLst/>
                          <a:latin typeface="Calibri" panose="020F0502020204030204" pitchFamily="34" charset="0"/>
                        </a:rPr>
                        <a:t>Manufacturing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Consulting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Other</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Notes</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14902000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Accenture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80223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Cognizant</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16%</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Communications, Media &amp; Tech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3140998897"/>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Leidos</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National Security and Digital Segment</a:t>
                      </a:r>
                    </a:p>
                  </a:txBody>
                  <a:tcPr marL="0" marR="0" marT="0" marB="0" anchor="ctr">
                    <a:lnL>
                      <a:noFill/>
                    </a:lnL>
                    <a:lnR>
                      <a:noFill/>
                    </a:lnR>
                    <a:lnT>
                      <a:noFill/>
                    </a:lnT>
                    <a:lnB>
                      <a:noFill/>
                    </a:lnB>
                    <a:noFill/>
                  </a:tcPr>
                </a:tc>
                <a:extLst>
                  <a:ext uri="{0D108BD9-81ED-4DB2-BD59-A6C34878D82A}">
                    <a16:rowId xmlns:a16="http://schemas.microsoft.com/office/drawing/2014/main" val="419215893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Fluor</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434549271"/>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AECOM</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1260079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Kyndryl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Focus on IT infrastructure &amp; operations</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992033184"/>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DXC</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52%</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48%</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Global Infrastructure Svcs (GIS) segment, which focuses on cloud/IT infrastructure sol'ns</a:t>
                      </a:r>
                    </a:p>
                  </a:txBody>
                  <a:tcPr marL="0" marR="0" marT="0" marB="0" anchor="ctr">
                    <a:lnL>
                      <a:noFill/>
                    </a:lnL>
                    <a:lnR>
                      <a:noFill/>
                    </a:lnR>
                    <a:lnT>
                      <a:noFill/>
                    </a:lnT>
                    <a:lnB>
                      <a:noFill/>
                    </a:lnB>
                    <a:noFill/>
                  </a:tcPr>
                </a:tc>
                <a:extLst>
                  <a:ext uri="{0D108BD9-81ED-4DB2-BD59-A6C34878D82A}">
                    <a16:rowId xmlns:a16="http://schemas.microsoft.com/office/drawing/2014/main" val="3597010039"/>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WSP Global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8844867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CGI</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55105036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KBR</a:t>
                      </a:r>
                      <a:r>
                        <a:rPr lang="en-US" sz="1000" b="0" i="0" u="none" strike="noStrike" baseline="30000">
                          <a:solidFill>
                            <a:srgbClr val="000000"/>
                          </a:solidFill>
                          <a:effectLst/>
                          <a:latin typeface="Calibri" panose="020F0502020204030204" pitchFamily="34" charset="0"/>
                        </a:rPr>
                        <a:t>(1)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669745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AtkinsRéalis </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Nuclear segment</a:t>
                      </a:r>
                    </a:p>
                  </a:txBody>
                  <a:tcPr marL="0" marR="0" marT="0" marB="0" anchor="ctr">
                    <a:lnL>
                      <a:noFill/>
                    </a:lnL>
                    <a:lnR>
                      <a:noFill/>
                    </a:lnR>
                    <a:lnT>
                      <a:noFill/>
                    </a:lnT>
                    <a:lnB>
                      <a:noFill/>
                    </a:lnB>
                    <a:noFill/>
                  </a:tcPr>
                </a:tc>
                <a:extLst>
                  <a:ext uri="{0D108BD9-81ED-4DB2-BD59-A6C34878D82A}">
                    <a16:rowId xmlns:a16="http://schemas.microsoft.com/office/drawing/2014/main" val="21682545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Parsons</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Federal Solutions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6745768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EPAM</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312648214"/>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Tetra Tech</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46%</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147780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Stantec</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60%</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790618559"/>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FTI Consulting</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Forensic and Litigation Consulting, Strategic Communications, and Economic Consulting</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1705576"/>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503938"/>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Median Weighting</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99847730"/>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Avg. Segment Mix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587383064"/>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049239"/>
                  </a:ext>
                </a:extLst>
              </a:tr>
              <a:tr h="15374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27%</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4042303000"/>
                  </a:ext>
                </a:extLst>
              </a:tr>
            </a:tbl>
          </a:graphicData>
        </a:graphic>
      </p:graphicFrame>
      <p:sp>
        <p:nvSpPr>
          <p:cNvPr id="14" name="TextBox 13">
            <a:extLst>
              <a:ext uri="{FF2B5EF4-FFF2-40B4-BE49-F238E27FC236}">
                <a16:creationId xmlns:a16="http://schemas.microsoft.com/office/drawing/2014/main" id="{3E382E11-FF55-0C0A-2CEB-16C70392F954}"/>
              </a:ext>
            </a:extLst>
          </p:cNvPr>
          <p:cNvSpPr txBox="1"/>
          <p:nvPr/>
        </p:nvSpPr>
        <p:spPr>
          <a:xfrm>
            <a:off x="2835006" y="1013957"/>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Segment Mix</a:t>
            </a:r>
          </a:p>
        </p:txBody>
      </p:sp>
      <p:sp>
        <p:nvSpPr>
          <p:cNvPr id="15" name="TextBox 14">
            <a:extLst>
              <a:ext uri="{FF2B5EF4-FFF2-40B4-BE49-F238E27FC236}">
                <a16:creationId xmlns:a16="http://schemas.microsoft.com/office/drawing/2014/main" id="{4554B3FC-A3E5-D340-5D7C-6E428F41A218}"/>
              </a:ext>
            </a:extLst>
          </p:cNvPr>
          <p:cNvSpPr txBox="1"/>
          <p:nvPr/>
        </p:nvSpPr>
        <p:spPr>
          <a:xfrm>
            <a:off x="5437785" y="5013109"/>
            <a:ext cx="2267927"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Average</a:t>
            </a:r>
          </a:p>
        </p:txBody>
      </p:sp>
      <p:sp>
        <p:nvSpPr>
          <p:cNvPr id="16" name="TextBox 15">
            <a:extLst>
              <a:ext uri="{FF2B5EF4-FFF2-40B4-BE49-F238E27FC236}">
                <a16:creationId xmlns:a16="http://schemas.microsoft.com/office/drawing/2014/main" id="{D8035895-D3AC-64F4-C3BC-F5F99FC6A8EB}"/>
              </a:ext>
            </a:extLst>
          </p:cNvPr>
          <p:cNvSpPr txBox="1"/>
          <p:nvPr/>
        </p:nvSpPr>
        <p:spPr>
          <a:xfrm>
            <a:off x="1540133" y="5022753"/>
            <a:ext cx="1815776"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endParaRPr lang="en-US" sz="1400" b="1" dirty="0"/>
          </a:p>
        </p:txBody>
      </p:sp>
      <p:sp>
        <p:nvSpPr>
          <p:cNvPr id="18" name="TextBox 17">
            <a:extLst>
              <a:ext uri="{FF2B5EF4-FFF2-40B4-BE49-F238E27FC236}">
                <a16:creationId xmlns:a16="http://schemas.microsoft.com/office/drawing/2014/main" id="{AD2EFDD1-DCF7-1FC1-FB17-E3768A28914D}"/>
              </a:ext>
            </a:extLst>
          </p:cNvPr>
          <p:cNvSpPr txBox="1"/>
          <p:nvPr/>
        </p:nvSpPr>
        <p:spPr>
          <a:xfrm>
            <a:off x="577850" y="4829681"/>
            <a:ext cx="5191408" cy="230832"/>
          </a:xfrm>
          <a:prstGeom prst="rect">
            <a:avLst/>
          </a:prstGeom>
          <a:noFill/>
        </p:spPr>
        <p:txBody>
          <a:bodyPr wrap="square" lIns="45720" tIns="45720" rIns="45720" bIns="45720" rtlCol="0" anchor="ctr">
            <a:spAutoFit/>
          </a:bodyPr>
          <a:lstStyle/>
          <a:p>
            <a:pPr marL="228600" indent="-228600">
              <a:buAutoNum type="arabicParenBoth"/>
            </a:pPr>
            <a:r>
              <a:rPr lang="en-US" sz="900" i="1"/>
              <a:t>KBR’s segment mix excludes the Mission Technology Solutions Segment due to its anticipated spin-off</a:t>
            </a:r>
          </a:p>
        </p:txBody>
      </p:sp>
      <p:sp>
        <p:nvSpPr>
          <p:cNvPr id="4" name="Rectangle 3">
            <a:extLst>
              <a:ext uri="{FF2B5EF4-FFF2-40B4-BE49-F238E27FC236}">
                <a16:creationId xmlns:a16="http://schemas.microsoft.com/office/drawing/2014/main" id="{69DC3ED1-7BF8-DF5C-2814-81238AE9201C}"/>
              </a:ext>
            </a:extLst>
          </p:cNvPr>
          <p:cNvSpPr/>
          <p:nvPr/>
        </p:nvSpPr>
        <p:spPr>
          <a:xfrm>
            <a:off x="4326467" y="1525921"/>
            <a:ext cx="685800" cy="3303760"/>
          </a:xfrm>
          <a:prstGeom prst="rect">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2670185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D8D46A-152C-6C53-91EA-0600EC86E1C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D6D3EF17-8E9A-FE36-6D81-6A010C0976A5}"/>
              </a:ext>
            </a:extLst>
          </p:cNvPr>
          <p:cNvSpPr>
            <a:spLocks noGrp="1"/>
          </p:cNvSpPr>
          <p:nvPr>
            <p:ph type="title"/>
          </p:nvPr>
        </p:nvSpPr>
        <p:spPr>
          <a:xfrm>
            <a:off x="882797" y="44215"/>
            <a:ext cx="8074152" cy="1292899"/>
          </a:xfrm>
        </p:spPr>
        <p:txBody>
          <a:bodyPr/>
          <a:lstStyle/>
          <a:p>
            <a:r>
              <a:rPr lang="en-US" dirty="0"/>
              <a:t>KBR, WSP, and Leidos engaged in multibillion-dollar deals over the past year, enhancing their suitability as a peer for </a:t>
            </a:r>
            <a:r>
              <a:rPr lang="en-US" dirty="0" err="1"/>
              <a:t>Plutos</a:t>
            </a:r>
            <a:endParaRPr lang="en-US" dirty="0"/>
          </a:p>
        </p:txBody>
      </p:sp>
      <p:sp>
        <p:nvSpPr>
          <p:cNvPr id="8" name="TextBox 7">
            <a:extLst>
              <a:ext uri="{FF2B5EF4-FFF2-40B4-BE49-F238E27FC236}">
                <a16:creationId xmlns:a16="http://schemas.microsoft.com/office/drawing/2014/main" id="{CE6D4652-45EF-6467-51F8-DC9B6F80ED33}"/>
              </a:ext>
            </a:extLst>
          </p:cNvPr>
          <p:cNvSpPr txBox="1"/>
          <p:nvPr/>
        </p:nvSpPr>
        <p:spPr>
          <a:xfrm>
            <a:off x="2905776" y="1267065"/>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a:t>Plutos Peers M&amp;A Activity</a:t>
            </a:r>
            <a:r>
              <a:rPr lang="en-US" sz="1400" b="1" baseline="30000" dirty="0"/>
              <a:t>(1)</a:t>
            </a:r>
            <a:endParaRPr lang="en-US" sz="1400" b="1" dirty="0"/>
          </a:p>
        </p:txBody>
      </p:sp>
      <p:graphicFrame>
        <p:nvGraphicFramePr>
          <p:cNvPr id="9" name="Table 8">
            <a:extLst>
              <a:ext uri="{FF2B5EF4-FFF2-40B4-BE49-F238E27FC236}">
                <a16:creationId xmlns:a16="http://schemas.microsoft.com/office/drawing/2014/main" id="{D4937901-202E-D8AC-9C72-3D3F8D925C2D}"/>
              </a:ext>
            </a:extLst>
          </p:cNvPr>
          <p:cNvGraphicFramePr>
            <a:graphicFrameLocks noGrp="1"/>
          </p:cNvGraphicFramePr>
          <p:nvPr>
            <p:extLst>
              <p:ext uri="{D42A27DB-BD31-4B8C-83A1-F6EECF244321}">
                <p14:modId xmlns:p14="http://schemas.microsoft.com/office/powerpoint/2010/main" val="1697236165"/>
              </p:ext>
            </p:extLst>
          </p:nvPr>
        </p:nvGraphicFramePr>
        <p:xfrm>
          <a:off x="328136" y="1594202"/>
          <a:ext cx="8487728" cy="3404616"/>
        </p:xfrm>
        <a:graphic>
          <a:graphicData uri="http://schemas.openxmlformats.org/drawingml/2006/table">
            <a:tbl>
              <a:tblPr/>
              <a:tblGrid>
                <a:gridCol w="715328">
                  <a:extLst>
                    <a:ext uri="{9D8B030D-6E8A-4147-A177-3AD203B41FA5}">
                      <a16:colId xmlns:a16="http://schemas.microsoft.com/office/drawing/2014/main" val="1103253196"/>
                    </a:ext>
                  </a:extLst>
                </a:gridCol>
                <a:gridCol w="822960">
                  <a:extLst>
                    <a:ext uri="{9D8B030D-6E8A-4147-A177-3AD203B41FA5}">
                      <a16:colId xmlns:a16="http://schemas.microsoft.com/office/drawing/2014/main" val="217923903"/>
                    </a:ext>
                  </a:extLst>
                </a:gridCol>
                <a:gridCol w="640080">
                  <a:extLst>
                    <a:ext uri="{9D8B030D-6E8A-4147-A177-3AD203B41FA5}">
                      <a16:colId xmlns:a16="http://schemas.microsoft.com/office/drawing/2014/main" val="1474149491"/>
                    </a:ext>
                  </a:extLst>
                </a:gridCol>
                <a:gridCol w="2926080">
                  <a:extLst>
                    <a:ext uri="{9D8B030D-6E8A-4147-A177-3AD203B41FA5}">
                      <a16:colId xmlns:a16="http://schemas.microsoft.com/office/drawing/2014/main" val="2388438907"/>
                    </a:ext>
                  </a:extLst>
                </a:gridCol>
                <a:gridCol w="2468880">
                  <a:extLst>
                    <a:ext uri="{9D8B030D-6E8A-4147-A177-3AD203B41FA5}">
                      <a16:colId xmlns:a16="http://schemas.microsoft.com/office/drawing/2014/main" val="1678085007"/>
                    </a:ext>
                  </a:extLst>
                </a:gridCol>
                <a:gridCol w="914400">
                  <a:extLst>
                    <a:ext uri="{9D8B030D-6E8A-4147-A177-3AD203B41FA5}">
                      <a16:colId xmlns:a16="http://schemas.microsoft.com/office/drawing/2014/main" val="295990675"/>
                    </a:ext>
                  </a:extLst>
                </a:gridCol>
              </a:tblGrid>
              <a:tr h="0">
                <a:tc>
                  <a:txBody>
                    <a:bodyPr/>
                    <a:lstStyle/>
                    <a:p>
                      <a:pPr algn="l" fontAlgn="b">
                        <a:lnSpc>
                          <a:spcPct val="100000"/>
                        </a:lnSpc>
                        <a:buNone/>
                      </a:pPr>
                      <a:r>
                        <a:rPr lang="en-US" sz="1100" b="1" i="0" u="none" strike="noStrike">
                          <a:solidFill>
                            <a:srgbClr val="FFFFFF"/>
                          </a:solidFill>
                          <a:effectLst/>
                          <a:latin typeface="Calibri" panose="020F0502020204030204" pitchFamily="34" charset="0"/>
                        </a:rPr>
                        <a:t>Company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Transaction</a:t>
                      </a:r>
                    </a:p>
                    <a:p>
                      <a:pPr algn="ctr" fontAlgn="b">
                        <a:lnSpc>
                          <a:spcPct val="100000"/>
                        </a:lnSpc>
                        <a:buNone/>
                      </a:pPr>
                      <a:r>
                        <a:rPr lang="en-US" sz="1100" b="1" i="0" u="none" strike="noStrike">
                          <a:solidFill>
                            <a:srgbClr val="FFFFFF"/>
                          </a:solidFill>
                          <a:effectLst/>
                          <a:latin typeface="Calibri" panose="020F0502020204030204" pitchFamily="34" charset="0"/>
                        </a:rPr>
                        <a:t>Type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Size</a:t>
                      </a:r>
                    </a:p>
                    <a:p>
                      <a:pPr algn="ctr" fontAlgn="b">
                        <a:lnSpc>
                          <a:spcPct val="100000"/>
                        </a:lnSpc>
                        <a:buNone/>
                      </a:pPr>
                      <a:r>
                        <a:rPr lang="en-US" sz="1100" b="1" i="0" u="none" strike="noStrike">
                          <a:solidFill>
                            <a:srgbClr val="FFFFFF"/>
                          </a:solidFill>
                          <a:effectLst/>
                          <a:latin typeface="Calibri" panose="020F0502020204030204" pitchFamily="34" charset="0"/>
                        </a:rPr>
                        <a:t>($</a:t>
                      </a:r>
                      <a:r>
                        <a:rPr lang="en-US" sz="1100" b="1" i="0" u="none" strike="noStrike" err="1">
                          <a:solidFill>
                            <a:srgbClr val="FFFFFF"/>
                          </a:solidFill>
                          <a:effectLst/>
                          <a:latin typeface="Calibri" panose="020F0502020204030204" pitchFamily="34" charset="0"/>
                        </a:rPr>
                        <a:t>MMs</a:t>
                      </a:r>
                      <a:r>
                        <a:rPr lang="en-US" sz="1100" b="1" i="0" u="none" strike="noStrike">
                          <a:solidFill>
                            <a:srgbClr val="FFFFFF"/>
                          </a:solidFill>
                          <a:effectLst/>
                          <a:latin typeface="Calibri" panose="020F0502020204030204" pitchFamily="34" charset="0"/>
                        </a:rPr>
                        <a:t>)</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Results from 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Implications</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49153028"/>
                  </a:ext>
                </a:extLst>
              </a:tr>
              <a:tr h="127818">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KBR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Spin-Off</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n/a</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KBR announced the spin-off of Mission Technology Solutions of KBR on September 24, 2025, expected to close in the second half of 2026</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Splits the firm into two independent publicly traded companies separating Sustainable Technology Solutions and Mission Technology Solutions</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 &amp; Monitor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87052878"/>
                  </a:ext>
                </a:extLst>
              </a:tr>
              <a:tr h="102704">
                <a:tc>
                  <a:txBody>
                    <a:bodyPr/>
                    <a:lstStyle/>
                    <a:p>
                      <a:pPr algn="l" fontAlgn="ctr">
                        <a:lnSpc>
                          <a:spcPct val="100000"/>
                        </a:lnSpc>
                        <a:buNone/>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Global</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$3,300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announced the acquisition of </a:t>
                      </a:r>
                      <a:r>
                        <a:rPr lang="en-US" sz="1100" b="0" i="0" u="none" strike="noStrike" err="1">
                          <a:solidFill>
                            <a:srgbClr val="000000"/>
                          </a:solidFill>
                          <a:effectLst/>
                          <a:latin typeface="Calibri" panose="020F0502020204030204" pitchFamily="34" charset="0"/>
                        </a:rPr>
                        <a:t>TRC</a:t>
                      </a:r>
                      <a:r>
                        <a:rPr lang="en-US" sz="1100" b="0" i="0" u="none" strike="noStrike">
                          <a:solidFill>
                            <a:srgbClr val="000000"/>
                          </a:solidFill>
                          <a:effectLst/>
                          <a:latin typeface="Calibri" panose="020F0502020204030204" pitchFamily="34" charset="0"/>
                        </a:rPr>
                        <a:t> Companies from Warburg Pincus on December 15, 2025, expected to close before April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competitiveness in engineering, consulting, and construction management solutions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1846127623"/>
                  </a:ext>
                </a:extLst>
              </a:tr>
              <a:tr h="102704">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Leidos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$2,400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Leidos announced the acquisition of ENTRUST Solutions Group from Kohlberg &amp; Company on January 23, 2026, expected to close in the second quarter of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revenue growth, adjusted EBITDA margin, and non-GAAP diluted earnings per share in 2027</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85044467"/>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Accenture</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$984</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Accenture announced the acquisition of Faculty Science Limited from Apax Digital Fund I on January 6,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Adds 400+ Al native EEs, including data scientists and Al engineers, to help scale Al capabilities for clients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835064072"/>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Stantec</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$535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Stantec acquired Page Southerland Page for $535 million on July 31, 2025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Grows Stantec's US Buildings practice 35% and overall US employee headcount to ~13,500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21030"/>
                  </a:ext>
                </a:extLst>
              </a:tr>
            </a:tbl>
          </a:graphicData>
        </a:graphic>
      </p:graphicFrame>
      <p:sp>
        <p:nvSpPr>
          <p:cNvPr id="10" name="Rectangle 9">
            <a:extLst>
              <a:ext uri="{FF2B5EF4-FFF2-40B4-BE49-F238E27FC236}">
                <a16:creationId xmlns:a16="http://schemas.microsoft.com/office/drawing/2014/main" id="{CC6F03D9-0490-0BE0-FE3D-0D2882F78054}"/>
              </a:ext>
            </a:extLst>
          </p:cNvPr>
          <p:cNvSpPr/>
          <p:nvPr/>
        </p:nvSpPr>
        <p:spPr>
          <a:xfrm>
            <a:off x="7217624" y="1389398"/>
            <a:ext cx="165600" cy="109289"/>
          </a:xfrm>
          <a:prstGeom prst="rect">
            <a:avLst/>
          </a:prstGeom>
          <a:solidFill>
            <a:schemeClr val="accent3">
              <a:lumMod val="40000"/>
              <a:lumOff val="6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62C25072-423F-9D0A-620C-213DDEEAECCF}"/>
              </a:ext>
            </a:extLst>
          </p:cNvPr>
          <p:cNvSpPr txBox="1"/>
          <p:nvPr/>
        </p:nvSpPr>
        <p:spPr>
          <a:xfrm>
            <a:off x="7383224" y="1347754"/>
            <a:ext cx="1573725" cy="224292"/>
          </a:xfrm>
          <a:prstGeom prst="rect">
            <a:avLst/>
          </a:prstGeom>
          <a:noFill/>
        </p:spPr>
        <p:txBody>
          <a:bodyPr vert="horz" wrap="square" lIns="45720" tIns="45720" rIns="45720" bIns="45720" rtlCol="0" anchor="ctr">
            <a:spAutoFit/>
          </a:bodyPr>
          <a:lstStyle/>
          <a:p>
            <a:pPr>
              <a:lnSpc>
                <a:spcPct val="85000"/>
              </a:lnSpc>
            </a:pPr>
            <a:r>
              <a:rPr lang="en-US" sz="1000" i="1"/>
              <a:t>Peer to Monitor</a:t>
            </a:r>
          </a:p>
        </p:txBody>
      </p:sp>
      <p:sp>
        <p:nvSpPr>
          <p:cNvPr id="12" name="TextBox 11">
            <a:extLst>
              <a:ext uri="{FF2B5EF4-FFF2-40B4-BE49-F238E27FC236}">
                <a16:creationId xmlns:a16="http://schemas.microsoft.com/office/drawing/2014/main" id="{34F3FABE-0D54-2AE1-3E97-DBA1E1835DF1}"/>
              </a:ext>
            </a:extLst>
          </p:cNvPr>
          <p:cNvSpPr txBox="1"/>
          <p:nvPr/>
        </p:nvSpPr>
        <p:spPr>
          <a:xfrm>
            <a:off x="328136" y="5025074"/>
            <a:ext cx="4042414" cy="230832"/>
          </a:xfrm>
          <a:prstGeom prst="rect">
            <a:avLst/>
          </a:prstGeom>
          <a:noFill/>
        </p:spPr>
        <p:txBody>
          <a:bodyPr wrap="square" lIns="45720" tIns="45720" rIns="45720" bIns="45720" rtlCol="0" anchor="ctr">
            <a:spAutoFit/>
          </a:bodyPr>
          <a:lstStyle/>
          <a:p>
            <a:pPr marL="228600" indent="-228600">
              <a:buAutoNum type="arabicParenBoth"/>
            </a:pPr>
            <a:r>
              <a:rPr lang="en-US" sz="900" i="1"/>
              <a:t>Includes M&amp;A activity over $500MM</a:t>
            </a:r>
          </a:p>
        </p:txBody>
      </p:sp>
    </p:spTree>
    <p:extLst>
      <p:ext uri="{BB962C8B-B14F-4D97-AF65-F5344CB8AC3E}">
        <p14:creationId xmlns:p14="http://schemas.microsoft.com/office/powerpoint/2010/main" val="31637447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66EAD5-0C91-4705-89D6-A0B065C1455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D1F60BE-3D78-293D-38ED-BF47C21A0F30}"/>
              </a:ext>
            </a:extLst>
          </p:cNvPr>
          <p:cNvSpPr>
            <a:spLocks noGrp="1"/>
          </p:cNvSpPr>
          <p:nvPr>
            <p:ph type="title"/>
          </p:nvPr>
        </p:nvSpPr>
        <p:spPr>
          <a:xfrm>
            <a:off x="882797" y="44215"/>
            <a:ext cx="8074152" cy="1292899"/>
          </a:xfrm>
        </p:spPr>
        <p:txBody>
          <a:bodyPr/>
          <a:lstStyle/>
          <a:p>
            <a:r>
              <a:rPr lang="en-US" dirty="0"/>
              <a:t>ACME assessed 15 UK-based companies for possible inclusion in </a:t>
            </a:r>
            <a:r>
              <a:rPr lang="en-US" dirty="0" err="1"/>
              <a:t>Plutos</a:t>
            </a:r>
            <a:r>
              <a:rPr lang="en-US" dirty="0"/>
              <a:t>’ peer group, but none sufficiently met the screening criteria</a:t>
            </a:r>
          </a:p>
        </p:txBody>
      </p:sp>
      <p:sp>
        <p:nvSpPr>
          <p:cNvPr id="7" name="TextBox 6">
            <a:extLst>
              <a:ext uri="{FF2B5EF4-FFF2-40B4-BE49-F238E27FC236}">
                <a16:creationId xmlns:a16="http://schemas.microsoft.com/office/drawing/2014/main" id="{54606E07-8DCF-2CB4-EB9A-CE22F88B214C}"/>
              </a:ext>
            </a:extLst>
          </p:cNvPr>
          <p:cNvSpPr txBox="1"/>
          <p:nvPr/>
        </p:nvSpPr>
        <p:spPr>
          <a:xfrm>
            <a:off x="2188794" y="101384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UK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graphicFrame>
        <p:nvGraphicFramePr>
          <p:cNvPr id="9" name="Table 8">
            <a:extLst>
              <a:ext uri="{FF2B5EF4-FFF2-40B4-BE49-F238E27FC236}">
                <a16:creationId xmlns:a16="http://schemas.microsoft.com/office/drawing/2014/main" id="{E22569F2-71E5-D78B-39CC-BE3BC9DBD334}"/>
              </a:ext>
            </a:extLst>
          </p:cNvPr>
          <p:cNvGraphicFramePr>
            <a:graphicFrameLocks noGrp="1"/>
          </p:cNvGraphicFramePr>
          <p:nvPr>
            <p:extLst>
              <p:ext uri="{D42A27DB-BD31-4B8C-83A1-F6EECF244321}">
                <p14:modId xmlns:p14="http://schemas.microsoft.com/office/powerpoint/2010/main" val="2821178536"/>
              </p:ext>
            </p:extLst>
          </p:nvPr>
        </p:nvGraphicFramePr>
        <p:xfrm>
          <a:off x="141923" y="1305510"/>
          <a:ext cx="8860154" cy="5028311"/>
        </p:xfrm>
        <a:graphic>
          <a:graphicData uri="http://schemas.openxmlformats.org/drawingml/2006/table">
            <a:tbl>
              <a:tblPr/>
              <a:tblGrid>
                <a:gridCol w="839089">
                  <a:extLst>
                    <a:ext uri="{9D8B030D-6E8A-4147-A177-3AD203B41FA5}">
                      <a16:colId xmlns:a16="http://schemas.microsoft.com/office/drawing/2014/main" val="355064325"/>
                    </a:ext>
                  </a:extLst>
                </a:gridCol>
                <a:gridCol w="1097280">
                  <a:extLst>
                    <a:ext uri="{9D8B030D-6E8A-4147-A177-3AD203B41FA5}">
                      <a16:colId xmlns:a16="http://schemas.microsoft.com/office/drawing/2014/main" val="529005761"/>
                    </a:ext>
                  </a:extLst>
                </a:gridCol>
                <a:gridCol w="497776">
                  <a:extLst>
                    <a:ext uri="{9D8B030D-6E8A-4147-A177-3AD203B41FA5}">
                      <a16:colId xmlns:a16="http://schemas.microsoft.com/office/drawing/2014/main" val="3921166032"/>
                    </a:ext>
                  </a:extLst>
                </a:gridCol>
                <a:gridCol w="494602">
                  <a:extLst>
                    <a:ext uri="{9D8B030D-6E8A-4147-A177-3AD203B41FA5}">
                      <a16:colId xmlns:a16="http://schemas.microsoft.com/office/drawing/2014/main" val="485947125"/>
                    </a:ext>
                  </a:extLst>
                </a:gridCol>
                <a:gridCol w="453326">
                  <a:extLst>
                    <a:ext uri="{9D8B030D-6E8A-4147-A177-3AD203B41FA5}">
                      <a16:colId xmlns:a16="http://schemas.microsoft.com/office/drawing/2014/main" val="594631347"/>
                    </a:ext>
                  </a:extLst>
                </a:gridCol>
                <a:gridCol w="494602">
                  <a:extLst>
                    <a:ext uri="{9D8B030D-6E8A-4147-A177-3AD203B41FA5}">
                      <a16:colId xmlns:a16="http://schemas.microsoft.com/office/drawing/2014/main" val="2302161621"/>
                    </a:ext>
                  </a:extLst>
                </a:gridCol>
                <a:gridCol w="848614">
                  <a:extLst>
                    <a:ext uri="{9D8B030D-6E8A-4147-A177-3AD203B41FA5}">
                      <a16:colId xmlns:a16="http://schemas.microsoft.com/office/drawing/2014/main" val="12244381"/>
                    </a:ext>
                  </a:extLst>
                </a:gridCol>
                <a:gridCol w="1105789">
                  <a:extLst>
                    <a:ext uri="{9D8B030D-6E8A-4147-A177-3AD203B41FA5}">
                      <a16:colId xmlns:a16="http://schemas.microsoft.com/office/drawing/2014/main" val="4153938373"/>
                    </a:ext>
                  </a:extLst>
                </a:gridCol>
                <a:gridCol w="675576">
                  <a:extLst>
                    <a:ext uri="{9D8B030D-6E8A-4147-A177-3AD203B41FA5}">
                      <a16:colId xmlns:a16="http://schemas.microsoft.com/office/drawing/2014/main" val="2905850513"/>
                    </a:ext>
                  </a:extLst>
                </a:gridCol>
                <a:gridCol w="707326">
                  <a:extLst>
                    <a:ext uri="{9D8B030D-6E8A-4147-A177-3AD203B41FA5}">
                      <a16:colId xmlns:a16="http://schemas.microsoft.com/office/drawing/2014/main" val="1212058550"/>
                    </a:ext>
                  </a:extLst>
                </a:gridCol>
                <a:gridCol w="366014">
                  <a:extLst>
                    <a:ext uri="{9D8B030D-6E8A-4147-A177-3AD203B41FA5}">
                      <a16:colId xmlns:a16="http://schemas.microsoft.com/office/drawing/2014/main" val="1213336418"/>
                    </a:ext>
                  </a:extLst>
                </a:gridCol>
                <a:gridCol w="1280160">
                  <a:extLst>
                    <a:ext uri="{9D8B030D-6E8A-4147-A177-3AD203B41FA5}">
                      <a16:colId xmlns:a16="http://schemas.microsoft.com/office/drawing/2014/main" val="3716915031"/>
                    </a:ext>
                  </a:extLst>
                </a:gridCol>
              </a:tblGrid>
              <a:tr h="372467">
                <a:tc>
                  <a:txBody>
                    <a:bodyPr/>
                    <a:lstStyle/>
                    <a:p>
                      <a:pPr algn="ctr" fontAlgn="b">
                        <a:lnSpc>
                          <a:spcPct val="90000"/>
                        </a:lnSpc>
                        <a:buNone/>
                      </a:pPr>
                      <a:r>
                        <a:rPr lang="en-US" sz="900" b="1" i="0" u="none" strike="noStrike" dirty="0">
                          <a:solidFill>
                            <a:srgbClr val="FFFFFF"/>
                          </a:solidFill>
                          <a:effectLst/>
                          <a:latin typeface="Calibri" panose="020F0502020204030204" pitchFamily="34" charset="0"/>
                        </a:rPr>
                        <a:t>Company Name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LTM</a:t>
                      </a:r>
                    </a:p>
                    <a:p>
                      <a:pPr algn="ctr" fontAlgn="b">
                        <a:lnSpc>
                          <a:spcPct val="90000"/>
                        </a:lnSpc>
                        <a:buNone/>
                      </a:pPr>
                      <a:r>
                        <a:rPr lang="en-US" sz="900" b="1" i="0" u="none" strike="noStrike">
                          <a:solidFill>
                            <a:srgbClr val="FFFFFF"/>
                          </a:solidFill>
                          <a:effectLst/>
                          <a:latin typeface="Calibri" panose="020F0502020204030204" pitchFamily="34" charset="0"/>
                        </a:rPr>
                        <a:t>Revenue</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Commentary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92237684"/>
                  </a:ext>
                </a:extLst>
              </a:tr>
              <a:tr h="257573">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Intertek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$4,526</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$8,258</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1.8x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Quality</a:t>
                      </a:r>
                    </a:p>
                    <a:p>
                      <a:pPr algn="ctr" fontAlgn="ctr">
                        <a:lnSpc>
                          <a:spcPct val="90000"/>
                        </a:lnSpc>
                        <a:buNone/>
                      </a:pPr>
                      <a:r>
                        <a:rPr lang="en-US" sz="900" b="0" i="0" u="none" strike="noStrike">
                          <a:solidFill>
                            <a:srgbClr val="000000"/>
                          </a:solidFill>
                          <a:effectLst/>
                          <a:latin typeface="Calibri" panose="020F0502020204030204" pitchFamily="34" charset="0"/>
                        </a:rPr>
                        <a:t>Assurance/</a:t>
                      </a:r>
                    </a:p>
                    <a:p>
                      <a:pPr algn="ctr" fontAlgn="ctr">
                        <a:lnSpc>
                          <a:spcPct val="90000"/>
                        </a:lnSpc>
                        <a:buNone/>
                      </a:pPr>
                      <a:r>
                        <a:rPr lang="en-US" sz="900" b="0" i="0" u="none" strike="noStrike">
                          <a:solidFill>
                            <a:srgbClr val="000000"/>
                          </a:solidFill>
                          <a:effectLst/>
                          <a:latin typeface="Calibri" panose="020F0502020204030204" pitchFamily="34" charset="0"/>
                        </a:rPr>
                        <a:t>Inspection</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Narrow focus on factory auditing, building testing, quality assurance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60269758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RELX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$12,650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$62,696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5.0x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42774109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Balfour Beatty</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$11,483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$4,651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99735583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Computacenter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$10,161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$4,461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IT Infrastructure</a:t>
                      </a:r>
                    </a:p>
                    <a:p>
                      <a:pPr algn="ctr" fontAlgn="ctr">
                        <a:lnSpc>
                          <a:spcPct val="90000"/>
                        </a:lnSpc>
                        <a:buNone/>
                      </a:pPr>
                      <a:r>
                        <a:rPr lang="en-US" sz="900" b="0" i="0" u="none" strike="noStrike">
                          <a:solidFill>
                            <a:srgbClr val="000000"/>
                          </a:solidFill>
                          <a:effectLst/>
                          <a:latin typeface="Calibri" panose="020F0502020204030204" pitchFamily="34" charset="0"/>
                        </a:rPr>
                        <a:t>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Tech</a:t>
                      </a:r>
                    </a:p>
                    <a:p>
                      <a:pPr algn="ctr" fontAlgn="ctr">
                        <a:lnSpc>
                          <a:spcPct val="90000"/>
                        </a:lnSpc>
                        <a:buNone/>
                      </a:pPr>
                      <a:r>
                        <a:rPr lang="en-US" sz="900" b="0" i="0" u="none" strike="noStrike">
                          <a:solidFill>
                            <a:srgbClr val="000000"/>
                          </a:solidFill>
                          <a:effectLst/>
                          <a:latin typeface="Calibri" panose="020F0502020204030204" pitchFamily="34" charset="0"/>
                        </a:rPr>
                        <a:t>Sourcing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8176477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Serco</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$6,433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$4,027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Service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Outsourced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141697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Keller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$4,072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$2,008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0.5x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Specialist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Specialty Contracting/</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51117008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Smiths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Industrial Conglomerates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$3,789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$10,834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0754791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Experian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$7,965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$33,178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Platform</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410302075"/>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Mitie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$2,957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022380362"/>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Rentokil Initial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$15,770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Pest Control &amp;</a:t>
                      </a:r>
                    </a:p>
                    <a:p>
                      <a:pPr algn="ctr" fontAlgn="ctr">
                        <a:lnSpc>
                          <a:spcPct val="90000"/>
                        </a:lnSpc>
                        <a:buNone/>
                      </a:pPr>
                      <a:r>
                        <a:rPr lang="en-US" sz="900" b="0" i="0" u="none" strike="noStrike">
                          <a:solidFill>
                            <a:srgbClr val="000000"/>
                          </a:solidFill>
                          <a:effectLst/>
                          <a:latin typeface="Calibri" panose="020F0502020204030204" pitchFamily="34" charset="0"/>
                        </a:rPr>
                        <a:t>Hygiene Svcs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Field Svc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40349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Morgan Sindall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$6,620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$2,819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0895250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Amdocs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$4,579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$7,365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SaaS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12408756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Sensata</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Electrical Components and Equipment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$3,705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$4,988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632807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The Sage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3.1x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266205703"/>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Kier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$5,430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Gov't/Public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258889278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6190910"/>
                  </a:ext>
                </a:extLst>
              </a:tr>
              <a:tr h="174218">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426271897"/>
                  </a:ext>
                </a:extLst>
              </a:tr>
            </a:tbl>
          </a:graphicData>
        </a:graphic>
      </p:graphicFrame>
      <p:sp>
        <p:nvSpPr>
          <p:cNvPr id="5" name="TextBox 4">
            <a:extLst>
              <a:ext uri="{FF2B5EF4-FFF2-40B4-BE49-F238E27FC236}">
                <a16:creationId xmlns:a16="http://schemas.microsoft.com/office/drawing/2014/main" id="{0C2591F4-2632-1F0F-93EE-877159D411E5}"/>
              </a:ext>
            </a:extLst>
          </p:cNvPr>
          <p:cNvSpPr txBox="1"/>
          <p:nvPr/>
        </p:nvSpPr>
        <p:spPr>
          <a:xfrm>
            <a:off x="141923" y="6320052"/>
            <a:ext cx="378014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LTM revenues</a:t>
            </a:r>
          </a:p>
          <a:p>
            <a:pPr marL="173038" indent="-173038">
              <a:buAutoNum type="arabicParenBoth"/>
            </a:pPr>
            <a:r>
              <a:rPr lang="en-US" sz="900" i="1"/>
              <a:t>Values represent non-U.K. revenue as a % of total revenue</a:t>
            </a:r>
          </a:p>
        </p:txBody>
      </p:sp>
    </p:spTree>
    <p:extLst>
      <p:ext uri="{BB962C8B-B14F-4D97-AF65-F5344CB8AC3E}">
        <p14:creationId xmlns:p14="http://schemas.microsoft.com/office/powerpoint/2010/main" val="22916455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E05E9172-1FF7-45C3-29D0-68AF458AACED}"/>
              </a:ext>
            </a:extLst>
          </p:cNvPr>
          <p:cNvCxnSpPr>
            <a:cxnSpLocks/>
          </p:cNvCxnSpPr>
          <p:nvPr/>
        </p:nvCxnSpPr>
        <p:spPr>
          <a:xfrm>
            <a:off x="6986709" y="3240308"/>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F0D0D61-2228-2636-0C33-AB6A4EA4FDB6}"/>
              </a:ext>
            </a:extLst>
          </p:cNvPr>
          <p:cNvCxnSpPr>
            <a:cxnSpLocks/>
          </p:cNvCxnSpPr>
          <p:nvPr/>
        </p:nvCxnSpPr>
        <p:spPr>
          <a:xfrm>
            <a:off x="4457700" y="2231032"/>
            <a:ext cx="0" cy="268628"/>
          </a:xfrm>
          <a:prstGeom prst="line">
            <a:avLst/>
          </a:prstGeom>
          <a:ln w="635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4CFC33A-81AA-8356-89F9-5E77A5A5E16A}"/>
              </a:ext>
            </a:extLst>
          </p:cNvPr>
          <p:cNvCxnSpPr>
            <a:cxnSpLocks/>
          </p:cNvCxnSpPr>
          <p:nvPr/>
        </p:nvCxnSpPr>
        <p:spPr>
          <a:xfrm>
            <a:off x="1549354" y="2505583"/>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E9650626-F7E5-D0FE-5777-6A4C2B13754E}"/>
              </a:ext>
            </a:extLst>
          </p:cNvPr>
          <p:cNvCxnSpPr>
            <a:cxnSpLocks/>
          </p:cNvCxnSpPr>
          <p:nvPr/>
        </p:nvCxnSpPr>
        <p:spPr>
          <a:xfrm>
            <a:off x="3827502" y="2506357"/>
            <a:ext cx="0" cy="180809"/>
          </a:xfrm>
          <a:prstGeom prst="line">
            <a:avLst/>
          </a:prstGeom>
          <a:ln w="6350"/>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D4A3111-2682-07A4-D121-BD7018C54142}"/>
              </a:ext>
            </a:extLst>
          </p:cNvPr>
          <p:cNvCxnSpPr>
            <a:cxnSpLocks/>
          </p:cNvCxnSpPr>
          <p:nvPr/>
        </p:nvCxnSpPr>
        <p:spPr>
          <a:xfrm>
            <a:off x="6945130" y="250635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07BE023-5645-8EF9-8DD0-39D448BA2D42}"/>
              </a:ext>
            </a:extLst>
          </p:cNvPr>
          <p:cNvCxnSpPr>
            <a:cxnSpLocks/>
          </p:cNvCxnSpPr>
          <p:nvPr/>
        </p:nvCxnSpPr>
        <p:spPr>
          <a:xfrm>
            <a:off x="6282374" y="4031135"/>
            <a:ext cx="0" cy="418933"/>
          </a:xfrm>
          <a:prstGeom prst="line">
            <a:avLst/>
          </a:prstGeom>
          <a:ln w="63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BCEC598-51D3-D035-E821-F2B0333D55DC}"/>
              </a:ext>
            </a:extLst>
          </p:cNvPr>
          <p:cNvCxnSpPr>
            <a:cxnSpLocks/>
          </p:cNvCxnSpPr>
          <p:nvPr/>
        </p:nvCxnSpPr>
        <p:spPr>
          <a:xfrm>
            <a:off x="6281960" y="5233299"/>
            <a:ext cx="0" cy="485322"/>
          </a:xfrm>
          <a:prstGeom prst="line">
            <a:avLst/>
          </a:prstGeom>
          <a:ln w="635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835CD17-1A05-523E-8F5C-BC1C3E91CFF2}"/>
              </a:ext>
            </a:extLst>
          </p:cNvPr>
          <p:cNvCxnSpPr>
            <a:cxnSpLocks/>
          </p:cNvCxnSpPr>
          <p:nvPr/>
        </p:nvCxnSpPr>
        <p:spPr>
          <a:xfrm>
            <a:off x="7756949" y="34268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724511F-00DD-0E7C-7328-3ABC49F8C4F9}"/>
              </a:ext>
            </a:extLst>
          </p:cNvPr>
          <p:cNvCxnSpPr>
            <a:cxnSpLocks/>
          </p:cNvCxnSpPr>
          <p:nvPr/>
        </p:nvCxnSpPr>
        <p:spPr>
          <a:xfrm>
            <a:off x="6263013" y="34303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86D41E8-B31D-E22D-FEB7-9F1C1DC8E6E5}"/>
              </a:ext>
            </a:extLst>
          </p:cNvPr>
          <p:cNvCxnSpPr/>
          <p:nvPr/>
        </p:nvCxnSpPr>
        <p:spPr>
          <a:xfrm>
            <a:off x="1549742" y="2511162"/>
            <a:ext cx="5404104" cy="0"/>
          </a:xfrm>
          <a:prstGeom prst="line">
            <a:avLst/>
          </a:prstGeom>
          <a:ln w="6350"/>
        </p:spPr>
        <p:style>
          <a:lnRef idx="1">
            <a:schemeClr val="dk1"/>
          </a:lnRef>
          <a:fillRef idx="0">
            <a:schemeClr val="dk1"/>
          </a:fillRef>
          <a:effectRef idx="0">
            <a:schemeClr val="dk1"/>
          </a:effectRef>
          <a:fontRef idx="minor">
            <a:schemeClr val="tx1"/>
          </a:fontRef>
        </p:style>
      </p:cxn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All peers-of-peers were analyzed, but none qualified for inclusion in </a:t>
            </a:r>
            <a:r>
              <a:rPr lang="en-US" dirty="0" err="1"/>
              <a:t>Plutos</a:t>
            </a:r>
            <a:r>
              <a:rPr lang="en-US" dirty="0"/>
              <a:t>’ peer group</a:t>
            </a:r>
          </a:p>
        </p:txBody>
      </p:sp>
      <p:sp>
        <p:nvSpPr>
          <p:cNvPr id="46" name="TextBox 45"/>
          <p:cNvSpPr txBox="1"/>
          <p:nvPr/>
        </p:nvSpPr>
        <p:spPr>
          <a:xfrm>
            <a:off x="3415804" y="1432690"/>
            <a:ext cx="2312393" cy="307777"/>
          </a:xfrm>
          <a:prstGeom prst="rect">
            <a:avLst/>
          </a:prstGeom>
          <a:noFill/>
        </p:spPr>
        <p:txBody>
          <a:bodyPr wrap="square" lIns="45720" tIns="45720" rIns="45720" bIns="45720" rtlCol="0" anchor="ctr">
            <a:spAutoFit/>
          </a:bodyPr>
          <a:lstStyle/>
          <a:p>
            <a:pPr algn="ctr"/>
            <a:r>
              <a:rPr lang="en-US" sz="1400" b="1"/>
              <a:t>Peers-of-Peers Analysis</a:t>
            </a:r>
          </a:p>
        </p:txBody>
      </p:sp>
      <p:sp>
        <p:nvSpPr>
          <p:cNvPr id="8" name="TextBox 7">
            <a:extLst>
              <a:ext uri="{FF2B5EF4-FFF2-40B4-BE49-F238E27FC236}">
                <a16:creationId xmlns:a16="http://schemas.microsoft.com/office/drawing/2014/main" id="{441F460F-B37D-9952-739F-A05CCE18A79C}"/>
              </a:ext>
            </a:extLst>
          </p:cNvPr>
          <p:cNvSpPr txBox="1"/>
          <p:nvPr/>
        </p:nvSpPr>
        <p:spPr>
          <a:xfrm>
            <a:off x="3768985" y="1794790"/>
            <a:ext cx="1377429" cy="460191"/>
          </a:xfrm>
          <a:prstGeom prst="rect">
            <a:avLst/>
          </a:prstGeom>
          <a:solidFill>
            <a:schemeClr val="tx2"/>
          </a:solidFill>
          <a:ln>
            <a:solidFill>
              <a:schemeClr val="tx1"/>
            </a:solidFill>
          </a:ln>
        </p:spPr>
        <p:txBody>
          <a:bodyPr wrap="none" lIns="45720" tIns="45720" rIns="45720" bIns="45720" rtlCol="0" anchor="ctr">
            <a:spAutoFit/>
          </a:bodyPr>
          <a:lstStyle/>
          <a:p>
            <a:pPr algn="ctr">
              <a:lnSpc>
                <a:spcPct val="85000"/>
              </a:lnSpc>
            </a:pPr>
            <a:r>
              <a:rPr lang="en-US" sz="1400" b="1">
                <a:solidFill>
                  <a:schemeClr val="bg1"/>
                </a:solidFill>
              </a:rPr>
              <a:t>All Peers of Peers</a:t>
            </a:r>
          </a:p>
          <a:p>
            <a:pPr algn="ctr">
              <a:lnSpc>
                <a:spcPct val="85000"/>
              </a:lnSpc>
            </a:pPr>
            <a:r>
              <a:rPr lang="en-US" sz="1400" b="1">
                <a:solidFill>
                  <a:schemeClr val="bg1"/>
                </a:solidFill>
              </a:rPr>
              <a:t>N=140</a:t>
            </a:r>
          </a:p>
        </p:txBody>
      </p:sp>
      <p:sp>
        <p:nvSpPr>
          <p:cNvPr id="9" name="TextBox 8">
            <a:extLst>
              <a:ext uri="{FF2B5EF4-FFF2-40B4-BE49-F238E27FC236}">
                <a16:creationId xmlns:a16="http://schemas.microsoft.com/office/drawing/2014/main" id="{83C0CCFC-CB56-7E64-0CBD-477181EEC712}"/>
              </a:ext>
            </a:extLst>
          </p:cNvPr>
          <p:cNvSpPr txBox="1"/>
          <p:nvPr/>
        </p:nvSpPr>
        <p:spPr>
          <a:xfrm>
            <a:off x="6190089" y="2638561"/>
            <a:ext cx="15792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Industry Screen</a:t>
            </a:r>
          </a:p>
          <a:p>
            <a:pPr algn="ctr">
              <a:lnSpc>
                <a:spcPct val="85000"/>
              </a:lnSpc>
            </a:pPr>
            <a:r>
              <a:rPr lang="en-US" sz="1400" b="1"/>
              <a:t>N=72</a:t>
            </a:r>
          </a:p>
        </p:txBody>
      </p:sp>
      <p:sp>
        <p:nvSpPr>
          <p:cNvPr id="10" name="TextBox 9">
            <a:extLst>
              <a:ext uri="{FF2B5EF4-FFF2-40B4-BE49-F238E27FC236}">
                <a16:creationId xmlns:a16="http://schemas.microsoft.com/office/drawing/2014/main" id="{8F4B7BF0-C030-4C46-60E1-BA3A60F34CAF}"/>
              </a:ext>
            </a:extLst>
          </p:cNvPr>
          <p:cNvSpPr txBox="1"/>
          <p:nvPr/>
        </p:nvSpPr>
        <p:spPr>
          <a:xfrm>
            <a:off x="791863" y="2629385"/>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Outside of North America</a:t>
            </a:r>
          </a:p>
          <a:p>
            <a:pPr algn="ctr">
              <a:lnSpc>
                <a:spcPct val="85000"/>
              </a:lnSpc>
            </a:pPr>
            <a:r>
              <a:rPr lang="en-US" sz="1400" b="1"/>
              <a:t>N=23</a:t>
            </a:r>
          </a:p>
        </p:txBody>
      </p:sp>
      <p:sp>
        <p:nvSpPr>
          <p:cNvPr id="12" name="TextBox 11">
            <a:extLst>
              <a:ext uri="{FF2B5EF4-FFF2-40B4-BE49-F238E27FC236}">
                <a16:creationId xmlns:a16="http://schemas.microsoft.com/office/drawing/2014/main" id="{92C9F093-E0AF-0265-4CB7-E00BFFDBBFB5}"/>
              </a:ext>
            </a:extLst>
          </p:cNvPr>
          <p:cNvSpPr txBox="1"/>
          <p:nvPr/>
        </p:nvSpPr>
        <p:spPr>
          <a:xfrm>
            <a:off x="3105838" y="263443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Industry Screen</a:t>
            </a:r>
          </a:p>
          <a:p>
            <a:pPr algn="ctr">
              <a:lnSpc>
                <a:spcPct val="85000"/>
              </a:lnSpc>
            </a:pPr>
            <a:r>
              <a:rPr lang="en-US" sz="1400" b="1"/>
              <a:t>N=45</a:t>
            </a:r>
          </a:p>
        </p:txBody>
      </p:sp>
      <p:sp>
        <p:nvSpPr>
          <p:cNvPr id="15" name="TextBox 14">
            <a:extLst>
              <a:ext uri="{FF2B5EF4-FFF2-40B4-BE49-F238E27FC236}">
                <a16:creationId xmlns:a16="http://schemas.microsoft.com/office/drawing/2014/main" id="{C15F98C5-0FA8-92D5-01EC-D6C3C441349A}"/>
              </a:ext>
            </a:extLst>
          </p:cNvPr>
          <p:cNvSpPr txBox="1"/>
          <p:nvPr/>
        </p:nvSpPr>
        <p:spPr>
          <a:xfrm>
            <a:off x="7032009" y="3604890"/>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Size Screen</a:t>
            </a:r>
          </a:p>
          <a:p>
            <a:pPr algn="ctr">
              <a:lnSpc>
                <a:spcPct val="85000"/>
              </a:lnSpc>
            </a:pPr>
            <a:r>
              <a:rPr lang="en-US" sz="1400" b="1"/>
              <a:t>N=28</a:t>
            </a:r>
          </a:p>
        </p:txBody>
      </p:sp>
      <p:sp>
        <p:nvSpPr>
          <p:cNvPr id="18" name="TextBox 17">
            <a:extLst>
              <a:ext uri="{FF2B5EF4-FFF2-40B4-BE49-F238E27FC236}">
                <a16:creationId xmlns:a16="http://schemas.microsoft.com/office/drawing/2014/main" id="{B8D332BD-FA30-B7E5-9968-E16BEAC5FC64}"/>
              </a:ext>
            </a:extLst>
          </p:cNvPr>
          <p:cNvSpPr txBox="1"/>
          <p:nvPr/>
        </p:nvSpPr>
        <p:spPr>
          <a:xfrm>
            <a:off x="5582160" y="3597327"/>
            <a:ext cx="137912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p>
            <a:pPr algn="ctr">
              <a:lnSpc>
                <a:spcPct val="85000"/>
              </a:lnSpc>
            </a:pPr>
            <a:r>
              <a:rPr lang="en-US" sz="1400" b="1"/>
              <a:t>Met Size Screen</a:t>
            </a:r>
          </a:p>
          <a:p>
            <a:pPr algn="ctr">
              <a:lnSpc>
                <a:spcPct val="85000"/>
              </a:lnSpc>
            </a:pPr>
            <a:r>
              <a:rPr lang="en-US" sz="1400" b="1"/>
              <a:t>N=44</a:t>
            </a:r>
          </a:p>
        </p:txBody>
      </p:sp>
      <p:sp>
        <p:nvSpPr>
          <p:cNvPr id="21" name="TextBox 20">
            <a:extLst>
              <a:ext uri="{FF2B5EF4-FFF2-40B4-BE49-F238E27FC236}">
                <a16:creationId xmlns:a16="http://schemas.microsoft.com/office/drawing/2014/main" id="{C6A6EAC4-5075-5B3D-1E31-6CF5A8234349}"/>
              </a:ext>
            </a:extLst>
          </p:cNvPr>
          <p:cNvSpPr txBox="1"/>
          <p:nvPr/>
        </p:nvSpPr>
        <p:spPr>
          <a:xfrm>
            <a:off x="5586281" y="4440763"/>
            <a:ext cx="137912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N=44</a:t>
            </a:r>
          </a:p>
        </p:txBody>
      </p:sp>
      <p:sp>
        <p:nvSpPr>
          <p:cNvPr id="23" name="TextBox 22">
            <a:extLst>
              <a:ext uri="{FF2B5EF4-FFF2-40B4-BE49-F238E27FC236}">
                <a16:creationId xmlns:a16="http://schemas.microsoft.com/office/drawing/2014/main" id="{4A5FFEC2-5892-FEBC-7225-36A982FE4BF0}"/>
              </a:ext>
            </a:extLst>
          </p:cNvPr>
          <p:cNvSpPr txBox="1"/>
          <p:nvPr/>
        </p:nvSpPr>
        <p:spPr>
          <a:xfrm>
            <a:off x="5606871" y="5608313"/>
            <a:ext cx="1379128"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N=0</a:t>
            </a:r>
          </a:p>
        </p:txBody>
      </p:sp>
      <p:cxnSp>
        <p:nvCxnSpPr>
          <p:cNvPr id="26" name="Straight Connector 25">
            <a:extLst>
              <a:ext uri="{FF2B5EF4-FFF2-40B4-BE49-F238E27FC236}">
                <a16:creationId xmlns:a16="http://schemas.microsoft.com/office/drawing/2014/main" id="{ABFD1647-AD21-D985-7C31-072CD26DB1BB}"/>
              </a:ext>
            </a:extLst>
          </p:cNvPr>
          <p:cNvCxnSpPr>
            <a:cxnSpLocks/>
          </p:cNvCxnSpPr>
          <p:nvPr/>
        </p:nvCxnSpPr>
        <p:spPr>
          <a:xfrm>
            <a:off x="6265902" y="3428594"/>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C25549C-B453-F400-B7F2-AF555BC4D721}"/>
              </a:ext>
            </a:extLst>
          </p:cNvPr>
          <p:cNvSpPr txBox="1"/>
          <p:nvPr/>
        </p:nvSpPr>
        <p:spPr>
          <a:xfrm>
            <a:off x="6306942" y="1619734"/>
            <a:ext cx="2104193" cy="747512"/>
          </a:xfrm>
          <a:prstGeom prst="rect">
            <a:avLst/>
          </a:prstGeom>
          <a:solidFill>
            <a:schemeClr val="accent3">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000"/>
              <a:t>Note: Although certain companies did not meet the size screen, we tested their relevance through the other screens to ensure that no potential peer companies were missed</a:t>
            </a:r>
          </a:p>
        </p:txBody>
      </p:sp>
      <p:cxnSp>
        <p:nvCxnSpPr>
          <p:cNvPr id="27" name="Straight Arrow Connector 26">
            <a:extLst>
              <a:ext uri="{FF2B5EF4-FFF2-40B4-BE49-F238E27FC236}">
                <a16:creationId xmlns:a16="http://schemas.microsoft.com/office/drawing/2014/main" id="{BCF2DB6A-0E04-EBE4-3CDD-03ECE6CB7594}"/>
              </a:ext>
            </a:extLst>
          </p:cNvPr>
          <p:cNvCxnSpPr>
            <a:stCxn id="22" idx="2"/>
          </p:cNvCxnSpPr>
          <p:nvPr/>
        </p:nvCxnSpPr>
        <p:spPr>
          <a:xfrm flipH="1">
            <a:off x="7093808" y="2367246"/>
            <a:ext cx="265231" cy="26213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F2FE662-5F0D-C3D4-A002-CD5F2EF0FF9F}"/>
              </a:ext>
            </a:extLst>
          </p:cNvPr>
          <p:cNvCxnSpPr>
            <a:cxnSpLocks/>
          </p:cNvCxnSpPr>
          <p:nvPr/>
        </p:nvCxnSpPr>
        <p:spPr>
          <a:xfrm>
            <a:off x="3822528" y="3285882"/>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53B8E6-3943-7024-07D4-A822ECE9A008}"/>
              </a:ext>
            </a:extLst>
          </p:cNvPr>
          <p:cNvCxnSpPr>
            <a:cxnSpLocks/>
          </p:cNvCxnSpPr>
          <p:nvPr/>
        </p:nvCxnSpPr>
        <p:spPr>
          <a:xfrm>
            <a:off x="4592768" y="34724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45A64B8-6947-4433-6426-DBC556A6421E}"/>
              </a:ext>
            </a:extLst>
          </p:cNvPr>
          <p:cNvCxnSpPr>
            <a:cxnSpLocks/>
          </p:cNvCxnSpPr>
          <p:nvPr/>
        </p:nvCxnSpPr>
        <p:spPr>
          <a:xfrm>
            <a:off x="3098832" y="34759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A8B650BB-94CF-B935-FC44-EF6989315646}"/>
              </a:ext>
            </a:extLst>
          </p:cNvPr>
          <p:cNvCxnSpPr>
            <a:cxnSpLocks/>
          </p:cNvCxnSpPr>
          <p:nvPr/>
        </p:nvCxnSpPr>
        <p:spPr>
          <a:xfrm>
            <a:off x="3101721" y="3474168"/>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25AA45A-564F-A365-14FC-BB32981BD820}"/>
              </a:ext>
            </a:extLst>
          </p:cNvPr>
          <p:cNvSpPr txBox="1"/>
          <p:nvPr/>
        </p:nvSpPr>
        <p:spPr>
          <a:xfrm>
            <a:off x="2357746" y="361005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Met Size Screen</a:t>
            </a:r>
          </a:p>
          <a:p>
            <a:r>
              <a:rPr lang="en-US">
                <a:solidFill>
                  <a:schemeClr val="tx1"/>
                </a:solidFill>
              </a:rPr>
              <a:t>N=40</a:t>
            </a:r>
          </a:p>
        </p:txBody>
      </p:sp>
      <p:sp>
        <p:nvSpPr>
          <p:cNvPr id="13" name="TextBox 12">
            <a:extLst>
              <a:ext uri="{FF2B5EF4-FFF2-40B4-BE49-F238E27FC236}">
                <a16:creationId xmlns:a16="http://schemas.microsoft.com/office/drawing/2014/main" id="{584FC8A2-8338-839C-4EEE-8C214492834F}"/>
              </a:ext>
            </a:extLst>
          </p:cNvPr>
          <p:cNvSpPr txBox="1"/>
          <p:nvPr/>
        </p:nvSpPr>
        <p:spPr>
          <a:xfrm>
            <a:off x="3969953" y="3597283"/>
            <a:ext cx="1442473"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Did not Meet Size Screen</a:t>
            </a:r>
          </a:p>
          <a:p>
            <a:r>
              <a:rPr lang="en-US">
                <a:solidFill>
                  <a:schemeClr val="tx1"/>
                </a:solidFill>
              </a:rPr>
              <a:t>N=5</a:t>
            </a:r>
          </a:p>
        </p:txBody>
      </p:sp>
      <p:cxnSp>
        <p:nvCxnSpPr>
          <p:cNvPr id="39" name="Straight Connector 38">
            <a:extLst>
              <a:ext uri="{FF2B5EF4-FFF2-40B4-BE49-F238E27FC236}">
                <a16:creationId xmlns:a16="http://schemas.microsoft.com/office/drawing/2014/main" id="{1C18572D-0664-2336-720C-F668801F40FF}"/>
              </a:ext>
            </a:extLst>
          </p:cNvPr>
          <p:cNvCxnSpPr>
            <a:cxnSpLocks/>
          </p:cNvCxnSpPr>
          <p:nvPr/>
        </p:nvCxnSpPr>
        <p:spPr>
          <a:xfrm>
            <a:off x="3094378" y="425006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B0A799E9-8268-A038-05C4-3071D58DCDF9}"/>
              </a:ext>
            </a:extLst>
          </p:cNvPr>
          <p:cNvCxnSpPr>
            <a:cxnSpLocks/>
          </p:cNvCxnSpPr>
          <p:nvPr/>
        </p:nvCxnSpPr>
        <p:spPr>
          <a:xfrm>
            <a:off x="3864618" y="44366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9D23E650-936A-1723-B786-A33BBDBB3BF9}"/>
              </a:ext>
            </a:extLst>
          </p:cNvPr>
          <p:cNvCxnSpPr>
            <a:cxnSpLocks/>
          </p:cNvCxnSpPr>
          <p:nvPr/>
        </p:nvCxnSpPr>
        <p:spPr>
          <a:xfrm>
            <a:off x="2370682" y="44401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F15224F-4DA4-AAE4-6AD5-97CE5EE6EFAE}"/>
              </a:ext>
            </a:extLst>
          </p:cNvPr>
          <p:cNvCxnSpPr>
            <a:cxnSpLocks/>
          </p:cNvCxnSpPr>
          <p:nvPr/>
        </p:nvCxnSpPr>
        <p:spPr>
          <a:xfrm>
            <a:off x="2373571" y="4438353"/>
            <a:ext cx="1491042" cy="0"/>
          </a:xfrm>
          <a:prstGeom prst="line">
            <a:avLst/>
          </a:prstGeom>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2EC71D6-06C1-6BF8-A307-80037DCE8AC9}"/>
              </a:ext>
            </a:extLst>
          </p:cNvPr>
          <p:cNvCxnSpPr>
            <a:cxnSpLocks/>
          </p:cNvCxnSpPr>
          <p:nvPr/>
        </p:nvCxnSpPr>
        <p:spPr>
          <a:xfrm>
            <a:off x="2364973" y="5182649"/>
            <a:ext cx="0" cy="485322"/>
          </a:xfrm>
          <a:prstGeom prst="line">
            <a:avLst/>
          </a:prstGeom>
          <a:ln w="6350"/>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D3A73A5D-D5E8-584C-370C-A6A5916B0F32}"/>
              </a:ext>
            </a:extLst>
          </p:cNvPr>
          <p:cNvSpPr txBox="1"/>
          <p:nvPr/>
        </p:nvSpPr>
        <p:spPr>
          <a:xfrm>
            <a:off x="1671920" y="5559326"/>
            <a:ext cx="1442472"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N=15 peers</a:t>
            </a:r>
          </a:p>
        </p:txBody>
      </p:sp>
      <p:sp>
        <p:nvSpPr>
          <p:cNvPr id="6" name="TextBox 5">
            <a:extLst>
              <a:ext uri="{FF2B5EF4-FFF2-40B4-BE49-F238E27FC236}">
                <a16:creationId xmlns:a16="http://schemas.microsoft.com/office/drawing/2014/main" id="{5E4B723F-96D2-326A-A6E9-AEBF3A4E6E04}"/>
              </a:ext>
            </a:extLst>
          </p:cNvPr>
          <p:cNvSpPr txBox="1"/>
          <p:nvPr/>
        </p:nvSpPr>
        <p:spPr>
          <a:xfrm>
            <a:off x="1671920" y="4578652"/>
            <a:ext cx="144246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Business Model Screen</a:t>
            </a:r>
          </a:p>
          <a:p>
            <a:pPr algn="ctr">
              <a:lnSpc>
                <a:spcPct val="85000"/>
              </a:lnSpc>
            </a:pPr>
            <a:r>
              <a:rPr lang="en-US" sz="1400" b="1"/>
              <a:t>N=15</a:t>
            </a:r>
          </a:p>
        </p:txBody>
      </p:sp>
      <p:sp>
        <p:nvSpPr>
          <p:cNvPr id="14" name="TextBox 13">
            <a:extLst>
              <a:ext uri="{FF2B5EF4-FFF2-40B4-BE49-F238E27FC236}">
                <a16:creationId xmlns:a16="http://schemas.microsoft.com/office/drawing/2014/main" id="{EEF1C7B4-DDE4-9F10-6977-0C847B3CDA98}"/>
              </a:ext>
            </a:extLst>
          </p:cNvPr>
          <p:cNvSpPr txBox="1"/>
          <p:nvPr/>
        </p:nvSpPr>
        <p:spPr>
          <a:xfrm>
            <a:off x="3291149" y="4598865"/>
            <a:ext cx="144246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N=25</a:t>
            </a:r>
          </a:p>
        </p:txBody>
      </p:sp>
    </p:spTree>
    <p:extLst>
      <p:ext uri="{BB962C8B-B14F-4D97-AF65-F5344CB8AC3E}">
        <p14:creationId xmlns:p14="http://schemas.microsoft.com/office/powerpoint/2010/main" val="10905111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302CB5-2927-7FB4-8360-3732F0AB95A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6607B03-2771-B0A7-960B-13F19D67A835}"/>
              </a:ext>
            </a:extLst>
          </p:cNvPr>
          <p:cNvSpPr>
            <a:spLocks noGrp="1"/>
          </p:cNvSpPr>
          <p:nvPr>
            <p:ph type="title"/>
          </p:nvPr>
        </p:nvSpPr>
        <p:spPr>
          <a:xfrm>
            <a:off x="882797" y="44215"/>
            <a:ext cx="8074152" cy="1292899"/>
          </a:xfrm>
        </p:spPr>
        <p:txBody>
          <a:bodyPr/>
          <a:lstStyle/>
          <a:p>
            <a:r>
              <a:rPr lang="en-US" dirty="0"/>
              <a:t>Among 154 companies identified in </a:t>
            </a:r>
            <a:r>
              <a:rPr lang="en-US" dirty="0" err="1"/>
              <a:t>Plutos</a:t>
            </a:r>
            <a:r>
              <a:rPr lang="en-US" dirty="0"/>
              <a:t>’ and PA Consulting’s noncompete agreements, ~70% are private, and the relevant public companies are already in </a:t>
            </a:r>
            <a:r>
              <a:rPr lang="en-US" dirty="0" err="1"/>
              <a:t>Plutos</a:t>
            </a:r>
            <a:r>
              <a:rPr lang="en-US" dirty="0"/>
              <a:t>’ peer group</a:t>
            </a:r>
          </a:p>
        </p:txBody>
      </p:sp>
      <p:sp>
        <p:nvSpPr>
          <p:cNvPr id="14" name="TextBox 13">
            <a:extLst>
              <a:ext uri="{FF2B5EF4-FFF2-40B4-BE49-F238E27FC236}">
                <a16:creationId xmlns:a16="http://schemas.microsoft.com/office/drawing/2014/main" id="{56C4347B-0D3D-03DB-2F05-82D34B5064CD}"/>
              </a:ext>
            </a:extLst>
          </p:cNvPr>
          <p:cNvSpPr txBox="1"/>
          <p:nvPr/>
        </p:nvSpPr>
        <p:spPr>
          <a:xfrm>
            <a:off x="3089779" y="6076448"/>
            <a:ext cx="4372327" cy="369332"/>
          </a:xfrm>
          <a:prstGeom prst="rect">
            <a:avLst/>
          </a:prstGeom>
          <a:noFill/>
        </p:spPr>
        <p:txBody>
          <a:bodyPr wrap="square" lIns="45720" tIns="45720" rIns="45720" bIns="45720" rtlCol="0" anchor="ctr">
            <a:spAutoFit/>
          </a:bodyPr>
          <a:lstStyle/>
          <a:p>
            <a:pPr marL="228600" indent="-228600">
              <a:buFontTx/>
              <a:buAutoNum type="arabicParenBoth"/>
            </a:pPr>
            <a:r>
              <a:rPr lang="en-US" sz="900" i="1"/>
              <a:t>Perficient was acquired by </a:t>
            </a:r>
            <a:r>
              <a:rPr lang="en-US" sz="900" i="1" err="1"/>
              <a:t>EQT</a:t>
            </a:r>
            <a:r>
              <a:rPr lang="en-US" sz="900" i="1"/>
              <a:t> on October 2,2024</a:t>
            </a:r>
          </a:p>
          <a:p>
            <a:pPr marL="228600" indent="-228600">
              <a:buFontTx/>
              <a:buAutoNum type="arabicParenBoth"/>
            </a:pPr>
            <a:r>
              <a:rPr lang="en-US" sz="900" i="1"/>
              <a:t>Ricardo was acquired by </a:t>
            </a:r>
            <a:r>
              <a:rPr lang="en-US" sz="900" i="1" err="1"/>
              <a:t>WSP</a:t>
            </a:r>
            <a:r>
              <a:rPr lang="en-US" sz="900" i="1"/>
              <a:t> Group October 9, 2025</a:t>
            </a:r>
          </a:p>
        </p:txBody>
      </p:sp>
      <p:sp>
        <p:nvSpPr>
          <p:cNvPr id="15" name="TextBox 14">
            <a:extLst>
              <a:ext uri="{FF2B5EF4-FFF2-40B4-BE49-F238E27FC236}">
                <a16:creationId xmlns:a16="http://schemas.microsoft.com/office/drawing/2014/main" id="{B44AB405-2EC4-C949-95EF-32A241B41D82}"/>
              </a:ext>
            </a:extLst>
          </p:cNvPr>
          <p:cNvSpPr txBox="1"/>
          <p:nvPr/>
        </p:nvSpPr>
        <p:spPr>
          <a:xfrm>
            <a:off x="735217" y="1296150"/>
            <a:ext cx="2011680"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Public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DD8C0A35-CB78-7180-E2E4-4FE7AE54D71B}"/>
              </a:ext>
            </a:extLst>
          </p:cNvPr>
          <p:cNvSpPr txBox="1"/>
          <p:nvPr/>
        </p:nvSpPr>
        <p:spPr>
          <a:xfrm>
            <a:off x="3445996" y="1511593"/>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Private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17365336-1972-E0CD-42AB-F4A554D8559A}"/>
              </a:ext>
            </a:extLst>
          </p:cNvPr>
          <p:cNvGraphicFramePr>
            <a:graphicFrameLocks noGrp="1"/>
          </p:cNvGraphicFramePr>
          <p:nvPr/>
        </p:nvGraphicFramePr>
        <p:xfrm>
          <a:off x="633681" y="1805718"/>
          <a:ext cx="2214753" cy="3575304"/>
        </p:xfrm>
        <a:graphic>
          <a:graphicData uri="http://schemas.openxmlformats.org/drawingml/2006/table">
            <a:tbl>
              <a:tblPr/>
              <a:tblGrid>
                <a:gridCol w="1207389">
                  <a:extLst>
                    <a:ext uri="{9D8B030D-6E8A-4147-A177-3AD203B41FA5}">
                      <a16:colId xmlns:a16="http://schemas.microsoft.com/office/drawing/2014/main" val="3587552027"/>
                    </a:ext>
                  </a:extLst>
                </a:gridCol>
                <a:gridCol w="1007364">
                  <a:extLst>
                    <a:ext uri="{9D8B030D-6E8A-4147-A177-3AD203B41FA5}">
                      <a16:colId xmlns:a16="http://schemas.microsoft.com/office/drawing/2014/main" val="2373711935"/>
                    </a:ext>
                  </a:extLst>
                </a:gridCol>
              </a:tblGrid>
              <a:tr h="0">
                <a:tc gridSpan="2">
                  <a:txBody>
                    <a:bodyPr/>
                    <a:lstStyle/>
                    <a:p>
                      <a:pPr algn="ctr" fontAlgn="b">
                        <a:buNone/>
                      </a:pPr>
                      <a:r>
                        <a:rPr lang="en-US" sz="900" b="1" i="0" u="none" strike="noStrike">
                          <a:solidFill>
                            <a:srgbClr val="FFFFFF"/>
                          </a:solidFill>
                          <a:effectLst/>
                          <a:latin typeface="Calibri" panose="020F0502020204030204" pitchFamily="34" charset="0"/>
                        </a:rPr>
                        <a:t>Public Companies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extLst>
                  <a:ext uri="{0D108BD9-81ED-4DB2-BD59-A6C34878D82A}">
                    <a16:rowId xmlns:a16="http://schemas.microsoft.com/office/drawing/2014/main" val="3595394434"/>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0517326"/>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JLL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48829415"/>
                  </a:ext>
                </a:extLst>
              </a:tr>
              <a:tr h="0">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658309656"/>
                  </a:ext>
                </a:extLst>
              </a:tr>
              <a:tr h="0">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08775509"/>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AtkinsRealis</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710332133"/>
                  </a:ext>
                </a:extLst>
              </a:tr>
              <a:tr h="0">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0541937"/>
                  </a:ext>
                </a:extLst>
              </a:tr>
              <a:tr h="0">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277665"/>
                  </a:ext>
                </a:extLst>
              </a:tr>
              <a:tr h="0">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381218761"/>
                  </a:ext>
                </a:extLst>
              </a:tr>
              <a:tr h="0">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35972231"/>
                  </a:ext>
                </a:extLst>
              </a:tr>
              <a:tr h="0">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14392566"/>
                  </a:ext>
                </a:extLst>
              </a:tr>
              <a:tr h="0">
                <a:tc>
                  <a:txBody>
                    <a:bodyPr/>
                    <a:lstStyle/>
                    <a:p>
                      <a:pPr algn="l" fontAlgn="b">
                        <a:buNone/>
                      </a:pPr>
                      <a:r>
                        <a:rPr lang="en-US" sz="900" b="0" i="0" u="none" strike="noStrike">
                          <a:solidFill>
                            <a:srgbClr val="000000"/>
                          </a:solidFill>
                          <a:effectLst/>
                          <a:latin typeface="Calibri" panose="020F0502020204030204" pitchFamily="34" charset="0"/>
                        </a:rPr>
                        <a:t>CBRE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Procore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36556527"/>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30361213"/>
                  </a:ext>
                </a:extLst>
              </a:tr>
              <a:tr h="0">
                <a:tc>
                  <a:txBody>
                    <a:bodyPr/>
                    <a:lstStyle/>
                    <a:p>
                      <a:pPr algn="l" fontAlgn="b">
                        <a:buNone/>
                      </a:pPr>
                      <a:r>
                        <a:rPr lang="en-US" sz="900" b="0" i="0" u="none" strike="noStrike">
                          <a:solidFill>
                            <a:srgbClr val="000000"/>
                          </a:solidFill>
                          <a:effectLst/>
                          <a:latin typeface="Calibri" panose="020F0502020204030204" pitchFamily="34" charset="0"/>
                        </a:rPr>
                        <a:t>DXC Technology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07175509"/>
                  </a:ext>
                </a:extLst>
              </a:tr>
              <a:tr h="0">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096814984"/>
                  </a:ext>
                </a:extLst>
              </a:tr>
              <a:tr h="0">
                <a:tc>
                  <a:txBody>
                    <a:bodyPr/>
                    <a:lstStyle/>
                    <a:p>
                      <a:pPr algn="l" fontAlgn="b">
                        <a:buNone/>
                      </a:pPr>
                      <a:r>
                        <a:rPr lang="en-US" sz="900" b="0" i="0" u="none" strike="noStrike">
                          <a:solidFill>
                            <a:srgbClr val="000000"/>
                          </a:solidFill>
                          <a:effectLst/>
                          <a:latin typeface="Calibri" panose="020F0502020204030204" pitchFamily="34" charset="0"/>
                        </a:rPr>
                        <a:t>EPAM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TCS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11590258"/>
                  </a:ext>
                </a:extLst>
              </a:tr>
              <a:tr h="0">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2459616427"/>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6474532"/>
                  </a:ext>
                </a:extLst>
              </a:tr>
              <a:tr h="0">
                <a:tc>
                  <a:txBody>
                    <a:bodyPr/>
                    <a:lstStyle/>
                    <a:p>
                      <a:pPr algn="l" fontAlgn="b">
                        <a:buNone/>
                      </a:pPr>
                      <a:r>
                        <a:rPr lang="en-US" sz="900" b="0" i="0" u="none" strike="noStrike">
                          <a:solidFill>
                            <a:srgbClr val="000000"/>
                          </a:solidFill>
                          <a:effectLst/>
                          <a:latin typeface="Calibri" panose="020F0502020204030204" pitchFamily="34" charset="0"/>
                        </a:rPr>
                        <a:t>FTI Consulting</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1575219"/>
                  </a:ext>
                </a:extLst>
              </a:tr>
              <a:tr h="0">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5232664"/>
                  </a:ext>
                </a:extLst>
              </a:tr>
              <a:tr h="0">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02878559"/>
                  </a:ext>
                </a:extLst>
              </a:tr>
              <a:tr h="0">
                <a:tc>
                  <a:txBody>
                    <a:bodyPr/>
                    <a:lstStyle/>
                    <a:p>
                      <a:pPr algn="l" fontAlgn="b">
                        <a:buNone/>
                      </a:pPr>
                      <a:r>
                        <a:rPr lang="en-US" sz="900" b="0" i="0" u="none" strike="noStrike">
                          <a:solidFill>
                            <a:srgbClr val="000000"/>
                          </a:solidFill>
                          <a:effectLst/>
                          <a:latin typeface="Calibri" panose="020F0502020204030204" pitchFamily="34" charset="0"/>
                        </a:rPr>
                        <a:t>Huron Consulting Group</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err="1">
                          <a:solidFill>
                            <a:srgbClr val="000000"/>
                          </a:solidFill>
                          <a:effectLst/>
                          <a:latin typeface="Calibri" panose="020F0502020204030204" pitchFamily="34" charset="0"/>
                        </a:rPr>
                        <a:t>WTW</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8100413"/>
                  </a:ext>
                </a:extLst>
              </a:tr>
              <a:tr h="0">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912890553"/>
                  </a:ext>
                </a:extLst>
              </a:tr>
            </a:tbl>
          </a:graphicData>
        </a:graphic>
      </p:graphicFrame>
      <p:graphicFrame>
        <p:nvGraphicFramePr>
          <p:cNvPr id="10" name="Table 9">
            <a:extLst>
              <a:ext uri="{FF2B5EF4-FFF2-40B4-BE49-F238E27FC236}">
                <a16:creationId xmlns:a16="http://schemas.microsoft.com/office/drawing/2014/main" id="{43939F21-F1F9-5554-5BE9-F05B6D722DD4}"/>
              </a:ext>
            </a:extLst>
          </p:cNvPr>
          <p:cNvGraphicFramePr>
            <a:graphicFrameLocks noGrp="1"/>
          </p:cNvGraphicFramePr>
          <p:nvPr/>
        </p:nvGraphicFramePr>
        <p:xfrm>
          <a:off x="3089779" y="1793724"/>
          <a:ext cx="5478845" cy="4251960"/>
        </p:xfrm>
        <a:graphic>
          <a:graphicData uri="http://schemas.openxmlformats.org/drawingml/2006/table">
            <a:tbl>
              <a:tblPr/>
              <a:tblGrid>
                <a:gridCol w="1240727">
                  <a:extLst>
                    <a:ext uri="{9D8B030D-6E8A-4147-A177-3AD203B41FA5}">
                      <a16:colId xmlns:a16="http://schemas.microsoft.com/office/drawing/2014/main" val="79431983"/>
                    </a:ext>
                  </a:extLst>
                </a:gridCol>
                <a:gridCol w="1428052">
                  <a:extLst>
                    <a:ext uri="{9D8B030D-6E8A-4147-A177-3AD203B41FA5}">
                      <a16:colId xmlns:a16="http://schemas.microsoft.com/office/drawing/2014/main" val="3236306874"/>
                    </a:ext>
                  </a:extLst>
                </a:gridCol>
                <a:gridCol w="1540764">
                  <a:extLst>
                    <a:ext uri="{9D8B030D-6E8A-4147-A177-3AD203B41FA5}">
                      <a16:colId xmlns:a16="http://schemas.microsoft.com/office/drawing/2014/main" val="2474763334"/>
                    </a:ext>
                  </a:extLst>
                </a:gridCol>
                <a:gridCol w="1269302">
                  <a:extLst>
                    <a:ext uri="{9D8B030D-6E8A-4147-A177-3AD203B41FA5}">
                      <a16:colId xmlns:a16="http://schemas.microsoft.com/office/drawing/2014/main" val="587191041"/>
                    </a:ext>
                  </a:extLst>
                </a:gridCol>
              </a:tblGrid>
              <a:tr h="153777">
                <a:tc gridSpan="4">
                  <a:txBody>
                    <a:bodyPr/>
                    <a:lstStyle/>
                    <a:p>
                      <a:pPr algn="ctr" fontAlgn="b">
                        <a:buNone/>
                      </a:pPr>
                      <a:r>
                        <a:rPr lang="en-US" sz="900" b="1" i="0" u="none" strike="noStrike">
                          <a:solidFill>
                            <a:srgbClr val="FFFFFF"/>
                          </a:solidFill>
                          <a:effectLst/>
                          <a:latin typeface="Calibri" panose="020F0502020204030204" pitchFamily="34" charset="0"/>
                        </a:rPr>
                        <a:t>Private Companies</a:t>
                      </a:r>
                    </a:p>
                  </a:txBody>
                  <a:tcPr marL="27432" marR="27432"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6629526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AlixPartners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CRB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KPMG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Protiviti</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75075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Alpha FMC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Deloitte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L.E.K.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Proudfoot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6864431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Altair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DPR Construction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Mace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Publicis Sapient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7559906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Alvarez &amp; Marsal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Energy Security Analysis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Management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PwC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5420786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AND Digital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ERM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Marble Product Design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Ramboll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550824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Argon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Ernst &amp; Young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Mars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Ricardo</a:t>
                      </a:r>
                      <a:r>
                        <a:rPr lang="en-US" sz="900" b="0" i="0" u="none" strike="noStrike" baseline="30000">
                          <a:solidFill>
                            <a:srgbClr val="000000"/>
                          </a:solidFill>
                          <a:effectLst/>
                          <a:latin typeface="Calibri" panose="020F0502020204030204" pitchFamily="34" charset="0"/>
                        </a:rPr>
                        <a:t>(2)</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476461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Arthur D. Little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Exyte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McKinsey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Roke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17543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Mercer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Roland Berger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906751809"/>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Attain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Filsinger Energy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Methods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Sagentia Innovation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5018440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Aurecon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Frontier Economics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Microsoft Consulting Services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ScottMadden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86051592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AWS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FTI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MIGSO-PCUBED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Sidara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202820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Bain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Gensler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Montrose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Siemens Advanta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749735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Baker Tilly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GHD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Moorhouse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Simon Kucher &amp;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489108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Baringa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Google Business Solutions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Mott MacDonald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Slalom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01099181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Bates White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Grant Thornton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NERA Economic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SSOE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536499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BDO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Guidehouse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Newton Europe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STL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1966531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BearingPoint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Hazen &amp; Sawyer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 Highland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Strategic Decisions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543316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Bechtel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HDR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OC&amp;C Strategy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Surbana Jurong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399859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Black &amp; Veatch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Hitachi Vantara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Oliver Wyman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Syneos Health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3581322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Boston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HNTB COS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OPM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Team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5799016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Brown and Caldwell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IBM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Oxera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The Berkeley Partnership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2633860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Burns and McDonnell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Pandora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Thoughtworks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2969699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Cambridge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Implement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Perficient</a:t>
                      </a:r>
                      <a:r>
                        <a:rPr lang="en-US" sz="900" b="0" i="0" u="none" strike="noStrike" baseline="30000">
                          <a:solidFill>
                            <a:srgbClr val="000000"/>
                          </a:solidFill>
                          <a:effectLst/>
                          <a:latin typeface="Calibri" panose="020F0502020204030204" pitchFamily="34" charset="0"/>
                        </a:rPr>
                        <a:t>(1)</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Trinity Life Sciences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6547338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Capco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iMPOWER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PivotPoint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TTP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766473080"/>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Carollo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Inframark</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PM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Valcon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468925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CDM Smith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Interfleet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Polaris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West Monroe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5119617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CEPA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IPS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PPL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ZS Associates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85573072"/>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Kearney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Project One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12143400"/>
                  </a:ext>
                </a:extLst>
              </a:tr>
            </a:tbl>
          </a:graphicData>
        </a:graphic>
      </p:graphicFrame>
      <p:sp>
        <p:nvSpPr>
          <p:cNvPr id="4" name="TextBox 3">
            <a:extLst>
              <a:ext uri="{FF2B5EF4-FFF2-40B4-BE49-F238E27FC236}">
                <a16:creationId xmlns:a16="http://schemas.microsoft.com/office/drawing/2014/main" id="{2D461B18-1B92-5E46-D0AD-D8D01CB63CBF}"/>
              </a:ext>
            </a:extLst>
          </p:cNvPr>
          <p:cNvSpPr txBox="1"/>
          <p:nvPr/>
        </p:nvSpPr>
        <p:spPr>
          <a:xfrm>
            <a:off x="633681" y="5526745"/>
            <a:ext cx="762388" cy="224292"/>
          </a:xfrm>
          <a:prstGeom prst="rect">
            <a:avLst/>
          </a:prstGeom>
          <a:solidFill>
            <a:schemeClr val="accent6">
              <a:lumMod val="20000"/>
              <a:lumOff val="80000"/>
            </a:schemeClr>
          </a:solidFill>
        </p:spPr>
        <p:txBody>
          <a:bodyPr vert="horz" wrap="none" lIns="45720" tIns="45720" rIns="45720" bIns="45720" rtlCol="0" anchor="ctr">
            <a:spAutoFit/>
          </a:bodyPr>
          <a:lstStyle/>
          <a:p>
            <a:pPr algn="ctr">
              <a:lnSpc>
                <a:spcPct val="85000"/>
              </a:lnSpc>
            </a:pPr>
            <a:r>
              <a:rPr lang="en-US" sz="1000" i="1"/>
              <a:t>Current peer</a:t>
            </a:r>
          </a:p>
        </p:txBody>
      </p:sp>
    </p:spTree>
    <p:extLst>
      <p:ext uri="{BB962C8B-B14F-4D97-AF65-F5344CB8AC3E}">
        <p14:creationId xmlns:p14="http://schemas.microsoft.com/office/powerpoint/2010/main" val="30043820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E4275B-3304-115B-2014-B6B05050AB8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8CCA252-0881-E84A-00EE-AA1BA640FCF0}"/>
              </a:ext>
            </a:extLst>
          </p:cNvPr>
          <p:cNvSpPr>
            <a:spLocks noGrp="1"/>
          </p:cNvSpPr>
          <p:nvPr>
            <p:ph type="title"/>
          </p:nvPr>
        </p:nvSpPr>
        <p:spPr>
          <a:xfrm>
            <a:off x="882797" y="44215"/>
            <a:ext cx="8074152" cy="1292899"/>
          </a:xfrm>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a:t>
            </a:r>
          </a:p>
        </p:txBody>
      </p:sp>
      <p:graphicFrame>
        <p:nvGraphicFramePr>
          <p:cNvPr id="5" name="Table 4">
            <a:extLst>
              <a:ext uri="{FF2B5EF4-FFF2-40B4-BE49-F238E27FC236}">
                <a16:creationId xmlns:a16="http://schemas.microsoft.com/office/drawing/2014/main" id="{DB60024F-8F4D-6319-A63B-23092C4C556C}"/>
              </a:ext>
            </a:extLst>
          </p:cNvPr>
          <p:cNvGraphicFramePr>
            <a:graphicFrameLocks noGrp="1"/>
          </p:cNvGraphicFramePr>
          <p:nvPr/>
        </p:nvGraphicFramePr>
        <p:xfrm>
          <a:off x="104489" y="1409350"/>
          <a:ext cx="8935022" cy="4643120"/>
        </p:xfrm>
        <a:graphic>
          <a:graphicData uri="http://schemas.openxmlformats.org/drawingml/2006/table">
            <a:tbl>
              <a:tblPr/>
              <a:tblGrid>
                <a:gridCol w="1063689">
                  <a:extLst>
                    <a:ext uri="{9D8B030D-6E8A-4147-A177-3AD203B41FA5}">
                      <a16:colId xmlns:a16="http://schemas.microsoft.com/office/drawing/2014/main" val="634618488"/>
                    </a:ext>
                  </a:extLst>
                </a:gridCol>
                <a:gridCol w="1970151">
                  <a:extLst>
                    <a:ext uri="{9D8B030D-6E8A-4147-A177-3AD203B41FA5}">
                      <a16:colId xmlns:a16="http://schemas.microsoft.com/office/drawing/2014/main" val="3199737008"/>
                    </a:ext>
                  </a:extLst>
                </a:gridCol>
                <a:gridCol w="816039">
                  <a:extLst>
                    <a:ext uri="{9D8B030D-6E8A-4147-A177-3AD203B41FA5}">
                      <a16:colId xmlns:a16="http://schemas.microsoft.com/office/drawing/2014/main" val="2813938564"/>
                    </a:ext>
                  </a:extLst>
                </a:gridCol>
                <a:gridCol w="476313">
                  <a:extLst>
                    <a:ext uri="{9D8B030D-6E8A-4147-A177-3AD203B41FA5}">
                      <a16:colId xmlns:a16="http://schemas.microsoft.com/office/drawing/2014/main" val="4056400893"/>
                    </a:ext>
                  </a:extLst>
                </a:gridCol>
                <a:gridCol w="503301">
                  <a:extLst>
                    <a:ext uri="{9D8B030D-6E8A-4147-A177-3AD203B41FA5}">
                      <a16:colId xmlns:a16="http://schemas.microsoft.com/office/drawing/2014/main" val="2072546328"/>
                    </a:ext>
                  </a:extLst>
                </a:gridCol>
                <a:gridCol w="476313">
                  <a:extLst>
                    <a:ext uri="{9D8B030D-6E8A-4147-A177-3AD203B41FA5}">
                      <a16:colId xmlns:a16="http://schemas.microsoft.com/office/drawing/2014/main" val="1953423816"/>
                    </a:ext>
                  </a:extLst>
                </a:gridCol>
                <a:gridCol w="914400">
                  <a:extLst>
                    <a:ext uri="{9D8B030D-6E8A-4147-A177-3AD203B41FA5}">
                      <a16:colId xmlns:a16="http://schemas.microsoft.com/office/drawing/2014/main" val="505551995"/>
                    </a:ext>
                  </a:extLst>
                </a:gridCol>
                <a:gridCol w="914400">
                  <a:extLst>
                    <a:ext uri="{9D8B030D-6E8A-4147-A177-3AD203B41FA5}">
                      <a16:colId xmlns:a16="http://schemas.microsoft.com/office/drawing/2014/main" val="1060776480"/>
                    </a:ext>
                  </a:extLst>
                </a:gridCol>
                <a:gridCol w="763651">
                  <a:extLst>
                    <a:ext uri="{9D8B030D-6E8A-4147-A177-3AD203B41FA5}">
                      <a16:colId xmlns:a16="http://schemas.microsoft.com/office/drawing/2014/main" val="3493148394"/>
                    </a:ext>
                  </a:extLst>
                </a:gridCol>
                <a:gridCol w="689039">
                  <a:extLst>
                    <a:ext uri="{9D8B030D-6E8A-4147-A177-3AD203B41FA5}">
                      <a16:colId xmlns:a16="http://schemas.microsoft.com/office/drawing/2014/main" val="3939039257"/>
                    </a:ext>
                  </a:extLst>
                </a:gridCol>
                <a:gridCol w="347726">
                  <a:extLst>
                    <a:ext uri="{9D8B030D-6E8A-4147-A177-3AD203B41FA5}">
                      <a16:colId xmlns:a16="http://schemas.microsoft.com/office/drawing/2014/main" val="794802496"/>
                    </a:ext>
                  </a:extLst>
                </a:gridCol>
              </a:tblGrid>
              <a:tr h="51409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70788327"/>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Netherlands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$5,512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$3,046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923571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$37,377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$85,048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92969627"/>
                  </a:ext>
                </a:extLst>
              </a:tr>
              <a:tr h="208001">
                <a:tc>
                  <a:txBody>
                    <a:bodyPr/>
                    <a:lstStyle/>
                    <a:p>
                      <a:pPr algn="l" fontAlgn="b">
                        <a:buNone/>
                      </a:pPr>
                      <a:r>
                        <a:rPr lang="en-US" sz="900" b="0" i="0" u="none" strike="noStrike">
                          <a:solidFill>
                            <a:srgbClr val="000000"/>
                          </a:solidFill>
                          <a:effectLst/>
                          <a:latin typeface="Calibri" panose="020F0502020204030204" pitchFamily="34" charset="0"/>
                        </a:rPr>
                        <a:t>Tata Consultancy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$29,937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$101,599</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667997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$10,433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$22,324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270588795"/>
                  </a:ext>
                </a:extLst>
              </a:tr>
              <a:tr h="114243">
                <a:tc>
                  <a:txBody>
                    <a:bodyPr/>
                    <a:lstStyle/>
                    <a:p>
                      <a:pPr algn="l" fontAlgn="b">
                        <a:buNone/>
                      </a:pPr>
                      <a:r>
                        <a:rPr lang="en-US" sz="900" b="0" i="0" u="none" strike="noStrike">
                          <a:solidFill>
                            <a:srgbClr val="000000"/>
                          </a:solidFill>
                          <a:effectLst/>
                          <a:latin typeface="Calibri" panose="020F0502020204030204" pitchFamily="34" charset="0"/>
                        </a:rPr>
                        <a:t>Willis Towers Watson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Insurance Brokers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$9,708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$28,412</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Advisory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450468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$6,497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$12,046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9213980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$6,386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$2,967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1477173634"/>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Sweden</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$2,634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26442835"/>
                  </a:ext>
                </a:extLst>
              </a:tr>
              <a:tr h="312002">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$2,137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$131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1865883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$981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$292</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386252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$61,016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$444,881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7.3x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181715838"/>
                  </a:ext>
                </a:extLst>
              </a:tr>
              <a:tr h="208001">
                <a:tc>
                  <a:txBody>
                    <a:bodyPr/>
                    <a:lstStyle/>
                    <a:p>
                      <a:pPr algn="l" fontAlgn="b">
                        <a:buNone/>
                      </a:pPr>
                      <a:r>
                        <a:rPr lang="en-US" sz="900" b="0" i="0" u="none" strike="noStrike">
                          <a:solidFill>
                            <a:srgbClr val="000000"/>
                          </a:solidFill>
                          <a:effectLst/>
                          <a:latin typeface="Calibri" panose="020F0502020204030204" pitchFamily="34" charset="0"/>
                        </a:rPr>
                        <a:t>CBRE Group</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$40,550</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$41,025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44608971"/>
                  </a:ext>
                </a:extLst>
              </a:tr>
              <a:tr h="208001">
                <a:tc>
                  <a:txBody>
                    <a:bodyPr/>
                    <a:lstStyle/>
                    <a:p>
                      <a:pPr algn="l" fontAlgn="b">
                        <a:buNone/>
                      </a:pPr>
                      <a:r>
                        <a:rPr lang="en-US" sz="900" b="0" i="0" u="none" strike="noStrike">
                          <a:solidFill>
                            <a:srgbClr val="000000"/>
                          </a:solidFill>
                          <a:effectLst/>
                          <a:latin typeface="Calibri" panose="020F0502020204030204" pitchFamily="34" charset="0"/>
                        </a:rPr>
                        <a:t>Jones Lang LaSalle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$26,116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$14,494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37703434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$25,399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$21,369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82901402"/>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Health Care Equipment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$20,625</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$35,143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Manufacturing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921977238"/>
                  </a:ext>
                </a:extLst>
              </a:tr>
              <a:tr h="114243">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$19,847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$57,536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1482630642"/>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$9,394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$893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589857981"/>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9217808"/>
                  </a:ext>
                </a:extLst>
              </a:tr>
              <a:tr h="114243">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78236878"/>
                  </a:ext>
                </a:extLst>
              </a:tr>
            </a:tbl>
          </a:graphicData>
        </a:graphic>
      </p:graphicFrame>
      <p:sp>
        <p:nvSpPr>
          <p:cNvPr id="6" name="TextBox 5">
            <a:extLst>
              <a:ext uri="{FF2B5EF4-FFF2-40B4-BE49-F238E27FC236}">
                <a16:creationId xmlns:a16="http://schemas.microsoft.com/office/drawing/2014/main" id="{EF57D44D-B83B-27A0-4AEC-49E13259B4BC}"/>
              </a:ext>
            </a:extLst>
          </p:cNvPr>
          <p:cNvSpPr txBox="1"/>
          <p:nvPr/>
        </p:nvSpPr>
        <p:spPr>
          <a:xfrm>
            <a:off x="1967144" y="1135784"/>
            <a:ext cx="5243052"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kumimoji="0" lang="en-US" sz="1400" b="1" i="0" u="none" strike="noStrike" kern="1200" cap="none" spc="0" normalizeH="0" baseline="0" noProof="0" dirty="0" err="1">
                <a:ln>
                  <a:noFill/>
                </a:ln>
                <a:effectLst/>
                <a:uLnTx/>
                <a:uFillTx/>
                <a:latin typeface="Calibri" panose="020F0502020204030204"/>
                <a:ea typeface="+mn-ea"/>
                <a:cs typeface="+mn-cs"/>
              </a:rPr>
              <a:t>Plutos</a:t>
            </a:r>
            <a:r>
              <a:rPr kumimoji="0" lang="en-US" sz="1400" b="1" i="0" u="none" strike="noStrike" kern="1200" cap="none" spc="0" normalizeH="0" baseline="0" noProof="0" dirty="0">
                <a:ln>
                  <a:noFill/>
                </a:ln>
                <a:effectLst/>
                <a:uLnTx/>
                <a:uFillTx/>
                <a:latin typeface="Calibri" panose="020F0502020204030204"/>
                <a:ea typeface="+mn-ea"/>
                <a:cs typeface="+mn-cs"/>
              </a:rPr>
              <a:t> and PA Competitors in Non-Competes</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929E72F6-6798-47E1-7B29-318DE12F9770}"/>
              </a:ext>
            </a:extLst>
          </p:cNvPr>
          <p:cNvSpPr txBox="1"/>
          <p:nvPr/>
        </p:nvSpPr>
        <p:spPr>
          <a:xfrm>
            <a:off x="104489" y="6052470"/>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8" name="Rectangle 7">
            <a:extLst>
              <a:ext uri="{FF2B5EF4-FFF2-40B4-BE49-F238E27FC236}">
                <a16:creationId xmlns:a16="http://schemas.microsoft.com/office/drawing/2014/main" id="{A4142A74-0EB6-E8E1-CABD-3430C6007523}"/>
              </a:ext>
            </a:extLst>
          </p:cNvPr>
          <p:cNvSpPr/>
          <p:nvPr/>
        </p:nvSpPr>
        <p:spPr bwMode="auto">
          <a:xfrm>
            <a:off x="6543775" y="6153319"/>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9" name="TextBox 8">
            <a:extLst>
              <a:ext uri="{FF2B5EF4-FFF2-40B4-BE49-F238E27FC236}">
                <a16:creationId xmlns:a16="http://schemas.microsoft.com/office/drawing/2014/main" id="{80973057-26F4-3A2C-F305-D6E5C064CD3C}"/>
              </a:ext>
            </a:extLst>
          </p:cNvPr>
          <p:cNvSpPr txBox="1"/>
          <p:nvPr/>
        </p:nvSpPr>
        <p:spPr>
          <a:xfrm>
            <a:off x="6837518" y="6079296"/>
            <a:ext cx="2508646" cy="230832"/>
          </a:xfrm>
          <a:prstGeom prst="rect">
            <a:avLst/>
          </a:prstGeom>
          <a:noFill/>
        </p:spPr>
        <p:txBody>
          <a:bodyPr wrap="square" rtlCol="0" anchor="ctr">
            <a:spAutoFit/>
          </a:bodyPr>
          <a:lstStyle/>
          <a:p>
            <a:r>
              <a:rPr lang="en-US" sz="900" i="1"/>
              <a:t>Criterion that fails compensation peer screen</a:t>
            </a:r>
          </a:p>
        </p:txBody>
      </p:sp>
    </p:spTree>
    <p:extLst>
      <p:ext uri="{BB962C8B-B14F-4D97-AF65-F5344CB8AC3E}">
        <p14:creationId xmlns:p14="http://schemas.microsoft.com/office/powerpoint/2010/main" val="119079569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0125-44B0-B8A8-BAED-2BF337E2C0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A310D5-1B3C-63E0-A166-333C9C6F6196}"/>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18D5395-79A2-8667-944D-565DED7341A1}"/>
              </a:ext>
            </a:extLst>
          </p:cNvPr>
          <p:cNvSpPr>
            <a:spLocks noGrp="1"/>
          </p:cNvSpPr>
          <p:nvPr>
            <p:ph type="title"/>
          </p:nvPr>
        </p:nvSpPr>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 </a:t>
            </a:r>
            <a:r>
              <a:rPr lang="en-US" i="1" dirty="0"/>
              <a:t>(continued)</a:t>
            </a:r>
            <a:endParaRPr lang="en-US" dirty="0"/>
          </a:p>
        </p:txBody>
      </p:sp>
      <p:sp>
        <p:nvSpPr>
          <p:cNvPr id="6" name="TextBox 5">
            <a:extLst>
              <a:ext uri="{FF2B5EF4-FFF2-40B4-BE49-F238E27FC236}">
                <a16:creationId xmlns:a16="http://schemas.microsoft.com/office/drawing/2014/main" id="{5A929DC4-D5A6-6904-D9DC-81535E94C722}"/>
              </a:ext>
            </a:extLst>
          </p:cNvPr>
          <p:cNvSpPr txBox="1"/>
          <p:nvPr/>
        </p:nvSpPr>
        <p:spPr>
          <a:xfrm>
            <a:off x="1704992" y="1278659"/>
            <a:ext cx="5767357" cy="307777"/>
          </a:xfrm>
          <a:prstGeom prst="rect">
            <a:avLst/>
          </a:prstGeom>
          <a:noFill/>
        </p:spPr>
        <p:txBody>
          <a:bodyPr wrap="square" lIns="45720" tIns="45720" rIns="45720" bIns="45720" rtlCol="0" anchor="ctr">
            <a:spAutoFit/>
          </a:bodyPr>
          <a:lstStyle/>
          <a:p>
            <a:pPr lvl="0" algn="ctr">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lang="en-US" sz="1400" b="1" dirty="0" err="1"/>
              <a:t>Plutos</a:t>
            </a:r>
            <a:r>
              <a:rPr lang="en-US" sz="1400" b="1" dirty="0"/>
              <a:t> and PA Competitors in Non-Competes </a:t>
            </a:r>
            <a:r>
              <a:rPr kumimoji="0" lang="en-US" sz="1400" b="1" i="1" u="none" strike="noStrike" kern="1200" cap="none" spc="0" normalizeH="0" noProof="0" dirty="0">
                <a:ln>
                  <a:noFill/>
                </a:ln>
                <a:effectLst/>
                <a:uLnTx/>
                <a:uFillTx/>
                <a:latin typeface="Calibri" panose="020F0502020204030204"/>
                <a:ea typeface="+mn-ea"/>
                <a:cs typeface="+mn-cs"/>
              </a:rPr>
              <a:t>(continued)</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4" name="TextBox 3">
            <a:extLst>
              <a:ext uri="{FF2B5EF4-FFF2-40B4-BE49-F238E27FC236}">
                <a16:creationId xmlns:a16="http://schemas.microsoft.com/office/drawing/2014/main" id="{4195540B-E759-C7AA-704A-FD9A38ADAA69}"/>
              </a:ext>
            </a:extLst>
          </p:cNvPr>
          <p:cNvSpPr txBox="1"/>
          <p:nvPr/>
        </p:nvSpPr>
        <p:spPr>
          <a:xfrm>
            <a:off x="89600" y="5685068"/>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7" name="Rectangle 6">
            <a:extLst>
              <a:ext uri="{FF2B5EF4-FFF2-40B4-BE49-F238E27FC236}">
                <a16:creationId xmlns:a16="http://schemas.microsoft.com/office/drawing/2014/main" id="{040DE76A-908D-1CA1-9012-AEC4383B9B8D}"/>
              </a:ext>
            </a:extLst>
          </p:cNvPr>
          <p:cNvSpPr/>
          <p:nvPr/>
        </p:nvSpPr>
        <p:spPr bwMode="auto">
          <a:xfrm>
            <a:off x="6568924" y="5781725"/>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8" name="TextBox 7">
            <a:extLst>
              <a:ext uri="{FF2B5EF4-FFF2-40B4-BE49-F238E27FC236}">
                <a16:creationId xmlns:a16="http://schemas.microsoft.com/office/drawing/2014/main" id="{C48568B5-BAFD-18A1-D635-D9F6967D5B41}"/>
              </a:ext>
            </a:extLst>
          </p:cNvPr>
          <p:cNvSpPr txBox="1"/>
          <p:nvPr/>
        </p:nvSpPr>
        <p:spPr>
          <a:xfrm>
            <a:off x="6862667" y="5707702"/>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10" name="Table 9">
            <a:extLst>
              <a:ext uri="{FF2B5EF4-FFF2-40B4-BE49-F238E27FC236}">
                <a16:creationId xmlns:a16="http://schemas.microsoft.com/office/drawing/2014/main" id="{94A0BDDA-4F70-313F-BF67-C9249C7E88B4}"/>
              </a:ext>
            </a:extLst>
          </p:cNvPr>
          <p:cNvGraphicFramePr>
            <a:graphicFrameLocks noGrp="1"/>
          </p:cNvGraphicFramePr>
          <p:nvPr/>
        </p:nvGraphicFramePr>
        <p:xfrm>
          <a:off x="91473" y="1557811"/>
          <a:ext cx="8961054" cy="4121912"/>
        </p:xfrm>
        <a:graphic>
          <a:graphicData uri="http://schemas.openxmlformats.org/drawingml/2006/table">
            <a:tbl>
              <a:tblPr/>
              <a:tblGrid>
                <a:gridCol w="989076">
                  <a:extLst>
                    <a:ext uri="{9D8B030D-6E8A-4147-A177-3AD203B41FA5}">
                      <a16:colId xmlns:a16="http://schemas.microsoft.com/office/drawing/2014/main" val="2752727093"/>
                    </a:ext>
                  </a:extLst>
                </a:gridCol>
                <a:gridCol w="1920240">
                  <a:extLst>
                    <a:ext uri="{9D8B030D-6E8A-4147-A177-3AD203B41FA5}">
                      <a16:colId xmlns:a16="http://schemas.microsoft.com/office/drawing/2014/main" val="473962619"/>
                    </a:ext>
                  </a:extLst>
                </a:gridCol>
                <a:gridCol w="816039">
                  <a:extLst>
                    <a:ext uri="{9D8B030D-6E8A-4147-A177-3AD203B41FA5}">
                      <a16:colId xmlns:a16="http://schemas.microsoft.com/office/drawing/2014/main" val="1606873709"/>
                    </a:ext>
                  </a:extLst>
                </a:gridCol>
                <a:gridCol w="559930">
                  <a:extLst>
                    <a:ext uri="{9D8B030D-6E8A-4147-A177-3AD203B41FA5}">
                      <a16:colId xmlns:a16="http://schemas.microsoft.com/office/drawing/2014/main" val="3427105300"/>
                    </a:ext>
                  </a:extLst>
                </a:gridCol>
                <a:gridCol w="623021">
                  <a:extLst>
                    <a:ext uri="{9D8B030D-6E8A-4147-A177-3AD203B41FA5}">
                      <a16:colId xmlns:a16="http://schemas.microsoft.com/office/drawing/2014/main" val="2953561963"/>
                    </a:ext>
                  </a:extLst>
                </a:gridCol>
                <a:gridCol w="457408">
                  <a:extLst>
                    <a:ext uri="{9D8B030D-6E8A-4147-A177-3AD203B41FA5}">
                      <a16:colId xmlns:a16="http://schemas.microsoft.com/office/drawing/2014/main" val="407520596"/>
                    </a:ext>
                  </a:extLst>
                </a:gridCol>
                <a:gridCol w="822960">
                  <a:extLst>
                    <a:ext uri="{9D8B030D-6E8A-4147-A177-3AD203B41FA5}">
                      <a16:colId xmlns:a16="http://schemas.microsoft.com/office/drawing/2014/main" val="1042747459"/>
                    </a:ext>
                  </a:extLst>
                </a:gridCol>
                <a:gridCol w="1005840">
                  <a:extLst>
                    <a:ext uri="{9D8B030D-6E8A-4147-A177-3AD203B41FA5}">
                      <a16:colId xmlns:a16="http://schemas.microsoft.com/office/drawing/2014/main" val="3681893246"/>
                    </a:ext>
                  </a:extLst>
                </a:gridCol>
                <a:gridCol w="693998">
                  <a:extLst>
                    <a:ext uri="{9D8B030D-6E8A-4147-A177-3AD203B41FA5}">
                      <a16:colId xmlns:a16="http://schemas.microsoft.com/office/drawing/2014/main" val="161630888"/>
                    </a:ext>
                  </a:extLst>
                </a:gridCol>
                <a:gridCol w="693998">
                  <a:extLst>
                    <a:ext uri="{9D8B030D-6E8A-4147-A177-3AD203B41FA5}">
                      <a16:colId xmlns:a16="http://schemas.microsoft.com/office/drawing/2014/main" val="2322060600"/>
                    </a:ext>
                  </a:extLst>
                </a:gridCol>
                <a:gridCol w="378544">
                  <a:extLst>
                    <a:ext uri="{9D8B030D-6E8A-4147-A177-3AD203B41FA5}">
                      <a16:colId xmlns:a16="http://schemas.microsoft.com/office/drawing/2014/main" val="3173688041"/>
                    </a:ext>
                  </a:extLst>
                </a:gridCol>
              </a:tblGrid>
              <a:tr h="51458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598721486"/>
                  </a:ext>
                </a:extLst>
              </a:tr>
              <a:tr h="208199">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Australia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$7,186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$3,861</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64570587"/>
                  </a:ext>
                </a:extLst>
              </a:tr>
              <a:tr h="312299">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$3,034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37985384"/>
                  </a:ext>
                </a:extLst>
              </a:tr>
              <a:tr h="114352">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Human Resource and Employment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$3,397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Talent Consulting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6960224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$3,661</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Engineering Cosultant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686627921"/>
                  </a:ext>
                </a:extLst>
              </a:tr>
              <a:tr h="114352">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$75,048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$150,703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751254575"/>
                  </a:ext>
                </a:extLst>
              </a:tr>
              <a:tr h="114352">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$41,954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$105,023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464058205"/>
                  </a:ext>
                </a:extLst>
              </a:tr>
              <a:tr h="312299">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Life Sciences Tools and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$16,310</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$29,964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1.8x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02813437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$4,475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$365,137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81.6x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26%</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669275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Huron Consulting</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$1,663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$2,311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Management Consulting Only</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398631156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$860</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$464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861924424"/>
                  </a:ext>
                </a:extLst>
              </a:tr>
              <a:tr h="114352">
                <a:tc>
                  <a:txBody>
                    <a:bodyPr/>
                    <a:lstStyle/>
                    <a:p>
                      <a:pPr algn="l" fontAlgn="ctr">
                        <a:buNone/>
                      </a:pPr>
                      <a:r>
                        <a:rPr lang="en-US" sz="900" b="0" i="0" u="none" strike="noStrike">
                          <a:solidFill>
                            <a:srgbClr val="000000"/>
                          </a:solidFill>
                          <a:effectLst/>
                          <a:latin typeface="Calibri" panose="020F0502020204030204" pitchFamily="34" charset="0"/>
                        </a:rPr>
                        <a:t>Procore</a:t>
                      </a:r>
                    </a:p>
                  </a:txBody>
                  <a:tcPr marL="18288" marR="18288" marT="9144" marB="9144"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$1,323</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$8,896</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6.7x</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15%</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0</a:t>
                      </a:r>
                    </a:p>
                  </a:txBody>
                  <a:tcPr marL="18288" marR="18288" marT="9144" marB="9144" anchor="ctr">
                    <a:lnL>
                      <a:noFill/>
                    </a:lnL>
                    <a:lnR>
                      <a:noFill/>
                    </a:lnR>
                    <a:lnT>
                      <a:noFill/>
                    </a:lnT>
                    <a:lnB>
                      <a:noFill/>
                    </a:lnB>
                    <a:noFill/>
                  </a:tcPr>
                </a:tc>
                <a:extLst>
                  <a:ext uri="{0D108BD9-81ED-4DB2-BD59-A6C34878D82A}">
                    <a16:rowId xmlns:a16="http://schemas.microsoft.com/office/drawing/2014/main" val="697296970"/>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9025189"/>
                  </a:ext>
                </a:extLst>
              </a:tr>
              <a:tr h="114352">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867848975"/>
                  </a:ext>
                </a:extLst>
              </a:tr>
            </a:tbl>
          </a:graphicData>
        </a:graphic>
      </p:graphicFrame>
    </p:spTree>
    <p:extLst>
      <p:ext uri="{BB962C8B-B14F-4D97-AF65-F5344CB8AC3E}">
        <p14:creationId xmlns:p14="http://schemas.microsoft.com/office/powerpoint/2010/main" val="11627461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EFA5-0C59-C63C-61BB-ED2E1E5EFEC1}"/>
            </a:ext>
          </a:extLst>
        </p:cNvPr>
        <p:cNvGrpSpPr/>
        <p:nvPr/>
      </p:nvGrpSpPr>
      <p:grpSpPr>
        <a:xfrm>
          <a:off x="0" y="0"/>
          <a:ext cx="0" cy="0"/>
          <a:chOff x="0" y="0"/>
          <a:chExt cx="0" cy="0"/>
        </a:xfrm>
      </p:grpSpPr>
      <p:sp>
        <p:nvSpPr>
          <p:cNvPr id="6" name="Footer Placeholder 1">
            <a:extLst>
              <a:ext uri="{FF2B5EF4-FFF2-40B4-BE49-F238E27FC236}">
                <a16:creationId xmlns:a16="http://schemas.microsoft.com/office/drawing/2014/main" id="{176183C1-8043-C03E-4090-763FA2F6579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62AD0B7D-0A83-642E-AE7A-ADEA623216C7}"/>
              </a:ext>
            </a:extLst>
          </p:cNvPr>
          <p:cNvSpPr>
            <a:spLocks noGrp="1"/>
          </p:cNvSpPr>
          <p:nvPr>
            <p:ph type="title"/>
          </p:nvPr>
        </p:nvSpPr>
        <p:spPr>
          <a:xfrm>
            <a:off x="882650" y="44450"/>
            <a:ext cx="8169877" cy="1292225"/>
          </a:xfrm>
          <a:noFill/>
        </p:spPr>
        <p:txBody>
          <a:bodyPr/>
          <a:lstStyle/>
          <a:p>
            <a:r>
              <a:rPr lang="en-US" dirty="0"/>
              <a:t>ACME reviewed other companies identified in prior years for monitoring, as well as took a more in-depth look at certain competitors, but none sufficiently satisfied the screening criteria</a:t>
            </a:r>
          </a:p>
        </p:txBody>
      </p:sp>
      <p:sp>
        <p:nvSpPr>
          <p:cNvPr id="12" name="TextBox 11">
            <a:extLst>
              <a:ext uri="{FF2B5EF4-FFF2-40B4-BE49-F238E27FC236}">
                <a16:creationId xmlns:a16="http://schemas.microsoft.com/office/drawing/2014/main" id="{77143A50-CE41-BDED-F262-D1CAE320CA79}"/>
              </a:ext>
            </a:extLst>
          </p:cNvPr>
          <p:cNvSpPr txBox="1"/>
          <p:nvPr/>
        </p:nvSpPr>
        <p:spPr>
          <a:xfrm>
            <a:off x="2205465" y="1199051"/>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Additional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sp>
        <p:nvSpPr>
          <p:cNvPr id="20" name="TextBox 19">
            <a:extLst>
              <a:ext uri="{FF2B5EF4-FFF2-40B4-BE49-F238E27FC236}">
                <a16:creationId xmlns:a16="http://schemas.microsoft.com/office/drawing/2014/main" id="{25A09DC4-7E3D-2A01-9177-C9D004516300}"/>
              </a:ext>
            </a:extLst>
          </p:cNvPr>
          <p:cNvSpPr txBox="1"/>
          <p:nvPr/>
        </p:nvSpPr>
        <p:spPr>
          <a:xfrm>
            <a:off x="91473" y="6237593"/>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9" name="Rectangle 8">
            <a:extLst>
              <a:ext uri="{FF2B5EF4-FFF2-40B4-BE49-F238E27FC236}">
                <a16:creationId xmlns:a16="http://schemas.microsoft.com/office/drawing/2014/main" id="{717DC830-BF17-C893-9D30-1F21677B2F02}"/>
              </a:ext>
            </a:extLst>
          </p:cNvPr>
          <p:cNvSpPr/>
          <p:nvPr/>
        </p:nvSpPr>
        <p:spPr bwMode="auto">
          <a:xfrm>
            <a:off x="6524725" y="1332127"/>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A927D612-DCA7-35BC-32BA-15B1960A901A}"/>
              </a:ext>
            </a:extLst>
          </p:cNvPr>
          <p:cNvSpPr txBox="1"/>
          <p:nvPr/>
        </p:nvSpPr>
        <p:spPr>
          <a:xfrm>
            <a:off x="6818468" y="1258104"/>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7" name="Table 6">
            <a:extLst>
              <a:ext uri="{FF2B5EF4-FFF2-40B4-BE49-F238E27FC236}">
                <a16:creationId xmlns:a16="http://schemas.microsoft.com/office/drawing/2014/main" id="{ACB0D5A4-4A8C-E1FC-9EA4-B91BCAAAFED1}"/>
              </a:ext>
            </a:extLst>
          </p:cNvPr>
          <p:cNvGraphicFramePr>
            <a:graphicFrameLocks noGrp="1"/>
          </p:cNvGraphicFramePr>
          <p:nvPr>
            <p:extLst>
              <p:ext uri="{D42A27DB-BD31-4B8C-83A1-F6EECF244321}">
                <p14:modId xmlns:p14="http://schemas.microsoft.com/office/powerpoint/2010/main" val="4249225728"/>
              </p:ext>
            </p:extLst>
          </p:nvPr>
        </p:nvGraphicFramePr>
        <p:xfrm>
          <a:off x="36990" y="1479411"/>
          <a:ext cx="9070020" cy="4798568"/>
        </p:xfrm>
        <a:graphic>
          <a:graphicData uri="http://schemas.openxmlformats.org/drawingml/2006/table">
            <a:tbl>
              <a:tblPr/>
              <a:tblGrid>
                <a:gridCol w="640080">
                  <a:extLst>
                    <a:ext uri="{9D8B030D-6E8A-4147-A177-3AD203B41FA5}">
                      <a16:colId xmlns:a16="http://schemas.microsoft.com/office/drawing/2014/main" val="683191207"/>
                    </a:ext>
                  </a:extLst>
                </a:gridCol>
                <a:gridCol w="731520">
                  <a:extLst>
                    <a:ext uri="{9D8B030D-6E8A-4147-A177-3AD203B41FA5}">
                      <a16:colId xmlns:a16="http://schemas.microsoft.com/office/drawing/2014/main" val="2766255266"/>
                    </a:ext>
                  </a:extLst>
                </a:gridCol>
                <a:gridCol w="596900">
                  <a:extLst>
                    <a:ext uri="{9D8B030D-6E8A-4147-A177-3AD203B41FA5}">
                      <a16:colId xmlns:a16="http://schemas.microsoft.com/office/drawing/2014/main" val="1060739606"/>
                    </a:ext>
                  </a:extLst>
                </a:gridCol>
                <a:gridCol w="494602">
                  <a:extLst>
                    <a:ext uri="{9D8B030D-6E8A-4147-A177-3AD203B41FA5}">
                      <a16:colId xmlns:a16="http://schemas.microsoft.com/office/drawing/2014/main" val="3678368173"/>
                    </a:ext>
                  </a:extLst>
                </a:gridCol>
                <a:gridCol w="521589">
                  <a:extLst>
                    <a:ext uri="{9D8B030D-6E8A-4147-A177-3AD203B41FA5}">
                      <a16:colId xmlns:a16="http://schemas.microsoft.com/office/drawing/2014/main" val="3838814082"/>
                    </a:ext>
                  </a:extLst>
                </a:gridCol>
                <a:gridCol w="494602">
                  <a:extLst>
                    <a:ext uri="{9D8B030D-6E8A-4147-A177-3AD203B41FA5}">
                      <a16:colId xmlns:a16="http://schemas.microsoft.com/office/drawing/2014/main" val="4198930539"/>
                    </a:ext>
                  </a:extLst>
                </a:gridCol>
                <a:gridCol w="848614">
                  <a:extLst>
                    <a:ext uri="{9D8B030D-6E8A-4147-A177-3AD203B41FA5}">
                      <a16:colId xmlns:a16="http://schemas.microsoft.com/office/drawing/2014/main" val="2368481123"/>
                    </a:ext>
                  </a:extLst>
                </a:gridCol>
                <a:gridCol w="791464">
                  <a:extLst>
                    <a:ext uri="{9D8B030D-6E8A-4147-A177-3AD203B41FA5}">
                      <a16:colId xmlns:a16="http://schemas.microsoft.com/office/drawing/2014/main" val="3699126953"/>
                    </a:ext>
                  </a:extLst>
                </a:gridCol>
                <a:gridCol w="675576">
                  <a:extLst>
                    <a:ext uri="{9D8B030D-6E8A-4147-A177-3AD203B41FA5}">
                      <a16:colId xmlns:a16="http://schemas.microsoft.com/office/drawing/2014/main" val="2252477270"/>
                    </a:ext>
                  </a:extLst>
                </a:gridCol>
                <a:gridCol w="707326">
                  <a:extLst>
                    <a:ext uri="{9D8B030D-6E8A-4147-A177-3AD203B41FA5}">
                      <a16:colId xmlns:a16="http://schemas.microsoft.com/office/drawing/2014/main" val="741363597"/>
                    </a:ext>
                  </a:extLst>
                </a:gridCol>
                <a:gridCol w="373187">
                  <a:extLst>
                    <a:ext uri="{9D8B030D-6E8A-4147-A177-3AD203B41FA5}">
                      <a16:colId xmlns:a16="http://schemas.microsoft.com/office/drawing/2014/main" val="1483787101"/>
                    </a:ext>
                  </a:extLst>
                </a:gridCol>
                <a:gridCol w="2194560">
                  <a:extLst>
                    <a:ext uri="{9D8B030D-6E8A-4147-A177-3AD203B41FA5}">
                      <a16:colId xmlns:a16="http://schemas.microsoft.com/office/drawing/2014/main" val="3435530043"/>
                    </a:ext>
                  </a:extLst>
                </a:gridCol>
              </a:tblGrid>
              <a:tr h="0">
                <a:tc>
                  <a:txBody>
                    <a:bodyPr/>
                    <a:lstStyle/>
                    <a:p>
                      <a:pPr marL="0" marR="0" lvl="0" indent="0" algn="ctr" defTabSz="914378" rtl="0" eaLnBrk="1" fontAlgn="b" latinLnBrk="0" hangingPunct="1">
                        <a:lnSpc>
                          <a:spcPct val="90000"/>
                        </a:lnSpc>
                        <a:spcBef>
                          <a:spcPts val="0"/>
                        </a:spcBef>
                        <a:spcAft>
                          <a:spcPts val="0"/>
                        </a:spcAft>
                        <a:buClrTx/>
                        <a:buSzTx/>
                        <a:buFontTx/>
                        <a:buNone/>
                        <a:tabLst/>
                        <a:defRPr/>
                      </a:pPr>
                      <a:r>
                        <a:rPr lang="en-US" sz="900" b="1" i="0" u="none" strike="noStrike" dirty="0">
                          <a:solidFill>
                            <a:srgbClr val="FFFFFF"/>
                          </a:solidFill>
                          <a:effectLst/>
                          <a:latin typeface="Calibri" panose="020F0502020204030204" pitchFamily="34" charset="0"/>
                        </a:rPr>
                        <a:t>Company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Industry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lnSpc>
                          <a:spcPct val="90000"/>
                        </a:lnSpc>
                        <a:buNone/>
                      </a:pPr>
                      <a:r>
                        <a:rPr lang="fr-FR" sz="900" b="1" i="0" u="none" strike="noStrike">
                          <a:solidFill>
                            <a:srgbClr val="FFFFFF"/>
                          </a:solidFill>
                          <a:effectLst/>
                          <a:latin typeface="Calibri" panose="020F0502020204030204" pitchFamily="34" charset="0"/>
                        </a:rPr>
                        <a:t>Revenue</a:t>
                      </a:r>
                    </a:p>
                    <a:p>
                      <a:pPr algn="ctr" fontAlgn="b">
                        <a:lnSpc>
                          <a:spcPct val="90000"/>
                        </a:lnSpc>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3/5/2026</a:t>
                      </a:r>
                    </a:p>
                    <a:p>
                      <a:pPr algn="ctr" fontAlgn="b">
                        <a:lnSpc>
                          <a:spcPct val="90000"/>
                        </a:lnSpc>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Advanced</a:t>
                      </a:r>
                    </a:p>
                    <a:p>
                      <a:pPr algn="ctr" fontAlgn="b">
                        <a:lnSpc>
                          <a:spcPct val="90000"/>
                        </a:lnSpc>
                      </a:pPr>
                      <a:r>
                        <a:rPr lang="en-US" sz="900" b="1" i="0" u="none" strike="noStrike">
                          <a:solidFill>
                            <a:srgbClr val="FFFFFF"/>
                          </a:solidFill>
                          <a:effectLst/>
                          <a:latin typeface="Calibri" panose="020F0502020204030204" pitchFamily="34" charset="0"/>
                        </a:rPr>
                        <a:t>Engineering and</a:t>
                      </a:r>
                    </a:p>
                    <a:p>
                      <a:pPr algn="ctr" fontAlgn="b">
                        <a:lnSpc>
                          <a:spcPct val="90000"/>
                        </a:lnSpc>
                      </a:pPr>
                      <a:r>
                        <a:rPr lang="en-US" sz="900" b="1" i="0" u="none" strike="noStrike">
                          <a:solidFill>
                            <a:srgbClr val="FFFFFF"/>
                          </a:solidFill>
                          <a:effectLst/>
                          <a:latin typeface="Calibri" panose="020F0502020204030204" pitchFamily="34" charset="0"/>
                        </a:rPr>
                        <a:t>Technology Capabilities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Count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Commentary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01766237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Arcadis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Netherlands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$5,512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$3,046</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0.6x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consumer end markets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54596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Quanta</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$28,480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$82,174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2.9x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Infrastructure</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electric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Construction-heavy infrastructure contractor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Operational-focused</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customers in energy market</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Data center services and products provider</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663541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Capgemini</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France</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$25,399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$21,369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0.8x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Digital/IT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digital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6746845"/>
                  </a:ext>
                </a:extLst>
              </a:tr>
              <a:tr h="0">
                <a:tc>
                  <a:txBody>
                    <a:bodyPr/>
                    <a:lstStyle/>
                    <a:p>
                      <a:pPr algn="l" fontAlgn="b">
                        <a:lnSpc>
                          <a:spcPct val="90000"/>
                        </a:lnSpc>
                        <a:buNone/>
                      </a:pPr>
                      <a:r>
                        <a:rPr lang="en-US" sz="900" b="0" i="0" u="none" strike="noStrike" err="1">
                          <a:solidFill>
                            <a:srgbClr val="000000"/>
                          </a:solidFill>
                          <a:effectLst/>
                          <a:latin typeface="Calibri" panose="020F0502020204030204" pitchFamily="34" charset="0"/>
                        </a:rPr>
                        <a:t>Primoris</a:t>
                      </a:r>
                      <a:endParaRPr lang="en-US" sz="9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$7,575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$7,455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1.0x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Primarily</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renewables and chemical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Self-perform construction work</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Competitor for talent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1646532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Worley</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Australia</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$7,186</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$3,861</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0.5x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 installation, and maintenance provider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Service provider in energy, chemicals, and resources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Consulting segment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213194"/>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Palantir</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$4,475</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$365,137</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81.6x</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Software</a:t>
                      </a:r>
                    </a:p>
                    <a:p>
                      <a:pPr algn="ctr" fontAlgn="b">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PaaS/SaaS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26%</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software platforms</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Revenue driven by software subscriptions and licensing</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High government consumer base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264919085"/>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8905868"/>
                  </a:ext>
                </a:extLst>
              </a:tr>
              <a:tr h="0">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70109881"/>
                  </a:ext>
                </a:extLst>
              </a:tr>
            </a:tbl>
          </a:graphicData>
        </a:graphic>
      </p:graphicFrame>
    </p:spTree>
    <p:extLst>
      <p:ext uri="{BB962C8B-B14F-4D97-AF65-F5344CB8AC3E}">
        <p14:creationId xmlns:p14="http://schemas.microsoft.com/office/powerpoint/2010/main" val="14922514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886978-BB19-0502-88B7-630B0C7A95B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BA3CAD7-3431-3339-C36D-8180C3EB8DA2}"/>
              </a:ext>
            </a:extLst>
          </p:cNvPr>
          <p:cNvSpPr>
            <a:spLocks noGrp="1"/>
          </p:cNvSpPr>
          <p:nvPr>
            <p:ph type="title"/>
          </p:nvPr>
        </p:nvSpPr>
        <p:spPr/>
        <p:txBody>
          <a:bodyPr/>
          <a:lstStyle/>
          <a:p>
            <a:r>
              <a:rPr lang="en-US"/>
              <a:t>Capgemini would slightly impact the CEO’s competitive size-adjusted median TDC if it were included in the peer group</a:t>
            </a:r>
          </a:p>
        </p:txBody>
      </p:sp>
      <p:graphicFrame>
        <p:nvGraphicFramePr>
          <p:cNvPr id="17" name="Table 16">
            <a:extLst>
              <a:ext uri="{FF2B5EF4-FFF2-40B4-BE49-F238E27FC236}">
                <a16:creationId xmlns:a16="http://schemas.microsoft.com/office/drawing/2014/main" id="{B32C4CCF-DB6F-4648-DB97-D11D707F19A5}"/>
              </a:ext>
            </a:extLst>
          </p:cNvPr>
          <p:cNvGraphicFramePr>
            <a:graphicFrameLocks noGrp="1"/>
          </p:cNvGraphicFramePr>
          <p:nvPr>
            <p:extLst>
              <p:ext uri="{D42A27DB-BD31-4B8C-83A1-F6EECF244321}">
                <p14:modId xmlns:p14="http://schemas.microsoft.com/office/powerpoint/2010/main" val="1546997479"/>
              </p:ext>
            </p:extLst>
          </p:nvPr>
        </p:nvGraphicFramePr>
        <p:xfrm>
          <a:off x="622347" y="5237573"/>
          <a:ext cx="3562978" cy="908304"/>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4155806379"/>
                    </a:ext>
                  </a:extLst>
                </a:gridCol>
                <a:gridCol w="548640">
                  <a:extLst>
                    <a:ext uri="{9D8B030D-6E8A-4147-A177-3AD203B41FA5}">
                      <a16:colId xmlns:a16="http://schemas.microsoft.com/office/drawing/2014/main" val="3034208911"/>
                    </a:ext>
                  </a:extLst>
                </a:gridCol>
                <a:gridCol w="911218">
                  <a:extLst>
                    <a:ext uri="{9D8B030D-6E8A-4147-A177-3AD203B41FA5}">
                      <a16:colId xmlns:a16="http://schemas.microsoft.com/office/drawing/2014/main" val="2177005930"/>
                    </a:ext>
                  </a:extLst>
                </a:gridCol>
                <a:gridCol w="1097280">
                  <a:extLst>
                    <a:ext uri="{9D8B030D-6E8A-4147-A177-3AD203B41FA5}">
                      <a16:colId xmlns:a16="http://schemas.microsoft.com/office/drawing/2014/main" val="3267510893"/>
                    </a:ext>
                  </a:extLst>
                </a:gridCol>
              </a:tblGrid>
              <a:tr h="99329">
                <a:tc>
                  <a:txBody>
                    <a:bodyPr/>
                    <a:lstStyle/>
                    <a:p>
                      <a:r>
                        <a:rPr lang="en-US"/>
                        <a:t>Group</a:t>
                      </a:r>
                    </a:p>
                  </a:txBody>
                  <a:tcPr marL="45720" marR="45720" marT="18288" marB="18288" anchor="b"/>
                </a:tc>
                <a:tc>
                  <a:txBody>
                    <a:bodyPr/>
                    <a:lstStyle/>
                    <a:p>
                      <a:pPr algn="ctr"/>
                      <a:r>
                        <a:rPr lang="en-US"/>
                        <a:t>Peer Count</a:t>
                      </a:r>
                    </a:p>
                  </a:txBody>
                  <a:tcPr marL="45720" marR="45720" marT="18288" marB="18288" anchor="b"/>
                </a:tc>
                <a:tc>
                  <a:txBody>
                    <a:bodyPr/>
                    <a:lstStyle/>
                    <a:p>
                      <a:pPr algn="ctr"/>
                      <a:r>
                        <a:rPr lang="en-US"/>
                        <a:t>Predicted CEO TDC</a:t>
                      </a:r>
                    </a:p>
                  </a:txBody>
                  <a:tcPr marL="45720" marR="45720" marT="18288" marB="18288" anchor="b"/>
                </a:tc>
                <a:tc>
                  <a:txBody>
                    <a:bodyPr/>
                    <a:lstStyle/>
                    <a:p>
                      <a:pPr algn="ctr"/>
                      <a:r>
                        <a:rPr lang="en-US"/>
                        <a:t>Impact on CEO Market Median</a:t>
                      </a:r>
                      <a:r>
                        <a:rPr lang="en-US" baseline="30000"/>
                        <a:t>(1)</a:t>
                      </a:r>
                    </a:p>
                  </a:txBody>
                  <a:tcPr marL="45720" marR="45720" marT="18288" marB="18288" anchor="b"/>
                </a:tc>
                <a:extLst>
                  <a:ext uri="{0D108BD9-81ED-4DB2-BD59-A6C34878D82A}">
                    <a16:rowId xmlns:a16="http://schemas.microsoft.com/office/drawing/2014/main" val="2017734646"/>
                  </a:ext>
                </a:extLst>
              </a:tr>
              <a:tr h="0">
                <a:tc>
                  <a:txBody>
                    <a:bodyPr/>
                    <a:lstStyle/>
                    <a:p>
                      <a:r>
                        <a:rPr lang="en-US"/>
                        <a:t>Current Peers</a:t>
                      </a:r>
                    </a:p>
                  </a:txBody>
                  <a:tcPr marL="45720" marR="45720" marT="18288" marB="18288"/>
                </a:tc>
                <a:tc>
                  <a:txBody>
                    <a:bodyPr/>
                    <a:lstStyle/>
                    <a:p>
                      <a:pPr algn="ctr"/>
                      <a:r>
                        <a:rPr lang="en-US" b="0"/>
                        <a:t>16</a:t>
                      </a:r>
                    </a:p>
                  </a:txBody>
                  <a:tcPr marL="45720" marR="45720" marT="18288" marB="18288"/>
                </a:tc>
                <a:tc>
                  <a:txBody>
                    <a:bodyPr/>
                    <a:lstStyle/>
                    <a:p>
                      <a:pPr algn="ctr"/>
                      <a:r>
                        <a:rPr lang="en-US" b="0"/>
                        <a:t>$12.9MM</a:t>
                      </a:r>
                    </a:p>
                  </a:txBody>
                  <a:tcPr marL="45720" marR="45720" marT="18288" marB="18288"/>
                </a:tc>
                <a:tc>
                  <a:txBody>
                    <a:bodyPr/>
                    <a:lstStyle/>
                    <a:p>
                      <a:pPr algn="ctr"/>
                      <a:r>
                        <a:rPr lang="en-US" b="0"/>
                        <a:t>n/a</a:t>
                      </a:r>
                    </a:p>
                  </a:txBody>
                  <a:tcPr marL="45720" marR="45720" marT="18288" marB="18288"/>
                </a:tc>
                <a:extLst>
                  <a:ext uri="{0D108BD9-81ED-4DB2-BD59-A6C34878D82A}">
                    <a16:rowId xmlns:a16="http://schemas.microsoft.com/office/drawing/2014/main" val="3457958299"/>
                  </a:ext>
                </a:extLst>
              </a:tr>
              <a:tr h="0">
                <a:tc>
                  <a:txBody>
                    <a:bodyPr/>
                    <a:lstStyle/>
                    <a:p>
                      <a:r>
                        <a:rPr lang="en-US" b="0">
                          <a:solidFill>
                            <a:schemeClr val="tx1"/>
                          </a:solidFill>
                        </a:rPr>
                        <a:t>Proposed Peers</a:t>
                      </a:r>
                    </a:p>
                  </a:txBody>
                  <a:tcPr marL="45720" marR="45720" marT="18288" marB="18288"/>
                </a:tc>
                <a:tc>
                  <a:txBody>
                    <a:bodyPr/>
                    <a:lstStyle/>
                    <a:p>
                      <a:pPr algn="ctr"/>
                      <a:r>
                        <a:rPr lang="en-US" b="0">
                          <a:solidFill>
                            <a:schemeClr val="tx1"/>
                          </a:solidFill>
                        </a:rPr>
                        <a:t>15</a:t>
                      </a:r>
                    </a:p>
                  </a:txBody>
                  <a:tcPr marL="45720" marR="45720" marT="18288" marB="18288"/>
                </a:tc>
                <a:tc>
                  <a:txBody>
                    <a:bodyPr/>
                    <a:lstStyle/>
                    <a:p>
                      <a:pPr algn="ctr"/>
                      <a:r>
                        <a:rPr lang="en-US" b="0">
                          <a:solidFill>
                            <a:schemeClr val="tx1"/>
                          </a:solidFill>
                        </a:rPr>
                        <a:t>$12.8MM</a:t>
                      </a:r>
                    </a:p>
                  </a:txBody>
                  <a:tcPr marL="45720" marR="45720" marT="18288" marB="18288"/>
                </a:tc>
                <a:tc>
                  <a:txBody>
                    <a:bodyPr/>
                    <a:lstStyle/>
                    <a:p>
                      <a:pPr algn="ctr"/>
                      <a:r>
                        <a:rPr lang="en-US" sz="1000" b="1">
                          <a:solidFill>
                            <a:schemeClr val="tx1"/>
                          </a:solidFill>
                          <a:latin typeface="Calibri" panose="020F0502020204030204" pitchFamily="34" charset="0"/>
                          <a:cs typeface="Calibri" panose="020F0502020204030204" pitchFamily="34" charset="0"/>
                        </a:rPr>
                        <a:t>~</a:t>
                      </a:r>
                      <a:r>
                        <a:rPr lang="en-US" sz="1000" b="1">
                          <a:solidFill>
                            <a:schemeClr val="tx1"/>
                          </a:solidFill>
                        </a:rPr>
                        <a:t>$100K impact</a:t>
                      </a:r>
                      <a:endParaRPr lang="en-US" b="1">
                        <a:solidFill>
                          <a:schemeClr val="tx1"/>
                        </a:solidFill>
                      </a:endParaRPr>
                    </a:p>
                  </a:txBody>
                  <a:tcPr marL="45720" marR="45720" marT="18288" marB="18288"/>
                </a:tc>
                <a:extLst>
                  <a:ext uri="{0D108BD9-81ED-4DB2-BD59-A6C34878D82A}">
                    <a16:rowId xmlns:a16="http://schemas.microsoft.com/office/drawing/2014/main" val="4012626582"/>
                  </a:ext>
                </a:extLst>
              </a:tr>
              <a:tr h="0">
                <a:tc>
                  <a:txBody>
                    <a:bodyPr/>
                    <a:lstStyle/>
                    <a:p>
                      <a:r>
                        <a:rPr lang="en-US" b="1">
                          <a:solidFill>
                            <a:schemeClr val="accent6"/>
                          </a:solidFill>
                        </a:rPr>
                        <a:t>With Capgemini</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16</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$12.1MM</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accent6"/>
                          </a:solidFill>
                          <a:latin typeface="Calibri" panose="020F0502020204030204" pitchFamily="34" charset="0"/>
                          <a:cs typeface="Calibri" panose="020F0502020204030204" pitchFamily="34" charset="0"/>
                        </a:rPr>
                        <a:t>~</a:t>
                      </a:r>
                      <a:r>
                        <a:rPr lang="en-US" sz="1000" b="1">
                          <a:solidFill>
                            <a:schemeClr val="accent6"/>
                          </a:solidFill>
                        </a:rPr>
                        <a:t>$800K impact</a:t>
                      </a:r>
                    </a:p>
                  </a:txBody>
                  <a:tcPr marL="45720" marR="45720" marT="18288" marB="18288">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823068"/>
                  </a:ext>
                </a:extLst>
              </a:tr>
            </a:tbl>
          </a:graphicData>
        </a:graphic>
      </p:graphicFrame>
      <p:sp>
        <p:nvSpPr>
          <p:cNvPr id="18" name="TextBox 17">
            <a:extLst>
              <a:ext uri="{FF2B5EF4-FFF2-40B4-BE49-F238E27FC236}">
                <a16:creationId xmlns:a16="http://schemas.microsoft.com/office/drawing/2014/main" id="{7D29DB6D-F81F-8E64-9AA9-D20869F6A447}"/>
              </a:ext>
            </a:extLst>
          </p:cNvPr>
          <p:cNvSpPr txBox="1"/>
          <p:nvPr/>
        </p:nvSpPr>
        <p:spPr>
          <a:xfrm>
            <a:off x="622347" y="6169613"/>
            <a:ext cx="3562978" cy="355097"/>
          </a:xfrm>
          <a:prstGeom prst="rect">
            <a:avLst/>
          </a:prstGeom>
          <a:noFill/>
        </p:spPr>
        <p:txBody>
          <a:bodyPr wrap="square" lIns="45720" tIns="45720" rIns="45720" bIns="45720" rtlCol="0" anchor="ctr">
            <a:spAutoFit/>
          </a:bodyPr>
          <a:lstStyle/>
          <a:p>
            <a:pPr marL="182880" indent="-182880">
              <a:lnSpc>
                <a:spcPct val="85000"/>
              </a:lnSpc>
              <a:buAutoNum type="arabicParenBoth"/>
            </a:pPr>
            <a:r>
              <a:rPr lang="en-US" sz="1000" i="1"/>
              <a:t>The impact does not reflect the 50% blend with survey data used for determining the market for CEO pay</a:t>
            </a:r>
          </a:p>
        </p:txBody>
      </p:sp>
      <p:grpSp>
        <p:nvGrpSpPr>
          <p:cNvPr id="36" name="Group 35">
            <a:extLst>
              <a:ext uri="{FF2B5EF4-FFF2-40B4-BE49-F238E27FC236}">
                <a16:creationId xmlns:a16="http://schemas.microsoft.com/office/drawing/2014/main" id="{66B5D6D0-5EE0-016A-8F97-972B3D237AEA}"/>
              </a:ext>
            </a:extLst>
          </p:cNvPr>
          <p:cNvGrpSpPr/>
          <p:nvPr/>
        </p:nvGrpSpPr>
        <p:grpSpPr>
          <a:xfrm>
            <a:off x="642788" y="1530778"/>
            <a:ext cx="7858425" cy="3853006"/>
            <a:chOff x="566587" y="1502497"/>
            <a:chExt cx="7858425" cy="3853006"/>
          </a:xfrm>
        </p:grpSpPr>
        <p:pic>
          <p:nvPicPr>
            <p:cNvPr id="35" name="Picture 34">
              <a:extLst>
                <a:ext uri="{FF2B5EF4-FFF2-40B4-BE49-F238E27FC236}">
                  <a16:creationId xmlns:a16="http://schemas.microsoft.com/office/drawing/2014/main" id="{615A6408-95A8-083B-0B72-750D77E9B735}"/>
                </a:ext>
              </a:extLst>
            </p:cNvPr>
            <p:cNvPicPr>
              <a:picLocks noChangeAspect="1"/>
            </p:cNvPicPr>
            <p:nvPr/>
          </p:nvPicPr>
          <p:blipFill>
            <a:blip r:embed="rId2"/>
            <a:srcRect l="10060" r="1" b="15116"/>
            <a:stretch>
              <a:fillRect/>
            </a:stretch>
          </p:blipFill>
          <p:spPr>
            <a:xfrm>
              <a:off x="1351426" y="1502497"/>
              <a:ext cx="7073394" cy="3275751"/>
            </a:xfrm>
            <a:prstGeom prst="rect">
              <a:avLst/>
            </a:prstGeom>
          </p:spPr>
        </p:pic>
        <p:pic>
          <p:nvPicPr>
            <p:cNvPr id="33" name="Picture 32">
              <a:extLst>
                <a:ext uri="{FF2B5EF4-FFF2-40B4-BE49-F238E27FC236}">
                  <a16:creationId xmlns:a16="http://schemas.microsoft.com/office/drawing/2014/main" id="{365DB4D1-CC25-AC5D-542B-897DFBD59193}"/>
                </a:ext>
              </a:extLst>
            </p:cNvPr>
            <p:cNvPicPr>
              <a:picLocks noChangeAspect="1"/>
            </p:cNvPicPr>
            <p:nvPr/>
          </p:nvPicPr>
          <p:blipFill>
            <a:blip r:embed="rId3"/>
            <a:stretch>
              <a:fillRect/>
            </a:stretch>
          </p:blipFill>
          <p:spPr>
            <a:xfrm>
              <a:off x="566587" y="1502497"/>
              <a:ext cx="7858425" cy="3853006"/>
            </a:xfrm>
            <a:prstGeom prst="rect">
              <a:avLst/>
            </a:prstGeom>
          </p:spPr>
        </p:pic>
      </p:grpSp>
      <p:sp>
        <p:nvSpPr>
          <p:cNvPr id="37" name="TextBox 36">
            <a:extLst>
              <a:ext uri="{FF2B5EF4-FFF2-40B4-BE49-F238E27FC236}">
                <a16:creationId xmlns:a16="http://schemas.microsoft.com/office/drawing/2014/main" id="{20672D5E-F8ED-C489-CD8B-FB8093611DB4}"/>
              </a:ext>
            </a:extLst>
          </p:cNvPr>
          <p:cNvSpPr txBox="1"/>
          <p:nvPr/>
        </p:nvSpPr>
        <p:spPr>
          <a:xfrm>
            <a:off x="4417704" y="4054762"/>
            <a:ext cx="1952867" cy="525272"/>
          </a:xfrm>
          <a:prstGeom prst="rect">
            <a:avLst/>
          </a:prstGeom>
          <a:noFill/>
          <a:ln>
            <a:solidFill>
              <a:schemeClr val="tx1"/>
            </a:solidFill>
          </a:ln>
        </p:spPr>
        <p:txBody>
          <a:bodyPr wrap="square" lIns="45720" tIns="45720" rIns="45720" bIns="45720" rtlCol="0" anchor="ctr">
            <a:spAutoFit/>
          </a:bodyPr>
          <a:lstStyle>
            <a:defPPr>
              <a:defRPr lang="en-US"/>
            </a:defPPr>
            <a:lvl1pPr>
              <a:lnSpc>
                <a:spcPct val="85000"/>
              </a:lnSpc>
              <a:defRPr sz="1200"/>
            </a:lvl1pPr>
          </a:lstStyle>
          <a:p>
            <a:r>
              <a:rPr lang="en-US" sz="1100">
                <a:latin typeface="+mj-lt"/>
              </a:rPr>
              <a:t>Including </a:t>
            </a:r>
            <a:r>
              <a:rPr lang="en-US" sz="1100" b="1">
                <a:solidFill>
                  <a:schemeClr val="accent6"/>
                </a:solidFill>
                <a:latin typeface="+mj-lt"/>
              </a:rPr>
              <a:t>Capgemini</a:t>
            </a:r>
            <a:r>
              <a:rPr lang="en-US" sz="1100">
                <a:latin typeface="+mj-lt"/>
              </a:rPr>
              <a:t> has the effect of bringing down the size-adjusted TDC median by </a:t>
            </a:r>
            <a:r>
              <a:rPr lang="en-US" sz="1100">
                <a:latin typeface="+mj-lt"/>
                <a:cs typeface="Calibri" panose="020F0502020204030204" pitchFamily="34" charset="0"/>
              </a:rPr>
              <a:t>~</a:t>
            </a:r>
            <a:r>
              <a:rPr lang="en-US" sz="1100">
                <a:latin typeface="+mj-lt"/>
              </a:rPr>
              <a:t>$800K</a:t>
            </a:r>
          </a:p>
        </p:txBody>
      </p:sp>
      <p:cxnSp>
        <p:nvCxnSpPr>
          <p:cNvPr id="38" name="Straight Connector 37">
            <a:extLst>
              <a:ext uri="{FF2B5EF4-FFF2-40B4-BE49-F238E27FC236}">
                <a16:creationId xmlns:a16="http://schemas.microsoft.com/office/drawing/2014/main" id="{58E8189D-C338-E9B3-B380-BAE22D6C1C5A}"/>
              </a:ext>
            </a:extLst>
          </p:cNvPr>
          <p:cNvCxnSpPr>
            <a:cxnSpLocks/>
          </p:cNvCxnSpPr>
          <p:nvPr/>
        </p:nvCxnSpPr>
        <p:spPr>
          <a:xfrm flipV="1">
            <a:off x="2479040" y="3123535"/>
            <a:ext cx="0" cy="1603248"/>
          </a:xfrm>
          <a:prstGeom prst="line">
            <a:avLst/>
          </a:prstGeom>
          <a:ln w="6350">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756A32D7-5D84-4467-CB14-A717614FDB4A}"/>
              </a:ext>
            </a:extLst>
          </p:cNvPr>
          <p:cNvSpPr/>
          <p:nvPr/>
        </p:nvSpPr>
        <p:spPr>
          <a:xfrm>
            <a:off x="2359983" y="3203805"/>
            <a:ext cx="238114" cy="451562"/>
          </a:xfrm>
          <a:prstGeom prst="ellipse">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spAutoFit/>
          </a:bodyPr>
          <a:lstStyle/>
          <a:p>
            <a:pPr algn="ctr">
              <a:lnSpc>
                <a:spcPct val="85000"/>
              </a:lnSpc>
            </a:pPr>
            <a:endParaRPr lang="en-US" sz="1400" err="1">
              <a:solidFill>
                <a:schemeClr val="tx1"/>
              </a:solidFill>
            </a:endParaRPr>
          </a:p>
        </p:txBody>
      </p:sp>
      <p:cxnSp>
        <p:nvCxnSpPr>
          <p:cNvPr id="42" name="Straight Arrow Connector 41">
            <a:extLst>
              <a:ext uri="{FF2B5EF4-FFF2-40B4-BE49-F238E27FC236}">
                <a16:creationId xmlns:a16="http://schemas.microsoft.com/office/drawing/2014/main" id="{B9245451-0005-05E3-1F51-373B669567C5}"/>
              </a:ext>
            </a:extLst>
          </p:cNvPr>
          <p:cNvCxnSpPr>
            <a:cxnSpLocks/>
            <a:stCxn id="41" idx="6"/>
          </p:cNvCxnSpPr>
          <p:nvPr/>
        </p:nvCxnSpPr>
        <p:spPr>
          <a:xfrm>
            <a:off x="2598097" y="3429586"/>
            <a:ext cx="2796041" cy="11659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pic>
        <p:nvPicPr>
          <p:cNvPr id="51" name="Picture 50">
            <a:extLst>
              <a:ext uri="{FF2B5EF4-FFF2-40B4-BE49-F238E27FC236}">
                <a16:creationId xmlns:a16="http://schemas.microsoft.com/office/drawing/2014/main" id="{67CAF5B7-C4D6-4308-D302-42DAE60AD25D}"/>
              </a:ext>
            </a:extLst>
          </p:cNvPr>
          <p:cNvPicPr>
            <a:picLocks noChangeAspect="1"/>
          </p:cNvPicPr>
          <p:nvPr/>
        </p:nvPicPr>
        <p:blipFill>
          <a:blip r:embed="rId4"/>
          <a:srcRect l="13336" t="143" r="13631" b="14068"/>
          <a:stretch>
            <a:fillRect/>
          </a:stretch>
        </p:blipFill>
        <p:spPr>
          <a:xfrm>
            <a:off x="5423963" y="3019135"/>
            <a:ext cx="679529" cy="956864"/>
          </a:xfrm>
          <a:prstGeom prst="ellipse">
            <a:avLst/>
          </a:prstGeom>
          <a:ln>
            <a:solidFill>
              <a:schemeClr val="tx1"/>
            </a:solidFill>
          </a:ln>
        </p:spPr>
      </p:pic>
      <p:cxnSp>
        <p:nvCxnSpPr>
          <p:cNvPr id="44" name="Straight Connector 43">
            <a:extLst>
              <a:ext uri="{FF2B5EF4-FFF2-40B4-BE49-F238E27FC236}">
                <a16:creationId xmlns:a16="http://schemas.microsoft.com/office/drawing/2014/main" id="{E7B8924A-02B3-A295-F308-FA232FAD5524}"/>
              </a:ext>
            </a:extLst>
          </p:cNvPr>
          <p:cNvCxnSpPr>
            <a:cxnSpLocks/>
          </p:cNvCxnSpPr>
          <p:nvPr/>
        </p:nvCxnSpPr>
        <p:spPr>
          <a:xfrm flipV="1">
            <a:off x="5763727" y="3655367"/>
            <a:ext cx="731520" cy="93716"/>
          </a:xfrm>
          <a:prstGeom prst="line">
            <a:avLst/>
          </a:prstGeom>
          <a:ln w="635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BD454F5-780F-278F-8A51-DDC9F7E64B21}"/>
              </a:ext>
            </a:extLst>
          </p:cNvPr>
          <p:cNvCxnSpPr>
            <a:cxnSpLocks/>
          </p:cNvCxnSpPr>
          <p:nvPr/>
        </p:nvCxnSpPr>
        <p:spPr>
          <a:xfrm>
            <a:off x="5763727" y="3397070"/>
            <a:ext cx="711651" cy="46335"/>
          </a:xfrm>
          <a:prstGeom prst="line">
            <a:avLst/>
          </a:prstGeom>
          <a:ln w="6350"/>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E258CE7C-26A5-2B45-7D4A-769179BAF058}"/>
              </a:ext>
            </a:extLst>
          </p:cNvPr>
          <p:cNvSpPr txBox="1"/>
          <p:nvPr/>
        </p:nvSpPr>
        <p:spPr>
          <a:xfrm>
            <a:off x="6495247" y="3143323"/>
            <a:ext cx="1903726" cy="600164"/>
          </a:xfrm>
          <a:prstGeom prst="rect">
            <a:avLst/>
          </a:prstGeom>
          <a:noFill/>
        </p:spPr>
        <p:txBody>
          <a:bodyPr vert="horz" wrap="none" lIns="45720" tIns="45720" rIns="45720" bIns="45720" rtlCol="0" anchor="ctr">
            <a:spAutoFit/>
          </a:bodyPr>
          <a:lstStyle/>
          <a:p>
            <a:r>
              <a:rPr lang="en-US" sz="1100" b="1" u="sng"/>
              <a:t>Median for a $12B Company</a:t>
            </a:r>
          </a:p>
          <a:p>
            <a:r>
              <a:rPr lang="en-US" sz="1100" b="1"/>
              <a:t>$12.8MM with Proposed Peers</a:t>
            </a:r>
          </a:p>
          <a:p>
            <a:r>
              <a:rPr lang="en-US" sz="1100" b="1">
                <a:solidFill>
                  <a:schemeClr val="accent6"/>
                </a:solidFill>
              </a:rPr>
              <a:t>$12.1MM with Capgemini</a:t>
            </a:r>
          </a:p>
        </p:txBody>
      </p:sp>
      <p:sp>
        <p:nvSpPr>
          <p:cNvPr id="61" name="TextBox 60">
            <a:extLst>
              <a:ext uri="{FF2B5EF4-FFF2-40B4-BE49-F238E27FC236}">
                <a16:creationId xmlns:a16="http://schemas.microsoft.com/office/drawing/2014/main" id="{531713D8-6563-798B-2131-A8ABEDF76780}"/>
              </a:ext>
            </a:extLst>
          </p:cNvPr>
          <p:cNvSpPr txBox="1"/>
          <p:nvPr/>
        </p:nvSpPr>
        <p:spPr>
          <a:xfrm>
            <a:off x="2188795" y="1219998"/>
            <a:ext cx="4766411"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Proposed FY27 Compensation Peers CEO </a:t>
            </a:r>
            <a:r>
              <a:rPr lang="en-US" sz="1400" b="1" err="1">
                <a:latin typeface="Calibri" panose="020F0502020204030204"/>
              </a:rPr>
              <a:t>TDC</a:t>
            </a:r>
            <a:r>
              <a:rPr lang="en-US" sz="1400" b="1">
                <a:latin typeface="Calibri" panose="020F0502020204030204"/>
              </a:rPr>
              <a:t> vs. Revenue</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Regression Lines</a:t>
            </a:r>
          </a:p>
        </p:txBody>
      </p:sp>
      <p:sp>
        <p:nvSpPr>
          <p:cNvPr id="4" name="TextBox 3">
            <a:extLst>
              <a:ext uri="{FF2B5EF4-FFF2-40B4-BE49-F238E27FC236}">
                <a16:creationId xmlns:a16="http://schemas.microsoft.com/office/drawing/2014/main" id="{159B6D73-8DCB-BD2E-AC13-4EBAD096EDD6}"/>
              </a:ext>
            </a:extLst>
          </p:cNvPr>
          <p:cNvSpPr txBox="1"/>
          <p:nvPr/>
        </p:nvSpPr>
        <p:spPr>
          <a:xfrm>
            <a:off x="7290139" y="1155998"/>
            <a:ext cx="1554611" cy="564642"/>
          </a:xfrm>
          <a:prstGeom prst="rect">
            <a:avLst/>
          </a:prstGeom>
          <a:solidFill>
            <a:schemeClr val="accent3">
              <a:lumMod val="20000"/>
              <a:lumOff val="80000"/>
            </a:schemeClr>
          </a:solidFill>
          <a:ln w="6350">
            <a:solidFill>
              <a:schemeClr val="tx1"/>
            </a:solidFill>
          </a:ln>
        </p:spPr>
        <p:txBody>
          <a:bodyPr vert="horz" wrap="square" lIns="45720" tIns="45720" rIns="45720" bIns="45720" rtlCol="0" anchor="ctr">
            <a:spAutoFit/>
          </a:bodyPr>
          <a:lstStyle/>
          <a:p>
            <a:pPr algn="ctr">
              <a:lnSpc>
                <a:spcPct val="85000"/>
              </a:lnSpc>
            </a:pPr>
            <a:r>
              <a:rPr lang="en-US" sz="1200" i="1"/>
              <a:t>Capgemini only discloses pay for the CEO in its annual report</a:t>
            </a:r>
          </a:p>
        </p:txBody>
      </p:sp>
      <p:graphicFrame>
        <p:nvGraphicFramePr>
          <p:cNvPr id="78" name="Table 77">
            <a:extLst>
              <a:ext uri="{FF2B5EF4-FFF2-40B4-BE49-F238E27FC236}">
                <a16:creationId xmlns:a16="http://schemas.microsoft.com/office/drawing/2014/main" id="{34E96DCA-C9F5-AD9E-3A7E-99CDD8AB35E5}"/>
              </a:ext>
            </a:extLst>
          </p:cNvPr>
          <p:cNvGraphicFramePr>
            <a:graphicFrameLocks noGrp="1"/>
          </p:cNvGraphicFramePr>
          <p:nvPr>
            <p:extLst>
              <p:ext uri="{D42A27DB-BD31-4B8C-83A1-F6EECF244321}">
                <p14:modId xmlns:p14="http://schemas.microsoft.com/office/powerpoint/2010/main" val="657461668"/>
              </p:ext>
            </p:extLst>
          </p:nvPr>
        </p:nvGraphicFramePr>
        <p:xfrm>
          <a:off x="4573585" y="5689755"/>
          <a:ext cx="3607116" cy="371856"/>
        </p:xfrm>
        <a:graphic>
          <a:graphicData uri="http://schemas.openxmlformats.org/drawingml/2006/table">
            <a:tbl>
              <a:tblPr/>
              <a:tblGrid>
                <a:gridCol w="710565">
                  <a:extLst>
                    <a:ext uri="{9D8B030D-6E8A-4147-A177-3AD203B41FA5}">
                      <a16:colId xmlns:a16="http://schemas.microsoft.com/office/drawing/2014/main" val="919428294"/>
                    </a:ext>
                  </a:extLst>
                </a:gridCol>
                <a:gridCol w="515302">
                  <a:extLst>
                    <a:ext uri="{9D8B030D-6E8A-4147-A177-3AD203B41FA5}">
                      <a16:colId xmlns:a16="http://schemas.microsoft.com/office/drawing/2014/main" val="933914818"/>
                    </a:ext>
                  </a:extLst>
                </a:gridCol>
                <a:gridCol w="397828">
                  <a:extLst>
                    <a:ext uri="{9D8B030D-6E8A-4147-A177-3AD203B41FA5}">
                      <a16:colId xmlns:a16="http://schemas.microsoft.com/office/drawing/2014/main" val="1570038960"/>
                    </a:ext>
                  </a:extLst>
                </a:gridCol>
                <a:gridCol w="515302">
                  <a:extLst>
                    <a:ext uri="{9D8B030D-6E8A-4147-A177-3AD203B41FA5}">
                      <a16:colId xmlns:a16="http://schemas.microsoft.com/office/drawing/2014/main" val="3390503649"/>
                    </a:ext>
                  </a:extLst>
                </a:gridCol>
                <a:gridCol w="437515">
                  <a:extLst>
                    <a:ext uri="{9D8B030D-6E8A-4147-A177-3AD203B41FA5}">
                      <a16:colId xmlns:a16="http://schemas.microsoft.com/office/drawing/2014/main" val="1242879960"/>
                    </a:ext>
                  </a:extLst>
                </a:gridCol>
                <a:gridCol w="515302">
                  <a:extLst>
                    <a:ext uri="{9D8B030D-6E8A-4147-A177-3AD203B41FA5}">
                      <a16:colId xmlns:a16="http://schemas.microsoft.com/office/drawing/2014/main" val="2731856687"/>
                    </a:ext>
                  </a:extLst>
                </a:gridCol>
                <a:gridCol w="515302">
                  <a:extLst>
                    <a:ext uri="{9D8B030D-6E8A-4147-A177-3AD203B41FA5}">
                      <a16:colId xmlns:a16="http://schemas.microsoft.com/office/drawing/2014/main" val="2801464759"/>
                    </a:ext>
                  </a:extLst>
                </a:gridCol>
              </a:tblGrid>
              <a:tr h="184150">
                <a:tc>
                  <a:txBody>
                    <a:bodyPr/>
                    <a:lstStyle/>
                    <a:p>
                      <a:pPr algn="l" fontAlgn="b">
                        <a:buNone/>
                      </a:pPr>
                      <a:r>
                        <a:rPr lang="en-US" sz="1100" b="1" i="0" u="none" strike="noStrike">
                          <a:solidFill>
                            <a:srgbClr val="FFFFFF"/>
                          </a:solidFill>
                          <a:effectLst/>
                          <a:latin typeface="Calibri" panose="020F0502020204030204" pitchFamily="34" charset="0"/>
                        </a:rPr>
                        <a:t> Executive</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Salary</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STI%</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STC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r>
                        <a:rPr lang="en-US" sz="1100" b="1" i="0" u="none" strike="noStrike">
                          <a:solidFill>
                            <a:srgbClr val="FFFFFF"/>
                          </a:solidFill>
                          <a:effectLst/>
                          <a:latin typeface="Calibri" panose="020F0502020204030204" pitchFamily="34" charset="0"/>
                        </a:rPr>
                        <a:t> %</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TDC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extLst>
                  <a:ext uri="{0D108BD9-81ED-4DB2-BD59-A6C34878D82A}">
                    <a16:rowId xmlns:a16="http://schemas.microsoft.com/office/drawing/2014/main" val="3315406046"/>
                  </a:ext>
                </a:extLst>
              </a:tr>
              <a:tr h="184150">
                <a:tc>
                  <a:txBody>
                    <a:bodyPr/>
                    <a:lstStyle/>
                    <a:p>
                      <a:pPr algn="l" fontAlgn="b">
                        <a:buNone/>
                      </a:pPr>
                      <a:r>
                        <a:rPr lang="en-US" sz="1100" b="0" i="0" u="none" strike="noStrike">
                          <a:solidFill>
                            <a:srgbClr val="000000"/>
                          </a:solidFill>
                          <a:effectLst/>
                          <a:latin typeface="Calibri" panose="020F0502020204030204" pitchFamily="34" charset="0"/>
                        </a:rPr>
                        <a:t>CEO</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$1,508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80%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$2,714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$3,777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$6,491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440085"/>
                  </a:ext>
                </a:extLst>
              </a:tr>
            </a:tbl>
          </a:graphicData>
        </a:graphic>
      </p:graphicFrame>
      <p:sp>
        <p:nvSpPr>
          <p:cNvPr id="79" name="TextBox 78">
            <a:extLst>
              <a:ext uri="{FF2B5EF4-FFF2-40B4-BE49-F238E27FC236}">
                <a16:creationId xmlns:a16="http://schemas.microsoft.com/office/drawing/2014/main" id="{66E0ACE1-F5D2-C729-A3EC-63FA175F7ECC}"/>
              </a:ext>
            </a:extLst>
          </p:cNvPr>
          <p:cNvSpPr txBox="1"/>
          <p:nvPr/>
        </p:nvSpPr>
        <p:spPr>
          <a:xfrm>
            <a:off x="4738560" y="5383784"/>
            <a:ext cx="3296108"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FY25 Capgemini CEO Target Pay ($000s)</a:t>
            </a:r>
          </a:p>
        </p:txBody>
      </p:sp>
      <p:sp>
        <p:nvSpPr>
          <p:cNvPr id="7" name="TextBox 6">
            <a:extLst>
              <a:ext uri="{FF2B5EF4-FFF2-40B4-BE49-F238E27FC236}">
                <a16:creationId xmlns:a16="http://schemas.microsoft.com/office/drawing/2014/main" id="{5C8F888D-4B7D-C6ED-B8AA-AC8ACBAB877E}"/>
              </a:ext>
            </a:extLst>
          </p:cNvPr>
          <p:cNvSpPr txBox="1"/>
          <p:nvPr/>
        </p:nvSpPr>
        <p:spPr>
          <a:xfrm>
            <a:off x="8017444" y="1773484"/>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65603310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8864E-251D-9597-4F6D-E49651158EE2}"/>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641226D-827A-7CDD-88F5-35FC17917D52}"/>
              </a:ext>
            </a:extLst>
          </p:cNvPr>
          <p:cNvSpPr>
            <a:spLocks noGrp="1"/>
          </p:cNvSpPr>
          <p:nvPr>
            <p:ph type="title"/>
          </p:nvPr>
        </p:nvSpPr>
        <p:spPr/>
        <p:txBody>
          <a:bodyPr/>
          <a:lstStyle/>
          <a:p>
            <a:r>
              <a:rPr lang="en-US" dirty="0"/>
              <a:t>Capgemini's incentive plans are similar to those of </a:t>
            </a:r>
            <a:r>
              <a:rPr lang="en-US" dirty="0" err="1"/>
              <a:t>Plutos</a:t>
            </a:r>
            <a:r>
              <a:rPr lang="en-US" dirty="0"/>
              <a:t>’ current peers</a:t>
            </a:r>
          </a:p>
        </p:txBody>
      </p:sp>
      <p:sp>
        <p:nvSpPr>
          <p:cNvPr id="5" name="TextBox 4">
            <a:extLst>
              <a:ext uri="{FF2B5EF4-FFF2-40B4-BE49-F238E27FC236}">
                <a16:creationId xmlns:a16="http://schemas.microsoft.com/office/drawing/2014/main" id="{125737B5-3BFF-F3E3-0CAA-F2723320C73C}"/>
              </a:ext>
            </a:extLst>
          </p:cNvPr>
          <p:cNvSpPr txBox="1"/>
          <p:nvPr/>
        </p:nvSpPr>
        <p:spPr>
          <a:xfrm>
            <a:off x="3073769" y="1391842"/>
            <a:ext cx="299646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Annual Incentive</a:t>
            </a:r>
            <a:r>
              <a:rPr lang="en-US" sz="1400" b="1">
                <a:latin typeface="Calibri" panose="020F0502020204030204"/>
              </a:rPr>
              <a:t> </a:t>
            </a:r>
            <a:r>
              <a:rPr lang="en-US" sz="1400" b="1">
                <a:latin typeface="Calibri" panose="020F0502020204030204"/>
                <a:cs typeface="+mn-cs"/>
              </a:rPr>
              <a:t>Plan</a:t>
            </a:r>
          </a:p>
        </p:txBody>
      </p:sp>
      <p:sp>
        <p:nvSpPr>
          <p:cNvPr id="43" name="Rectangle 42">
            <a:extLst>
              <a:ext uri="{FF2B5EF4-FFF2-40B4-BE49-F238E27FC236}">
                <a16:creationId xmlns:a16="http://schemas.microsoft.com/office/drawing/2014/main" id="{EE15D643-B839-79BC-FB4F-DCBD8BA48A45}"/>
              </a:ext>
            </a:extLst>
          </p:cNvPr>
          <p:cNvSpPr/>
          <p:nvPr/>
        </p:nvSpPr>
        <p:spPr bwMode="auto">
          <a:xfrm>
            <a:off x="2351834" y="3961526"/>
            <a:ext cx="4133807" cy="2005941"/>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44" name="Table 43">
            <a:extLst>
              <a:ext uri="{FF2B5EF4-FFF2-40B4-BE49-F238E27FC236}">
                <a16:creationId xmlns:a16="http://schemas.microsoft.com/office/drawing/2014/main" id="{48C3E666-E438-447C-E8D1-1214D385D284}"/>
              </a:ext>
            </a:extLst>
          </p:cNvPr>
          <p:cNvGraphicFramePr>
            <a:graphicFrameLocks noGrp="1"/>
          </p:cNvGraphicFramePr>
          <p:nvPr>
            <p:extLst>
              <p:ext uri="{D42A27DB-BD31-4B8C-83A1-F6EECF244321}">
                <p14:modId xmlns:p14="http://schemas.microsoft.com/office/powerpoint/2010/main" val="3876488224"/>
              </p:ext>
            </p:extLst>
          </p:nvPr>
        </p:nvGraphicFramePr>
        <p:xfrm>
          <a:off x="3717858" y="4154837"/>
          <a:ext cx="683430" cy="831012"/>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59152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Relative Share Price</a:t>
                      </a:r>
                      <a:endParaRPr lang="en-US" sz="1100" b="1">
                        <a:solidFill>
                          <a:schemeClr val="tx2"/>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5" name="Plus 40">
            <a:extLst>
              <a:ext uri="{FF2B5EF4-FFF2-40B4-BE49-F238E27FC236}">
                <a16:creationId xmlns:a16="http://schemas.microsoft.com/office/drawing/2014/main" id="{0F137AAD-4BDB-836C-A3CA-A5CCBB30985F}"/>
              </a:ext>
            </a:extLst>
          </p:cNvPr>
          <p:cNvSpPr/>
          <p:nvPr/>
        </p:nvSpPr>
        <p:spPr bwMode="auto">
          <a:xfrm>
            <a:off x="4398215"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6" name="Table 45">
            <a:extLst>
              <a:ext uri="{FF2B5EF4-FFF2-40B4-BE49-F238E27FC236}">
                <a16:creationId xmlns:a16="http://schemas.microsoft.com/office/drawing/2014/main" id="{4E824D2E-6A9E-1318-A9C1-B3BF5DFD5E32}"/>
              </a:ext>
            </a:extLst>
          </p:cNvPr>
          <p:cNvGraphicFramePr>
            <a:graphicFrameLocks noGrp="1"/>
          </p:cNvGraphicFramePr>
          <p:nvPr>
            <p:extLst>
              <p:ext uri="{D42A27DB-BD31-4B8C-83A1-F6EECF244321}">
                <p14:modId xmlns:p14="http://schemas.microsoft.com/office/powerpoint/2010/main" val="352438090"/>
              </p:ext>
            </p:extLst>
          </p:nvPr>
        </p:nvGraphicFramePr>
        <p:xfrm>
          <a:off x="4619136" y="4144276"/>
          <a:ext cx="683430" cy="852134"/>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7" name="Plus 40">
            <a:extLst>
              <a:ext uri="{FF2B5EF4-FFF2-40B4-BE49-F238E27FC236}">
                <a16:creationId xmlns:a16="http://schemas.microsoft.com/office/drawing/2014/main" id="{FDAC52D5-DB50-5A89-0263-79BA7DD6CAAA}"/>
              </a:ext>
            </a:extLst>
          </p:cNvPr>
          <p:cNvSpPr/>
          <p:nvPr/>
        </p:nvSpPr>
        <p:spPr bwMode="auto">
          <a:xfrm>
            <a:off x="5303598"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8" name="Table 47">
            <a:extLst>
              <a:ext uri="{FF2B5EF4-FFF2-40B4-BE49-F238E27FC236}">
                <a16:creationId xmlns:a16="http://schemas.microsoft.com/office/drawing/2014/main" id="{BBA3C9C2-79AB-D85E-12A4-E2F2F8DE0DCE}"/>
              </a:ext>
            </a:extLst>
          </p:cNvPr>
          <p:cNvGraphicFramePr>
            <a:graphicFrameLocks noGrp="1"/>
          </p:cNvGraphicFramePr>
          <p:nvPr>
            <p:extLst>
              <p:ext uri="{D42A27DB-BD31-4B8C-83A1-F6EECF244321}">
                <p14:modId xmlns:p14="http://schemas.microsoft.com/office/powerpoint/2010/main" val="1959586052"/>
              </p:ext>
            </p:extLst>
          </p:nvPr>
        </p:nvGraphicFramePr>
        <p:xfrm>
          <a:off x="5545687" y="4144276"/>
          <a:ext cx="717244" cy="852134"/>
        </p:xfrm>
        <a:graphic>
          <a:graphicData uri="http://schemas.openxmlformats.org/drawingml/2006/table">
            <a:tbl>
              <a:tblPr firstRow="1" bandRow="1"/>
              <a:tblGrid>
                <a:gridCol w="717244">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20%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9" name="Rounded Rectangle 15">
            <a:extLst>
              <a:ext uri="{FF2B5EF4-FFF2-40B4-BE49-F238E27FC236}">
                <a16:creationId xmlns:a16="http://schemas.microsoft.com/office/drawing/2014/main" id="{DB22DF3B-7584-FC55-0F88-74311EF8D516}"/>
              </a:ext>
            </a:extLst>
          </p:cNvPr>
          <p:cNvSpPr/>
          <p:nvPr/>
        </p:nvSpPr>
        <p:spPr>
          <a:xfrm>
            <a:off x="3644110" y="5067389"/>
            <a:ext cx="2618821" cy="198693"/>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108% of Target</a:t>
            </a:r>
          </a:p>
        </p:txBody>
      </p:sp>
      <p:sp>
        <p:nvSpPr>
          <p:cNvPr id="51" name="Rectangle 50">
            <a:extLst>
              <a:ext uri="{FF2B5EF4-FFF2-40B4-BE49-F238E27FC236}">
                <a16:creationId xmlns:a16="http://schemas.microsoft.com/office/drawing/2014/main" id="{66DDD16A-838D-956A-C575-AF4263B7D1BE}"/>
              </a:ext>
            </a:extLst>
          </p:cNvPr>
          <p:cNvSpPr/>
          <p:nvPr/>
        </p:nvSpPr>
        <p:spPr>
          <a:xfrm>
            <a:off x="2706356" y="5534406"/>
            <a:ext cx="3396316" cy="355097"/>
          </a:xfrm>
          <a:prstGeom prst="rect">
            <a:avLst/>
          </a:prstGeom>
          <a:solidFill>
            <a:sysClr val="window" lastClr="FFFFFF">
              <a:lumMod val="95000"/>
            </a:sysClr>
          </a:solidFill>
          <a:ln w="6350" cap="flat" cmpd="sng" algn="ctr">
            <a:solidFill>
              <a:sysClr val="windowText" lastClr="000000"/>
            </a:solidFill>
            <a:prstDash val="solid"/>
          </a:ln>
          <a:effectLst/>
        </p:spPr>
        <p:txBody>
          <a:bodyPr wrap="square" lIns="45720" tIns="45720" rIns="45720" bIns="45720" rtlCol="0" anchor="ctr">
            <a:spAutoFit/>
          </a:bodyPr>
          <a:lstStyle/>
          <a:p>
            <a:pPr marL="171450" indent="-171450" defTabSz="1219170">
              <a:lnSpc>
                <a:spcPct val="85000"/>
              </a:lnSpc>
              <a:buFont typeface="Wingdings" panose="05000000000000000000" pitchFamily="2" charset="2"/>
              <a:buChar char="§"/>
              <a:defRPr/>
            </a:pPr>
            <a:r>
              <a:rPr lang="en-US" sz="1000" kern="0">
                <a:solidFill>
                  <a:prstClr val="black"/>
                </a:solidFill>
                <a:latin typeface="Calibri" panose="020F0502020204030204"/>
              </a:rPr>
              <a:t>Performance Cash ratably vests over 2 years</a:t>
            </a:r>
          </a:p>
          <a:p>
            <a:pPr marL="171450" indent="-171450" defTabSz="1219170">
              <a:lnSpc>
                <a:spcPct val="85000"/>
              </a:lnSpc>
              <a:buFont typeface="Wingdings" panose="05000000000000000000" pitchFamily="2" charset="2"/>
              <a:buChar char="§"/>
            </a:pPr>
            <a:r>
              <a:rPr lang="en-US" sz="1000" kern="0">
                <a:solidFill>
                  <a:prstClr val="black"/>
                </a:solidFill>
                <a:latin typeface="Calibri" panose="020F0502020204030204"/>
              </a:rPr>
              <a:t>PSUs cliff vest after 3 years</a:t>
            </a:r>
          </a:p>
        </p:txBody>
      </p:sp>
      <p:pic>
        <p:nvPicPr>
          <p:cNvPr id="57" name="Picture 56">
            <a:extLst>
              <a:ext uri="{FF2B5EF4-FFF2-40B4-BE49-F238E27FC236}">
                <a16:creationId xmlns:a16="http://schemas.microsoft.com/office/drawing/2014/main" id="{241DA209-B7AB-0BBA-5A10-8C27B66394FE}"/>
              </a:ext>
            </a:extLst>
          </p:cNvPr>
          <p:cNvPicPr>
            <a:picLocks noChangeAspect="1"/>
          </p:cNvPicPr>
          <p:nvPr/>
        </p:nvPicPr>
        <p:blipFill>
          <a:blip r:embed="rId2"/>
          <a:stretch>
            <a:fillRect/>
          </a:stretch>
        </p:blipFill>
        <p:spPr>
          <a:xfrm>
            <a:off x="2189597" y="4087448"/>
            <a:ext cx="1669375" cy="999399"/>
          </a:xfrm>
          <a:prstGeom prst="rect">
            <a:avLst/>
          </a:prstGeom>
        </p:spPr>
      </p:pic>
      <p:sp>
        <p:nvSpPr>
          <p:cNvPr id="50" name="Left Brace 49">
            <a:extLst>
              <a:ext uri="{FF2B5EF4-FFF2-40B4-BE49-F238E27FC236}">
                <a16:creationId xmlns:a16="http://schemas.microsoft.com/office/drawing/2014/main" id="{81A498DE-27E6-52D2-1E1F-B8EB5E6242F3}"/>
              </a:ext>
            </a:extLst>
          </p:cNvPr>
          <p:cNvSpPr/>
          <p:nvPr/>
        </p:nvSpPr>
        <p:spPr>
          <a:xfrm>
            <a:off x="3323652" y="4059770"/>
            <a:ext cx="492800" cy="1379865"/>
          </a:xfrm>
          <a:prstGeom prst="leftBrace">
            <a:avLst>
              <a:gd name="adj1" fmla="val 8333"/>
              <a:gd name="adj2" fmla="val 38484"/>
            </a:avLst>
          </a:prstGeom>
          <a:noFill/>
          <a:ln w="6350" cap="flat" cmpd="sng" algn="ctr">
            <a:solidFill>
              <a:sysClr val="windowText" lastClr="000000">
                <a:shade val="95000"/>
                <a:satMod val="105000"/>
              </a:sysClr>
            </a:solidFill>
            <a:prstDash val="solid"/>
          </a:ln>
          <a:effectLst/>
        </p:spPr>
        <p:txBody>
          <a:bodyPr rtlCol="0" anchor="ctr"/>
          <a:lstStyle/>
          <a:p>
            <a:pPr algn="ctr" defTabSz="1219170">
              <a:defRPr/>
            </a:pPr>
            <a:endParaRPr lang="en-US" sz="2417" kern="0">
              <a:solidFill>
                <a:prstClr val="black"/>
              </a:solidFill>
              <a:latin typeface="Calibri" panose="020F0502020204030204"/>
            </a:endParaRPr>
          </a:p>
        </p:txBody>
      </p:sp>
      <p:sp>
        <p:nvSpPr>
          <p:cNvPr id="61" name="Rectangle 60">
            <a:extLst>
              <a:ext uri="{FF2B5EF4-FFF2-40B4-BE49-F238E27FC236}">
                <a16:creationId xmlns:a16="http://schemas.microsoft.com/office/drawing/2014/main" id="{983245C8-17B7-6EE8-F2F2-D2F42D9DEDB3}"/>
              </a:ext>
            </a:extLst>
          </p:cNvPr>
          <p:cNvSpPr/>
          <p:nvPr/>
        </p:nvSpPr>
        <p:spPr bwMode="auto">
          <a:xfrm>
            <a:off x="1289143" y="1735004"/>
            <a:ext cx="6565715" cy="1688356"/>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62" name="Table 61">
            <a:extLst>
              <a:ext uri="{FF2B5EF4-FFF2-40B4-BE49-F238E27FC236}">
                <a16:creationId xmlns:a16="http://schemas.microsoft.com/office/drawing/2014/main" id="{20128095-DDC8-B59B-B978-590CC120A828}"/>
              </a:ext>
            </a:extLst>
          </p:cNvPr>
          <p:cNvGraphicFramePr>
            <a:graphicFrameLocks noGrp="1"/>
          </p:cNvGraphicFramePr>
          <p:nvPr>
            <p:extLst>
              <p:ext uri="{D42A27DB-BD31-4B8C-83A1-F6EECF244321}">
                <p14:modId xmlns:p14="http://schemas.microsoft.com/office/powerpoint/2010/main" val="1980686908"/>
              </p:ext>
            </p:extLst>
          </p:nvPr>
        </p:nvGraphicFramePr>
        <p:xfrm>
          <a:off x="15912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Revenue</a:t>
                      </a:r>
                      <a:endParaRPr lang="en-US" sz="1000" b="1" baseline="0">
                        <a:solidFill>
                          <a:schemeClr val="tx1"/>
                        </a:solidFill>
                        <a:latin typeface="Calibri" panose="020F0502020204030204" pitchFamily="34" charset="0"/>
                        <a:cs typeface="Calibri" panose="020F0502020204030204" pitchFamily="34" charset="0"/>
                      </a:endParaRPr>
                    </a:p>
                  </a:txBody>
                  <a:tcPr marL="0" marR="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3" name="Table 62">
            <a:extLst>
              <a:ext uri="{FF2B5EF4-FFF2-40B4-BE49-F238E27FC236}">
                <a16:creationId xmlns:a16="http://schemas.microsoft.com/office/drawing/2014/main" id="{53274735-979C-86B1-4914-142E3BF08552}"/>
              </a:ext>
            </a:extLst>
          </p:cNvPr>
          <p:cNvGraphicFramePr>
            <a:graphicFrameLocks noGrp="1"/>
          </p:cNvGraphicFramePr>
          <p:nvPr>
            <p:extLst>
              <p:ext uri="{D42A27DB-BD31-4B8C-83A1-F6EECF244321}">
                <p14:modId xmlns:p14="http://schemas.microsoft.com/office/powerpoint/2010/main" val="3289415977"/>
              </p:ext>
            </p:extLst>
          </p:nvPr>
        </p:nvGraphicFramePr>
        <p:xfrm>
          <a:off x="2504676"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Operating Margin</a:t>
                      </a:r>
                    </a:p>
                  </a:txBody>
                  <a:tcPr marL="45720" marR="4572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4" name="Table 63">
            <a:extLst>
              <a:ext uri="{FF2B5EF4-FFF2-40B4-BE49-F238E27FC236}">
                <a16:creationId xmlns:a16="http://schemas.microsoft.com/office/drawing/2014/main" id="{B917D057-1D15-9ECA-F9B9-5A8954B726FC}"/>
              </a:ext>
            </a:extLst>
          </p:cNvPr>
          <p:cNvGraphicFramePr>
            <a:graphicFrameLocks noGrp="1"/>
          </p:cNvGraphicFramePr>
          <p:nvPr>
            <p:extLst>
              <p:ext uri="{D42A27DB-BD31-4B8C-83A1-F6EECF244321}">
                <p14:modId xmlns:p14="http://schemas.microsoft.com/office/powerpoint/2010/main" val="3088418582"/>
              </p:ext>
            </p:extLst>
          </p:nvPr>
        </p:nvGraphicFramePr>
        <p:xfrm>
          <a:off x="3418070"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Net Profit</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5" name="Plus 39">
            <a:extLst>
              <a:ext uri="{FF2B5EF4-FFF2-40B4-BE49-F238E27FC236}">
                <a16:creationId xmlns:a16="http://schemas.microsoft.com/office/drawing/2014/main" id="{16F66DA1-C66B-F01D-79C8-217B9AF0E408}"/>
              </a:ext>
            </a:extLst>
          </p:cNvPr>
          <p:cNvSpPr/>
          <p:nvPr/>
        </p:nvSpPr>
        <p:spPr bwMode="auto">
          <a:xfrm>
            <a:off x="3164379"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6" name="Plus 40">
            <a:extLst>
              <a:ext uri="{FF2B5EF4-FFF2-40B4-BE49-F238E27FC236}">
                <a16:creationId xmlns:a16="http://schemas.microsoft.com/office/drawing/2014/main" id="{D75591B0-9BE6-7E47-F9C5-EF367E0998B2}"/>
              </a:ext>
            </a:extLst>
          </p:cNvPr>
          <p:cNvSpPr/>
          <p:nvPr/>
        </p:nvSpPr>
        <p:spPr bwMode="auto">
          <a:xfrm>
            <a:off x="407777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7" name="Double Bracket 66">
            <a:extLst>
              <a:ext uri="{FF2B5EF4-FFF2-40B4-BE49-F238E27FC236}">
                <a16:creationId xmlns:a16="http://schemas.microsoft.com/office/drawing/2014/main" id="{6570D871-C323-09D6-C473-62CF6360BE9A}"/>
              </a:ext>
            </a:extLst>
          </p:cNvPr>
          <p:cNvSpPr/>
          <p:nvPr/>
        </p:nvSpPr>
        <p:spPr>
          <a:xfrm>
            <a:off x="1516204" y="2077026"/>
            <a:ext cx="3541897" cy="889969"/>
          </a:xfrm>
          <a:prstGeom prst="bracketPair">
            <a:avLst>
              <a:gd name="adj" fmla="val 8254"/>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FF574572-6EB3-208D-2F42-8F42F3FC3DCB}"/>
              </a:ext>
            </a:extLst>
          </p:cNvPr>
          <p:cNvSpPr txBox="1"/>
          <p:nvPr/>
        </p:nvSpPr>
        <p:spPr>
          <a:xfrm>
            <a:off x="1777753" y="1775721"/>
            <a:ext cx="2996462" cy="276999"/>
          </a:xfrm>
          <a:prstGeom prst="rect">
            <a:avLst/>
          </a:prstGeom>
          <a:noFill/>
        </p:spPr>
        <p:txBody>
          <a:bodyPr wrap="square" rtlCol="0">
            <a:spAutoFit/>
          </a:bodyPr>
          <a:lstStyle/>
          <a:p>
            <a:pPr algn="ctr" defTabSz="1219170" fontAlgn="auto">
              <a:spcBef>
                <a:spcPts val="0"/>
              </a:spcBef>
              <a:spcAft>
                <a:spcPts val="0"/>
              </a:spcAft>
              <a:defRPr/>
            </a:pPr>
            <a:r>
              <a:rPr lang="en-US" sz="1200" b="1">
                <a:latin typeface="Calibri" panose="020F0502020204030204"/>
                <a:cs typeface="+mn-cs"/>
              </a:rPr>
              <a:t>Financial Measures 75%</a:t>
            </a:r>
          </a:p>
        </p:txBody>
      </p:sp>
      <p:graphicFrame>
        <p:nvGraphicFramePr>
          <p:cNvPr id="69" name="Table 68">
            <a:extLst>
              <a:ext uri="{FF2B5EF4-FFF2-40B4-BE49-F238E27FC236}">
                <a16:creationId xmlns:a16="http://schemas.microsoft.com/office/drawing/2014/main" id="{5E671718-0D1F-13F1-CBA1-2932CAC02956}"/>
              </a:ext>
            </a:extLst>
          </p:cNvPr>
          <p:cNvGraphicFramePr>
            <a:graphicFrameLocks noGrp="1"/>
          </p:cNvGraphicFramePr>
          <p:nvPr>
            <p:extLst>
              <p:ext uri="{D42A27DB-BD31-4B8C-83A1-F6EECF244321}">
                <p14:modId xmlns:p14="http://schemas.microsoft.com/office/powerpoint/2010/main" val="3877308707"/>
              </p:ext>
            </p:extLst>
          </p:nvPr>
        </p:nvGraphicFramePr>
        <p:xfrm>
          <a:off x="4341895"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0" name="Plus 39">
            <a:extLst>
              <a:ext uri="{FF2B5EF4-FFF2-40B4-BE49-F238E27FC236}">
                <a16:creationId xmlns:a16="http://schemas.microsoft.com/office/drawing/2014/main" id="{97CF75D5-B246-F1D7-487B-2A10A3755B2D}"/>
              </a:ext>
            </a:extLst>
          </p:cNvPr>
          <p:cNvSpPr/>
          <p:nvPr/>
        </p:nvSpPr>
        <p:spPr bwMode="auto">
          <a:xfrm>
            <a:off x="2259548"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71" name="Table 70">
            <a:extLst>
              <a:ext uri="{FF2B5EF4-FFF2-40B4-BE49-F238E27FC236}">
                <a16:creationId xmlns:a16="http://schemas.microsoft.com/office/drawing/2014/main" id="{DF6C82B3-E8B4-C2AA-8B65-2E388A4ADCC6}"/>
              </a:ext>
            </a:extLst>
          </p:cNvPr>
          <p:cNvGraphicFramePr>
            <a:graphicFrameLocks noGrp="1"/>
          </p:cNvGraphicFramePr>
          <p:nvPr>
            <p:extLst>
              <p:ext uri="{D42A27DB-BD31-4B8C-83A1-F6EECF244321}">
                <p14:modId xmlns:p14="http://schemas.microsoft.com/office/powerpoint/2010/main" val="147864063"/>
              </p:ext>
            </p:extLst>
          </p:nvPr>
        </p:nvGraphicFramePr>
        <p:xfrm>
          <a:off x="52963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Plus 39">
            <a:extLst>
              <a:ext uri="{FF2B5EF4-FFF2-40B4-BE49-F238E27FC236}">
                <a16:creationId xmlns:a16="http://schemas.microsoft.com/office/drawing/2014/main" id="{E8E4EABD-146F-D270-6668-2C9EC2523212}"/>
              </a:ext>
            </a:extLst>
          </p:cNvPr>
          <p:cNvSpPr/>
          <p:nvPr/>
        </p:nvSpPr>
        <p:spPr bwMode="auto">
          <a:xfrm>
            <a:off x="506968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3" name="Rounded Rectangle 35">
            <a:extLst>
              <a:ext uri="{FF2B5EF4-FFF2-40B4-BE49-F238E27FC236}">
                <a16:creationId xmlns:a16="http://schemas.microsoft.com/office/drawing/2014/main" id="{55D89147-6497-AD6B-A16B-16837A8A59B8}"/>
              </a:ext>
            </a:extLst>
          </p:cNvPr>
          <p:cNvSpPr/>
          <p:nvPr/>
        </p:nvSpPr>
        <p:spPr>
          <a:xfrm>
            <a:off x="1524642" y="3093430"/>
            <a:ext cx="6035040" cy="195640"/>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225% of Target</a:t>
            </a:r>
          </a:p>
        </p:txBody>
      </p:sp>
      <p:graphicFrame>
        <p:nvGraphicFramePr>
          <p:cNvPr id="74" name="Table 73">
            <a:extLst>
              <a:ext uri="{FF2B5EF4-FFF2-40B4-BE49-F238E27FC236}">
                <a16:creationId xmlns:a16="http://schemas.microsoft.com/office/drawing/2014/main" id="{D8123CB7-8276-FF32-D6F8-703A8CC658C0}"/>
              </a:ext>
            </a:extLst>
          </p:cNvPr>
          <p:cNvGraphicFramePr>
            <a:graphicFrameLocks noGrp="1"/>
          </p:cNvGraphicFramePr>
          <p:nvPr>
            <p:extLst>
              <p:ext uri="{D42A27DB-BD31-4B8C-83A1-F6EECF244321}">
                <p14:modId xmlns:p14="http://schemas.microsoft.com/office/powerpoint/2010/main" val="3701899308"/>
              </p:ext>
            </p:extLst>
          </p:nvPr>
        </p:nvGraphicFramePr>
        <p:xfrm>
          <a:off x="6212346" y="2095290"/>
          <a:ext cx="1463040" cy="85344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tblGrid>
              <a:tr h="24688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Modifier </a:t>
                      </a:r>
                    </a:p>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(+0% to 37.5% of target)</a:t>
                      </a:r>
                      <a:r>
                        <a:rPr lang="en-US" sz="1000" b="1" baseline="30000">
                          <a:solidFill>
                            <a:schemeClr val="tx1"/>
                          </a:solidFill>
                          <a:latin typeface="Calibri" panose="020F0502020204030204" pitchFamily="34" charset="0"/>
                          <a:cs typeface="Calibri" panose="020F0502020204030204" pitchFamily="34" charset="0"/>
                        </a:rPr>
                        <a:t>(1)</a:t>
                      </a:r>
                      <a:endParaRPr lang="en-US" sz="1000" b="1">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Strategic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5" name="Plus 39">
            <a:extLst>
              <a:ext uri="{FF2B5EF4-FFF2-40B4-BE49-F238E27FC236}">
                <a16:creationId xmlns:a16="http://schemas.microsoft.com/office/drawing/2014/main" id="{F04DAF8B-798B-1916-2C41-EAE653DEFF6A}"/>
              </a:ext>
            </a:extLst>
          </p:cNvPr>
          <p:cNvSpPr/>
          <p:nvPr/>
        </p:nvSpPr>
        <p:spPr bwMode="auto">
          <a:xfrm>
            <a:off x="5943006"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6" name="TextBox 75">
            <a:extLst>
              <a:ext uri="{FF2B5EF4-FFF2-40B4-BE49-F238E27FC236}">
                <a16:creationId xmlns:a16="http://schemas.microsoft.com/office/drawing/2014/main" id="{D6AA3101-C6BA-5D4A-57B3-5DD8503112F7}"/>
              </a:ext>
            </a:extLst>
          </p:cNvPr>
          <p:cNvSpPr txBox="1"/>
          <p:nvPr/>
        </p:nvSpPr>
        <p:spPr>
          <a:xfrm>
            <a:off x="2159084" y="3652666"/>
            <a:ext cx="482583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Long-Term Incentive</a:t>
            </a:r>
            <a:r>
              <a:rPr lang="en-US" sz="1400" b="1">
                <a:latin typeface="Calibri" panose="020F0502020204030204"/>
              </a:rPr>
              <a:t> </a:t>
            </a:r>
            <a:r>
              <a:rPr lang="en-US" sz="1400" b="1">
                <a:latin typeface="Calibri" panose="020F0502020204030204"/>
                <a:cs typeface="+mn-cs"/>
              </a:rPr>
              <a:t>Plan</a:t>
            </a:r>
          </a:p>
        </p:txBody>
      </p:sp>
      <p:sp>
        <p:nvSpPr>
          <p:cNvPr id="80" name="TextBox 79">
            <a:extLst>
              <a:ext uri="{FF2B5EF4-FFF2-40B4-BE49-F238E27FC236}">
                <a16:creationId xmlns:a16="http://schemas.microsoft.com/office/drawing/2014/main" id="{114BCABE-E811-8CDA-CEC5-A504BFFCA474}"/>
              </a:ext>
            </a:extLst>
          </p:cNvPr>
          <p:cNvSpPr txBox="1"/>
          <p:nvPr/>
        </p:nvSpPr>
        <p:spPr>
          <a:xfrm>
            <a:off x="2351834" y="5967467"/>
            <a:ext cx="4440332" cy="246221"/>
          </a:xfrm>
          <a:prstGeom prst="rect">
            <a:avLst/>
          </a:prstGeom>
          <a:noFill/>
        </p:spPr>
        <p:txBody>
          <a:bodyPr wrap="square" rtlCol="0">
            <a:spAutoFit/>
          </a:bodyPr>
          <a:lstStyle/>
          <a:p>
            <a:pPr marL="228600" indent="-228600" defTabSz="1219170">
              <a:buAutoNum type="arabicParenBoth"/>
            </a:pPr>
            <a:r>
              <a:rPr lang="en-US" sz="1000" i="1">
                <a:solidFill>
                  <a:srgbClr val="000000"/>
                </a:solidFill>
                <a:latin typeface="Calibri" panose="020F0502020204030204" pitchFamily="34" charset="0"/>
                <a:cs typeface="+mn-cs"/>
              </a:rPr>
              <a:t>Modifier cannot increase payout above 225%</a:t>
            </a:r>
          </a:p>
        </p:txBody>
      </p:sp>
      <p:sp>
        <p:nvSpPr>
          <p:cNvPr id="4" name="TextBox 3">
            <a:extLst>
              <a:ext uri="{FF2B5EF4-FFF2-40B4-BE49-F238E27FC236}">
                <a16:creationId xmlns:a16="http://schemas.microsoft.com/office/drawing/2014/main" id="{E75638CC-66FB-AF67-B788-C740FD7938B5}"/>
              </a:ext>
            </a:extLst>
          </p:cNvPr>
          <p:cNvSpPr txBox="1"/>
          <p:nvPr/>
        </p:nvSpPr>
        <p:spPr>
          <a:xfrm>
            <a:off x="7362702" y="831499"/>
            <a:ext cx="2847896" cy="224292"/>
          </a:xfrm>
          <a:prstGeom prst="rect">
            <a:avLst/>
          </a:prstGeom>
          <a:solidFill>
            <a:schemeClr val="accent3"/>
          </a:solidFill>
        </p:spPr>
        <p:txBody>
          <a:bodyPr vert="horz" wrap="none" lIns="45720" tIns="45720" rIns="45720" bIns="45720" rtlCol="0" anchor="ctr">
            <a:spAutoFit/>
          </a:bodyPr>
          <a:lstStyle/>
          <a:p>
            <a:pPr>
              <a:lnSpc>
                <a:spcPct val="85000"/>
              </a:lnSpc>
            </a:pPr>
            <a:r>
              <a:rPr lang="en-US" sz="1000"/>
              <a:t>The brackets down look like they’re in the right place</a:t>
            </a:r>
          </a:p>
        </p:txBody>
      </p:sp>
      <p:sp>
        <p:nvSpPr>
          <p:cNvPr id="6" name="TextBox 5">
            <a:extLst>
              <a:ext uri="{FF2B5EF4-FFF2-40B4-BE49-F238E27FC236}">
                <a16:creationId xmlns:a16="http://schemas.microsoft.com/office/drawing/2014/main" id="{7D9307CB-7617-9668-1F9F-8D90F871D004}"/>
              </a:ext>
            </a:extLst>
          </p:cNvPr>
          <p:cNvSpPr txBox="1"/>
          <p:nvPr/>
        </p:nvSpPr>
        <p:spPr>
          <a:xfrm>
            <a:off x="7826944" y="1262747"/>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5543957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ABBF-9E6E-6605-55CE-DF1597F25F0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3940C4-A3E6-B288-3E60-D47BFD65716A}"/>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544C516-D82C-3A63-295C-F5C7E49B22C7}"/>
              </a:ext>
            </a:extLst>
          </p:cNvPr>
          <p:cNvSpPr>
            <a:spLocks noGrp="1"/>
          </p:cNvSpPr>
          <p:nvPr>
            <p:ph type="title"/>
          </p:nvPr>
        </p:nvSpPr>
        <p:spPr>
          <a:xfrm>
            <a:off x="882797" y="44215"/>
            <a:ext cx="8074152" cy="1292899"/>
          </a:xfrm>
        </p:spPr>
        <p:txBody>
          <a:bodyPr/>
          <a:lstStyle/>
          <a:p>
            <a:r>
              <a:rPr lang="en-US" dirty="0"/>
              <a:t>Many companies in ISS’ peer group for </a:t>
            </a:r>
            <a:r>
              <a:rPr lang="en-US" dirty="0" err="1"/>
              <a:t>Plutos</a:t>
            </a:r>
            <a:r>
              <a:rPr lang="en-US" dirty="0"/>
              <a:t> operate in the construction, engineering, aerospace, and defense sectors, which are more aligned with </a:t>
            </a:r>
            <a:r>
              <a:rPr lang="en-US" dirty="0" err="1"/>
              <a:t>Plutos</a:t>
            </a:r>
            <a:r>
              <a:rPr lang="en-US" dirty="0"/>
              <a:t>’ legacy business</a:t>
            </a:r>
          </a:p>
        </p:txBody>
      </p:sp>
      <p:graphicFrame>
        <p:nvGraphicFramePr>
          <p:cNvPr id="7" name="Table 6">
            <a:extLst>
              <a:ext uri="{FF2B5EF4-FFF2-40B4-BE49-F238E27FC236}">
                <a16:creationId xmlns:a16="http://schemas.microsoft.com/office/drawing/2014/main" id="{161E4611-80AE-423C-9FDD-828D61938B7E}"/>
              </a:ext>
            </a:extLst>
          </p:cNvPr>
          <p:cNvGraphicFramePr>
            <a:graphicFrameLocks noGrp="1"/>
          </p:cNvGraphicFramePr>
          <p:nvPr>
            <p:extLst>
              <p:ext uri="{D42A27DB-BD31-4B8C-83A1-F6EECF244321}">
                <p14:modId xmlns:p14="http://schemas.microsoft.com/office/powerpoint/2010/main" val="302992342"/>
              </p:ext>
            </p:extLst>
          </p:nvPr>
        </p:nvGraphicFramePr>
        <p:xfrm>
          <a:off x="274320" y="1571281"/>
          <a:ext cx="8595360" cy="4169277"/>
        </p:xfrm>
        <a:graphic>
          <a:graphicData uri="http://schemas.openxmlformats.org/drawingml/2006/table">
            <a:tbl>
              <a:tblPr/>
              <a:tblGrid>
                <a:gridCol w="1280160">
                  <a:extLst>
                    <a:ext uri="{9D8B030D-6E8A-4147-A177-3AD203B41FA5}">
                      <a16:colId xmlns:a16="http://schemas.microsoft.com/office/drawing/2014/main" val="4222739183"/>
                    </a:ext>
                  </a:extLst>
                </a:gridCol>
                <a:gridCol w="1463040">
                  <a:extLst>
                    <a:ext uri="{9D8B030D-6E8A-4147-A177-3AD203B41FA5}">
                      <a16:colId xmlns:a16="http://schemas.microsoft.com/office/drawing/2014/main" val="3011820407"/>
                    </a:ext>
                  </a:extLst>
                </a:gridCol>
                <a:gridCol w="1463040">
                  <a:extLst>
                    <a:ext uri="{9D8B030D-6E8A-4147-A177-3AD203B41FA5}">
                      <a16:colId xmlns:a16="http://schemas.microsoft.com/office/drawing/2014/main" val="128530490"/>
                    </a:ext>
                  </a:extLst>
                </a:gridCol>
                <a:gridCol w="1463040">
                  <a:extLst>
                    <a:ext uri="{9D8B030D-6E8A-4147-A177-3AD203B41FA5}">
                      <a16:colId xmlns:a16="http://schemas.microsoft.com/office/drawing/2014/main" val="1342069932"/>
                    </a:ext>
                  </a:extLst>
                </a:gridCol>
                <a:gridCol w="1463040">
                  <a:extLst>
                    <a:ext uri="{9D8B030D-6E8A-4147-A177-3AD203B41FA5}">
                      <a16:colId xmlns:a16="http://schemas.microsoft.com/office/drawing/2014/main" val="1419679449"/>
                    </a:ext>
                  </a:extLst>
                </a:gridCol>
                <a:gridCol w="1463040">
                  <a:extLst>
                    <a:ext uri="{9D8B030D-6E8A-4147-A177-3AD203B41FA5}">
                      <a16:colId xmlns:a16="http://schemas.microsoft.com/office/drawing/2014/main" val="4163150725"/>
                    </a:ext>
                  </a:extLst>
                </a:gridCol>
              </a:tblGrid>
              <a:tr h="83147">
                <a:tc rowSpan="24">
                  <a:txBody>
                    <a:bodyPr/>
                    <a:lstStyle/>
                    <a:p>
                      <a:pPr algn="ctr" fontAlgn="ctr"/>
                      <a:r>
                        <a:rPr lang="en-US" sz="900" b="1" i="0" u="none" strike="noStrike" dirty="0">
                          <a:solidFill>
                            <a:srgbClr val="000000"/>
                          </a:solidFill>
                          <a:effectLst/>
                          <a:latin typeface="+mn-lt"/>
                        </a:rPr>
                        <a:t>ISS Peers</a:t>
                      </a: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3F7FF"/>
                    </a:solidFill>
                  </a:tcPr>
                </a:tc>
                <a:tc>
                  <a:txBody>
                    <a:bodyPr/>
                    <a:lstStyle/>
                    <a:p>
                      <a:pPr algn="l" fontAlgn="b"/>
                      <a:r>
                        <a:rPr lang="en-US" sz="900" b="1" i="0" u="none" strike="noStrike">
                          <a:solidFill>
                            <a:srgbClr val="FFFFFF"/>
                          </a:solidFill>
                          <a:effectLst/>
                          <a:latin typeface="+mn-lt"/>
                        </a:rPr>
                        <a:t>FY2021</a:t>
                      </a:r>
                    </a:p>
                  </a:txBody>
                  <a:tcPr marL="27432" marR="5163" marT="5163" marB="0"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FY2022</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FY2023</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FY2024</a:t>
                      </a:r>
                    </a:p>
                  </a:txBody>
                  <a:tcPr marL="27432" marR="5163" marT="5163" marB="0" anchor="b">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FY2025</a:t>
                      </a:r>
                    </a:p>
                  </a:txBody>
                  <a:tcPr marL="27432" marR="5163" marT="5163" marB="0"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80345381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AECOM</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714431"/>
                  </a:ext>
                </a:extLst>
              </a:tr>
              <a:tr h="163278">
                <a:tc vMerge="1">
                  <a:txBody>
                    <a:bodyPr/>
                    <a:lstStyle/>
                    <a:p>
                      <a:endParaRPr lang="en-US"/>
                    </a:p>
                  </a:txBody>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API Group</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API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065907018"/>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Booz Allen Hamilton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967927997"/>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Cognizant</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CACI</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3994170"/>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Cognizant</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784530094"/>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EMCOR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Comfort 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Comfort 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427036183"/>
                  </a:ext>
                </a:extLst>
              </a:tr>
              <a:tr h="163278">
                <a:tc vMerge="1">
                  <a:txBody>
                    <a:bodyPr/>
                    <a:lstStyle/>
                    <a:p>
                      <a:endParaRPr lang="en-US"/>
                    </a:p>
                  </a:txBody>
                  <a:tcPr/>
                </a:tc>
                <a:tc>
                  <a:txBody>
                    <a:bodyPr/>
                    <a:lstStyle/>
                    <a:p>
                      <a:pPr algn="l" fontAlgn="b"/>
                      <a:r>
                        <a:rPr lang="en-US" sz="900" b="0" i="0" u="none" strike="noStrike">
                          <a:solidFill>
                            <a:schemeClr val="accent4"/>
                          </a:solidFill>
                          <a:effectLst/>
                          <a:latin typeface="+mn-lt"/>
                        </a:rPr>
                        <a:t>Fidelity National Information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DXC Technology</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DXC Technology</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19546418"/>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chemeClr val="tx1"/>
                          </a:solidFill>
                          <a:effectLst/>
                          <a:latin typeface="+mn-lt"/>
                        </a:rPr>
                        <a:t>Dycom</a:t>
                      </a:r>
                      <a:endParaRPr lang="en-US" sz="900" b="0" i="0" u="none" strike="noStrike">
                        <a:solidFill>
                          <a:schemeClr val="tx1"/>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err="1">
                          <a:solidFill>
                            <a:srgbClr val="000000"/>
                          </a:solidFill>
                          <a:effectLst/>
                          <a:latin typeface="Calibri" panose="020F0502020204030204" pitchFamily="34" charset="0"/>
                        </a:rPr>
                        <a:t>Dycom</a:t>
                      </a:r>
                      <a:endParaRPr lang="en-US" sz="900" b="0" i="0" u="none" strike="noStrike">
                        <a:solidFill>
                          <a:srgbClr val="000000"/>
                        </a:solidFill>
                        <a:effectLst/>
                        <a:latin typeface="Calibri" panose="020F0502020204030204" pitchFamily="34" charset="0"/>
                      </a:endParaRP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493207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EMCOR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EMCOR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76122649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KBR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Equifax</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136432259"/>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Fluor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Fluor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0352419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Leidos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Gartner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206315086"/>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Manpower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Howmet Aerospace</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Howmet Aerospace</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54514201"/>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rgbClr val="000000"/>
                          </a:solidFill>
                          <a:effectLst/>
                          <a:latin typeface="+mn-lt"/>
                        </a:rPr>
                        <a:t>MasTec</a:t>
                      </a:r>
                      <a:endParaRPr lang="en-US" sz="900" b="0" i="0" u="none" strike="noStrike">
                        <a:solidFill>
                          <a:srgbClr val="000000"/>
                        </a:solidFill>
                        <a:effectLst/>
                        <a:latin typeface="+mn-lt"/>
                      </a:endParaRP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chemeClr val="tx1"/>
                          </a:solidFill>
                          <a:effectLst/>
                          <a:latin typeface="+mn-lt"/>
                        </a:rPr>
                        <a:t>Huntington Ingalls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Huntington Ingalls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84112004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Northrop Grumman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KBR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20500263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Textron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Quanta Services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L3Harris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6558142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Leidos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71388728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MasTec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MasTec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2444079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Parsons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14491449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SAIC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937972252"/>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Spirit AeroSystems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Spirit AeroSystems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016170623"/>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Textron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49670414"/>
                  </a:ext>
                </a:extLst>
              </a:tr>
              <a:tr h="83147">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r>
                        <a:rPr lang="en-US" sz="900" b="0" i="0" u="none" strike="noStrike">
                          <a:solidFill>
                            <a:schemeClr val="tx1"/>
                          </a:solidFill>
                          <a:effectLst/>
                          <a:latin typeface="+mn-lt"/>
                        </a:rPr>
                        <a:t>TransDigm</a:t>
                      </a:r>
                    </a:p>
                  </a:txBody>
                  <a:tcPr marL="27432" marR="5163" marT="5163" marB="0" anchor="ctr">
                    <a:lnL>
                      <a:noFill/>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TransDigm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1006059332"/>
                  </a:ext>
                </a:extLst>
              </a:tr>
              <a:tr h="83147">
                <a:tc>
                  <a:txBody>
                    <a:bodyPr/>
                    <a:lstStyle/>
                    <a:p>
                      <a:pPr algn="ctr" fontAlgn="ctr"/>
                      <a:endParaRPr lang="en-US" sz="900" b="1" i="0" u="none" strike="noStrike">
                        <a:solidFill>
                          <a:srgbClr val="000000"/>
                        </a:solidFill>
                        <a:effectLst/>
                        <a:latin typeface="+mn-lt"/>
                      </a:endParaRP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F7FF"/>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FF0000"/>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TransUnion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9130534"/>
                  </a:ext>
                </a:extLst>
              </a:tr>
              <a:tr h="83841">
                <a:tc>
                  <a:txBody>
                    <a:bodyPr/>
                    <a:lstStyle/>
                    <a:p>
                      <a:pPr algn="l" fontAlgn="b"/>
                      <a:r>
                        <a:rPr lang="en-US" sz="900" b="1" i="0" u="none" strike="noStrike">
                          <a:solidFill>
                            <a:srgbClr val="000000"/>
                          </a:solidFill>
                          <a:effectLst/>
                          <a:latin typeface="+mn-lt"/>
                        </a:rPr>
                        <a:t>Median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$13,030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$14,087</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$14,430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$7,325</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$8,375</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597680089"/>
                  </a:ext>
                </a:extLst>
              </a:tr>
              <a:tr h="83841">
                <a:tc>
                  <a:txBody>
                    <a:bodyPr/>
                    <a:lstStyle/>
                    <a:p>
                      <a:pPr algn="l" fontAlgn="b"/>
                      <a:r>
                        <a:rPr lang="en-US" sz="900" b="1" i="0" u="none" strike="noStrike">
                          <a:solidFill>
                            <a:srgbClr val="000000"/>
                          </a:solidFill>
                          <a:effectLst/>
                          <a:latin typeface="+mn-lt"/>
                        </a:rPr>
                        <a:t>Median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$13,459</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$12,544</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$12,137</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$10,829</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$14,314</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extLst>
                  <a:ext uri="{0D108BD9-81ED-4DB2-BD59-A6C34878D82A}">
                    <a16:rowId xmlns:a16="http://schemas.microsoft.com/office/drawing/2014/main" val="2111770362"/>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$13,709</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$14,378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$15,585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$10,054</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44903618"/>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$17,373</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$16,352</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$15,081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$17,493</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97009853"/>
                  </a:ext>
                </a:extLst>
              </a:tr>
            </a:tbl>
          </a:graphicData>
        </a:graphic>
      </p:graphicFrame>
      <p:sp>
        <p:nvSpPr>
          <p:cNvPr id="5" name="TextBox 4">
            <a:extLst>
              <a:ext uri="{FF2B5EF4-FFF2-40B4-BE49-F238E27FC236}">
                <a16:creationId xmlns:a16="http://schemas.microsoft.com/office/drawing/2014/main" id="{C9933DBF-C0AA-4C3B-F9C0-77856EF89B11}"/>
              </a:ext>
            </a:extLst>
          </p:cNvPr>
          <p:cNvSpPr txBox="1"/>
          <p:nvPr/>
        </p:nvSpPr>
        <p:spPr>
          <a:xfrm>
            <a:off x="2260060" y="1275920"/>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ISS Peer Group History ($MMs)</a:t>
            </a:r>
          </a:p>
        </p:txBody>
      </p:sp>
      <p:sp>
        <p:nvSpPr>
          <p:cNvPr id="6" name="TextBox 5">
            <a:extLst>
              <a:ext uri="{FF2B5EF4-FFF2-40B4-BE49-F238E27FC236}">
                <a16:creationId xmlns:a16="http://schemas.microsoft.com/office/drawing/2014/main" id="{D7FBF11A-C3E8-A1A9-413B-4F5A34AA08B4}"/>
              </a:ext>
            </a:extLst>
          </p:cNvPr>
          <p:cNvSpPr txBox="1"/>
          <p:nvPr/>
        </p:nvSpPr>
        <p:spPr>
          <a:xfrm>
            <a:off x="274319" y="5724911"/>
            <a:ext cx="8595359" cy="369332"/>
          </a:xfrm>
          <a:prstGeom prst="rect">
            <a:avLst/>
          </a:prstGeom>
          <a:noFill/>
        </p:spPr>
        <p:txBody>
          <a:bodyPr wrap="square" lIns="45720" tIns="45720" rIns="45720" bIns="45720" rtlCol="0" anchor="ctr">
            <a:spAutoFit/>
          </a:bodyPr>
          <a:lstStyle/>
          <a:p>
            <a:r>
              <a:rPr lang="en-US" sz="900" i="1"/>
              <a:t>Note: peer group is for the fiscal year that the shareholder vote was for (i.e., FY2025 peer group reflects the ISS peer group used in making its recommendation for the shareholder vote held in January 2026 for FY2025 programs)</a:t>
            </a:r>
          </a:p>
        </p:txBody>
      </p:sp>
      <p:sp>
        <p:nvSpPr>
          <p:cNvPr id="10" name="Rectangle 9">
            <a:extLst>
              <a:ext uri="{FF2B5EF4-FFF2-40B4-BE49-F238E27FC236}">
                <a16:creationId xmlns:a16="http://schemas.microsoft.com/office/drawing/2014/main" id="{415D7F31-9BA8-36FB-D608-CADF45231510}"/>
              </a:ext>
            </a:extLst>
          </p:cNvPr>
          <p:cNvSpPr/>
          <p:nvPr/>
        </p:nvSpPr>
        <p:spPr>
          <a:xfrm>
            <a:off x="7041221" y="6375400"/>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C574A841-4D3A-4900-3A91-1250BF20AA12}"/>
              </a:ext>
            </a:extLst>
          </p:cNvPr>
          <p:cNvSpPr txBox="1"/>
          <p:nvPr/>
        </p:nvSpPr>
        <p:spPr>
          <a:xfrm>
            <a:off x="7206821" y="6317899"/>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12" name="TextBox 11">
            <a:extLst>
              <a:ext uri="{FF2B5EF4-FFF2-40B4-BE49-F238E27FC236}">
                <a16:creationId xmlns:a16="http://schemas.microsoft.com/office/drawing/2014/main" id="{B5855191-67B0-952A-5534-ECA4909FF641}"/>
              </a:ext>
            </a:extLst>
          </p:cNvPr>
          <p:cNvSpPr txBox="1"/>
          <p:nvPr/>
        </p:nvSpPr>
        <p:spPr>
          <a:xfrm>
            <a:off x="6990201" y="6145453"/>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8" name="TextBox 7">
            <a:extLst>
              <a:ext uri="{FF2B5EF4-FFF2-40B4-BE49-F238E27FC236}">
                <a16:creationId xmlns:a16="http://schemas.microsoft.com/office/drawing/2014/main" id="{F136A4F5-81C6-3D19-3D7F-4C2D1009F632}"/>
              </a:ext>
            </a:extLst>
          </p:cNvPr>
          <p:cNvSpPr txBox="1"/>
          <p:nvPr/>
        </p:nvSpPr>
        <p:spPr>
          <a:xfrm>
            <a:off x="6990201" y="6002645"/>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Tree>
    <p:extLst>
      <p:ext uri="{BB962C8B-B14F-4D97-AF65-F5344CB8AC3E}">
        <p14:creationId xmlns:p14="http://schemas.microsoft.com/office/powerpoint/2010/main" val="42459605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02C1A4-F8CD-29AB-D265-C6834FCA926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D2C2557-9063-0710-FD53-5AB7407DA836}"/>
              </a:ext>
            </a:extLst>
          </p:cNvPr>
          <p:cNvSpPr>
            <a:spLocks noGrp="1"/>
          </p:cNvSpPr>
          <p:nvPr>
            <p:ph type="title"/>
          </p:nvPr>
        </p:nvSpPr>
        <p:spPr>
          <a:xfrm>
            <a:off x="882797" y="44215"/>
            <a:ext cx="8074152" cy="1292899"/>
          </a:xfrm>
        </p:spPr>
        <p:txBody>
          <a:bodyPr/>
          <a:lstStyle/>
          <a:p>
            <a:r>
              <a:rPr lang="en-US" dirty="0"/>
              <a:t>This year, Glass Lewis (GL) replaced four construction, engineering, and aerospace peers with four business services companies; however, none are relevant for inclusion in </a:t>
            </a:r>
            <a:r>
              <a:rPr lang="en-US" dirty="0" err="1"/>
              <a:t>Plutos</a:t>
            </a:r>
            <a:r>
              <a:rPr lang="en-US" dirty="0"/>
              <a:t>’ compensation peer group</a:t>
            </a:r>
          </a:p>
        </p:txBody>
      </p:sp>
      <p:graphicFrame>
        <p:nvGraphicFramePr>
          <p:cNvPr id="6" name="Table 5">
            <a:extLst>
              <a:ext uri="{FF2B5EF4-FFF2-40B4-BE49-F238E27FC236}">
                <a16:creationId xmlns:a16="http://schemas.microsoft.com/office/drawing/2014/main" id="{1442A6A2-766C-5143-A09B-57802E3C84E1}"/>
              </a:ext>
            </a:extLst>
          </p:cNvPr>
          <p:cNvGraphicFramePr>
            <a:graphicFrameLocks noGrp="1"/>
          </p:cNvGraphicFramePr>
          <p:nvPr>
            <p:extLst>
              <p:ext uri="{D42A27DB-BD31-4B8C-83A1-F6EECF244321}">
                <p14:modId xmlns:p14="http://schemas.microsoft.com/office/powerpoint/2010/main" val="283104533"/>
              </p:ext>
            </p:extLst>
          </p:nvPr>
        </p:nvGraphicFramePr>
        <p:xfrm>
          <a:off x="725011" y="1906957"/>
          <a:ext cx="7693978" cy="3108960"/>
        </p:xfrm>
        <a:graphic>
          <a:graphicData uri="http://schemas.openxmlformats.org/drawingml/2006/table">
            <a:tbl>
              <a:tblPr/>
              <a:tblGrid>
                <a:gridCol w="1064578">
                  <a:extLst>
                    <a:ext uri="{9D8B030D-6E8A-4147-A177-3AD203B41FA5}">
                      <a16:colId xmlns:a16="http://schemas.microsoft.com/office/drawing/2014/main" val="4128305823"/>
                    </a:ext>
                  </a:extLst>
                </a:gridCol>
                <a:gridCol w="1325880">
                  <a:extLst>
                    <a:ext uri="{9D8B030D-6E8A-4147-A177-3AD203B41FA5}">
                      <a16:colId xmlns:a16="http://schemas.microsoft.com/office/drawing/2014/main" val="1118209601"/>
                    </a:ext>
                  </a:extLst>
                </a:gridCol>
                <a:gridCol w="1325880">
                  <a:extLst>
                    <a:ext uri="{9D8B030D-6E8A-4147-A177-3AD203B41FA5}">
                      <a16:colId xmlns:a16="http://schemas.microsoft.com/office/drawing/2014/main" val="242818336"/>
                    </a:ext>
                  </a:extLst>
                </a:gridCol>
                <a:gridCol w="1325880">
                  <a:extLst>
                    <a:ext uri="{9D8B030D-6E8A-4147-A177-3AD203B41FA5}">
                      <a16:colId xmlns:a16="http://schemas.microsoft.com/office/drawing/2014/main" val="891891042"/>
                    </a:ext>
                  </a:extLst>
                </a:gridCol>
                <a:gridCol w="1325880">
                  <a:extLst>
                    <a:ext uri="{9D8B030D-6E8A-4147-A177-3AD203B41FA5}">
                      <a16:colId xmlns:a16="http://schemas.microsoft.com/office/drawing/2014/main" val="2938357706"/>
                    </a:ext>
                  </a:extLst>
                </a:gridCol>
                <a:gridCol w="1325880">
                  <a:extLst>
                    <a:ext uri="{9D8B030D-6E8A-4147-A177-3AD203B41FA5}">
                      <a16:colId xmlns:a16="http://schemas.microsoft.com/office/drawing/2014/main" val="3040134658"/>
                    </a:ext>
                  </a:extLst>
                </a:gridCol>
              </a:tblGrid>
              <a:tr h="148788">
                <a:tc rowSpan="16">
                  <a:txBody>
                    <a:bodyPr/>
                    <a:lstStyle/>
                    <a:p>
                      <a:pPr algn="ctr" fontAlgn="ctr">
                        <a:buNone/>
                      </a:pPr>
                      <a:r>
                        <a:rPr lang="en-US" sz="900" b="1" i="0" u="none" strike="noStrike" dirty="0">
                          <a:solidFill>
                            <a:srgbClr val="000000"/>
                          </a:solidFill>
                          <a:effectLst/>
                          <a:latin typeface="Calibri" panose="020F0502020204030204" pitchFamily="34" charset="0"/>
                        </a:rPr>
                        <a:t>GL Peers</a:t>
                      </a:r>
                    </a:p>
                  </a:txBody>
                  <a:tcPr marL="45720" marR="45720" marT="9144" marB="9144"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7FF"/>
                    </a:solidFill>
                  </a:tcPr>
                </a:tc>
                <a:tc>
                  <a:txBody>
                    <a:bodyPr/>
                    <a:lstStyle/>
                    <a:p>
                      <a:pPr algn="l" fontAlgn="b">
                        <a:buNone/>
                      </a:pPr>
                      <a:r>
                        <a:rPr lang="en-US" sz="900" b="1" i="0" u="none" strike="noStrike">
                          <a:solidFill>
                            <a:srgbClr val="FFFFFF"/>
                          </a:solidFill>
                          <a:effectLst/>
                          <a:latin typeface="Calibri" panose="020F0502020204030204" pitchFamily="34" charset="0"/>
                        </a:rPr>
                        <a:t>FY2021</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FY2023</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FY2024</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FY2025</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13077851"/>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48642164"/>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7320080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8928360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CoStar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CoStar Group</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 International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31504433"/>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401448917"/>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Equifax</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56218408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Fluor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Genpact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209669934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2201686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Manpower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12266172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Manpower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784967856"/>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Parker-Hannifin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Quanta Services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ManpowerGroup</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41187999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Quanta Services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53097511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36199568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Verisk Analytics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Textron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SS&amp;C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803919499"/>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Verisk Analytics</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FF0000"/>
                          </a:solidFill>
                          <a:effectLst/>
                          <a:latin typeface="Calibri" panose="020F0502020204030204" pitchFamily="34" charset="0"/>
                        </a:rPr>
                        <a:t>WSP Global</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000000"/>
                          </a:solidFill>
                          <a:effectLst/>
                          <a:latin typeface="Calibri" panose="020F0502020204030204" pitchFamily="34" charset="0"/>
                        </a:rPr>
                        <a:t>Tetra Tech</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409762"/>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Meidan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$8,801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$8,364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$9,259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$13,125</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$7,942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35144811"/>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Median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$11,534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$11,954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$16,373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$11,707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04303667"/>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$13,709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$14,378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$15,585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$8,632</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extLst>
                  <a:ext uri="{0D108BD9-81ED-4DB2-BD59-A6C34878D82A}">
                    <a16:rowId xmlns:a16="http://schemas.microsoft.com/office/drawing/2014/main" val="789986684"/>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$17,373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$16,352</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$15,081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$17,493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rgbClr val="F1FFE1"/>
                    </a:solidFill>
                  </a:tcPr>
                </a:tc>
                <a:extLst>
                  <a:ext uri="{0D108BD9-81ED-4DB2-BD59-A6C34878D82A}">
                    <a16:rowId xmlns:a16="http://schemas.microsoft.com/office/drawing/2014/main" val="581808219"/>
                  </a:ext>
                </a:extLst>
              </a:tr>
            </a:tbl>
          </a:graphicData>
        </a:graphic>
      </p:graphicFrame>
      <p:sp>
        <p:nvSpPr>
          <p:cNvPr id="7" name="TextBox 6">
            <a:extLst>
              <a:ext uri="{FF2B5EF4-FFF2-40B4-BE49-F238E27FC236}">
                <a16:creationId xmlns:a16="http://schemas.microsoft.com/office/drawing/2014/main" id="{C906FCB9-D596-0239-75E7-9B6DB4687FFB}"/>
              </a:ext>
            </a:extLst>
          </p:cNvPr>
          <p:cNvSpPr txBox="1"/>
          <p:nvPr/>
        </p:nvSpPr>
        <p:spPr>
          <a:xfrm>
            <a:off x="2260060" y="1595355"/>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Glass Lewis Peer Group History ($MMs)</a:t>
            </a:r>
          </a:p>
        </p:txBody>
      </p:sp>
      <p:sp>
        <p:nvSpPr>
          <p:cNvPr id="5" name="Rectangle 4">
            <a:extLst>
              <a:ext uri="{FF2B5EF4-FFF2-40B4-BE49-F238E27FC236}">
                <a16:creationId xmlns:a16="http://schemas.microsoft.com/office/drawing/2014/main" id="{576C4272-1C1D-CA16-0B92-CEE843D5A352}"/>
              </a:ext>
            </a:extLst>
          </p:cNvPr>
          <p:cNvSpPr/>
          <p:nvPr/>
        </p:nvSpPr>
        <p:spPr>
          <a:xfrm>
            <a:off x="6590531" y="5441794"/>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8" name="TextBox 7">
            <a:extLst>
              <a:ext uri="{FF2B5EF4-FFF2-40B4-BE49-F238E27FC236}">
                <a16:creationId xmlns:a16="http://schemas.microsoft.com/office/drawing/2014/main" id="{DAF726F2-136D-B4EA-3E66-9202E285533B}"/>
              </a:ext>
            </a:extLst>
          </p:cNvPr>
          <p:cNvSpPr txBox="1"/>
          <p:nvPr/>
        </p:nvSpPr>
        <p:spPr>
          <a:xfrm>
            <a:off x="6756131" y="5384293"/>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9" name="TextBox 8">
            <a:extLst>
              <a:ext uri="{FF2B5EF4-FFF2-40B4-BE49-F238E27FC236}">
                <a16:creationId xmlns:a16="http://schemas.microsoft.com/office/drawing/2014/main" id="{55E6C106-22F7-DE04-133F-D527998C5BDB}"/>
              </a:ext>
            </a:extLst>
          </p:cNvPr>
          <p:cNvSpPr txBox="1"/>
          <p:nvPr/>
        </p:nvSpPr>
        <p:spPr>
          <a:xfrm>
            <a:off x="6539511" y="5211847"/>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10" name="TextBox 9">
            <a:extLst>
              <a:ext uri="{FF2B5EF4-FFF2-40B4-BE49-F238E27FC236}">
                <a16:creationId xmlns:a16="http://schemas.microsoft.com/office/drawing/2014/main" id="{5B9BCF0B-161C-5553-F794-40A43D7F29FF}"/>
              </a:ext>
            </a:extLst>
          </p:cNvPr>
          <p:cNvSpPr txBox="1"/>
          <p:nvPr/>
        </p:nvSpPr>
        <p:spPr>
          <a:xfrm>
            <a:off x="6539511" y="5069039"/>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Tree>
    <p:extLst>
      <p:ext uri="{BB962C8B-B14F-4D97-AF65-F5344CB8AC3E}">
        <p14:creationId xmlns:p14="http://schemas.microsoft.com/office/powerpoint/2010/main" val="325975431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a:t>
            </a:r>
          </a:p>
        </p:txBody>
      </p:sp>
      <p:sp>
        <p:nvSpPr>
          <p:cNvPr id="8" name="Rectangle 1">
            <a:extLst>
              <a:ext uri="{FF2B5EF4-FFF2-40B4-BE49-F238E27FC236}">
                <a16:creationId xmlns:a16="http://schemas.microsoft.com/office/drawing/2014/main" id="{A17D5BCE-BDC7-E388-D913-652CA0A2D9C4}"/>
              </a:ext>
            </a:extLst>
          </p:cNvPr>
          <p:cNvSpPr>
            <a:spLocks noGrp="1" noChangeArrowheads="1"/>
          </p:cNvSpPr>
          <p:nvPr>
            <p:ph idx="4294967295"/>
          </p:nvPr>
        </p:nvSpPr>
        <p:spPr bwMode="auto">
          <a:xfrm>
            <a:off x="1250950" y="1088780"/>
            <a:ext cx="6642100" cy="531812"/>
          </a:xfrm>
          <a:prstGeom prst="rect">
            <a:avLst/>
          </a:prstGeom>
        </p:spPr>
        <p:txBody>
          <a:bodyPr vert="horz" lIns="45720" tIns="45720" rIns="45720" bIns="45720" rtlCol="0" anchor="b">
            <a:noAutofit/>
          </a:body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Recommended Compensation Peers</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4069495371"/>
              </p:ext>
            </p:extLst>
          </p:nvPr>
        </p:nvGraphicFramePr>
        <p:xfrm>
          <a:off x="45720" y="1620390"/>
          <a:ext cx="9052560" cy="3810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4135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206793">
                <a:tc>
                  <a:txBody>
                    <a:bodyPr/>
                    <a:lstStyle/>
                    <a:p>
                      <a:pPr algn="ctr" fontAlgn="base"/>
                      <a:r>
                        <a:rPr lang="en-US" sz="1000" b="0" i="0">
                          <a:solidFill>
                            <a:srgbClr val="000000"/>
                          </a:solidFill>
                          <a:effectLst/>
                          <a:latin typeface="+mj-lt"/>
                        </a:rPr>
                        <a:t>Accenture</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Provides strategy, consulting, technology, and operations services worldwide; founded in 1951 and headquartered in Dublin, Ireland</a:t>
                      </a:r>
                    </a:p>
                    <a:p>
                      <a:pPr marL="137160" indent="-137160" algn="l" fontAlgn="base">
                        <a:buFont typeface="Wingdings" panose="05000000000000000000" pitchFamily="2" charset="2"/>
                        <a:buChar char="§"/>
                      </a:pPr>
                      <a:r>
                        <a:rPr lang="en-US" sz="1000" b="0" i="0">
                          <a:solidFill>
                            <a:srgbClr val="000000"/>
                          </a:solidFill>
                          <a:effectLst/>
                          <a:latin typeface="+mj-lt"/>
                        </a:rPr>
                        <a:t>Offers application services such as agile transformation, DevOps, and modernization, along with intelligent automation and software engineering</a:t>
                      </a:r>
                    </a:p>
                    <a:p>
                      <a:pPr marL="137160" indent="-137160" algn="l" fontAlgn="base">
                        <a:buFont typeface="Wingdings" panose="05000000000000000000" pitchFamily="2" charset="2"/>
                        <a:buChar char="§"/>
                      </a:pPr>
                      <a:r>
                        <a:rPr lang="en-US" sz="1000" b="0" i="0">
                          <a:solidFill>
                            <a:srgbClr val="000000"/>
                          </a:solidFill>
                          <a:effectLst/>
                          <a:latin typeface="+mj-lt"/>
                        </a:rPr>
                        <a:t>Delivers data and analytics solutions, metaverse services, sustainability services, and technology consulting</a:t>
                      </a:r>
                    </a:p>
                    <a:p>
                      <a:pPr marL="137160" indent="-137160" algn="l" fontAlgn="base">
                        <a:buFont typeface="Wingdings" panose="05000000000000000000" pitchFamily="2" charset="2"/>
                        <a:buChar char="§"/>
                      </a:pPr>
                      <a:r>
                        <a:rPr lang="en-US" sz="1000" b="0" i="0">
                          <a:solidFill>
                            <a:srgbClr val="000000"/>
                          </a:solidFill>
                          <a:effectLst/>
                          <a:latin typeface="+mj-lt"/>
                        </a:rPr>
                        <a:t>Specializes in engineering and R&amp;D digitization, smart connected products, autonomous robotic systems, and business process outsourcing</a:t>
                      </a:r>
                    </a:p>
                    <a:p>
                      <a:pPr marL="137160" indent="-137160" algn="l" fontAlgn="base">
                        <a:buFont typeface="Wingdings" panose="05000000000000000000" pitchFamily="2" charset="2"/>
                        <a:buChar char="§"/>
                      </a:pPr>
                      <a:r>
                        <a:rPr lang="en-US" sz="1000" b="0" i="0">
                          <a:solidFill>
                            <a:srgbClr val="000000"/>
                          </a:solidFill>
                          <a:effectLst/>
                          <a:latin typeface="+mj-lt"/>
                        </a:rPr>
                        <a:t>Collaborates with Salesforce, Inc. to develop Salesforce Life Sciences Cloud</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5908368"/>
                  </a:ext>
                </a:extLst>
              </a:tr>
              <a:tr h="372228">
                <a:tc>
                  <a:txBody>
                    <a:bodyPr/>
                    <a:lstStyle/>
                    <a:p>
                      <a:pPr algn="ctr" fontAlgn="base"/>
                      <a:r>
                        <a:rPr lang="en-US" sz="1000" b="0" i="0">
                          <a:solidFill>
                            <a:srgbClr val="000000"/>
                          </a:solidFill>
                          <a:effectLst/>
                          <a:latin typeface="+mj-lt"/>
                        </a:rPr>
                        <a:t>Cognizant</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Delivers consulting, technology, and outsourcing services in North America, Europe, and internationally</a:t>
                      </a:r>
                    </a:p>
                    <a:p>
                      <a:pPr marL="137160" indent="-137160" algn="l" fontAlgn="base">
                        <a:buFont typeface="Wingdings" panose="05000000000000000000" pitchFamily="2" charset="2"/>
                        <a:buChar char="§"/>
                      </a:pPr>
                      <a:r>
                        <a:rPr lang="en-US" sz="1000" b="0" i="0">
                          <a:solidFill>
                            <a:srgbClr val="000000"/>
                          </a:solidFill>
                          <a:effectLst/>
                          <a:latin typeface="+mj-lt"/>
                        </a:rPr>
                        <a:t>Operates through four segments: Financial Services, Health Sciences, Products and Resources, and Communications, Media and Technology</a:t>
                      </a:r>
                    </a:p>
                    <a:p>
                      <a:pPr marL="137160" indent="-137160" algn="l" fontAlgn="base">
                        <a:buFont typeface="Wingdings" panose="05000000000000000000" pitchFamily="2" charset="2"/>
                        <a:buChar char="§"/>
                      </a:pPr>
                      <a:r>
                        <a:rPr lang="en-US" sz="1000" b="0" i="0">
                          <a:solidFill>
                            <a:srgbClr val="000000"/>
                          </a:solidFill>
                          <a:effectLst/>
                          <a:latin typeface="+mj-lt"/>
                        </a:rPr>
                        <a:t>Provides customer experience, robotic process automation, analytics, and AI services in areas, such as digital lending, fraud detection, and next generation payments; the shift towards consumerism, outcome-based contracting, digital health, delivering integrated seamless, omni-channel, and patient-centered experience; and services that drive operational improvements in areas, such as clinical development, pharmacovigilance, and manufacturing, as well as claims processing, enrollment, membership, and billing to healthcare providers and payers, and life sciences companies, including pharmaceutical, biotech, and medical device companies</a:t>
                      </a:r>
                    </a:p>
                    <a:p>
                      <a:pPr marL="137160" indent="-137160" algn="l" fontAlgn="base">
                        <a:buFont typeface="Wingdings" panose="05000000000000000000" pitchFamily="2" charset="2"/>
                        <a:buChar char="§"/>
                      </a:pPr>
                      <a:r>
                        <a:rPr lang="en-US" sz="1000" b="0" i="0">
                          <a:solidFill>
                            <a:srgbClr val="000000"/>
                          </a:solidFill>
                          <a:effectLst/>
                          <a:latin typeface="+mj-lt"/>
                        </a:rPr>
                        <a:t>Offers solution to manufacturers, automakers, retailers and travel and hospitality companies, as well as companies providing logistics, energy and utility services; and digital content, business process improvement, technology modernization, and the creation of unified and compelling user experience services to communications, media and entertainment, education, and information services and technology companies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53516353"/>
                  </a:ext>
                </a:extLst>
              </a:tr>
              <a:tr h="165435">
                <a:tc>
                  <a:txBody>
                    <a:bodyPr/>
                    <a:lstStyle/>
                    <a:p>
                      <a:pPr algn="ctr" fontAlgn="base"/>
                      <a:r>
                        <a:rPr lang="en-US" sz="1000" b="0" i="0">
                          <a:solidFill>
                            <a:srgbClr val="000000"/>
                          </a:solidFill>
                          <a:effectLst/>
                          <a:latin typeface="+mj-lt"/>
                        </a:rPr>
                        <a:t>Kyndryl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Operates as a technology services company and IT infrastructure services provider worldwide</a:t>
                      </a:r>
                    </a:p>
                    <a:p>
                      <a:pPr marL="137160" indent="-137160" algn="l" fontAlgn="base">
                        <a:buFont typeface="Wingdings" panose="05000000000000000000" pitchFamily="2" charset="2"/>
                        <a:buChar char="§"/>
                      </a:pPr>
                      <a:r>
                        <a:rPr lang="en-US" sz="1000" b="0" i="0">
                          <a:solidFill>
                            <a:srgbClr val="000000"/>
                          </a:solidFill>
                          <a:effectLst/>
                          <a:latin typeface="+mj-lt"/>
                        </a:rPr>
                        <a:t>Offers cloud services, core enterprise and </a:t>
                      </a:r>
                      <a:r>
                        <a:rPr lang="en-US" sz="1000" b="0" i="0" err="1">
                          <a:solidFill>
                            <a:srgbClr val="000000"/>
                          </a:solidFill>
                          <a:effectLst/>
                          <a:latin typeface="+mj-lt"/>
                        </a:rPr>
                        <a:t>zCloud</a:t>
                      </a:r>
                      <a:r>
                        <a:rPr lang="en-US" sz="1000" b="0" i="0">
                          <a:solidFill>
                            <a:srgbClr val="000000"/>
                          </a:solidFill>
                          <a:effectLst/>
                          <a:latin typeface="+mj-lt"/>
                        </a:rPr>
                        <a:t> services, application, data, and artificial intelligence services, digital workplace services, security and resiliency services, and network and edge services</a:t>
                      </a:r>
                    </a:p>
                    <a:p>
                      <a:pPr marL="137160" indent="-137160" algn="l" fontAlgn="base">
                        <a:buFont typeface="Wingdings" panose="05000000000000000000" pitchFamily="2" charset="2"/>
                        <a:buChar char="§"/>
                      </a:pPr>
                      <a:r>
                        <a:rPr lang="en-US" sz="1000" b="0" i="0">
                          <a:solidFill>
                            <a:srgbClr val="000000"/>
                          </a:solidFill>
                          <a:effectLst/>
                          <a:latin typeface="+mj-lt"/>
                        </a:rPr>
                        <a:t>Serves financial, technology, media and telecom, retail and travel, and automotive industries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11998960"/>
                  </a:ext>
                </a:extLst>
              </a:tr>
              <a:tr h="248152">
                <a:tc>
                  <a:txBody>
                    <a:bodyPr/>
                    <a:lstStyle/>
                    <a:p>
                      <a:pPr algn="ctr" fontAlgn="base"/>
                      <a:r>
                        <a:rPr lang="en-US" sz="1000" b="0" i="0">
                          <a:solidFill>
                            <a:srgbClr val="000000"/>
                          </a:solidFill>
                          <a:effectLst/>
                          <a:latin typeface="+mj-lt"/>
                        </a:rPr>
                        <a:t>Leidos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marR="0" lvl="0" indent="-137160" algn="l" defTabSz="914378"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US" sz="1000" b="0" i="0">
                          <a:solidFill>
                            <a:srgbClr val="000000"/>
                          </a:solidFill>
                          <a:effectLst/>
                          <a:latin typeface="+mj-lt"/>
                        </a:rPr>
                        <a:t>Operates through three segments: Defense Solutions (including intelligence), Civil, and Health </a:t>
                      </a:r>
                      <a:r>
                        <a:rPr lang="en-US" sz="1000" b="0" i="0" kern="1200">
                          <a:solidFill>
                            <a:srgbClr val="000000"/>
                          </a:solidFill>
                          <a:effectLst/>
                          <a:latin typeface="+mn-lt"/>
                          <a:ea typeface="+mn-ea"/>
                          <a:cs typeface="+mn-cs"/>
                        </a:rPr>
                        <a:t>in the United States and internationally</a:t>
                      </a:r>
                      <a:endParaRPr lang="en-US" sz="1000" b="0" i="0">
                        <a:solidFill>
                          <a:srgbClr val="000000"/>
                        </a:solidFill>
                        <a:effectLst/>
                        <a:latin typeface="+mj-lt"/>
                      </a:endParaRPr>
                    </a:p>
                    <a:p>
                      <a:pPr marL="137160" indent="-137160" algn="l" fontAlgn="base">
                        <a:buFont typeface="Wingdings" panose="05000000000000000000" pitchFamily="2" charset="2"/>
                        <a:buChar char="§"/>
                      </a:pPr>
                      <a:r>
                        <a:rPr lang="en-US" sz="1000" b="0" i="0">
                          <a:solidFill>
                            <a:srgbClr val="000000"/>
                          </a:solidFill>
                          <a:effectLst/>
                          <a:latin typeface="+mj-lt"/>
                        </a:rPr>
                        <a:t>Offers national security solutions and systems for air, land, sea, space, and cyberspace, including technology, command and control platforms, data analytics, logistics, and cybersecurity solutions</a:t>
                      </a:r>
                    </a:p>
                    <a:p>
                      <a:pPr marL="137160" indent="-137160" algn="l" fontAlgn="base">
                        <a:buFont typeface="Wingdings" panose="05000000000000000000" pitchFamily="2" charset="2"/>
                        <a:buChar char="§"/>
                      </a:pPr>
                      <a:r>
                        <a:rPr lang="en-US" sz="1000" b="0" i="0">
                          <a:solidFill>
                            <a:srgbClr val="000000"/>
                          </a:solidFill>
                          <a:effectLst/>
                          <a:latin typeface="+mj-lt"/>
                        </a:rPr>
                        <a:t>Delivers systems integration services, IT solutions in cloud computing, mobility, application modernization, and digital workplace enablement, as well as environment, energy, and infrastructure services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7513300"/>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747AF3A-C34F-4A72-CC69-5E2E54C68A89}"/>
              </a:ext>
            </a:extLst>
          </p:cNvPr>
          <p:cNvSpPr txBox="1"/>
          <p:nvPr/>
        </p:nvSpPr>
        <p:spPr>
          <a:xfrm>
            <a:off x="7326176" y="1361671"/>
            <a:ext cx="1784869" cy="246221"/>
          </a:xfrm>
          <a:prstGeom prst="rect">
            <a:avLst/>
          </a:prstGeom>
          <a:noFill/>
        </p:spPr>
        <p:txBody>
          <a:bodyPr wrap="square" rtlCol="0">
            <a:spAutoFit/>
          </a:bodyPr>
          <a:lstStyle/>
          <a:p>
            <a:pPr marL="171450">
              <a:buClr>
                <a:srgbClr val="C00000"/>
              </a:buClr>
              <a:buSzPct val="150000"/>
            </a:pPr>
            <a:r>
              <a:rPr lang="en-US" sz="1000" i="1"/>
              <a:t>Recommended for removal</a:t>
            </a:r>
          </a:p>
        </p:txBody>
      </p:sp>
      <p:sp>
        <p:nvSpPr>
          <p:cNvPr id="4" name="Rectangle 3">
            <a:extLst>
              <a:ext uri="{FF2B5EF4-FFF2-40B4-BE49-F238E27FC236}">
                <a16:creationId xmlns:a16="http://schemas.microsoft.com/office/drawing/2014/main" id="{14033113-FC85-93E2-38DC-231BA0FCE048}"/>
              </a:ext>
            </a:extLst>
          </p:cNvPr>
          <p:cNvSpPr/>
          <p:nvPr/>
        </p:nvSpPr>
        <p:spPr>
          <a:xfrm>
            <a:off x="7238820" y="1417886"/>
            <a:ext cx="236305" cy="123569"/>
          </a:xfrm>
          <a:prstGeom prst="rect">
            <a:avLst/>
          </a:prstGeom>
          <a:solidFill>
            <a:schemeClr val="accent4">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35230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234396678"/>
              </p:ext>
            </p:extLst>
          </p:nvPr>
        </p:nvGraphicFramePr>
        <p:xfrm>
          <a:off x="45720" y="1593648"/>
          <a:ext cx="9052560" cy="50292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2394">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76332">
                <a:tc>
                  <a:txBody>
                    <a:bodyPr/>
                    <a:lstStyle/>
                    <a:p>
                      <a:pPr algn="ctr" fontAlgn="base"/>
                      <a:r>
                        <a:rPr lang="en-US" sz="1000" b="0" i="0">
                          <a:solidFill>
                            <a:srgbClr val="000000"/>
                          </a:solidFill>
                          <a:effectLst/>
                          <a:latin typeface="+mn-lt"/>
                        </a:rPr>
                        <a:t>Fluor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engineering, procurement, and construction (EPC); fabrication and modularization; operation and maintenance; asset integrity; and project management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Energy Solutions, Urban Solutions, Mission Solutions, and Other segments</a:t>
                      </a:r>
                    </a:p>
                    <a:p>
                      <a:pPr marL="137160" indent="-137160" algn="l" fontAlgn="base">
                        <a:buFont typeface="Wingdings" panose="05000000000000000000" pitchFamily="2" charset="2"/>
                        <a:buChar char="§"/>
                      </a:pPr>
                      <a:r>
                        <a:rPr lang="en-US" sz="1000" b="0" i="0">
                          <a:solidFill>
                            <a:srgbClr val="000000"/>
                          </a:solidFill>
                          <a:effectLst/>
                          <a:latin typeface="+mn-lt"/>
                        </a:rPr>
                        <a:t>Energy Solutions segment provides solutions to the production and fuels, chemicals, LNG, power markets, chemicals and petrochemical industries. Solutions to the energy transition markets include asset decarbonization, carbon capture, renewable fuels, waste-to-energy, green chemicals, hydrogen, nuclear power, and other low-carbon energy sources; segment also provides consulting services, including feasibility studies, process assessments, project finance structuring, and a range of services for conventional, advanced, and small modular nuclear reactor technologies</a:t>
                      </a:r>
                    </a:p>
                    <a:p>
                      <a:pPr marL="137160" indent="-137160" algn="l" fontAlgn="base">
                        <a:buFont typeface="Wingdings" panose="05000000000000000000" pitchFamily="2" charset="2"/>
                        <a:buChar char="§"/>
                      </a:pPr>
                      <a:r>
                        <a:rPr lang="en-US" sz="1000" b="0" i="0">
                          <a:solidFill>
                            <a:srgbClr val="000000"/>
                          </a:solidFill>
                          <a:effectLst/>
                          <a:latin typeface="+mn-lt"/>
                        </a:rPr>
                        <a:t>Urban Solutions segment offers EPC and project management services to the infrastructure, advanced technologies, life sciences, and mining and metals industries; segment also provides staffing services to the company and third-party clients with technical, professional, and craft resources on a contract or permanent placement basis</a:t>
                      </a:r>
                    </a:p>
                    <a:p>
                      <a:pPr marL="137160" indent="-137160" algn="l" fontAlgn="base">
                        <a:buFont typeface="Wingdings" panose="05000000000000000000" pitchFamily="2" charset="2"/>
                        <a:buChar char="§"/>
                      </a:pPr>
                      <a:r>
                        <a:rPr lang="en-US" sz="1000" b="0" i="0">
                          <a:solidFill>
                            <a:srgbClr val="000000"/>
                          </a:solidFill>
                          <a:effectLst/>
                          <a:latin typeface="+mn-lt"/>
                        </a:rPr>
                        <a:t>Mission Solutions segment offers technical solutions to the U.S. and other governments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9033859"/>
                  </a:ext>
                </a:extLst>
              </a:tr>
              <a:tr h="366757">
                <a:tc>
                  <a:txBody>
                    <a:bodyPr/>
                    <a:lstStyle/>
                    <a:p>
                      <a:pPr algn="ctr" fontAlgn="base"/>
                      <a:r>
                        <a:rPr lang="en-US" sz="1000" b="0" i="0">
                          <a:solidFill>
                            <a:srgbClr val="000000"/>
                          </a:solidFill>
                          <a:effectLst/>
                          <a:latin typeface="+mn-lt"/>
                        </a:rPr>
                        <a:t>AECOM</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infrastructure consulting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in three segments: Americas, International, and AECOM Capital</a:t>
                      </a:r>
                    </a:p>
                    <a:p>
                      <a:pPr marL="137160" indent="-137160" algn="l" fontAlgn="base">
                        <a:buFont typeface="Wingdings" panose="05000000000000000000" pitchFamily="2" charset="2"/>
                        <a:buChar char="§"/>
                      </a:pPr>
                      <a:r>
                        <a:rPr lang="en-US" sz="1000" b="0" i="0">
                          <a:solidFill>
                            <a:srgbClr val="000000"/>
                          </a:solidFill>
                          <a:effectLst/>
                          <a:latin typeface="+mn-lt"/>
                        </a:rPr>
                        <a:t>Offers planning, consulting, architectural and engineering design, construction and program management, and investment and development services to public and private client</a:t>
                      </a:r>
                    </a:p>
                    <a:p>
                      <a:pPr marL="137160" indent="-137160" algn="l" fontAlgn="base">
                        <a:buFont typeface="Wingdings" panose="05000000000000000000" pitchFamily="2" charset="2"/>
                        <a:buChar char="§"/>
                      </a:pPr>
                      <a:r>
                        <a:rPr lang="en-US" sz="1000" b="0" i="0">
                          <a:solidFill>
                            <a:srgbClr val="000000"/>
                          </a:solidFill>
                          <a:effectLst/>
                          <a:latin typeface="+mn-lt"/>
                        </a:rPr>
                        <a:t>Involved in the investment and development of real estate projects</a:t>
                      </a:r>
                    </a:p>
                    <a:p>
                      <a:pPr marL="137160" indent="-137160" algn="l" fontAlgn="base">
                        <a:buFont typeface="Wingdings" panose="05000000000000000000" pitchFamily="2" charset="2"/>
                        <a:buChar char="§"/>
                      </a:pPr>
                      <a:r>
                        <a:rPr lang="en-US" sz="1000" b="0" i="0">
                          <a:solidFill>
                            <a:srgbClr val="000000"/>
                          </a:solidFill>
                          <a:effectLst/>
                          <a:latin typeface="+mn-lt"/>
                        </a:rPr>
                        <a:t>Provides construction services, including building construction and energy, and infrastructure and industrial construction</a:t>
                      </a:r>
                    </a:p>
                    <a:p>
                      <a:pPr marL="137160" indent="-137160" algn="l" fontAlgn="base">
                        <a:buFont typeface="Wingdings" panose="05000000000000000000" pitchFamily="2" charset="2"/>
                        <a:buChar char="§"/>
                      </a:pPr>
                      <a:r>
                        <a:rPr lang="en-US" sz="1000" b="0" i="0">
                          <a:solidFill>
                            <a:srgbClr val="000000"/>
                          </a:solidFill>
                          <a:effectLst/>
                          <a:latin typeface="+mn-lt"/>
                        </a:rPr>
                        <a:t>Serves transportation, water, government, facilities, environmental, and energy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7996441"/>
                  </a:ext>
                </a:extLst>
              </a:tr>
              <a:tr h="157181">
                <a:tc>
                  <a:txBody>
                    <a:bodyPr/>
                    <a:lstStyle/>
                    <a:p>
                      <a:pPr algn="ctr" fontAlgn="t"/>
                      <a:r>
                        <a:rPr lang="en-US" sz="1000" b="0" i="0" u="none" strike="noStrike">
                          <a:effectLst/>
                          <a:latin typeface="Calibri" panose="020F0502020204030204" pitchFamily="34" charset="0"/>
                        </a:rPr>
                        <a:t>DXC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Operates as a global IT services market leader through two segments: Global Business Services (GBS) and Global Infrastructure Services (GIS)</a:t>
                      </a:r>
                    </a:p>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The company provides mission-critical IT services that transform global businesses. It delivers excellence for its customers and colleagues around the world</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7798853"/>
                  </a:ext>
                </a:extLst>
              </a:tr>
              <a:tr h="523938">
                <a:tc>
                  <a:txBody>
                    <a:bodyPr/>
                    <a:lstStyle/>
                    <a:p>
                      <a:pPr algn="ctr" fontAlgn="base"/>
                      <a:r>
                        <a:rPr lang="en-US" sz="1000" b="0" i="0" err="1">
                          <a:solidFill>
                            <a:srgbClr val="000000"/>
                          </a:solidFill>
                          <a:effectLst/>
                          <a:latin typeface="+mn-lt"/>
                        </a:rPr>
                        <a:t>WSP</a:t>
                      </a:r>
                      <a:r>
                        <a:rPr lang="en-US" sz="1000" b="0" i="0">
                          <a:solidFill>
                            <a:srgbClr val="000000"/>
                          </a:solidFill>
                          <a:effectLst/>
                          <a:latin typeface="+mn-lt"/>
                        </a:rPr>
                        <a:t> Global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Operates as a professional services consulting firm in the United States, Canada, the United Kingdom, Sweden, Australia,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Advises, plans, designs, and manages projects for rail, transit, aviation, highways, bridges, tunnels, water, maritime, and urban infrastructure for public and private clients, construction contractors, and other partners</a:t>
                      </a:r>
                    </a:p>
                    <a:p>
                      <a:pPr marL="137160" indent="-137160" algn="l" fontAlgn="base">
                        <a:buFont typeface="Wingdings" panose="05000000000000000000" pitchFamily="2" charset="2"/>
                        <a:buChar char="§"/>
                      </a:pPr>
                      <a:r>
                        <a:rPr lang="en-US" sz="1000" b="0" i="0">
                          <a:solidFill>
                            <a:srgbClr val="000000"/>
                          </a:solidFill>
                          <a:effectLst/>
                          <a:latin typeface="+mn-lt"/>
                        </a:rPr>
                        <a:t>Provides engineering and consultancy services, such as decarbonization strategies, digital building design to building engineering design, and project management services</a:t>
                      </a:r>
                    </a:p>
                    <a:p>
                      <a:pPr marL="137160" indent="-137160" algn="l" fontAlgn="base">
                        <a:buFont typeface="Wingdings" panose="05000000000000000000" pitchFamily="2" charset="2"/>
                        <a:buChar char="§"/>
                      </a:pPr>
                      <a:r>
                        <a:rPr lang="en-US" sz="1000" b="0" i="0">
                          <a:solidFill>
                            <a:srgbClr val="000000"/>
                          </a:solidFill>
                          <a:effectLst/>
                          <a:latin typeface="+mn-lt"/>
                        </a:rPr>
                        <a:t>Works with and advises governments and private sector in earth sciences and environmental sustainability to conduct due diligence, permit approvals, regulatory compliance, waste/hazardous materials management, geotechnical and mining engineering, environmental/ social impact assessments, feasibility, and land remediation studies</a:t>
                      </a:r>
                    </a:p>
                    <a:p>
                      <a:pPr marL="137160" indent="-137160" algn="l" fontAlgn="base">
                        <a:buFont typeface="Wingdings" panose="05000000000000000000" pitchFamily="2" charset="2"/>
                        <a:buChar char="§"/>
                      </a:pPr>
                      <a:r>
                        <a:rPr lang="en-US" sz="1000" b="0" i="0">
                          <a:solidFill>
                            <a:srgbClr val="000000"/>
                          </a:solidFill>
                          <a:effectLst/>
                          <a:latin typeface="+mn-lt"/>
                        </a:rPr>
                        <a:t>Offers energy clients support, including large-scale power plants, renewables clean energy investments, smaller on-site power generation and efficiency programs, energy transmission, storage and distribution from pre-feasibility studies and community engagement through operation and decommissioning; and provides siting and licensing</a:t>
                      </a:r>
                    </a:p>
                    <a:p>
                      <a:pPr marL="137160" indent="-137160" algn="l" fontAlgn="base">
                        <a:buFont typeface="Wingdings" panose="05000000000000000000" pitchFamily="2" charset="2"/>
                        <a:buChar char="§"/>
                      </a:pPr>
                      <a:r>
                        <a:rPr lang="en-US" sz="1000" b="0" i="0">
                          <a:solidFill>
                            <a:srgbClr val="000000"/>
                          </a:solidFill>
                          <a:effectLst/>
                          <a:latin typeface="+mn-lt"/>
                        </a:rPr>
                        <a:t>Offers strategic advisory services comprising planning and advisory, management, and technology and sustainability services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0287273"/>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901CE6C-272B-A41D-6CC4-F7DBFBD16E00}"/>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310096446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309331766"/>
              </p:ext>
            </p:extLst>
          </p:nvPr>
        </p:nvGraphicFramePr>
        <p:xfrm>
          <a:off x="45720" y="1594682"/>
          <a:ext cx="9052560" cy="4876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847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350876">
                <a:tc>
                  <a:txBody>
                    <a:bodyPr/>
                    <a:lstStyle/>
                    <a:p>
                      <a:pPr algn="ctr" fontAlgn="base"/>
                      <a:r>
                        <a:rPr lang="en-US" sz="1000" b="0" i="0">
                          <a:solidFill>
                            <a:srgbClr val="000000"/>
                          </a:solidFill>
                          <a:effectLst/>
                          <a:latin typeface="+mn-lt"/>
                        </a:rPr>
                        <a:t>CGI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information technology (IT) and business process services. Services include the business and strategic IT consulting, systems integration, and software solutions</a:t>
                      </a:r>
                    </a:p>
                    <a:p>
                      <a:pPr marL="137160" indent="-137160" algn="l" fontAlgn="base">
                        <a:buFont typeface="Wingdings" panose="05000000000000000000" pitchFamily="2" charset="2"/>
                        <a:buChar char="§"/>
                      </a:pPr>
                      <a:r>
                        <a:rPr lang="en-US" sz="1000" b="0" i="0">
                          <a:solidFill>
                            <a:srgbClr val="000000"/>
                          </a:solidFill>
                          <a:effectLst/>
                          <a:latin typeface="+mn-lt"/>
                        </a:rPr>
                        <a:t>Offers application development, modernization and maintenance, holistic enterprise digitization, automation, hybrid and cloud management, and business process services; intellectual property-based solutions; business consulting; managed IT services; and IT infrastructure services</a:t>
                      </a:r>
                    </a:p>
                    <a:p>
                      <a:pPr marL="137160" indent="-137160" algn="l" fontAlgn="base">
                        <a:buFont typeface="Wingdings" panose="05000000000000000000" pitchFamily="2" charset="2"/>
                        <a:buChar char="§"/>
                      </a:pPr>
                      <a:r>
                        <a:rPr lang="en-US" sz="1000" b="0" i="0">
                          <a:solidFill>
                            <a:srgbClr val="000000"/>
                          </a:solidFill>
                          <a:effectLst/>
                          <a:latin typeface="+mn-lt"/>
                        </a:rPr>
                        <a:t>Serves clients operating in government, banking and capital market, health, utility, communication and media, oil and gas, space, manufacturing, insurance, life sciences, retail and consumer service, and transportation and logistics sectors</a:t>
                      </a:r>
                    </a:p>
                    <a:p>
                      <a:pPr marL="137160" indent="-137160" algn="l" fontAlgn="base">
                        <a:buFont typeface="Wingdings" panose="05000000000000000000" pitchFamily="2" charset="2"/>
                        <a:buChar char="§"/>
                      </a:pPr>
                      <a:r>
                        <a:rPr lang="en-US" sz="1000" b="0" i="0">
                          <a:solidFill>
                            <a:srgbClr val="000000"/>
                          </a:solidFill>
                          <a:effectLst/>
                          <a:latin typeface="+mn-lt"/>
                        </a:rPr>
                        <a:t>Operates in Canada, France, Spain, Portugal, the United States, Germany, Sweden, Norway, Europe, India, the Philippines, Asia Pacific, and internationally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268992"/>
                  </a:ext>
                </a:extLst>
              </a:tr>
              <a:tr h="467834">
                <a:tc>
                  <a:txBody>
                    <a:bodyPr/>
                    <a:lstStyle/>
                    <a:p>
                      <a:pPr algn="ctr" fontAlgn="t"/>
                      <a:r>
                        <a:rPr lang="en-US" sz="1000" b="0" i="0" u="none" strike="noStrike">
                          <a:effectLst/>
                          <a:latin typeface="+mn-lt"/>
                        </a:rPr>
                        <a:t>KBR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t">
                        <a:buFont typeface="Wingdings" panose="05000000000000000000" pitchFamily="2" charset="2"/>
                        <a:buChar char="§"/>
                      </a:pPr>
                      <a:r>
                        <a:rPr lang="en-US" sz="1000" b="0" i="0" u="none" strike="noStrike">
                          <a:effectLst/>
                          <a:latin typeface="+mn-lt"/>
                        </a:rPr>
                        <a:t>KBR, Inc. delivers science, technology, engineering and logistics support solutions to governments and companies around the world</a:t>
                      </a:r>
                    </a:p>
                    <a:p>
                      <a:pPr marL="137160" indent="-137160" algn="l" fontAlgn="t">
                        <a:buFont typeface="Wingdings" panose="05000000000000000000" pitchFamily="2" charset="2"/>
                        <a:buChar char="§"/>
                      </a:pPr>
                      <a:r>
                        <a:rPr lang="en-US" sz="1000" b="0" i="0" u="none" strike="noStrike">
                          <a:effectLst/>
                          <a:latin typeface="+mn-lt"/>
                        </a:rPr>
                        <a:t>The company’s capabilities and offerings include the following: Scientific research, such as quantum science and computing; health and human performance; materials science; life science research; and earth sciences. Defense systems engineering, such as rapid prototyping; test and evaluation; systems and platform integration; and sustainment engineering. Operational support, such as space domain awareness; C5ISR; human spaceflight operations; integrated supply chain; and military support. Information operations, such as cyber analytics and cybersecurity; data analytics; mission planning systems; virtual/augmented reality and technical training; artificial intelligence and machine learning. Sustainable decarbonization solutions that accelerate and enable energy transition and climate change, such as proprietary, sustainability-focused process licensing; advisory services focused on energy transition; high-end engineering, design and program management offerings; and digitally-enabled asset optimization solutions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8151385"/>
                  </a:ext>
                </a:extLst>
              </a:tr>
              <a:tr h="760231">
                <a:tc>
                  <a:txBody>
                    <a:bodyPr/>
                    <a:lstStyle/>
                    <a:p>
                      <a:pPr algn="ctr" fontAlgn="base"/>
                      <a:r>
                        <a:rPr lang="en-US" sz="1000" b="0" i="0" err="1">
                          <a:solidFill>
                            <a:srgbClr val="000000"/>
                          </a:solidFill>
                          <a:effectLst/>
                          <a:latin typeface="+mn-lt"/>
                        </a:rPr>
                        <a:t>AtkinsRéalis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Functions as an integrated professional services and project management company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six segments: Engineering Services, Nuclear, O&amp;M, </a:t>
                      </a:r>
                      <a:r>
                        <a:rPr lang="en-US" sz="1000" b="0" i="0" err="1">
                          <a:solidFill>
                            <a:srgbClr val="000000"/>
                          </a:solidFill>
                          <a:effectLst/>
                          <a:latin typeface="+mn-lt"/>
                        </a:rPr>
                        <a:t>Linxon</a:t>
                      </a:r>
                      <a:r>
                        <a:rPr lang="en-US" sz="1000" b="0" i="0">
                          <a:solidFill>
                            <a:srgbClr val="000000"/>
                          </a:solidFill>
                          <a:effectLst/>
                          <a:latin typeface="+mn-lt"/>
                        </a:rPr>
                        <a:t>, LSTK Projects, and Capital</a:t>
                      </a:r>
                    </a:p>
                    <a:p>
                      <a:pPr marL="137160" indent="-137160" algn="l" fontAlgn="base">
                        <a:buFont typeface="Wingdings" panose="05000000000000000000" pitchFamily="2" charset="2"/>
                        <a:buChar char="§"/>
                      </a:pPr>
                      <a:r>
                        <a:rPr lang="en-US" sz="1000" b="0" i="0">
                          <a:solidFill>
                            <a:srgbClr val="000000"/>
                          </a:solidFill>
                          <a:effectLst/>
                          <a:latin typeface="+mn-lt"/>
                        </a:rPr>
                        <a:t>Engineering Services segment provides consultancy, engineering, design, and project management services for the transportation, building and places, defense, water, industrial, minerals and metal, and power and renewables sectors</a:t>
                      </a:r>
                    </a:p>
                    <a:p>
                      <a:pPr marL="137160" indent="-137160" algn="l" fontAlgn="base">
                        <a:buFont typeface="Wingdings" panose="05000000000000000000" pitchFamily="2" charset="2"/>
                        <a:buChar char="§"/>
                      </a:pPr>
                      <a:r>
                        <a:rPr lang="en-US" sz="1000" b="0" i="0">
                          <a:solidFill>
                            <a:srgbClr val="000000"/>
                          </a:solidFill>
                          <a:effectLst/>
                          <a:latin typeface="+mn-lt"/>
                        </a:rPr>
                        <a:t>Nuclear segment offers services for clients across the nuclear life cycle consultancy, field, technology, spare parts, reactor support, and decommissioning and waste management services, as well as engineering services; and new-build and full refurbishment services for reactors</a:t>
                      </a:r>
                    </a:p>
                    <a:p>
                      <a:pPr marL="137160" indent="-137160" algn="l" fontAlgn="base">
                        <a:buFont typeface="Wingdings" panose="05000000000000000000" pitchFamily="2" charset="2"/>
                        <a:buChar char="§"/>
                      </a:pPr>
                      <a:r>
                        <a:rPr lang="en-US" sz="1000" b="0" i="0">
                          <a:solidFill>
                            <a:srgbClr val="000000"/>
                          </a:solidFill>
                          <a:effectLst/>
                          <a:latin typeface="+mn-lt"/>
                        </a:rPr>
                        <a:t>O&amp;M segment provides operations, maintenance, and asset management solutions for bridges, systems, highways, buildings and plants, as well as postal services and ships</a:t>
                      </a:r>
                    </a:p>
                    <a:p>
                      <a:pPr marL="137160" indent="-137160" algn="l" fontAlgn="base">
                        <a:buFont typeface="Wingdings" panose="05000000000000000000" pitchFamily="2" charset="2"/>
                        <a:buChar char="§"/>
                      </a:pPr>
                      <a:r>
                        <a:rPr lang="en-US" sz="1000" b="0" i="0" err="1">
                          <a:solidFill>
                            <a:srgbClr val="000000"/>
                          </a:solidFill>
                          <a:effectLst/>
                          <a:latin typeface="+mn-lt"/>
                        </a:rPr>
                        <a:t>Linxon</a:t>
                      </a:r>
                      <a:r>
                        <a:rPr lang="en-US" sz="1000" b="0" i="0">
                          <a:solidFill>
                            <a:srgbClr val="000000"/>
                          </a:solidFill>
                          <a:effectLst/>
                          <a:latin typeface="+mn-lt"/>
                        </a:rPr>
                        <a:t> segment provides engineering, procurement, management, and construction services for execution of alternative current power substations, including expansions and electrification through repetitive EPC offerings for various markets, including utilities, renewables, conventional generation, transportation, and data centers</a:t>
                      </a:r>
                    </a:p>
                    <a:p>
                      <a:pPr marL="137160" indent="-137160" algn="l" fontAlgn="base">
                        <a:buFont typeface="Wingdings" panose="05000000000000000000" pitchFamily="2" charset="2"/>
                        <a:buChar char="§"/>
                      </a:pPr>
                      <a:r>
                        <a:rPr lang="en-US" sz="1000" b="0" i="0">
                          <a:solidFill>
                            <a:srgbClr val="000000"/>
                          </a:solidFill>
                          <a:effectLst/>
                          <a:latin typeface="+mn-lt"/>
                        </a:rPr>
                        <a:t>LSTK Projects segment undertakes construction contracts for the mass transit projects</a:t>
                      </a:r>
                    </a:p>
                    <a:p>
                      <a:pPr marL="137160" indent="-137160" algn="l" fontAlgn="base">
                        <a:buFont typeface="Wingdings" panose="05000000000000000000" pitchFamily="2" charset="2"/>
                        <a:buChar char="§"/>
                      </a:pPr>
                      <a:r>
                        <a:rPr lang="en-US" sz="1000" b="0" i="0">
                          <a:solidFill>
                            <a:srgbClr val="000000"/>
                          </a:solidFill>
                          <a:effectLst/>
                          <a:latin typeface="+mn-lt"/>
                        </a:rPr>
                        <a:t>Capital segment engages in the developing of projects, arranging financing, investing in equity, undertaking complex financial modeling, and managing its infrastructure investments, such as bridges and highways, mass transit systems, power facilities, energy infrastructure, water treatment plants, and social infrastructure</a:t>
                      </a:r>
                    </a:p>
                    <a:p>
                      <a:pPr marL="137160" indent="-137160" algn="l" fontAlgn="base">
                        <a:buFont typeface="Wingdings" panose="05000000000000000000" pitchFamily="2" charset="2"/>
                        <a:buChar char="§"/>
                      </a:pPr>
                      <a:r>
                        <a:rPr lang="en-US" sz="1000" b="0" i="0">
                          <a:solidFill>
                            <a:srgbClr val="000000"/>
                          </a:solidFill>
                          <a:effectLst/>
                          <a:latin typeface="+mn-lt"/>
                        </a:rPr>
                        <a:t>Formerly known as SNC-Lavalin Group Inc. and changed its name to </a:t>
                      </a:r>
                      <a:r>
                        <a:rPr lang="en-US" sz="1000" b="0" i="0" err="1">
                          <a:solidFill>
                            <a:srgbClr val="000000"/>
                          </a:solidFill>
                          <a:effectLst/>
                          <a:latin typeface="+mn-lt"/>
                        </a:rPr>
                        <a:t>AtkinsRéalis</a:t>
                      </a:r>
                      <a:r>
                        <a:rPr lang="en-US" sz="1000" b="0" i="0">
                          <a:solidFill>
                            <a:srgbClr val="000000"/>
                          </a:solidFill>
                          <a:effectLst/>
                          <a:latin typeface="+mn-lt"/>
                        </a:rPr>
                        <a:t> in September 2023</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300901"/>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D35AE91-2955-3D3C-6CEE-21F2E097080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156360592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2195552011"/>
              </p:ext>
            </p:extLst>
          </p:nvPr>
        </p:nvGraphicFramePr>
        <p:xfrm>
          <a:off x="50129" y="1593200"/>
          <a:ext cx="9052560" cy="4572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Parsons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integrated solutions and services in the defense, intelligence, and critical infrastructure markets in North America, the Middle East,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Federal Solutions segment provides critical technologies, such as cybersecurity; missile defense; intelligence; space launch and ground systems; space and weapon system resiliency; geospatial intelligence; signals intelligence; environmental remediation; border security, critical infrastructure protection; counter unmanned air systems; biometrics and bio surveillance solutions to U.S. Department of Defense, including military services; Missile Defense Agency, the Department of Energy; the Department of State; the Department of Homeland Security, and the Federal Aviation Administration</a:t>
                      </a:r>
                    </a:p>
                    <a:p>
                      <a:pPr marL="137160" indent="-137160" algn="l" fontAlgn="base">
                        <a:buFont typeface="Wingdings" panose="05000000000000000000" pitchFamily="2" charset="2"/>
                        <a:buChar char="§"/>
                      </a:pPr>
                      <a:r>
                        <a:rPr lang="en-US" sz="1000" b="0" i="0">
                          <a:solidFill>
                            <a:srgbClr val="000000"/>
                          </a:solidFill>
                          <a:effectLst/>
                          <a:latin typeface="+mn-lt"/>
                        </a:rPr>
                        <a:t>Critical Infrastructure segment provides management, design, and engineering services. This segment develops digital solutions for next generation aviation, rail and transit, bridges, roads, and highways; and provides water and wastewater treatment systems; AI/ML, and digital twin and cyber systems; planning, engineering, and management services for infrastructure, including bridges and tunnels, roads and highways, water and wastewater, and dams and reservoirs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217503"/>
                  </a:ext>
                </a:extLst>
              </a:tr>
              <a:tr h="535050">
                <a:tc>
                  <a:txBody>
                    <a:bodyPr/>
                    <a:lstStyle/>
                    <a:p>
                      <a:pPr algn="ctr" fontAlgn="base"/>
                      <a:r>
                        <a:rPr lang="en-US" sz="1000" b="0" i="0">
                          <a:solidFill>
                            <a:srgbClr val="000000"/>
                          </a:solidFill>
                          <a:effectLst/>
                          <a:latin typeface="+mn-lt"/>
                        </a:rPr>
                        <a:t>EPAM Systems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digital platform engineering and software development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Offers engineering services, including requirements analysis and platform selection, customization, cross-platform migration, implementation, and integration; infrastructure management services, such as software development, testing, performance tuning, deployment, maintenance, and support services</a:t>
                      </a:r>
                    </a:p>
                    <a:p>
                      <a:pPr marL="137160" indent="-137160" algn="l" fontAlgn="base">
                        <a:buFont typeface="Wingdings" panose="05000000000000000000" pitchFamily="2" charset="2"/>
                        <a:buChar char="§"/>
                      </a:pPr>
                      <a:r>
                        <a:rPr lang="en-US" sz="1000" b="0" i="0">
                          <a:solidFill>
                            <a:srgbClr val="000000"/>
                          </a:solidFill>
                          <a:effectLst/>
                          <a:latin typeface="+mn-lt"/>
                        </a:rPr>
                        <a:t>Offers operation solutions comprising integrated engineering practices and smart automation services</a:t>
                      </a:r>
                    </a:p>
                    <a:p>
                      <a:pPr marL="137160" indent="-137160" algn="l" fontAlgn="base">
                        <a:buFont typeface="Wingdings" panose="05000000000000000000" pitchFamily="2" charset="2"/>
                        <a:buChar char="§"/>
                      </a:pPr>
                      <a:r>
                        <a:rPr lang="en-US" sz="1000" b="0" i="0">
                          <a:solidFill>
                            <a:srgbClr val="000000"/>
                          </a:solidFill>
                          <a:effectLst/>
                          <a:latin typeface="+mn-lt"/>
                        </a:rPr>
                        <a:t>Offers business, experience, technology, data, and technical advisory consulting services; and digital and service design solutions, which comprise strategy, design, creative, and program management services, as well as physical product development, such as artificial intelligence, robotics, and virtual reality</a:t>
                      </a:r>
                    </a:p>
                    <a:p>
                      <a:pPr marL="137160" indent="-137160" algn="l" fontAlgn="base">
                        <a:buFont typeface="Wingdings" panose="05000000000000000000" pitchFamily="2" charset="2"/>
                        <a:buChar char="§"/>
                      </a:pPr>
                      <a:r>
                        <a:rPr lang="en-US" sz="1000" b="0" i="0">
                          <a:solidFill>
                            <a:srgbClr val="000000"/>
                          </a:solidFill>
                          <a:effectLst/>
                          <a:latin typeface="+mn-lt"/>
                        </a:rPr>
                        <a:t>Serves the financial services, travel and consumer, software and hi-tech, business information and media, life sciences and healthcare, and other industries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167428"/>
                  </a:ext>
                </a:extLst>
              </a:tr>
              <a:tr h="794832">
                <a:tc>
                  <a:txBody>
                    <a:bodyPr/>
                    <a:lstStyle/>
                    <a:p>
                      <a:pPr algn="ctr" fontAlgn="base"/>
                      <a:r>
                        <a:rPr lang="en-US" sz="1000" b="0" i="0">
                          <a:solidFill>
                            <a:srgbClr val="000000"/>
                          </a:solidFill>
                          <a:effectLst/>
                          <a:latin typeface="+mn-lt"/>
                        </a:rPr>
                        <a:t>Tetra Tech</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and engineering services in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Operates through two segments, Government Services Group (</a:t>
                      </a:r>
                      <a:r>
                        <a:rPr lang="en-US" sz="1000" b="0" i="0" err="1">
                          <a:solidFill>
                            <a:srgbClr val="000000"/>
                          </a:solidFill>
                          <a:effectLst/>
                          <a:latin typeface="+mn-lt"/>
                        </a:rPr>
                        <a:t>GSG</a:t>
                      </a:r>
                      <a:r>
                        <a:rPr lang="en-US" sz="1000" b="0" i="0">
                          <a:solidFill>
                            <a:srgbClr val="000000"/>
                          </a:solidFill>
                          <a:effectLst/>
                          <a:latin typeface="+mn-lt"/>
                        </a:rPr>
                        <a:t>) and Commercial/International Services Group (CIG) </a:t>
                      </a:r>
                    </a:p>
                    <a:p>
                      <a:pPr marL="137160" indent="-137160" algn="l" fontAlgn="base">
                        <a:buFont typeface="Wingdings" panose="05000000000000000000" pitchFamily="2" charset="2"/>
                        <a:buChar char="§"/>
                      </a:pPr>
                      <a:r>
                        <a:rPr lang="en-US" sz="1000" b="0" i="0" err="1">
                          <a:solidFill>
                            <a:srgbClr val="000000"/>
                          </a:solidFill>
                          <a:effectLst/>
                          <a:latin typeface="+mn-lt"/>
                        </a:rPr>
                        <a:t>GSG</a:t>
                      </a:r>
                      <a:r>
                        <a:rPr lang="en-US" sz="1000" b="0" i="0">
                          <a:solidFill>
                            <a:srgbClr val="000000"/>
                          </a:solidFill>
                          <a:effectLst/>
                          <a:latin typeface="+mn-lt"/>
                        </a:rPr>
                        <a:t> segment offers early data collection and monitoring, data analysis and information management, science and engineering applied research, engineering design, project management, and operations and maintenance services; and climate change and energy management consulting, as well as greenhouse gas inventory assessment, certification, reduction, and management services, serving federal, state, and local governments; and development agencies in water resources analysis and water management, environmental monitoring, data analytics, government consulting, waste management, and a range of civil infrastructure master planning and engineering design markets</a:t>
                      </a:r>
                    </a:p>
                    <a:p>
                      <a:pPr marL="137160" indent="-137160" algn="l" fontAlgn="base">
                        <a:buFont typeface="Wingdings" panose="05000000000000000000" pitchFamily="2" charset="2"/>
                        <a:buChar char="§"/>
                      </a:pPr>
                      <a:r>
                        <a:rPr lang="en-US" sz="1000" b="0" i="0">
                          <a:solidFill>
                            <a:srgbClr val="000000"/>
                          </a:solidFill>
                          <a:effectLst/>
                          <a:latin typeface="+mn-lt"/>
                        </a:rPr>
                        <a:t>CIG segment provides early data collection and monitoring, data analysis, feasibility studies and assessments, science and engineering applied research, engineering design, project management, and operations and maintenance services; and environmental remediation and reconstruction services, and industrial water treatment services, serving natural resources, energy, and utilities markets, as well as sustainable infrastructure master planning and engineering design for facilities, transportation, and local development projects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6223218"/>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D8533562-C314-BE74-290F-846D652280DE}"/>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7525841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521775944"/>
              </p:ext>
            </p:extLst>
          </p:nvPr>
        </p:nvGraphicFramePr>
        <p:xfrm>
          <a:off x="50129" y="1593200"/>
          <a:ext cx="9052560" cy="2590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Stantec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services in infrastructure and facilities to the public and private sectors in Canada,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Offers evaluation, planning, and designing of infrastructure solutions, sustainable water resources, environmental services, and integrated architecture, engineering, and interior design solutions</a:t>
                      </a:r>
                    </a:p>
                    <a:p>
                      <a:pPr marL="137160" indent="-137160" algn="l" fontAlgn="base">
                        <a:buFont typeface="Wingdings" panose="05000000000000000000" pitchFamily="2" charset="2"/>
                        <a:buChar char="§"/>
                      </a:pPr>
                      <a:r>
                        <a:rPr lang="en-US" sz="1000" b="0" i="0">
                          <a:solidFill>
                            <a:srgbClr val="000000"/>
                          </a:solidFill>
                          <a:effectLst/>
                          <a:latin typeface="+mn-lt"/>
                        </a:rPr>
                        <a:t>Delivers consulting services in engineering, architecture, interior design, landscape architecture, surveying, environmental sciences, project management, and project economics</a:t>
                      </a:r>
                    </a:p>
                    <a:p>
                      <a:pPr marL="137160" indent="-137160" algn="l" fontAlgn="base">
                        <a:buFont typeface="Wingdings" panose="05000000000000000000" pitchFamily="2" charset="2"/>
                        <a:buChar char="§"/>
                      </a:pPr>
                      <a:r>
                        <a:rPr lang="en-US" sz="1000" b="0" i="0">
                          <a:solidFill>
                            <a:srgbClr val="000000"/>
                          </a:solidFill>
                          <a:effectLst/>
                          <a:latin typeface="+mn-lt"/>
                        </a:rPr>
                        <a:t>Specializes in planning and design services for residential, logistics, retail, infrastructure, energy, higher education, and urban regeneration sectors, as well as transportation advisory and transport engineering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err="1">
                          <a:solidFill>
                            <a:srgbClr val="000000"/>
                          </a:solidFill>
                          <a:effectLst/>
                          <a:latin typeface="+mn-lt"/>
                        </a:rPr>
                        <a:t>FTI</a:t>
                      </a:r>
                      <a:r>
                        <a:rPr lang="en-US" sz="1000" b="0" i="0">
                          <a:solidFill>
                            <a:srgbClr val="000000"/>
                          </a:solidFill>
                          <a:effectLst/>
                          <a:latin typeface="+mn-lt"/>
                        </a:rPr>
                        <a:t> Consulting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business advisory services to manage change, mitigate risk, and resolve disputes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five segments: Corporate Finance &amp; Restructuring, Forensic and Litigation Consulting, Economic Consulting, Technology, and Strategic Communications</a:t>
                      </a:r>
                    </a:p>
                    <a:p>
                      <a:pPr marL="137160" indent="-137160" algn="l" fontAlgn="base">
                        <a:buFont typeface="Wingdings" panose="05000000000000000000" pitchFamily="2" charset="2"/>
                        <a:buChar char="§"/>
                      </a:pPr>
                      <a:r>
                        <a:rPr lang="en-US" sz="1000" b="0" i="0">
                          <a:solidFill>
                            <a:srgbClr val="000000"/>
                          </a:solidFill>
                          <a:effectLst/>
                          <a:latin typeface="+mn-lt"/>
                        </a:rPr>
                        <a:t>Offers services including business transformation, transactions, restructuring, construction and environmental solutions, data and analytics, disputes, health solutions, risk and investigation, antitrust and competition economics, and international arbitration</a:t>
                      </a:r>
                    </a:p>
                    <a:p>
                      <a:pPr marL="137160" indent="-137160" algn="l" fontAlgn="base">
                        <a:buFont typeface="Wingdings" panose="05000000000000000000" pitchFamily="2" charset="2"/>
                        <a:buChar char="§"/>
                      </a:pPr>
                      <a:r>
                        <a:rPr lang="en-US" sz="1000" b="0" i="0">
                          <a:solidFill>
                            <a:srgbClr val="000000"/>
                          </a:solidFill>
                          <a:effectLst/>
                          <a:latin typeface="+mn-lt"/>
                        </a:rPr>
                        <a:t>Delivers corporate legal department consulting, e-discovery, information governance, privacy and security services, corporate reputation, financial communications, and public affairs services</a:t>
                      </a:r>
                    </a:p>
                    <a:p>
                      <a:pPr marL="137160" indent="-137160" algn="l" fontAlgn="base">
                        <a:buFont typeface="Wingdings" panose="05000000000000000000" pitchFamily="2" charset="2"/>
                        <a:buChar char="§"/>
                      </a:pPr>
                      <a:r>
                        <a:rPr lang="en-US" sz="1000" b="0" i="0">
                          <a:solidFill>
                            <a:srgbClr val="000000"/>
                          </a:solidFill>
                          <a:effectLst/>
                          <a:latin typeface="+mn-lt"/>
                        </a:rPr>
                        <a:t>Serves diverse industries including aerospace and defense, airlines, blockchain, chemicals, energy, financial services, healthcare, real estate, telecom, media, and transportation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A2B2364-E72B-4AFC-F2F7-D0963411CB3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46600682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F990-F584-28D8-21E1-D89FE2EFCCB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75D40D-01BC-3122-41AC-EBC33D4FD61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2984C5F-FF1B-2098-B690-DC168BCA6A87}"/>
              </a:ext>
            </a:extLst>
          </p:cNvPr>
          <p:cNvSpPr>
            <a:spLocks noGrp="1"/>
          </p:cNvSpPr>
          <p:nvPr>
            <p:ph type="title"/>
          </p:nvPr>
        </p:nvSpPr>
        <p:spPr/>
        <p:txBody>
          <a:bodyPr/>
          <a:lstStyle/>
          <a:p>
            <a:r>
              <a:rPr lang="en-US"/>
              <a:t>Business descriptions for the additional companies evaluated in detail are shown below:</a:t>
            </a:r>
            <a:endParaRPr lang="en-US">
              <a:highlight>
                <a:srgbClr val="FFFF00"/>
              </a:highlight>
            </a:endParaRPr>
          </a:p>
        </p:txBody>
      </p:sp>
      <p:graphicFrame>
        <p:nvGraphicFramePr>
          <p:cNvPr id="4" name="Table 3">
            <a:extLst>
              <a:ext uri="{FF2B5EF4-FFF2-40B4-BE49-F238E27FC236}">
                <a16:creationId xmlns:a16="http://schemas.microsoft.com/office/drawing/2014/main" id="{ACE2121E-F647-36FE-EEAC-045C82F12450}"/>
              </a:ext>
            </a:extLst>
          </p:cNvPr>
          <p:cNvGraphicFramePr>
            <a:graphicFrameLocks noGrp="1"/>
          </p:cNvGraphicFramePr>
          <p:nvPr>
            <p:extLst>
              <p:ext uri="{D42A27DB-BD31-4B8C-83A1-F6EECF244321}">
                <p14:modId xmlns:p14="http://schemas.microsoft.com/office/powerpoint/2010/main" val="2783111589"/>
              </p:ext>
            </p:extLst>
          </p:nvPr>
        </p:nvGraphicFramePr>
        <p:xfrm>
          <a:off x="50129" y="1726550"/>
          <a:ext cx="9052560" cy="498348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
                        <a:lnSpc>
                          <a:spcPct val="90000"/>
                        </a:lnSpc>
                        <a:buNone/>
                      </a:pPr>
                      <a:r>
                        <a:rPr lang="en-US" sz="1000" b="0" i="0" u="none" strike="noStrike">
                          <a:solidFill>
                            <a:srgbClr val="000000"/>
                          </a:solidFill>
                          <a:effectLst/>
                          <a:latin typeface="+mj-lt"/>
                        </a:rPr>
                        <a:t>Arcadis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Engages in the design, engineering, architecture, and consultancy solutions for natural and built assets in The Americas, Europe, the Middle East, and the Asia Pacific</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Operates through Places, Mobility, Resilience, and Intelligence segments. It provides architecture and urbanism services; and asset management services, such as asset management strategy and planning, asset management decision making and operational optimization, life cycle planning and asset management systems, asset information/condition assessment, risk and review, organization and people, and asset management/</a:t>
                      </a:r>
                      <a:r>
                        <a:rPr lang="en-US" sz="1000" b="0" i="0" err="1">
                          <a:solidFill>
                            <a:srgbClr val="000000"/>
                          </a:solidFill>
                          <a:effectLst/>
                          <a:latin typeface="+mj-lt"/>
                        </a:rPr>
                        <a:t>O&amp;M</a:t>
                      </a:r>
                      <a:endParaRPr lang="en-US" sz="1000" b="0" i="0">
                        <a:solidFill>
                          <a:srgbClr val="000000"/>
                        </a:solidFill>
                        <a:effectLst/>
                        <a:latin typeface="+mj-lt"/>
                      </a:endParaRP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business advisory services, including asset strategy and performance, business transformation and resiliency, investment and finance, operations and maintenance, and technology and information; contract solutions; cost and commercial management services; and design and engineering solutions for highways, railways, bridges, tunnels, power utilities, water utilities, ports and waterways, geotechnics, architecture, and structures, as well as building mechanical, electrical, and plumbing. In addition, it offers digital environmental health safety and sustainability, environmental restoration, and project management solutions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mobility solutions for connected highways, intelligent rail and transit, integrated airports, and new mobility; places solutions; resilience solutions, such as energy transition, climate adaption, water optimization, enviro socio permitting, sustainable advisory, environmental restoration, and sustainable operations; and water supply and treatment, distribution, resource management, and industrial water and wastewater services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
                        <a:lnSpc>
                          <a:spcPct val="90000"/>
                        </a:lnSpc>
                        <a:buNone/>
                      </a:pPr>
                      <a:r>
                        <a:rPr lang="en-US" sz="1000" b="0" i="0" u="none" strike="noStrike">
                          <a:solidFill>
                            <a:srgbClr val="000000"/>
                          </a:solidFill>
                          <a:effectLst/>
                          <a:latin typeface="+mj-lt"/>
                        </a:rPr>
                        <a:t>Quanta</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Offers infrastructure solutions for the electric and gas utility, renewable energy, communications, pipeline, and energy industries in the United States, Canada, Australia, and internationally</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Electric Power Infrastructure Solutions segment handles the design, procurement, construction, upgrade, repair, and maintenance of electric power infrastructure, including smart grid technologies and commercial wirings. It also offers aviation, emergency restoration, engineering services, communications solutions, and training for electric, gas, and communications industries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Renewable Energy Infrastructure Solutions segment handles engineering, procurement, construction, repair, and maintenance of wind, solar, hydropower, and battery storage facilities, as well as electrical infrastructure services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Underground Utility and Infrastructure Solutions segment provides design, engineering, procurement, construction, upgrade, repair, and maintenance services for natural gas systems, pipeline support structures, and compressor and pump stations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n-lt"/>
                        </a:rPr>
                        <a:t>Capgemini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digital transformation, technology, and engineering services primarily in North America, France, the United Kingdom, Ireland, the rest of Europe, the Asia-Pacific, and Latin America</a:t>
                      </a:r>
                    </a:p>
                    <a:p>
                      <a:pPr marL="137160" indent="-137160" algn="l" fontAlgn="base">
                        <a:buFont typeface="Wingdings" panose="05000000000000000000" pitchFamily="2" charset="2"/>
                        <a:buChar char="§"/>
                      </a:pPr>
                      <a:r>
                        <a:rPr lang="en-US" sz="1000" b="0" i="0">
                          <a:solidFill>
                            <a:srgbClr val="000000"/>
                          </a:solidFill>
                          <a:effectLst/>
                          <a:latin typeface="+mn-lt"/>
                        </a:rPr>
                        <a:t>Offers strategy and transformation services in strategy, technology, engineering, data science, and creative design fields to support companies and organizations in creating new models and new products within the digital economy</a:t>
                      </a:r>
                    </a:p>
                    <a:p>
                      <a:pPr marL="137160" indent="-137160" algn="l" fontAlgn="base">
                        <a:buFont typeface="Wingdings" panose="05000000000000000000" pitchFamily="2" charset="2"/>
                        <a:buChar char="§"/>
                      </a:pPr>
                      <a:r>
                        <a:rPr lang="en-US" sz="1000" b="0" i="0">
                          <a:solidFill>
                            <a:srgbClr val="000000"/>
                          </a:solidFill>
                          <a:effectLst/>
                          <a:latin typeface="+mn-lt"/>
                        </a:rPr>
                        <a:t>Provides applications and technology services to help clients to develop, modernize, extend, and secure IT and digital environment, as well as designs and develops technological solutions in data strategy and architecture, data engineering, information governance, data science and analytics, artificial intelligence, and data-driven innovation fields</a:t>
                      </a:r>
                    </a:p>
                    <a:p>
                      <a:pPr marL="137160" indent="-137160" algn="l" fontAlgn="base">
                        <a:buFont typeface="Wingdings" panose="05000000000000000000" pitchFamily="2" charset="2"/>
                        <a:buChar char="§"/>
                      </a:pPr>
                      <a:r>
                        <a:rPr lang="en-US" sz="1000" b="0" i="0">
                          <a:solidFill>
                            <a:srgbClr val="000000"/>
                          </a:solidFill>
                          <a:effectLst/>
                          <a:latin typeface="+mn-lt"/>
                        </a:rPr>
                        <a:t>Offers cloud infrastructure services for its clients to build an optimal, agile, and secure foundation for business transformations; and business process outsourcing and transactional services, as well as installation and maintenance services for its clients’ IT infrastructures in data centers or in the cloud</a:t>
                      </a:r>
                    </a:p>
                    <a:p>
                      <a:pPr marL="137160" indent="-137160" algn="l" fontAlgn="base">
                        <a:buFont typeface="Wingdings" panose="05000000000000000000" pitchFamily="2" charset="2"/>
                        <a:buChar char="§"/>
                      </a:pPr>
                      <a:r>
                        <a:rPr lang="en-US" sz="1000" b="0" i="0">
                          <a:solidFill>
                            <a:srgbClr val="000000"/>
                          </a:solidFill>
                          <a:effectLst/>
                          <a:latin typeface="+mn-lt"/>
                        </a:rPr>
                        <a:t>Serves various industries, including aerospace and defense, automotive, banking and capital markets, consumer products, energy and utilities, healthcare, high-tech, hospitality and travel, insurance, life sciences, manufacturing, media and entertainment, public sector, retail, and telecoms</a:t>
                      </a:r>
                    </a:p>
                    <a:p>
                      <a:pPr marL="137160" indent="-137160" algn="l" fontAlgn="base">
                        <a:buFont typeface="Wingdings" panose="05000000000000000000" pitchFamily="2" charset="2"/>
                        <a:buChar char="§"/>
                      </a:pPr>
                      <a:r>
                        <a:rPr lang="en-US" sz="1000" b="0" i="0">
                          <a:solidFill>
                            <a:srgbClr val="000000"/>
                          </a:solidFill>
                          <a:effectLst/>
                          <a:latin typeface="+mn-lt"/>
                        </a:rPr>
                        <a:t>The company has a strategic alliance with OpenAI for the development and deployment of enterprise AI solutions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65D3F4C6-E0DD-FEFA-8EA5-5394A80E849A}"/>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359301260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C5029-596F-B868-E305-0AA31A94B89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B920AB-4A54-9CBA-56A7-EB99DC4DD09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F6570F0-2C40-3331-C549-652543173199}"/>
              </a:ext>
            </a:extLst>
          </p:cNvPr>
          <p:cNvSpPr>
            <a:spLocks noGrp="1"/>
          </p:cNvSpPr>
          <p:nvPr>
            <p:ph type="title"/>
          </p:nvPr>
        </p:nvSpPr>
        <p:spPr/>
        <p:txBody>
          <a:bodyPr/>
          <a:lstStyle/>
          <a:p>
            <a:r>
              <a:rPr lang="en-US"/>
              <a:t>Business descriptions for the additional companies evaluated in detail are shown below: </a:t>
            </a:r>
            <a:r>
              <a:rPr lang="en-US" i="1"/>
              <a:t>(continued)</a:t>
            </a:r>
            <a:endParaRPr lang="en-US">
              <a:highlight>
                <a:srgbClr val="FFFF00"/>
              </a:highlight>
            </a:endParaRPr>
          </a:p>
        </p:txBody>
      </p:sp>
      <p:graphicFrame>
        <p:nvGraphicFramePr>
          <p:cNvPr id="4" name="Table 3">
            <a:extLst>
              <a:ext uri="{FF2B5EF4-FFF2-40B4-BE49-F238E27FC236}">
                <a16:creationId xmlns:a16="http://schemas.microsoft.com/office/drawing/2014/main" id="{0575C3BC-874C-42EE-7E83-8AB24E947AC0}"/>
              </a:ext>
            </a:extLst>
          </p:cNvPr>
          <p:cNvGraphicFramePr>
            <a:graphicFrameLocks noGrp="1"/>
          </p:cNvGraphicFramePr>
          <p:nvPr>
            <p:extLst>
              <p:ext uri="{D42A27DB-BD31-4B8C-83A1-F6EECF244321}">
                <p14:modId xmlns:p14="http://schemas.microsoft.com/office/powerpoint/2010/main" val="2895299643"/>
              </p:ext>
            </p:extLst>
          </p:nvPr>
        </p:nvGraphicFramePr>
        <p:xfrm>
          <a:off x="50129" y="1726550"/>
          <a:ext cx="9052560" cy="455676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err="1">
                          <a:solidFill>
                            <a:srgbClr val="000000"/>
                          </a:solidFill>
                          <a:effectLst/>
                          <a:latin typeface="+mn-lt"/>
                        </a:rPr>
                        <a:t>Primoris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infrastructure services primarily in the United States and Canada</a:t>
                      </a:r>
                    </a:p>
                    <a:p>
                      <a:pPr marL="137160" indent="-137160" algn="l" fontAlgn="base">
                        <a:buFont typeface="Wingdings" panose="05000000000000000000" pitchFamily="2" charset="2"/>
                        <a:buChar char="§"/>
                      </a:pPr>
                      <a:r>
                        <a:rPr lang="en-US" sz="1000" b="0" i="0">
                          <a:solidFill>
                            <a:srgbClr val="000000"/>
                          </a:solidFill>
                          <a:effectLst/>
                          <a:latin typeface="+mn-lt"/>
                        </a:rPr>
                        <a:t>Operates in two segments, Utilities and Energy</a:t>
                      </a:r>
                    </a:p>
                    <a:p>
                      <a:pPr marL="137160" indent="-137160" algn="l" fontAlgn="base">
                        <a:buFont typeface="Wingdings" panose="05000000000000000000" pitchFamily="2" charset="2"/>
                        <a:buChar char="§"/>
                      </a:pPr>
                      <a:r>
                        <a:rPr lang="en-US" sz="1000" b="0" i="0">
                          <a:solidFill>
                            <a:srgbClr val="000000"/>
                          </a:solidFill>
                          <a:effectLst/>
                          <a:latin typeface="+mn-lt"/>
                        </a:rPr>
                        <a:t>Utilities segment offers installation and maintenance of new and existing natural gas and electric utility distribution and transmission systems, and communications systems</a:t>
                      </a:r>
                    </a:p>
                    <a:p>
                      <a:pPr marL="137160" indent="-137160" algn="l" fontAlgn="base">
                        <a:buFont typeface="Wingdings" panose="05000000000000000000" pitchFamily="2" charset="2"/>
                        <a:buChar char="§"/>
                      </a:pPr>
                      <a:r>
                        <a:rPr lang="en-US" sz="1000" b="0" i="0">
                          <a:solidFill>
                            <a:srgbClr val="000000"/>
                          </a:solidFill>
                          <a:effectLst/>
                          <a:latin typeface="+mn-lt"/>
                        </a:rPr>
                        <a:t>Energy segment provides engineering, procurement, construction, and maintenance services for entities in the energy, renewable energy and energy storage, renewable fuels, and petroleum and petrochemical industries, as well as state departments of transportation</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a:solidFill>
                            <a:srgbClr val="000000"/>
                          </a:solidFill>
                          <a:effectLst/>
                          <a:latin typeface="+mj-lt"/>
                        </a:rPr>
                        <a:t>Worley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services to the energy, chemicals, and resources sectors in the Americas, Europe, the Middle East, Africa, Australia, the Asia Pacific, and China</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project delivery services, such as engineering, procurement and supply chain management, construction and fabrication, and installation and commissioning; asset performance services comprising operations and maintenance, and workflow optimization; and specialist and technology solutions</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and consulting services comprising planning and investment, capital project support, digital solutions, and environment and sustainability consulting, as well as optimize, repurpose, and decommissioning</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Serves the chemicals and fuels industry comprising plastic recycling solutions, low carbon fuels, and refining, as well as carbon capture, utilization, and storage; conventional energy industry, including midstream energy infrastructure, decommissioning, integrated gas, and water; low carbon energy industry, such as hydrogen, energy storage, nuclear power, power networks, renewable energy, and biogas and renewable natural gas; and resources industry consisting of battery materials, copper and energy transition materials, aluminum, precious metals, bauxite and alumina, iron ore, and mined fertilizers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j-lt"/>
                        </a:rPr>
                        <a:t>Palantir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Builds and deploys software platforms for the intelligence community to assist in counterterrorism investigations and operations in the United States, the United Kingdom, and internationally</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Gotham integrates with other platforms for defense offerings which enables users to see, understand, and act in the modern battlespace; operations centers to the tactical edge; integrating data from domains and sensors in near real-time; and situational awareness and accelerating operational decision-making, as well as facilitates the hand-off between analysts and operational users, helping operators plan and execute real-world responses to threats that have been identified within the platform</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Palantir Foundry, a platform that transforms the ways organizations operate by creating a central operating system for their data; and allows individual users to integrate and analyze the data they need in one place</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Apollo, a software that delivers software and updates across the business, as well as enables customers to deploy their software virtually in any environment</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Artificial Intelligence Platform unified access to open-source, self-hosted, and commercial large language models (LLMs) that can transform structured and unstructured data into LLM-understandable objects and can turn organizations’ actions and processes into tools for humans and LLM-driven agents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A7449B03-7E2F-45BB-8791-8B9E1B8DE09F}"/>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 </a:t>
            </a:r>
            <a:r>
              <a:rPr lang="en-US" sz="1400" b="1" i="1"/>
              <a:t>(continued)</a:t>
            </a:r>
            <a:endParaRPr lang="en-US" altLang="en-US" sz="1400" b="1"/>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764553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5</TotalTime>
  <Words>11323</Words>
  <Application>Microsoft Macintosh PowerPoint</Application>
  <PresentationFormat>On-screen Show (4:3)</PresentationFormat>
  <Paragraphs>2973</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Courier New</vt:lpstr>
      <vt:lpstr>Times New Roman</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lpstr>Appendix</vt:lpstr>
      <vt:lpstr>Plutos’ Compensation Peer group is used for a variety of analytical applications</vt:lpstr>
      <vt:lpstr>For FY25, Plutos rotated its peer group as a result of its CMS spin-off and go-forward strategy</vt:lpstr>
      <vt:lpstr>Plutos’ current peer group has an average segment mix that emphasizes critical infrastructure and consulting businesses</vt:lpstr>
      <vt:lpstr>KBR, WSP, and Leidos engaged in multibillion-dollar deals over the past year, enhancing their suitability as a peer for Plutos</vt:lpstr>
      <vt:lpstr>ACME assessed 15 UK-based companies for possible inclusion in Plutos’ peer group, but none sufficiently met the screening criteria</vt:lpstr>
      <vt:lpstr>All peers-of-peers were analyzed, but none qualified for inclusion in Plutos’ peer group</vt:lpstr>
      <vt:lpstr>Among 154 companies identified in Plutos’ and PA Consulting’s noncompete agreements, ~70% are private, and the relevant public companies are already in Plutos’ peer group</vt:lpstr>
      <vt:lpstr>ACME reviewed consulting competitors cited by Plutos and PA Consulting on non-compete and other competitive lists, but none sufficiently satisfied the screening criteria</vt:lpstr>
      <vt:lpstr>ACME reviewed consulting competitors cited by Plutos and PA Consulting on non-compete and other competitive lists, but none sufficiently satisfied the screening criteria (continued)</vt:lpstr>
      <vt:lpstr>ACME reviewed other companies identified in prior years for monitoring, as well as took a more in-depth look at certain competitors, but none sufficiently satisfied the screening criteria</vt:lpstr>
      <vt:lpstr>Capgemini would slightly impact the CEO’s competitive size-adjusted median TDC if it were included in the peer group</vt:lpstr>
      <vt:lpstr>Capgemini's incentive plans are similar to those of Plutos’ current peers</vt:lpstr>
      <vt:lpstr>Many companies in ISS’ peer group for Plutos operate in the construction, engineering, aerospace, and defense sectors, which are more aligned with Plutos’ legacy business</vt:lpstr>
      <vt:lpstr>This year, Glass Lewis (GL) replaced four construction, engineering, and aerospace peers with four business services companies; however, none are relevant for inclusion in Plutos’ compensation peer group</vt:lpstr>
      <vt:lpstr>Business descriptions for the recommended compensation peers are shown below:</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additional companies evaluated in detail are shown below:</vt:lpstr>
      <vt:lpstr>Business descriptions for the additional companies evaluated in detail are shown below: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Pete Enestrom</cp:lastModifiedBy>
  <cp:revision>8</cp:revision>
  <cp:lastPrinted>2026-03-10T21:58:33Z</cp:lastPrinted>
  <dcterms:created xsi:type="dcterms:W3CDTF">2026-02-10T21:27:18Z</dcterms:created>
  <dcterms:modified xsi:type="dcterms:W3CDTF">2026-05-13T13:04:07Z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