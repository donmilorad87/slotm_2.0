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8"/>
  </p:notesMasterIdLst>
  <p:handoutMasterIdLst>
    <p:handoutMasterId r:id="rId39"/>
  </p:handoutMasterIdLst>
  <p:sldIdLst>
    <p:sldId id="2161" r:id="rId5"/>
    <p:sldId id="2257" r:id="rId6"/>
    <p:sldId id="2261" r:id="rId7"/>
    <p:sldId id="703" r:id="rId8"/>
    <p:sldId id="708" r:id="rId9"/>
    <p:sldId id="2244" r:id="rId10"/>
    <p:sldId id="2165" r:id="rId11"/>
    <p:sldId id="2253" r:id="rId12"/>
    <p:sldId id="2256" r:id="rId13"/>
    <p:sldId id="2260" r:id="rId14"/>
    <p:sldId id="2246" r:id="rId15"/>
    <p:sldId id="2247" r:id="rId16"/>
    <p:sldId id="423" r:id="rId17"/>
    <p:sldId id="700" r:id="rId18"/>
    <p:sldId id="2254" r:id="rId19"/>
    <p:sldId id="2231" r:id="rId20"/>
    <p:sldId id="2255" r:id="rId21"/>
    <p:sldId id="2225" r:id="rId22"/>
    <p:sldId id="2164" r:id="rId23"/>
    <p:sldId id="2162" r:id="rId24"/>
    <p:sldId id="2163" r:id="rId25"/>
    <p:sldId id="2250" r:id="rId26"/>
    <p:sldId id="2262" r:id="rId27"/>
    <p:sldId id="2263" r:id="rId28"/>
    <p:sldId id="2234" r:id="rId29"/>
    <p:sldId id="2249" r:id="rId30"/>
    <p:sldId id="2226" r:id="rId31"/>
    <p:sldId id="2227" r:id="rId32"/>
    <p:sldId id="2228" r:id="rId33"/>
    <p:sldId id="2229" r:id="rId34"/>
    <p:sldId id="2230" r:id="rId35"/>
    <p:sldId id="2252" r:id="rId36"/>
    <p:sldId id="2259" r:id="rId37"/>
  </p:sldIdLst>
  <p:sldSz cx="9144000" cy="6858000" type="screen4x3"/>
  <p:notesSz cx="7010400" cy="9296400"/>
  <p:custDataLst>
    <p:tags r:id="rId40"/>
  </p:custDataLst>
  <p:defaultTex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D9EB45-38BB-5F45-92FB-B168711FE12F}" name="Lori Chollar" initials="LC" userId="S::Lori@tlccreative.com::29964550-6625-46c4-842b-098cbfe38ea2" providerId="AD"/>
  <p188:author id="{88C5875C-29D1-55D2-42EF-FE3B8CF11219}" name="Judy Warner" initials="JW" userId="4e9326dc1b9a1f62" providerId="Windows Live"/>
  <p188:author id="{0238B06B-A12A-B1C9-05F5-03F55F4447E4}" name="Judy Harrison Warner" initials="JW" userId="S::judy.warner@farient.com::bc590e20-c085-4655-8646-52d62502154b" providerId="AD"/>
  <p188:author id="{29E79C98-312D-C732-9C6C-1240B772E1CB}" name="Judy Harrison Warner" initials="JW" userId="S::Judy.Warner@farient.com::bc590e20-c085-4655-8646-52d62502154b" providerId="AD"/>
  <p188:author id="{6DED59D5-B209-16F4-92C8-C71C7E56286C}" name="Randi Caplan" initials="RC" userId="S::randi.caplan@farient.com::072d639b-d0cb-4548-ba6d-a4c3cbb3a5d8" providerId="AD"/>
  <p188:author id="{D1290BDF-8717-9B97-0DC2-65AF0458F208}" name="Eric Hoffmann" initials="EH" userId="S::eric.hoffmann@farient.com::4c14eaa7-5f48-4753-9543-6e6213656b9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D7D7"/>
    <a:srgbClr val="000000"/>
    <a:srgbClr val="FFF5E1"/>
    <a:srgbClr val="EAD5FF"/>
    <a:srgbClr val="104175"/>
    <a:srgbClr val="086DB6"/>
    <a:srgbClr val="00FF00"/>
    <a:srgbClr val="BFBFBF"/>
    <a:srgbClr val="79C8FF"/>
    <a:srgbClr val="1EB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1E42AA-E1A4-428E-9ACA-11E4F160CD9F}" v="4" dt="2026-04-01T21:18:02.984"/>
  </p1510:revLst>
</p1510:revInfo>
</file>

<file path=ppt/tableStyles.xml><?xml version="1.0" encoding="utf-8"?>
<a:tblStyleLst xmlns:a="http://schemas.openxmlformats.org/drawingml/2006/main" def="{A77E1047-C769-4665-AFDC-4AF39A3502B1}">
  <a:tblStyle styleId="{A77E1047-C769-4665-AFDC-4AF39A3502B1}" styleName="Farient Table">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0" cmpd="sng">
              <a:noFill/>
            </a:ln>
          </a:insideH>
          <a:insideV>
            <a:ln w="0" cmpd="sng">
              <a:noFill/>
            </a:ln>
          </a:insideV>
        </a:tcBdr>
        <a:fill>
          <a:noFill/>
        </a:fill>
      </a:tcStyle>
    </a:wholeTbl>
    <a:band1H>
      <a:tcStyle>
        <a:tcBdr/>
      </a:tcStyle>
    </a:band1H>
    <a:band2H>
      <a:tcStyle>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3C100BD7-E00A-4093-9257-03AC40AE46F4}" styleName="Farient Alternate Table">
    <a:wholeTbl>
      <a:tcTxStyle>
        <a:fontRef idx="minor">
          <a:prstClr val="black"/>
        </a:fontRef>
        <a:schemeClr val="dk1"/>
      </a:tcTxStyle>
      <a:tcStyle>
        <a:tcBdr>
          <a:left>
            <a:ln w="0" cmpd="sng">
              <a:noFill/>
            </a:ln>
          </a:left>
          <a:right>
            <a:ln w="0" cmpd="sng">
              <a:noFill/>
            </a:ln>
          </a:right>
          <a:top>
            <a:ln w="6350" cmpd="sng">
              <a:solidFill>
                <a:schemeClr val="dk1"/>
              </a:solidFill>
            </a:ln>
          </a:top>
          <a:bottom>
            <a:ln w="6350" cmpd="sng">
              <a:solidFill>
                <a:schemeClr val="dk1"/>
              </a:solidFill>
            </a:ln>
          </a:bottom>
          <a:insideH>
            <a:ln w="6350" cmpd="sng">
              <a:solidFill>
                <a:schemeClr val="dk1"/>
              </a:solidFill>
            </a:ln>
          </a:insideH>
          <a:insideV>
            <a:ln w="0" cmpd="sng">
              <a:noFill/>
            </a:ln>
          </a:insideV>
        </a:tcBdr>
        <a:fill>
          <a:noFill/>
        </a:fill>
      </a:tcStyle>
    </a:wholeTbl>
    <a:band1H>
      <a:tcStyle>
        <a:tcBdr>
          <a:top>
            <a:ln w="6350" cmpd="sng">
              <a:solidFill>
                <a:schemeClr val="dk1"/>
              </a:solidFill>
            </a:ln>
          </a:top>
          <a:bottom>
            <a:ln w="6350" cmpd="sng">
              <a:solidFill>
                <a:schemeClr val="dk1"/>
              </a:solidFill>
            </a:ln>
          </a:bottom>
        </a:tcBdr>
      </a:tcStyle>
    </a:band1H>
    <a:band2H>
      <a:tcStyle>
        <a:tcBdr>
          <a:top>
            <a:ln w="6350" cmpd="sng">
              <a:solidFill>
                <a:schemeClr val="dk1"/>
              </a:solidFill>
            </a:ln>
          </a:top>
          <a:bottom>
            <a:ln w="6350" cmpd="sng">
              <a:solidFill>
                <a:schemeClr val="dk1"/>
              </a:solidFill>
            </a:ln>
          </a:bottom>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19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tags" Target="tags/tag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1"/>
          <p:cNvSpPr>
            <a:spLocks noGrp="1"/>
          </p:cNvSpPr>
          <p:nvPr>
            <p:ph type="hdr" sz="quarter"/>
          </p:nvPr>
        </p:nvSpPr>
        <p:spPr>
          <a:xfrm>
            <a:off x="373888" y="197549"/>
            <a:ext cx="6332728" cy="464820"/>
          </a:xfrm>
          <a:prstGeom prst="rect">
            <a:avLst/>
          </a:prstGeom>
        </p:spPr>
        <p:txBody>
          <a:bodyPr vert="horz" lIns="93177" tIns="46589" rIns="93177" bIns="46589" rtlCol="0" anchor="b"/>
          <a:lstStyle>
            <a:lvl1pPr algn="l">
              <a:defRPr sz="1200"/>
            </a:lvl1pPr>
          </a:lstStyle>
          <a:p>
            <a:endParaRPr lang="en-US"/>
          </a:p>
        </p:txBody>
      </p:sp>
      <p:sp>
        <p:nvSpPr>
          <p:cNvPr id="7"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5/13/26</a:t>
            </a:fld>
            <a:endParaRPr lang="en-US"/>
          </a:p>
        </p:txBody>
      </p:sp>
      <p:sp>
        <p:nvSpPr>
          <p:cNvPr id="8" name="Footer Placeholder 5"/>
          <p:cNvSpPr>
            <a:spLocks noGrp="1"/>
          </p:cNvSpPr>
          <p:nvPr>
            <p:ph type="ftr" sz="quarter" idx="2"/>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9" name="Slide Number Placeholder 6"/>
          <p:cNvSpPr>
            <a:spLocks noGrp="1"/>
          </p:cNvSpPr>
          <p:nvPr>
            <p:ph type="sldNum" sz="quarter" idx="3"/>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10" name="Straight Connector 9"/>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87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3888" y="197549"/>
            <a:ext cx="6027971" cy="464820"/>
          </a:xfrm>
          <a:prstGeom prst="rect">
            <a:avLst/>
          </a:prstGeom>
        </p:spPr>
        <p:txBody>
          <a:bodyPr vert="horz" lIns="93177" tIns="46589" rIns="93177" bIns="46589" rtlCol="0" anchor="b"/>
          <a:lstStyle>
            <a:lvl1pPr algn="l">
              <a:defRPr sz="1200"/>
            </a:lvl1pPr>
          </a:lstStyle>
          <a:p>
            <a:endParaRPr lang="en-US"/>
          </a:p>
        </p:txBody>
      </p:sp>
      <p:sp>
        <p:nvSpPr>
          <p:cNvPr id="3"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5/13/26</a:t>
            </a:fld>
            <a:endParaRPr lang="en-US"/>
          </a:p>
        </p:txBody>
      </p:sp>
      <p:sp>
        <p:nvSpPr>
          <p:cNvPr id="4" name="Slide Image Placeholder 3"/>
          <p:cNvSpPr>
            <a:spLocks noGrp="1" noRot="1" noChangeAspect="1"/>
          </p:cNvSpPr>
          <p:nvPr>
            <p:ph type="sldImg" idx="2"/>
          </p:nvPr>
        </p:nvSpPr>
        <p:spPr>
          <a:xfrm>
            <a:off x="879475" y="696913"/>
            <a:ext cx="2968625" cy="2227262"/>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373888" y="2998089"/>
            <a:ext cx="6426200" cy="560108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9" name="Straight Connector 8"/>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374120"/>
      </p:ext>
    </p:extLst>
  </p:cSld>
  <p:clrMap bg1="lt1" tx1="dk1" bg2="lt2" tx2="dk2" accent1="accent1" accent2="accent2" accent3="accent3" accent4="accent4" accent5="accent5" accent6="accent6" hlink="hlink" folHlink="folHlink"/>
  <p:notesStyle>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584" kern="1200">
        <a:solidFill>
          <a:schemeClr val="tx1"/>
        </a:solidFill>
        <a:latin typeface="+mn-lt"/>
        <a:ea typeface="+mn-ea"/>
        <a:cs typeface="+mn-cs"/>
      </a:defRPr>
    </a:lvl6pPr>
    <a:lvl7pPr marL="3657509" algn="l" defTabSz="1219170" rtl="0" eaLnBrk="1" latinLnBrk="0" hangingPunct="1">
      <a:defRPr sz="1584" kern="1200">
        <a:solidFill>
          <a:schemeClr val="tx1"/>
        </a:solidFill>
        <a:latin typeface="+mn-lt"/>
        <a:ea typeface="+mn-ea"/>
        <a:cs typeface="+mn-cs"/>
      </a:defRPr>
    </a:lvl7pPr>
    <a:lvl8pPr marL="4267093" algn="l" defTabSz="1219170" rtl="0" eaLnBrk="1" latinLnBrk="0" hangingPunct="1">
      <a:defRPr sz="1584" kern="1200">
        <a:solidFill>
          <a:schemeClr val="tx1"/>
        </a:solidFill>
        <a:latin typeface="+mn-lt"/>
        <a:ea typeface="+mn-ea"/>
        <a:cs typeface="+mn-cs"/>
      </a:defRPr>
    </a:lvl8pPr>
    <a:lvl9pPr marL="4876678" algn="l" defTabSz="1219170" rtl="0" eaLnBrk="1" latinLnBrk="0" hangingPunct="1">
      <a:defRPr sz="158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1</a:t>
            </a:fld>
            <a:endParaRPr lang="en-US"/>
          </a:p>
        </p:txBody>
      </p:sp>
    </p:spTree>
    <p:extLst>
      <p:ext uri="{BB962C8B-B14F-4D97-AF65-F5344CB8AC3E}">
        <p14:creationId xmlns:p14="http://schemas.microsoft.com/office/powerpoint/2010/main" val="1177649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3</a:t>
            </a:fld>
            <a:endParaRPr lang="en-US"/>
          </a:p>
        </p:txBody>
      </p:sp>
    </p:spTree>
    <p:extLst>
      <p:ext uri="{BB962C8B-B14F-4D97-AF65-F5344CB8AC3E}">
        <p14:creationId xmlns:p14="http://schemas.microsoft.com/office/powerpoint/2010/main" val="2728559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5</a:t>
            </a:fld>
            <a:endParaRPr lang="en-US"/>
          </a:p>
        </p:txBody>
      </p:sp>
    </p:spTree>
    <p:extLst>
      <p:ext uri="{BB962C8B-B14F-4D97-AF65-F5344CB8AC3E}">
        <p14:creationId xmlns:p14="http://schemas.microsoft.com/office/powerpoint/2010/main" val="2354456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14</a:t>
            </a:fld>
            <a:endParaRPr lang="en-US"/>
          </a:p>
        </p:txBody>
      </p:sp>
    </p:spTree>
    <p:extLst>
      <p:ext uri="{BB962C8B-B14F-4D97-AF65-F5344CB8AC3E}">
        <p14:creationId xmlns:p14="http://schemas.microsoft.com/office/powerpoint/2010/main" val="2005939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18</a:t>
            </a:fld>
            <a:endParaRPr lang="en-US"/>
          </a:p>
        </p:txBody>
      </p:sp>
    </p:spTree>
    <p:extLst>
      <p:ext uri="{BB962C8B-B14F-4D97-AF65-F5344CB8AC3E}">
        <p14:creationId xmlns:p14="http://schemas.microsoft.com/office/powerpoint/2010/main" val="403632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22</a:t>
            </a:fld>
            <a:endParaRPr lang="en-US"/>
          </a:p>
        </p:txBody>
      </p:sp>
    </p:spTree>
    <p:extLst>
      <p:ext uri="{BB962C8B-B14F-4D97-AF65-F5344CB8AC3E}">
        <p14:creationId xmlns:p14="http://schemas.microsoft.com/office/powerpoint/2010/main" val="1133526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Glob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3" name="Text Placeholder 12">
            <a:extLst>
              <a:ext uri="{FF2B5EF4-FFF2-40B4-BE49-F238E27FC236}">
                <a16:creationId xmlns:a16="http://schemas.microsoft.com/office/drawing/2014/main" id="{3E93126F-8774-2D75-3C52-49990A9D21EF}"/>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5" name="Slide Number Placeholder 5">
            <a:extLst>
              <a:ext uri="{FF2B5EF4-FFF2-40B4-BE49-F238E27FC236}">
                <a16:creationId xmlns:a16="http://schemas.microsoft.com/office/drawing/2014/main" id="{2FD32F9B-BD79-2F96-105D-E7605C8E14E1}"/>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96518277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 Glob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5710" y="2447687"/>
            <a:ext cx="6078352"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A9786058-EA9A-B9A9-E702-365C9622F144}"/>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296292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heckerboar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pic>
        <p:nvPicPr>
          <p:cNvPr id="15" name="Picture 14">
            <a:extLst>
              <a:ext uri="{FF2B5EF4-FFF2-40B4-BE49-F238E27FC236}">
                <a16:creationId xmlns:a16="http://schemas.microsoft.com/office/drawing/2014/main" id="{A7438A80-96E5-F323-5301-7AF3BA013FC1}"/>
              </a:ext>
            </a:extLst>
          </p:cNvPr>
          <p:cNvPicPr>
            <a:picLocks noChangeAspect="1"/>
          </p:cNvPicPr>
          <p:nvPr userDrawn="1"/>
        </p:nvPicPr>
        <p:blipFill rotWithShape="1">
          <a:blip r:embed="rId2"/>
          <a:srcRect l="24702" t="64464" r="16945" b="3430"/>
          <a:stretch/>
        </p:blipFill>
        <p:spPr>
          <a:xfrm>
            <a:off x="209001" y="6259123"/>
            <a:ext cx="1165700" cy="312831"/>
          </a:xfrm>
          <a:prstGeom prst="rect">
            <a:avLst/>
          </a:prstGeom>
        </p:spPr>
      </p:pic>
      <p:sp>
        <p:nvSpPr>
          <p:cNvPr id="20" name="Text Placeholder 19">
            <a:extLst>
              <a:ext uri="{FF2B5EF4-FFF2-40B4-BE49-F238E27FC236}">
                <a16:creationId xmlns:a16="http://schemas.microsoft.com/office/drawing/2014/main" id="{D35484AE-FE97-CE91-D932-4B445424F40E}"/>
              </a:ext>
            </a:extLst>
          </p:cNvPr>
          <p:cNvSpPr>
            <a:spLocks noGrp="1"/>
          </p:cNvSpPr>
          <p:nvPr>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838B92EF-7CF3-CA2F-D92F-2CBE43D7F3A6}"/>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81956789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 Checkerboar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B3E6E51F-8894-694C-F5F7-DFFC471D1F0D}"/>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30599325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27" name="TextBox 26">
            <a:extLst>
              <a:ext uri="{FF2B5EF4-FFF2-40B4-BE49-F238E27FC236}">
                <a16:creationId xmlns:a16="http://schemas.microsoft.com/office/drawing/2014/main" id="{32DCE86B-4583-572D-71AB-6D52A4E1ED21}"/>
              </a:ext>
            </a:extLst>
          </p:cNvPr>
          <p:cNvSpPr txBox="1"/>
          <p:nvPr userDrawn="1"/>
        </p:nvSpPr>
        <p:spPr>
          <a:xfrm>
            <a:off x="7233832" y="1282079"/>
            <a:ext cx="92397" cy="277064"/>
          </a:xfrm>
          <a:prstGeom prst="rect">
            <a:avLst/>
          </a:prstGeom>
          <a:noFill/>
        </p:spPr>
        <p:txBody>
          <a:bodyPr vert="horz" wrap="none" lIns="45720" tIns="45720" rIns="45720" bIns="45720" rtlCol="0" anchor="ctr">
            <a:spAutoFit/>
          </a:bodyPr>
          <a:lstStyle/>
          <a:p>
            <a:pPr algn="ctr">
              <a:lnSpc>
                <a:spcPct val="85000"/>
              </a:lnSpc>
            </a:pPr>
            <a:endParaRPr lang="en-US" sz="1400"/>
          </a:p>
        </p:txBody>
      </p:sp>
      <p:sp>
        <p:nvSpPr>
          <p:cNvPr id="28" name="TextBox 27">
            <a:extLst>
              <a:ext uri="{FF2B5EF4-FFF2-40B4-BE49-F238E27FC236}">
                <a16:creationId xmlns:a16="http://schemas.microsoft.com/office/drawing/2014/main" id="{A0350E19-42EB-A7D9-BEDE-96C6B5860848}"/>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21589449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3" name="Title 8">
            <a:extLst>
              <a:ext uri="{FF2B5EF4-FFF2-40B4-BE49-F238E27FC236}">
                <a16:creationId xmlns:a16="http://schemas.microsoft.com/office/drawing/2014/main" id="{03F154A0-20E6-598E-8341-B487B523091D}"/>
              </a:ext>
            </a:extLst>
          </p:cNvPr>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Tree>
    <p:extLst>
      <p:ext uri="{BB962C8B-B14F-4D97-AF65-F5344CB8AC3E}">
        <p14:creationId xmlns:p14="http://schemas.microsoft.com/office/powerpoint/2010/main" val="117992410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ollaborativ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A069B3E0-0751-EBFD-BEFB-02F203F859FE}"/>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07B429B7-27E3-672D-B925-53798E1318C6}"/>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9461542D-3E90-4DB5-DDF9-AF1E1CF19C20}"/>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245696594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 Collabora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33C2DA99-FE24-36E3-848C-D068DE651400}"/>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1967335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ESG">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8922CECE-5C2D-4FD0-8E08-AF44FAE4A75D}"/>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3" name="Slide Number Placeholder 5">
            <a:extLst>
              <a:ext uri="{FF2B5EF4-FFF2-40B4-BE49-F238E27FC236}">
                <a16:creationId xmlns:a16="http://schemas.microsoft.com/office/drawing/2014/main" id="{5CC6A216-0F6E-B7E9-A151-58A850E0E3A1}"/>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6" name="TextBox 5">
            <a:extLst>
              <a:ext uri="{FF2B5EF4-FFF2-40B4-BE49-F238E27FC236}">
                <a16:creationId xmlns:a16="http://schemas.microsoft.com/office/drawing/2014/main" id="{07D6C495-040F-EC7D-EF3D-99B834BB211C}"/>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82591878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 ES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E5F8DF56-102E-6070-7C4B-79754E376142}"/>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1614577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13991788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6" name="Title 5">
            <a:extLst>
              <a:ext uri="{FF2B5EF4-FFF2-40B4-BE49-F238E27FC236}">
                <a16:creationId xmlns:a16="http://schemas.microsoft.com/office/drawing/2014/main" id="{2DC6D5C7-11AE-452A-BA6E-ECEAB5E40A25}"/>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51613971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hidden="1">
            <a:extLst>
              <a:ext uri="{FF2B5EF4-FFF2-40B4-BE49-F238E27FC236}">
                <a16:creationId xmlns:a16="http://schemas.microsoft.com/office/drawing/2014/main" id="{9FAD8D1B-BC49-BFFB-3DC3-8C8ED1CCD9E6}"/>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988648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BB49ED1-3954-490B-90D7-1EE4EBF81051}"/>
              </a:ext>
            </a:extLst>
          </p:cNvPr>
          <p:cNvSpPr>
            <a:spLocks noGrp="1"/>
          </p:cNvSpPr>
          <p:nvPr>
            <p:ph sz="half" idx="2"/>
          </p:nvPr>
        </p:nvSpPr>
        <p:spPr>
          <a:xfrm>
            <a:off x="5021193" y="1415719"/>
            <a:ext cx="3931920"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E3250D8E-DC6A-4C52-B603-5E5116C834FE}"/>
              </a:ext>
            </a:extLst>
          </p:cNvPr>
          <p:cNvSpPr>
            <a:spLocks noGrp="1"/>
          </p:cNvSpPr>
          <p:nvPr>
            <p:ph sz="half" idx="1"/>
          </p:nvPr>
        </p:nvSpPr>
        <p:spPr>
          <a:xfrm>
            <a:off x="882797" y="1415719"/>
            <a:ext cx="4024909"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FB10581-5B45-4F8A-98F9-2B208FA85EC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9795F2B0-5238-46E4-A5F2-B8F46A87A47B}"/>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CE22C8D5-D138-53D1-35DF-5B6FDA17994D}"/>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420580158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D669B69-5C27-4AFA-B2D6-1E37C8D37F87}"/>
              </a:ext>
            </a:extLst>
          </p:cNvPr>
          <p:cNvSpPr>
            <a:spLocks noGrp="1"/>
          </p:cNvSpPr>
          <p:nvPr>
            <p:ph type="body" sz="quarter" idx="3"/>
          </p:nvPr>
        </p:nvSpPr>
        <p:spPr>
          <a:xfrm>
            <a:off x="5021193" y="1414467"/>
            <a:ext cx="3931920"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8A036-3B1C-40B5-A457-014CD4DE7503}"/>
              </a:ext>
            </a:extLst>
          </p:cNvPr>
          <p:cNvSpPr>
            <a:spLocks noGrp="1"/>
          </p:cNvSpPr>
          <p:nvPr>
            <p:ph sz="quarter" idx="4"/>
          </p:nvPr>
        </p:nvSpPr>
        <p:spPr>
          <a:xfrm>
            <a:off x="5021193" y="1836462"/>
            <a:ext cx="393192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2E2C8F-5C8D-4C47-A21B-0FFC90D26E67}"/>
              </a:ext>
            </a:extLst>
          </p:cNvPr>
          <p:cNvSpPr>
            <a:spLocks noGrp="1"/>
          </p:cNvSpPr>
          <p:nvPr>
            <p:ph sz="half" idx="2"/>
          </p:nvPr>
        </p:nvSpPr>
        <p:spPr>
          <a:xfrm>
            <a:off x="882797" y="1836462"/>
            <a:ext cx="402490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4F4A83D0-2D64-4FBB-934F-BCA45BB15756}"/>
              </a:ext>
            </a:extLst>
          </p:cNvPr>
          <p:cNvSpPr>
            <a:spLocks noGrp="1"/>
          </p:cNvSpPr>
          <p:nvPr>
            <p:ph type="body" idx="1"/>
          </p:nvPr>
        </p:nvSpPr>
        <p:spPr>
          <a:xfrm>
            <a:off x="882797" y="1414467"/>
            <a:ext cx="4024909"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Footer Placeholder 7">
            <a:extLst>
              <a:ext uri="{FF2B5EF4-FFF2-40B4-BE49-F238E27FC236}">
                <a16:creationId xmlns:a16="http://schemas.microsoft.com/office/drawing/2014/main" id="{F8D5D8A7-D0FC-4F40-9F38-8AF93D15483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0" name="Slide Number Placeholder 9" hidden="1">
            <a:extLst>
              <a:ext uri="{FF2B5EF4-FFF2-40B4-BE49-F238E27FC236}">
                <a16:creationId xmlns:a16="http://schemas.microsoft.com/office/drawing/2014/main" id="{C5186D39-1D55-38DD-2DEB-37B281A4493E}"/>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9" name="Title 8">
            <a:extLst>
              <a:ext uri="{FF2B5EF4-FFF2-40B4-BE49-F238E27FC236}">
                <a16:creationId xmlns:a16="http://schemas.microsoft.com/office/drawing/2014/main" id="{81F7BFFA-FC9A-CDA9-A734-A1BD5CA67BEB}"/>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152427996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9165" y="1415719"/>
            <a:ext cx="4754335" cy="5161294"/>
          </a:xfrm>
        </p:spPr>
        <p:txBody>
          <a:bodyPr bIns="0"/>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82797" y="1415719"/>
            <a:ext cx="3204402" cy="5161294"/>
          </a:xfrm>
        </p:spPr>
        <p:txBody>
          <a:bodyPr bIns="0"/>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sub-title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3EFA33E3-F43F-AD44-3D6A-938BB014F39A}"/>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11E142BD-49CE-A2FA-9D69-6693D7FF302B}"/>
              </a:ext>
            </a:extLst>
          </p:cNvPr>
          <p:cNvSpPr>
            <a:spLocks noGrp="1"/>
          </p:cNvSpPr>
          <p:nvPr>
            <p:ph type="title" hasCustomPrompt="1"/>
          </p:nvPr>
        </p:nvSpPr>
        <p:spPr>
          <a:xfrm>
            <a:off x="886826" y="44215"/>
            <a:ext cx="8066288"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26464922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882798" y="1415714"/>
            <a:ext cx="5303790" cy="5161299"/>
          </a:xfrm>
        </p:spPr>
        <p:txBody>
          <a:bodyPr/>
          <a:lstStyle>
            <a:lvl1pPr marL="0" indent="0">
              <a:buNone/>
              <a:defRPr sz="1600"/>
            </a:lvl1pPr>
            <a:lvl2pPr marL="457189" indent="0">
              <a:buNone/>
              <a:defRPr sz="2813"/>
            </a:lvl2pPr>
            <a:lvl3pPr marL="914378" indent="0">
              <a:buNone/>
              <a:defRPr sz="2375"/>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hasCustomPrompt="1"/>
          </p:nvPr>
        </p:nvSpPr>
        <p:spPr>
          <a:xfrm>
            <a:off x="6298554" y="1415714"/>
            <a:ext cx="2654559" cy="5161299"/>
          </a:xfrm>
        </p:spPr>
        <p:txBody>
          <a:bodyPr/>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description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Title 7">
            <a:extLst>
              <a:ext uri="{FF2B5EF4-FFF2-40B4-BE49-F238E27FC236}">
                <a16:creationId xmlns:a16="http://schemas.microsoft.com/office/drawing/2014/main" id="{C50A6FF8-2333-4805-880E-212F214984CC}"/>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F2469CEE-D934-7425-CED4-E46A3108BCF2}"/>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365854809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FI Title and QA only">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6" y="326571"/>
            <a:ext cx="8065008"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6909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909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83713840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FI">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9291" y="2136710"/>
            <a:ext cx="8759952"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66390305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FI Two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7963" y="2136710"/>
            <a:ext cx="4259606"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1"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1" y="1590959"/>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0" name="Content Placeholder 9">
            <a:extLst>
              <a:ext uri="{FF2B5EF4-FFF2-40B4-BE49-F238E27FC236}">
                <a16:creationId xmlns:a16="http://schemas.microsoft.com/office/drawing/2014/main" id="{2D129B2E-8AE2-A033-2FF2-C9237129BD2C}"/>
              </a:ext>
            </a:extLst>
          </p:cNvPr>
          <p:cNvSpPr>
            <a:spLocks noGrp="1"/>
          </p:cNvSpPr>
          <p:nvPr>
            <p:ph sz="quarter" idx="15" hasCustomPrompt="1"/>
          </p:nvPr>
        </p:nvSpPr>
        <p:spPr>
          <a:xfrm>
            <a:off x="4695859" y="2136710"/>
            <a:ext cx="4259606" cy="4441199"/>
          </a:xfrm>
        </p:spPr>
        <p:txBody>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5269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FI - Independenc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4152"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0" y="109061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3" name="Text Placeholder 8">
            <a:extLst>
              <a:ext uri="{FF2B5EF4-FFF2-40B4-BE49-F238E27FC236}">
                <a16:creationId xmlns:a16="http://schemas.microsoft.com/office/drawing/2014/main" id="{B54B9276-CE2A-F962-32F2-A988AC2CD3CB}"/>
              </a:ext>
            </a:extLst>
          </p:cNvPr>
          <p:cNvSpPr>
            <a:spLocks noGrp="1"/>
          </p:cNvSpPr>
          <p:nvPr>
            <p:ph type="body" sz="quarter" idx="15" hasCustomPrompt="1"/>
          </p:nvPr>
        </p:nvSpPr>
        <p:spPr>
          <a:xfrm>
            <a:off x="190500" y="2043114"/>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6" name="Text Placeholder 10">
            <a:extLst>
              <a:ext uri="{FF2B5EF4-FFF2-40B4-BE49-F238E27FC236}">
                <a16:creationId xmlns:a16="http://schemas.microsoft.com/office/drawing/2014/main" id="{DC6F99DB-9FD4-87D7-F6F6-8FDFCDECB511}"/>
              </a:ext>
            </a:extLst>
          </p:cNvPr>
          <p:cNvSpPr>
            <a:spLocks noGrp="1"/>
          </p:cNvSpPr>
          <p:nvPr>
            <p:ph type="body" sz="quarter" idx="16" hasCustomPrompt="1"/>
          </p:nvPr>
        </p:nvSpPr>
        <p:spPr>
          <a:xfrm>
            <a:off x="190500" y="2543461"/>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7" name="Text Placeholder 8">
            <a:extLst>
              <a:ext uri="{FF2B5EF4-FFF2-40B4-BE49-F238E27FC236}">
                <a16:creationId xmlns:a16="http://schemas.microsoft.com/office/drawing/2014/main" id="{02D45FED-4D78-ECF9-604A-BEBCFC4C3E7D}"/>
              </a:ext>
            </a:extLst>
          </p:cNvPr>
          <p:cNvSpPr>
            <a:spLocks noGrp="1"/>
          </p:cNvSpPr>
          <p:nvPr>
            <p:ph type="body" sz="quarter" idx="17" hasCustomPrompt="1"/>
          </p:nvPr>
        </p:nvSpPr>
        <p:spPr>
          <a:xfrm>
            <a:off x="190500" y="298389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0" name="Text Placeholder 10">
            <a:extLst>
              <a:ext uri="{FF2B5EF4-FFF2-40B4-BE49-F238E27FC236}">
                <a16:creationId xmlns:a16="http://schemas.microsoft.com/office/drawing/2014/main" id="{3F9D3A27-D0AC-D3BA-50C9-049C9EB158C7}"/>
              </a:ext>
            </a:extLst>
          </p:cNvPr>
          <p:cNvSpPr>
            <a:spLocks noGrp="1"/>
          </p:cNvSpPr>
          <p:nvPr>
            <p:ph type="body" sz="quarter" idx="18" hasCustomPrompt="1"/>
          </p:nvPr>
        </p:nvSpPr>
        <p:spPr>
          <a:xfrm>
            <a:off x="190500" y="348424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2" name="Text Placeholder 8">
            <a:extLst>
              <a:ext uri="{FF2B5EF4-FFF2-40B4-BE49-F238E27FC236}">
                <a16:creationId xmlns:a16="http://schemas.microsoft.com/office/drawing/2014/main" id="{3D0DA619-D69B-733C-701F-EFE456D7D08B}"/>
              </a:ext>
            </a:extLst>
          </p:cNvPr>
          <p:cNvSpPr>
            <a:spLocks noGrp="1"/>
          </p:cNvSpPr>
          <p:nvPr>
            <p:ph type="body" sz="quarter" idx="19" hasCustomPrompt="1"/>
          </p:nvPr>
        </p:nvSpPr>
        <p:spPr>
          <a:xfrm>
            <a:off x="190500" y="3933462"/>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3" name="Text Placeholder 10">
            <a:extLst>
              <a:ext uri="{FF2B5EF4-FFF2-40B4-BE49-F238E27FC236}">
                <a16:creationId xmlns:a16="http://schemas.microsoft.com/office/drawing/2014/main" id="{06C47766-9EC8-8664-90EB-606ADCF5294E}"/>
              </a:ext>
            </a:extLst>
          </p:cNvPr>
          <p:cNvSpPr>
            <a:spLocks noGrp="1"/>
          </p:cNvSpPr>
          <p:nvPr>
            <p:ph type="body" sz="quarter" idx="20" hasCustomPrompt="1"/>
          </p:nvPr>
        </p:nvSpPr>
        <p:spPr>
          <a:xfrm>
            <a:off x="190500" y="4433809"/>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4" name="Text Placeholder 8">
            <a:extLst>
              <a:ext uri="{FF2B5EF4-FFF2-40B4-BE49-F238E27FC236}">
                <a16:creationId xmlns:a16="http://schemas.microsoft.com/office/drawing/2014/main" id="{D21C73D6-A960-98C5-C50B-C641BF3A65DE}"/>
              </a:ext>
            </a:extLst>
          </p:cNvPr>
          <p:cNvSpPr>
            <a:spLocks noGrp="1"/>
          </p:cNvSpPr>
          <p:nvPr>
            <p:ph type="body" sz="quarter" idx="21" hasCustomPrompt="1"/>
          </p:nvPr>
        </p:nvSpPr>
        <p:spPr>
          <a:xfrm>
            <a:off x="190500" y="488303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5" name="Text Placeholder 10">
            <a:extLst>
              <a:ext uri="{FF2B5EF4-FFF2-40B4-BE49-F238E27FC236}">
                <a16:creationId xmlns:a16="http://schemas.microsoft.com/office/drawing/2014/main" id="{A596AC6E-0A8B-B18A-7662-47E7472DA088}"/>
              </a:ext>
            </a:extLst>
          </p:cNvPr>
          <p:cNvSpPr>
            <a:spLocks noGrp="1"/>
          </p:cNvSpPr>
          <p:nvPr>
            <p:ph type="body" sz="quarter" idx="22" hasCustomPrompt="1"/>
          </p:nvPr>
        </p:nvSpPr>
        <p:spPr>
          <a:xfrm>
            <a:off x="190500" y="538338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6" name="Text Placeholder 8">
            <a:extLst>
              <a:ext uri="{FF2B5EF4-FFF2-40B4-BE49-F238E27FC236}">
                <a16:creationId xmlns:a16="http://schemas.microsoft.com/office/drawing/2014/main" id="{8C90848F-BC71-BC49-D624-F488C5FCD735}"/>
              </a:ext>
            </a:extLst>
          </p:cNvPr>
          <p:cNvSpPr>
            <a:spLocks noGrp="1"/>
          </p:cNvSpPr>
          <p:nvPr>
            <p:ph type="body" sz="quarter" idx="23" hasCustomPrompt="1"/>
          </p:nvPr>
        </p:nvSpPr>
        <p:spPr>
          <a:xfrm>
            <a:off x="190500" y="583260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7" name="Text Placeholder 10">
            <a:extLst>
              <a:ext uri="{FF2B5EF4-FFF2-40B4-BE49-F238E27FC236}">
                <a16:creationId xmlns:a16="http://schemas.microsoft.com/office/drawing/2014/main" id="{4F4BECD0-7160-4F79-A65F-0D41818C972A}"/>
              </a:ext>
            </a:extLst>
          </p:cNvPr>
          <p:cNvSpPr>
            <a:spLocks noGrp="1"/>
          </p:cNvSpPr>
          <p:nvPr>
            <p:ph type="body" sz="quarter" idx="24" hasCustomPrompt="1"/>
          </p:nvPr>
        </p:nvSpPr>
        <p:spPr>
          <a:xfrm>
            <a:off x="190500" y="633295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92204849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5" name="Title 5">
            <a:extLst>
              <a:ext uri="{FF2B5EF4-FFF2-40B4-BE49-F238E27FC236}">
                <a16:creationId xmlns:a16="http://schemas.microsoft.com/office/drawing/2014/main" id="{0E3080FA-AEF4-5C56-DE85-F89DF9F2EB09}"/>
              </a:ext>
            </a:extLst>
          </p:cNvPr>
          <p:cNvSpPr txBox="1">
            <a:spLocks/>
          </p:cNvSpPr>
          <p:nvPr userDrawn="1"/>
        </p:nvSpPr>
        <p:spPr>
          <a:xfrm>
            <a:off x="863745" y="44215"/>
            <a:ext cx="8070317" cy="1292899"/>
          </a:xfrm>
          <a:prstGeom prst="rect">
            <a:avLst/>
          </a:prstGeom>
        </p:spPr>
        <p:txBody>
          <a:bodyPr vert="horz" lIns="0" tIns="0" rIns="0" bIns="0" rtlCol="0" anchor="ctr">
            <a:noAutofit/>
          </a:bodyPr>
          <a:lstStyle>
            <a:lvl1pPr algn="l" defTabSz="914378" rtl="0" eaLnBrk="1" latinLnBrk="0" hangingPunct="1">
              <a:lnSpc>
                <a:spcPct val="90000"/>
              </a:lnSpc>
              <a:spcBef>
                <a:spcPct val="0"/>
              </a:spcBef>
              <a:buNone/>
              <a:defRPr sz="2400" b="1" kern="1200" cap="none" baseline="0">
                <a:solidFill>
                  <a:schemeClr val="tx1"/>
                </a:solidFill>
                <a:latin typeface="+mj-lt"/>
                <a:ea typeface="+mj-ea"/>
                <a:cs typeface="+mj-cs"/>
              </a:defRPr>
            </a:lvl1pPr>
          </a:lstStyle>
          <a:p>
            <a:pPr algn="l" defTabSz="914378" rtl="0" eaLnBrk="1" latinLnBrk="0" hangingPunct="1">
              <a:lnSpc>
                <a:spcPct val="85000"/>
              </a:lnSpc>
              <a:spcBef>
                <a:spcPct val="0"/>
              </a:spcBef>
              <a:buNone/>
            </a:pPr>
            <a:r>
              <a:rPr lang="en-US" sz="2400" b="1" kern="1200" cap="none" baseline="0">
                <a:solidFill>
                  <a:schemeClr val="tx1"/>
                </a:solidFill>
                <a:latin typeface="+mj-lt"/>
                <a:ea typeface="+mj-ea"/>
                <a:cs typeface="+mj-cs"/>
              </a:rPr>
              <a:t>Contact Us</a:t>
            </a:r>
          </a:p>
        </p:txBody>
      </p:sp>
    </p:spTree>
    <p:extLst>
      <p:ext uri="{BB962C8B-B14F-4D97-AF65-F5344CB8AC3E}">
        <p14:creationId xmlns:p14="http://schemas.microsoft.com/office/powerpoint/2010/main" val="126019738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mplate Version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41EC-83B7-C845-6732-BBB485040B20}"/>
              </a:ext>
            </a:extLst>
          </p:cNvPr>
          <p:cNvSpPr>
            <a:spLocks noGrp="1"/>
          </p:cNvSpPr>
          <p:nvPr>
            <p:ph type="title" hasCustomPrompt="1"/>
          </p:nvPr>
        </p:nvSpPr>
        <p:spPr/>
        <p:txBody>
          <a:bodyPr/>
          <a:lstStyle>
            <a:lvl1pPr>
              <a:defRPr/>
            </a:lvl1pPr>
          </a:lstStyle>
          <a:p>
            <a:r>
              <a:rPr lang="en-US"/>
              <a:t>Template Version History</a:t>
            </a:r>
          </a:p>
        </p:txBody>
      </p:sp>
      <p:sp>
        <p:nvSpPr>
          <p:cNvPr id="4" name="Footer Placeholder 3">
            <a:extLst>
              <a:ext uri="{FF2B5EF4-FFF2-40B4-BE49-F238E27FC236}">
                <a16:creationId xmlns:a16="http://schemas.microsoft.com/office/drawing/2014/main" id="{1BA064D4-E80E-4EEA-269A-DDCCF99340A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a:extLst>
              <a:ext uri="{FF2B5EF4-FFF2-40B4-BE49-F238E27FC236}">
                <a16:creationId xmlns:a16="http://schemas.microsoft.com/office/drawing/2014/main" id="{75F78D44-96BF-B05F-75AB-16A4E0ECCEE7}"/>
              </a:ext>
            </a:extLst>
          </p:cNvPr>
          <p:cNvSpPr>
            <a:spLocks noGrp="1"/>
          </p:cNvSpPr>
          <p:nvPr>
            <p:ph type="sldNum" sz="quarter" idx="12"/>
          </p:nvPr>
        </p:nvSpPr>
        <p:spPr/>
        <p:txBody>
          <a:bodyPr/>
          <a:lstStyle>
            <a:lvl1pPr>
              <a:defRPr>
                <a:solidFill>
                  <a:schemeClr val="bg1">
                    <a:lumMod val="50000"/>
                  </a:schemeClr>
                </a:solidFill>
              </a:defRPr>
            </a:lvl1pPr>
          </a:lstStyle>
          <a:p>
            <a:fld id="{91690BAF-E217-4185-92FD-0CEA06F2B7C8}" type="slidenum">
              <a:rPr lang="en-US" smtClean="0"/>
              <a:pPr/>
              <a:t>‹#›</a:t>
            </a:fld>
            <a:endParaRPr lang="en-US"/>
          </a:p>
        </p:txBody>
      </p:sp>
      <p:graphicFrame>
        <p:nvGraphicFramePr>
          <p:cNvPr id="6" name="Table 5">
            <a:extLst>
              <a:ext uri="{FF2B5EF4-FFF2-40B4-BE49-F238E27FC236}">
                <a16:creationId xmlns:a16="http://schemas.microsoft.com/office/drawing/2014/main" id="{2ACADB3A-04EB-C7F6-C359-0B88C057E60B}"/>
              </a:ext>
            </a:extLst>
          </p:cNvPr>
          <p:cNvGraphicFramePr>
            <a:graphicFrameLocks noGrp="1"/>
          </p:cNvGraphicFramePr>
          <p:nvPr userDrawn="1">
            <p:extLst>
              <p:ext uri="{D42A27DB-BD31-4B8C-83A1-F6EECF244321}">
                <p14:modId xmlns:p14="http://schemas.microsoft.com/office/powerpoint/2010/main" val="4216144273"/>
              </p:ext>
            </p:extLst>
          </p:nvPr>
        </p:nvGraphicFramePr>
        <p:xfrm>
          <a:off x="886826" y="1142018"/>
          <a:ext cx="8074151" cy="5375036"/>
        </p:xfrm>
        <a:graphic>
          <a:graphicData uri="http://schemas.openxmlformats.org/drawingml/2006/table">
            <a:tbl>
              <a:tblPr firstRow="1" bandRow="1">
                <a:tableStyleId>{A77E1047-C769-4665-AFDC-4AF39A3502B1}</a:tableStyleId>
              </a:tblPr>
              <a:tblGrid>
                <a:gridCol w="744418">
                  <a:extLst>
                    <a:ext uri="{9D8B030D-6E8A-4147-A177-3AD203B41FA5}">
                      <a16:colId xmlns:a16="http://schemas.microsoft.com/office/drawing/2014/main" val="591207462"/>
                    </a:ext>
                  </a:extLst>
                </a:gridCol>
                <a:gridCol w="921991">
                  <a:extLst>
                    <a:ext uri="{9D8B030D-6E8A-4147-A177-3AD203B41FA5}">
                      <a16:colId xmlns:a16="http://schemas.microsoft.com/office/drawing/2014/main" val="53111214"/>
                    </a:ext>
                  </a:extLst>
                </a:gridCol>
                <a:gridCol w="6407742">
                  <a:extLst>
                    <a:ext uri="{9D8B030D-6E8A-4147-A177-3AD203B41FA5}">
                      <a16:colId xmlns:a16="http://schemas.microsoft.com/office/drawing/2014/main" val="1311210120"/>
                    </a:ext>
                  </a:extLst>
                </a:gridCol>
              </a:tblGrid>
              <a:tr h="0">
                <a:tc>
                  <a:txBody>
                    <a:bodyPr/>
                    <a:lstStyle/>
                    <a:p>
                      <a:pPr algn="ctr"/>
                      <a:r>
                        <a:rPr lang="en-US" sz="900" dirty="0"/>
                        <a:t>Version</a:t>
                      </a:r>
                    </a:p>
                  </a:txBody>
                  <a:tcPr anchor="b"/>
                </a:tc>
                <a:tc>
                  <a:txBody>
                    <a:bodyPr/>
                    <a:lstStyle/>
                    <a:p>
                      <a:pPr algn="ctr"/>
                      <a:r>
                        <a:rPr lang="en-US" sz="900"/>
                        <a:t>Date</a:t>
                      </a:r>
                    </a:p>
                  </a:txBody>
                  <a:tcPr anchor="b"/>
                </a:tc>
                <a:tc>
                  <a:txBody>
                    <a:bodyPr/>
                    <a:lstStyle/>
                    <a:p>
                      <a:pPr algn="ctr"/>
                      <a:r>
                        <a:rPr lang="en-US" sz="900"/>
                        <a:t>Release Notes</a:t>
                      </a:r>
                    </a:p>
                  </a:txBody>
                  <a:tcPr anchor="b"/>
                </a:tc>
                <a:extLst>
                  <a:ext uri="{0D108BD9-81ED-4DB2-BD59-A6C34878D82A}">
                    <a16:rowId xmlns:a16="http://schemas.microsoft.com/office/drawing/2014/main" val="2068489572"/>
                  </a:ext>
                </a:extLst>
              </a:tr>
              <a:tr h="254396">
                <a:tc>
                  <a:txBody>
                    <a:bodyPr/>
                    <a:lstStyle/>
                    <a:p>
                      <a:r>
                        <a:rPr lang="en-US" sz="900"/>
                        <a:t>2024.1</a:t>
                      </a:r>
                    </a:p>
                  </a:txBody>
                  <a:tcPr anchor="ctr"/>
                </a:tc>
                <a:tc>
                  <a:txBody>
                    <a:bodyPr/>
                    <a:lstStyle/>
                    <a:p>
                      <a:pPr algn="ctr"/>
                      <a:r>
                        <a:rPr lang="en-US" sz="900"/>
                        <a:t>2/23/2024</a:t>
                      </a:r>
                    </a:p>
                  </a:txBody>
                  <a:tcPr anchor="ctr"/>
                </a:tc>
                <a:tc>
                  <a:txBody>
                    <a:bodyPr/>
                    <a:lstStyle/>
                    <a:p>
                      <a:pPr marL="171450" indent="-171450" algn="l" defTabSz="914378" rtl="0" eaLnBrk="1" latinLnBrk="0" hangingPunct="1">
                        <a:buFont typeface="Wingdings" panose="05000000000000000000" pitchFamily="2" charset="2"/>
                        <a:buChar char="§"/>
                      </a:pPr>
                      <a:r>
                        <a:rPr lang="en-US" sz="900" kern="1200">
                          <a:solidFill>
                            <a:schemeClr val="dk1"/>
                          </a:solidFill>
                          <a:latin typeface="+mn-lt"/>
                          <a:ea typeface="+mn-ea"/>
                          <a:cs typeface="+mn-cs"/>
                        </a:rPr>
                        <a:t>Initial release</a:t>
                      </a:r>
                    </a:p>
                  </a:txBody>
                  <a:tcPr anchor="ctr"/>
                </a:tc>
                <a:extLst>
                  <a:ext uri="{0D108BD9-81ED-4DB2-BD59-A6C34878D82A}">
                    <a16:rowId xmlns:a16="http://schemas.microsoft.com/office/drawing/2014/main" val="352733980"/>
                  </a:ext>
                </a:extLst>
              </a:tr>
              <a:tr h="370840">
                <a:tc>
                  <a:txBody>
                    <a:bodyPr/>
                    <a:lstStyle/>
                    <a:p>
                      <a:r>
                        <a:rPr lang="en-US" sz="900"/>
                        <a:t>2024.2</a:t>
                      </a:r>
                    </a:p>
                  </a:txBody>
                  <a:tcPr anchor="ctr"/>
                </a:tc>
                <a:tc>
                  <a:txBody>
                    <a:bodyPr/>
                    <a:lstStyle/>
                    <a:p>
                      <a:pPr algn="ctr"/>
                      <a:r>
                        <a:rPr lang="en-US" sz="900"/>
                        <a:t>5/7/2024</a:t>
                      </a:r>
                    </a:p>
                  </a:txBody>
                  <a:tcPr anchor="ctr"/>
                </a:tc>
                <a:tc>
                  <a:txBody>
                    <a:bodyPr/>
                    <a:lstStyle/>
                    <a:p>
                      <a:pPr marL="171450" indent="-171450">
                        <a:buFont typeface="Wingdings" panose="05000000000000000000" pitchFamily="2" charset="2"/>
                        <a:buChar char="§"/>
                      </a:pPr>
                      <a:r>
                        <a:rPr lang="en-US" sz="900"/>
                        <a:t>Blue headline banner darkened</a:t>
                      </a:r>
                    </a:p>
                    <a:p>
                      <a:pPr marL="171450" indent="-171450">
                        <a:buFont typeface="Wingdings" panose="05000000000000000000" pitchFamily="2" charset="2"/>
                        <a:buChar char="§"/>
                      </a:pPr>
                      <a:r>
                        <a:rPr lang="en-US" sz="900"/>
                        <a:t>Fonts on RFI master reduced</a:t>
                      </a:r>
                    </a:p>
                    <a:p>
                      <a:pPr marL="171450" indent="-171450">
                        <a:buFont typeface="Wingdings" panose="05000000000000000000" pitchFamily="2" charset="2"/>
                        <a:buChar char="§"/>
                      </a:pPr>
                      <a:r>
                        <a:rPr lang="en-US" sz="900"/>
                        <a:t>Default margins on shapes changed from .1 to .05</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Bulleted list font reduced to 12pt (question to 12pt and answer to 11pt)</a:t>
                      </a:r>
                    </a:p>
                    <a:p>
                      <a:pPr marL="171450" indent="-171450">
                        <a:buFont typeface="Wingdings" panose="05000000000000000000" pitchFamily="2" charset="2"/>
                        <a:buChar char="§"/>
                      </a:pPr>
                      <a:r>
                        <a:rPr lang="en-US" sz="900"/>
                        <a:t>New “Contact Us” master</a:t>
                      </a:r>
                    </a:p>
                    <a:p>
                      <a:pPr marL="171450" indent="-171450">
                        <a:buFont typeface="Wingdings" panose="05000000000000000000" pitchFamily="2" charset="2"/>
                        <a:buChar char="§"/>
                      </a:pPr>
                      <a:r>
                        <a:rPr lang="en-US" sz="900"/>
                        <a:t>Removed “Globe” motif and added “FA” motif</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Added Version History slide</a:t>
                      </a:r>
                    </a:p>
                  </a:txBody>
                  <a:tcPr anchor="ctr"/>
                </a:tc>
                <a:extLst>
                  <a:ext uri="{0D108BD9-81ED-4DB2-BD59-A6C34878D82A}">
                    <a16:rowId xmlns:a16="http://schemas.microsoft.com/office/drawing/2014/main" val="3167163687"/>
                  </a:ext>
                </a:extLst>
              </a:tr>
              <a:tr h="370840">
                <a:tc>
                  <a:txBody>
                    <a:bodyPr/>
                    <a:lstStyle/>
                    <a:p>
                      <a:r>
                        <a:rPr lang="en-US" sz="900"/>
                        <a:t>2024.3</a:t>
                      </a:r>
                    </a:p>
                  </a:txBody>
                  <a:tcPr anchor="ctr"/>
                </a:tc>
                <a:tc>
                  <a:txBody>
                    <a:bodyPr/>
                    <a:lstStyle/>
                    <a:p>
                      <a:pPr algn="ctr"/>
                      <a:r>
                        <a:rPr lang="en-US" sz="900"/>
                        <a:t>5/10/2024</a:t>
                      </a:r>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dk1"/>
                          </a:solidFill>
                          <a:latin typeface="+mn-lt"/>
                          <a:ea typeface="+mn-ea"/>
                          <a:cs typeface="+mn-cs"/>
                        </a:rPr>
                        <a:t>Rolled back changes to 2024.1</a:t>
                      </a:r>
                    </a:p>
                    <a:p>
                      <a:pPr marL="171450" indent="-171450">
                        <a:buFont typeface="Wingdings" panose="05000000000000000000" pitchFamily="2" charset="2"/>
                        <a:buChar char="§"/>
                      </a:pPr>
                      <a:r>
                        <a:rPr lang="en-US" sz="900"/>
                        <a:t>Default margins on shapes and text boxes changed from .1 to .05 with 14pt font</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Fonts on RFI master reduced (question to 12pt and answer to 11pt)</a:t>
                      </a:r>
                    </a:p>
                    <a:p>
                      <a:pPr marL="171450" indent="-171450">
                        <a:buFont typeface="Wingdings" panose="05000000000000000000" pitchFamily="2" charset="2"/>
                        <a:buChar char="§"/>
                      </a:pPr>
                      <a:r>
                        <a:rPr lang="en-US" sz="900"/>
                        <a:t>Added London to Contact Us page</a:t>
                      </a:r>
                    </a:p>
                    <a:p>
                      <a:pPr marL="171450" indent="-171450">
                        <a:buFont typeface="Wingdings" panose="05000000000000000000" pitchFamily="2" charset="2"/>
                        <a:buChar char="§"/>
                      </a:pPr>
                      <a:r>
                        <a:rPr lang="en-US" sz="900"/>
                        <a:t>Added FA title layout and section header </a:t>
                      </a:r>
                    </a:p>
                    <a:p>
                      <a:pPr marL="171450" indent="-171450">
                        <a:buFont typeface="Wingdings" panose="05000000000000000000" pitchFamily="2" charset="2"/>
                        <a:buChar char="§"/>
                      </a:pPr>
                      <a:r>
                        <a:rPr lang="en-US" sz="900"/>
                        <a:t>Added Version History slide</a:t>
                      </a:r>
                    </a:p>
                  </a:txBody>
                  <a:tcPr anchor="ctr"/>
                </a:tc>
                <a:extLst>
                  <a:ext uri="{0D108BD9-81ED-4DB2-BD59-A6C34878D82A}">
                    <a16:rowId xmlns:a16="http://schemas.microsoft.com/office/drawing/2014/main" val="4209550234"/>
                  </a:ext>
                </a:extLst>
              </a:tr>
              <a:tr h="370840">
                <a:tc>
                  <a:txBody>
                    <a:bodyPr/>
                    <a:lstStyle/>
                    <a:p>
                      <a:r>
                        <a:rPr lang="en-US" sz="900"/>
                        <a:t>2024.4</a:t>
                      </a:r>
                    </a:p>
                  </a:txBody>
                  <a:tcPr anchor="ctr"/>
                </a:tc>
                <a:tc>
                  <a:txBody>
                    <a:bodyPr/>
                    <a:lstStyle/>
                    <a:p>
                      <a:pPr algn="ctr"/>
                      <a:r>
                        <a:rPr lang="en-US" sz="900"/>
                        <a:t>7/26/2024</a:t>
                      </a:r>
                    </a:p>
                  </a:txBody>
                  <a:tcPr anchor="ctr"/>
                </a:tc>
                <a:tc>
                  <a:txBody>
                    <a:bodyPr/>
                    <a:lstStyle/>
                    <a:p>
                      <a:pPr marL="171450" indent="-171450">
                        <a:buFont typeface="Wingdings" panose="05000000000000000000" pitchFamily="2" charset="2"/>
                        <a:buChar char="§"/>
                      </a:pPr>
                      <a:r>
                        <a:rPr lang="en-US" sz="900"/>
                        <a:t>Added vertical guideline to left of logo</a:t>
                      </a:r>
                    </a:p>
                    <a:p>
                      <a:pPr marL="171450" indent="-171450">
                        <a:buFont typeface="Wingdings" panose="05000000000000000000" pitchFamily="2" charset="2"/>
                        <a:buChar char="§"/>
                      </a:pPr>
                      <a:r>
                        <a:rPr lang="en-US" sz="900"/>
                        <a:t>For RFI layouts, lengthened QA boxes and content to align left with logo</a:t>
                      </a:r>
                    </a:p>
                    <a:p>
                      <a:pPr marL="171450" indent="-171450">
                        <a:buFont typeface="Wingdings" panose="05000000000000000000" pitchFamily="2" charset="2"/>
                        <a:buChar char="§"/>
                      </a:pPr>
                      <a:r>
                        <a:rPr lang="en-US" sz="900"/>
                        <a:t>Added blank RFI layout</a:t>
                      </a:r>
                    </a:p>
                  </a:txBody>
                  <a:tcPr anchor="ctr"/>
                </a:tc>
                <a:extLst>
                  <a:ext uri="{0D108BD9-81ED-4DB2-BD59-A6C34878D82A}">
                    <a16:rowId xmlns:a16="http://schemas.microsoft.com/office/drawing/2014/main" val="3483372315"/>
                  </a:ext>
                </a:extLst>
              </a:tr>
              <a:tr h="370840">
                <a:tc>
                  <a:txBody>
                    <a:bodyPr/>
                    <a:lstStyle/>
                    <a:p>
                      <a:r>
                        <a:rPr lang="en-US" sz="900"/>
                        <a:t>2024.5</a:t>
                      </a:r>
                    </a:p>
                  </a:txBody>
                  <a:tcPr anchor="ctr"/>
                </a:tc>
                <a:tc>
                  <a:txBody>
                    <a:bodyPr/>
                    <a:lstStyle/>
                    <a:p>
                      <a:pPr algn="ctr"/>
                      <a:r>
                        <a:rPr lang="en-US" sz="900"/>
                        <a:t>8/6/2024</a:t>
                      </a:r>
                    </a:p>
                  </a:txBody>
                  <a:tcPr anchor="ctr"/>
                </a:tc>
                <a:tc>
                  <a:txBody>
                    <a:bodyPr/>
                    <a:lstStyle/>
                    <a:p>
                      <a:pPr marL="171450" indent="-171450">
                        <a:buFont typeface="Wingdings" panose="05000000000000000000" pitchFamily="2" charset="2"/>
                        <a:buChar char="§"/>
                      </a:pPr>
                      <a:r>
                        <a:rPr lang="en-US" sz="900"/>
                        <a:t>Added Independence Slide RFI layout</a:t>
                      </a:r>
                    </a:p>
                    <a:p>
                      <a:pPr marL="171450" indent="-171450">
                        <a:buFont typeface="Wingdings" panose="05000000000000000000" pitchFamily="2" charset="2"/>
                        <a:buChar char="§"/>
                      </a:pPr>
                      <a:r>
                        <a:rPr lang="en-US" sz="900"/>
                        <a:t>Set default text boxes and shapes to not autofit</a:t>
                      </a:r>
                    </a:p>
                    <a:p>
                      <a:pPr marL="171450" indent="-171450">
                        <a:buFont typeface="Wingdings" panose="05000000000000000000" pitchFamily="2" charset="2"/>
                        <a:buChar char="§"/>
                      </a:pPr>
                      <a:r>
                        <a:rPr lang="en-US" sz="900"/>
                        <a:t>Adjusted spacing on consultant names</a:t>
                      </a:r>
                    </a:p>
                    <a:p>
                      <a:pPr marL="171450" indent="-171450">
                        <a:buFont typeface="Wingdings" panose="05000000000000000000" pitchFamily="2" charset="2"/>
                        <a:buChar char="§"/>
                      </a:pPr>
                      <a:r>
                        <a:rPr lang="en-US" sz="900"/>
                        <a:t>Setup properly formatted bulleted list in text box as “Reusable Element”</a:t>
                      </a:r>
                    </a:p>
                    <a:p>
                      <a:pPr marL="171450" indent="-171450">
                        <a:buFont typeface="Wingdings" panose="05000000000000000000" pitchFamily="2" charset="2"/>
                        <a:buChar char="§"/>
                      </a:pPr>
                      <a:r>
                        <a:rPr lang="en-US" sz="900"/>
                        <a:t>Expanded headlines to the left, closer to the FA logo</a:t>
                      </a:r>
                    </a:p>
                    <a:p>
                      <a:pPr marL="171450" indent="-171450">
                        <a:buFont typeface="Wingdings" panose="05000000000000000000" pitchFamily="2" charset="2"/>
                        <a:buChar char="§"/>
                      </a:pPr>
                      <a:r>
                        <a:rPr lang="en-US" sz="900"/>
                        <a:t>Darkened page numbers</a:t>
                      </a:r>
                    </a:p>
                  </a:txBody>
                  <a:tcPr anchor="ctr"/>
                </a:tc>
                <a:extLst>
                  <a:ext uri="{0D108BD9-81ED-4DB2-BD59-A6C34878D82A}">
                    <a16:rowId xmlns:a16="http://schemas.microsoft.com/office/drawing/2014/main" val="1768867260"/>
                  </a:ext>
                </a:extLst>
              </a:tr>
              <a:tr h="370840">
                <a:tc>
                  <a:txBody>
                    <a:bodyPr/>
                    <a:lstStyle/>
                    <a:p>
                      <a:r>
                        <a:rPr lang="en-US" sz="900"/>
                        <a:t>2024.06</a:t>
                      </a:r>
                    </a:p>
                  </a:txBody>
                  <a:tcPr anchor="ctr"/>
                </a:tc>
                <a:tc>
                  <a:txBody>
                    <a:bodyPr/>
                    <a:lstStyle/>
                    <a:p>
                      <a:pPr algn="ctr"/>
                      <a:r>
                        <a:rPr lang="en-US" sz="900"/>
                        <a:t>9/10/2024</a:t>
                      </a:r>
                    </a:p>
                  </a:txBody>
                  <a:tcPr anchor="ctr"/>
                </a:tc>
                <a:tc>
                  <a:txBody>
                    <a:bodyPr/>
                    <a:lstStyle/>
                    <a:p>
                      <a:pPr marL="171450" indent="-171450">
                        <a:buFont typeface="Wingdings" panose="05000000000000000000" pitchFamily="2" charset="2"/>
                        <a:buChar char="§"/>
                      </a:pPr>
                      <a:r>
                        <a:rPr lang="en-US" sz="900" dirty="0"/>
                        <a:t>Adjusted People names on Title page to single-spaced. Removed BOLD from names (only the “ACME Advisors” should be bolded; the “LLC” should be in 8 point font)</a:t>
                      </a:r>
                    </a:p>
                    <a:p>
                      <a:pPr marL="171450" indent="-171450">
                        <a:buFont typeface="Wingdings" panose="05000000000000000000" pitchFamily="2" charset="2"/>
                        <a:buChar char="§"/>
                      </a:pPr>
                      <a:r>
                        <a:rPr lang="en-US" sz="900" dirty="0"/>
                        <a:t>Reverted Text Box and Shape defaults to top, left-hand alignment and “Resize shape to fit text”, 14 pt.</a:t>
                      </a:r>
                    </a:p>
                    <a:p>
                      <a:pPr marL="171450" indent="-171450">
                        <a:buFont typeface="Wingdings" panose="05000000000000000000" pitchFamily="2" charset="2"/>
                        <a:buChar char="§"/>
                      </a:pPr>
                      <a:r>
                        <a:rPr lang="en-US" sz="900" dirty="0"/>
                        <a:t>Section Header layouts: Moved text left (closer to large icon)</a:t>
                      </a:r>
                    </a:p>
                    <a:p>
                      <a:pPr marL="171450" indent="-171450">
                        <a:buFont typeface="Wingdings" panose="05000000000000000000" pitchFamily="2" charset="2"/>
                        <a:buChar char="§"/>
                      </a:pPr>
                      <a:r>
                        <a:rPr lang="en-US" sz="900" dirty="0"/>
                        <a:t>Layouts that include text options: Moved text box higher and adjusted guides to match</a:t>
                      </a:r>
                    </a:p>
                    <a:p>
                      <a:pPr marL="171450" indent="-171450">
                        <a:buFont typeface="Wingdings" panose="05000000000000000000" pitchFamily="2" charset="2"/>
                        <a:buChar char="§"/>
                      </a:pPr>
                      <a:r>
                        <a:rPr lang="en-US" sz="900" dirty="0"/>
                        <a:t>Added slide with descriptors for each Title Slide icon</a:t>
                      </a:r>
                    </a:p>
                  </a:txBody>
                  <a:tcPr anchor="ctr"/>
                </a:tc>
                <a:extLst>
                  <a:ext uri="{0D108BD9-81ED-4DB2-BD59-A6C34878D82A}">
                    <a16:rowId xmlns:a16="http://schemas.microsoft.com/office/drawing/2014/main" val="4269791915"/>
                  </a:ext>
                </a:extLst>
              </a:tr>
              <a:tr h="205544">
                <a:tc>
                  <a:txBody>
                    <a:bodyPr/>
                    <a:lstStyle/>
                    <a:p>
                      <a:r>
                        <a:rPr lang="en-US" sz="900"/>
                        <a:t>2025.04</a:t>
                      </a:r>
                    </a:p>
                  </a:txBody>
                  <a:tcPr anchor="ctr"/>
                </a:tc>
                <a:tc>
                  <a:txBody>
                    <a:bodyPr/>
                    <a:lstStyle/>
                    <a:p>
                      <a:pPr algn="ctr"/>
                      <a:r>
                        <a:rPr lang="en-US" sz="900"/>
                        <a:t>4/23/25</a:t>
                      </a:r>
                    </a:p>
                  </a:txBody>
                  <a:tcPr anchor="ctr"/>
                </a:tc>
                <a:tc>
                  <a:txBody>
                    <a:bodyPr/>
                    <a:lstStyle/>
                    <a:p>
                      <a:pPr marL="171450" indent="-171450">
                        <a:buFont typeface="Wingdings" panose="05000000000000000000" pitchFamily="2" charset="2"/>
                        <a:buChar char="§"/>
                      </a:pPr>
                      <a:r>
                        <a:rPr lang="en-US" sz="900"/>
                        <a:t>Updated London address</a:t>
                      </a:r>
                    </a:p>
                  </a:txBody>
                  <a:tcPr anchor="ctr"/>
                </a:tc>
                <a:extLst>
                  <a:ext uri="{0D108BD9-81ED-4DB2-BD59-A6C34878D82A}">
                    <a16:rowId xmlns:a16="http://schemas.microsoft.com/office/drawing/2014/main" val="1331774128"/>
                  </a:ext>
                </a:extLst>
              </a:tr>
              <a:tr h="126218">
                <a:tc>
                  <a:txBody>
                    <a:bodyPr/>
                    <a:lstStyle/>
                    <a:p>
                      <a:r>
                        <a:rPr lang="en-US" sz="900"/>
                        <a:t>2025.05</a:t>
                      </a:r>
                    </a:p>
                  </a:txBody>
                  <a:tcPr anchor="ctr"/>
                </a:tc>
                <a:tc>
                  <a:txBody>
                    <a:bodyPr/>
                    <a:lstStyle/>
                    <a:p>
                      <a:pPr algn="ctr"/>
                      <a:endParaRPr lang="en-US" sz="900"/>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“Hard coded” the word “for” onto title pages</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Updated NY address on Contact Us page</a:t>
                      </a:r>
                    </a:p>
                  </a:txBody>
                  <a:tcPr anchor="ctr"/>
                </a:tc>
                <a:extLst>
                  <a:ext uri="{0D108BD9-81ED-4DB2-BD59-A6C34878D82A}">
                    <a16:rowId xmlns:a16="http://schemas.microsoft.com/office/drawing/2014/main" val="2911940841"/>
                  </a:ext>
                </a:extLst>
              </a:tr>
            </a:tbl>
          </a:graphicData>
        </a:graphic>
      </p:graphicFrame>
    </p:spTree>
    <p:extLst>
      <p:ext uri="{BB962C8B-B14F-4D97-AF65-F5344CB8AC3E}">
        <p14:creationId xmlns:p14="http://schemas.microsoft.com/office/powerpoint/2010/main" val="35578538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FA1512-3423-1033-1C5D-257DA5E27FA9}"/>
              </a:ext>
            </a:extLst>
          </p:cNvPr>
          <p:cNvSpPr/>
          <p:nvPr userDrawn="1"/>
        </p:nvSpPr>
        <p:spPr>
          <a:xfrm>
            <a:off x="0" y="0"/>
            <a:ext cx="9144000" cy="1642147"/>
          </a:xfrm>
          <a:prstGeom prst="rect">
            <a:avLst/>
          </a:prstGeom>
          <a:gradFill>
            <a:gsLst>
              <a:gs pos="15000">
                <a:schemeClr val="accent1">
                  <a:alpha val="25000"/>
                </a:schemeClr>
              </a:gs>
              <a:gs pos="100000">
                <a:sysClr val="window" lastClr="FFFFFF">
                  <a:alpha val="0"/>
                </a:sysClr>
              </a:gs>
            </a:gsLst>
            <a:lin ang="0" scaled="1"/>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E454CB6-D061-DB8E-DBB1-8C108B73A1E6}"/>
              </a:ext>
            </a:extLst>
          </p:cNvPr>
          <p:cNvSpPr/>
          <p:nvPr userDrawn="1"/>
        </p:nvSpPr>
        <p:spPr>
          <a:xfrm>
            <a:off x="0" y="867266"/>
            <a:ext cx="9144000" cy="774721"/>
          </a:xfrm>
          <a:prstGeom prst="rect">
            <a:avLst/>
          </a:prstGeom>
          <a:gradFill flip="none" rotWithShape="1">
            <a:gsLst>
              <a:gs pos="0">
                <a:sysClr val="window" lastClr="FFFFFF"/>
              </a:gs>
              <a:gs pos="100000">
                <a:sysClr val="window" lastClr="FFFFFF">
                  <a:alpha val="0"/>
                </a:sysClr>
              </a:gs>
            </a:gsLst>
            <a:lin ang="16200000" scaled="1"/>
            <a:tileRect/>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Placeholder 1"/>
          <p:cNvSpPr>
            <a:spLocks noGrp="1"/>
          </p:cNvSpPr>
          <p:nvPr>
            <p:ph type="title"/>
          </p:nvPr>
        </p:nvSpPr>
        <p:spPr>
          <a:xfrm>
            <a:off x="886826" y="44215"/>
            <a:ext cx="8074152" cy="1292899"/>
          </a:xfrm>
          <a:prstGeom prst="rect">
            <a:avLst/>
          </a:prstGeom>
        </p:spPr>
        <p:txBody>
          <a:bodyPr vert="horz" lIns="0" tIns="0" rIns="0" bIns="0" rtlCol="0" anchor="ctr">
            <a:noAutofit/>
          </a:bodyPr>
          <a:lstStyle/>
          <a:p>
            <a:r>
              <a:rPr lang="en-US"/>
              <a:t>Calibri Bold 24 pt.</a:t>
            </a:r>
            <a:br>
              <a:rPr lang="en-US"/>
            </a:br>
            <a:r>
              <a:rPr lang="en-US"/>
              <a:t>Headlines are sentence case and can fill up to four lines of copy, headlines are sentence case and can fill up to four lines of copy</a:t>
            </a:r>
          </a:p>
        </p:txBody>
      </p:sp>
      <p:sp>
        <p:nvSpPr>
          <p:cNvPr id="3" name="Text Placeholder 2"/>
          <p:cNvSpPr>
            <a:spLocks noGrp="1"/>
          </p:cNvSpPr>
          <p:nvPr>
            <p:ph type="body" idx="1"/>
          </p:nvPr>
        </p:nvSpPr>
        <p:spPr>
          <a:xfrm>
            <a:off x="887897" y="1415719"/>
            <a:ext cx="8074395" cy="5170086"/>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863745" y="6591503"/>
            <a:ext cx="7416510" cy="184151"/>
          </a:xfrm>
          <a:prstGeom prst="rect">
            <a:avLst/>
          </a:prstGeom>
        </p:spPr>
        <p:txBody>
          <a:bodyPr vert="horz" lIns="0" tIns="0" rIns="0" bIns="45720" rtlCol="0" anchor="b">
            <a:noAutofit/>
          </a:bodyPr>
          <a:lstStyle>
            <a:lvl1pPr algn="ctr">
              <a:lnSpc>
                <a:spcPct val="80000"/>
              </a:lnSpc>
              <a:defRPr sz="800">
                <a:solidFill>
                  <a:srgbClr val="BFBFBF"/>
                </a:solidFill>
              </a:defRPr>
            </a:lvl1pPr>
          </a:lstStyle>
          <a:p>
            <a:r>
              <a:rPr lang="en-US"/>
              <a:t>These materials are confidential and to be used only by the client to whom they are addressed</a:t>
            </a:r>
          </a:p>
        </p:txBody>
      </p:sp>
      <p:sp>
        <p:nvSpPr>
          <p:cNvPr id="8" name="Slide Number Placeholder 5" hidden="1">
            <a:extLst>
              <a:ext uri="{FF2B5EF4-FFF2-40B4-BE49-F238E27FC236}">
                <a16:creationId xmlns:a16="http://schemas.microsoft.com/office/drawing/2014/main" id="{38213356-C931-104E-2A67-0A88014D1D0A}"/>
              </a:ext>
            </a:extLst>
          </p:cNvPr>
          <p:cNvSpPr>
            <a:spLocks noGrp="1"/>
          </p:cNvSpPr>
          <p:nvPr>
            <p:ph type="sldNum" sz="quarter" idx="4"/>
          </p:nvPr>
        </p:nvSpPr>
        <p:spPr>
          <a:xfrm>
            <a:off x="8581802" y="6577909"/>
            <a:ext cx="352260" cy="211339"/>
          </a:xfrm>
          <a:prstGeom prst="rect">
            <a:avLst/>
          </a:prstGeom>
        </p:spPr>
        <p:txBody>
          <a:bodyPr vert="horz" lIns="0" tIns="0" rIns="0" bIns="0" rtlCol="0" anchor="ctr"/>
          <a:lstStyle>
            <a:lvl1pPr algn="r">
              <a:defRPr sz="800">
                <a:solidFill>
                  <a:srgbClr val="BFBFBF"/>
                </a:solidFill>
              </a:defRPr>
            </a:lvl1pPr>
          </a:lstStyle>
          <a:p>
            <a:fld id="{91690BAF-E217-4185-92FD-0CEA06F2B7C8}" type="slidenum">
              <a:rPr lang="en-US" smtClean="0"/>
              <a:pPr/>
              <a:t>‹#›</a:t>
            </a:fld>
            <a:endParaRPr lang="en-US"/>
          </a:p>
        </p:txBody>
      </p:sp>
      <p:sp>
        <p:nvSpPr>
          <p:cNvPr id="9" name="Slide Number Placeholder 5">
            <a:extLst>
              <a:ext uri="{FF2B5EF4-FFF2-40B4-BE49-F238E27FC236}">
                <a16:creationId xmlns:a16="http://schemas.microsoft.com/office/drawing/2014/main" id="{5EDDB953-05F2-B1BF-4848-9817E98F18C6}"/>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85308602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86" r:id="rId3"/>
    <p:sldLayoutId id="2147483687" r:id="rId4"/>
    <p:sldLayoutId id="2147483701" r:id="rId5"/>
    <p:sldLayoutId id="2147483702" r:id="rId6"/>
    <p:sldLayoutId id="2147483677" r:id="rId7"/>
    <p:sldLayoutId id="2147483678" r:id="rId8"/>
    <p:sldLayoutId id="2147483695" r:id="rId9"/>
    <p:sldLayoutId id="2147483696" r:id="rId10"/>
    <p:sldLayoutId id="2147483650" r:id="rId11"/>
    <p:sldLayoutId id="2147483654" r:id="rId12"/>
    <p:sldLayoutId id="2147483655" r:id="rId13"/>
    <p:sldLayoutId id="2147483674" r:id="rId14"/>
    <p:sldLayoutId id="2147483675" r:id="rId15"/>
    <p:sldLayoutId id="2147483661" r:id="rId16"/>
    <p:sldLayoutId id="2147483657" r:id="rId17"/>
    <p:sldLayoutId id="2147483703" r:id="rId18"/>
    <p:sldLayoutId id="2147483698" r:id="rId19"/>
    <p:sldLayoutId id="2147483699" r:id="rId20"/>
    <p:sldLayoutId id="2147483704" r:id="rId21"/>
    <p:sldLayoutId id="2147483697" r:id="rId22"/>
    <p:sldLayoutId id="2147483700" r:id="rId23"/>
  </p:sldLayoutIdLst>
  <p:transition>
    <p:fade/>
  </p:transition>
  <p:hf sldNum="0" hdr="0" dt="0"/>
  <p:txStyles>
    <p:titleStyle>
      <a:lvl1pPr algn="l" defTabSz="914378" rtl="0" eaLnBrk="1" latinLnBrk="0" hangingPunct="1">
        <a:lnSpc>
          <a:spcPct val="85000"/>
        </a:lnSpc>
        <a:spcBef>
          <a:spcPct val="0"/>
        </a:spcBef>
        <a:buNone/>
        <a:defRPr sz="2400" b="1" kern="1200" cap="none" baseline="0">
          <a:solidFill>
            <a:schemeClr val="tx1"/>
          </a:solidFill>
          <a:latin typeface="+mj-lt"/>
          <a:ea typeface="+mj-ea"/>
          <a:cs typeface="+mj-cs"/>
        </a:defRPr>
      </a:lvl1pPr>
    </p:titleStyle>
    <p:body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378" rtl="0" eaLnBrk="1" latinLnBrk="0" hangingPunct="1">
        <a:defRPr sz="1000" kern="1200">
          <a:solidFill>
            <a:schemeClr val="tx1"/>
          </a:solidFill>
          <a:latin typeface="+mn-lt"/>
          <a:ea typeface="+mn-ea"/>
          <a:cs typeface="+mn-cs"/>
        </a:defRPr>
      </a:lvl1pPr>
      <a:lvl2pPr marL="0" algn="l" defTabSz="914378" rtl="0" eaLnBrk="1" latinLnBrk="0" hangingPunct="1">
        <a:defRPr sz="1200" kern="1200">
          <a:solidFill>
            <a:schemeClr val="tx1"/>
          </a:solidFill>
          <a:latin typeface="+mn-lt"/>
          <a:ea typeface="+mn-ea"/>
          <a:cs typeface="+mn-cs"/>
        </a:defRPr>
      </a:lvl2pPr>
      <a:lvl3pPr marL="0" algn="l" defTabSz="914378" rtl="0" eaLnBrk="1" latinLnBrk="0" hangingPunct="1">
        <a:defRPr sz="1200" kern="1200">
          <a:solidFill>
            <a:schemeClr val="tx1"/>
          </a:solidFill>
          <a:latin typeface="+mn-lt"/>
          <a:ea typeface="+mn-ea"/>
          <a:cs typeface="+mn-cs"/>
        </a:defRPr>
      </a:lvl3pPr>
      <a:lvl4pPr marL="0" algn="l" defTabSz="914378" rtl="0" eaLnBrk="1" latinLnBrk="0" hangingPunct="1">
        <a:defRPr sz="1200" kern="1200">
          <a:solidFill>
            <a:schemeClr val="tx1"/>
          </a:solidFill>
          <a:latin typeface="+mn-lt"/>
          <a:ea typeface="+mn-ea"/>
          <a:cs typeface="+mn-cs"/>
        </a:defRPr>
      </a:lvl4pPr>
      <a:lvl5pPr marL="0" algn="l" defTabSz="914378" rtl="0" eaLnBrk="1" latinLnBrk="0" hangingPunct="1">
        <a:defRPr sz="1200" kern="1200">
          <a:solidFill>
            <a:schemeClr val="tx1"/>
          </a:solidFill>
          <a:latin typeface="+mn-lt"/>
          <a:ea typeface="+mn-ea"/>
          <a:cs typeface="+mn-cs"/>
        </a:defRPr>
      </a:lvl5pPr>
      <a:lvl6pPr marL="0" algn="l" defTabSz="914378" rtl="0" eaLnBrk="1" latinLnBrk="0" hangingPunct="1">
        <a:defRPr sz="1200" kern="1200">
          <a:solidFill>
            <a:schemeClr val="tx1"/>
          </a:solidFill>
          <a:latin typeface="+mn-lt"/>
          <a:ea typeface="+mn-ea"/>
          <a:cs typeface="+mn-cs"/>
        </a:defRPr>
      </a:lvl6pPr>
      <a:lvl7pPr marL="0" algn="l" defTabSz="914378" rtl="0" eaLnBrk="1" latinLnBrk="0" hangingPunct="1">
        <a:defRPr sz="1200" kern="1200">
          <a:solidFill>
            <a:schemeClr val="tx1"/>
          </a:solidFill>
          <a:latin typeface="+mn-lt"/>
          <a:ea typeface="+mn-ea"/>
          <a:cs typeface="+mn-cs"/>
        </a:defRPr>
      </a:lvl7pPr>
      <a:lvl8pPr marL="0" algn="l" defTabSz="914378" rtl="0" eaLnBrk="1" latinLnBrk="0" hangingPunct="1">
        <a:defRPr sz="1200" kern="1200">
          <a:solidFill>
            <a:schemeClr val="tx1"/>
          </a:solidFill>
          <a:latin typeface="+mn-lt"/>
          <a:ea typeface="+mn-ea"/>
          <a:cs typeface="+mn-cs"/>
        </a:defRPr>
      </a:lvl8pPr>
      <a:lvl9pPr marL="0" algn="l" defTabSz="914378"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orient="horz" pos="888" userDrawn="1">
          <p15:clr>
            <a:srgbClr val="F26B43"/>
          </p15:clr>
        </p15:guide>
        <p15:guide id="4" orient="horz" pos="4143" userDrawn="1">
          <p15:clr>
            <a:srgbClr val="F26B43"/>
          </p15:clr>
        </p15:guide>
        <p15:guide id="5" pos="552" userDrawn="1">
          <p15:clr>
            <a:srgbClr val="F26B43"/>
          </p15:clr>
        </p15:guide>
        <p15:guide id="6" pos="5640" userDrawn="1">
          <p15:clr>
            <a:srgbClr val="F26B43"/>
          </p15:clr>
        </p15:guide>
        <p15:guide id="7" pos="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11265DF-5AD7-B39A-FF9A-30B58DCD3391}"/>
              </a:ext>
            </a:extLst>
          </p:cNvPr>
          <p:cNvSpPr>
            <a:spLocks noGrp="1"/>
          </p:cNvSpPr>
          <p:nvPr>
            <p:ph type="ctrTitle"/>
          </p:nvPr>
        </p:nvSpPr>
        <p:spPr/>
        <p:txBody>
          <a:bodyPr/>
          <a:lstStyle/>
          <a:p>
            <a:r>
              <a:rPr lang="en-US" dirty="0"/>
              <a:t>Assessment of Compensation Peers</a:t>
            </a:r>
          </a:p>
        </p:txBody>
      </p:sp>
      <p:sp>
        <p:nvSpPr>
          <p:cNvPr id="3" name="Text Placeholder 2">
            <a:extLst>
              <a:ext uri="{FF2B5EF4-FFF2-40B4-BE49-F238E27FC236}">
                <a16:creationId xmlns:a16="http://schemas.microsoft.com/office/drawing/2014/main" id="{6E11507D-664E-CF69-3797-35CBC90606EF}"/>
              </a:ext>
            </a:extLst>
          </p:cNvPr>
          <p:cNvSpPr>
            <a:spLocks noGrp="1"/>
          </p:cNvSpPr>
          <p:nvPr>
            <p:ph type="body" sz="quarter" idx="13"/>
          </p:nvPr>
        </p:nvSpPr>
        <p:spPr>
          <a:xfrm>
            <a:off x="3028718" y="1766656"/>
            <a:ext cx="3017520" cy="203546"/>
          </a:xfrm>
        </p:spPr>
        <p:txBody>
          <a:bodyPr vert="horz" lIns="0" tIns="0" rIns="0" bIns="0" rtlCol="0" anchor="t">
            <a:noAutofit/>
          </a:bodyPr>
          <a:lstStyle/>
          <a:p>
            <a:r>
              <a:rPr lang="en-US"/>
              <a:t>April 29, 2026 </a:t>
            </a:r>
            <a:r>
              <a:rPr lang="en-US" b="1">
                <a:solidFill>
                  <a:srgbClr val="FF0000"/>
                </a:solidFill>
              </a:rPr>
              <a:t>– DRAFT 20260327</a:t>
            </a:r>
          </a:p>
        </p:txBody>
      </p:sp>
      <p:sp>
        <p:nvSpPr>
          <p:cNvPr id="5" name="Footer Placeholder 4">
            <a:extLst>
              <a:ext uri="{FF2B5EF4-FFF2-40B4-BE49-F238E27FC236}">
                <a16:creationId xmlns:a16="http://schemas.microsoft.com/office/drawing/2014/main" id="{899F2016-120C-2137-C92E-0E8D93697BD6}"/>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8" name="Text Placeholder 7">
            <a:extLst>
              <a:ext uri="{FF2B5EF4-FFF2-40B4-BE49-F238E27FC236}">
                <a16:creationId xmlns:a16="http://schemas.microsoft.com/office/drawing/2014/main" id="{961D452F-D873-6A46-5AC6-7CEE4C149D03}"/>
              </a:ext>
            </a:extLst>
          </p:cNvPr>
          <p:cNvSpPr>
            <a:spLocks noGrp="1"/>
          </p:cNvSpPr>
          <p:nvPr>
            <p:ph type="body" sz="quarter" idx="19"/>
          </p:nvPr>
        </p:nvSpPr>
        <p:spPr/>
        <p:txBody>
          <a:bodyPr/>
          <a:lstStyle/>
          <a:p>
            <a:r>
              <a:rPr lang="en-US" dirty="0"/>
              <a:t>Mickey Mouse, Chief Executive Officer, </a:t>
            </a:r>
            <a:r>
              <a:rPr lang="en-US" b="1" dirty="0"/>
              <a:t>ACME </a:t>
            </a:r>
            <a:r>
              <a:rPr lang="en-US" sz="800" dirty="0"/>
              <a:t>LLC</a:t>
            </a:r>
          </a:p>
          <a:p>
            <a:r>
              <a:rPr lang="en-US" dirty="0"/>
              <a:t>Minnie Mouse, Manager, </a:t>
            </a:r>
            <a:r>
              <a:rPr lang="en-US" b="1" dirty="0"/>
              <a:t>ACME </a:t>
            </a:r>
            <a:r>
              <a:rPr lang="en-US" sz="800" dirty="0"/>
              <a:t>LLC</a:t>
            </a:r>
            <a:endParaRPr lang="en-US" sz="800" b="0" dirty="0"/>
          </a:p>
        </p:txBody>
      </p:sp>
      <p:sp>
        <p:nvSpPr>
          <p:cNvPr id="90001" name="acme-flag-90001"/>
          <p:cNvSpPr/>
          <p:nvPr/>
        </p:nvSpPr>
        <p:spPr>
          <a:xfrm>
            <a:off x="3028718" y="1766656"/>
            <a:ext cx="3017520" cy="203546"/>
          </a:xfrm>
          <a:prstGeom prst="rect">
            <a:avLst/>
          </a:prstGeom>
          <a:solidFill>
            <a:srgbClr val="FFD400">
              <a:alpha val="30000"/>
            </a:srgbClr>
          </a:solidFill>
          <a:ln w="19050">
            <a:solidFill>
              <a:srgbClr val="E80000"/>
            </a:solidFill>
          </a:ln>
        </p:spPr>
        <p:txBody>
          <a:bodyPr/>
          <a:lstStyle/>
          <a:p/>
        </p:txBody>
      </p:sp>
      <p:sp>
        <p:nvSpPr>
          <p:cNvPr id="90002" name="acme-note-90002"/>
          <p:cNvSpPr txBox="1"/>
          <p:nvPr/>
        </p:nvSpPr>
        <p:spPr>
          <a:xfrm>
            <a:off x="152400" y="6328000"/>
            <a:ext cx="8839200" cy="470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1 brand issue flagged:</a:t>
            </a:r>
          </a:p>
          <a:p>
            <a:r>
              <a:rPr lang="en-US" sz="1000" b="0" dirty="0">
                <a:solidFill>
                  <a:srgbClr val="9B0000"/>
                </a:solidFill>
                <a:latin typeface="Calibri"/>
              </a:rPr>
              <a:t>1. Contains a "DRAFT" working designator (“– DRAFT 20260327”). Guidelines require no DRAFT or other designators on client-facing slides.</a:t>
            </a:r>
          </a:p>
        </p:txBody>
      </p:sp>
    </p:spTree>
    <p:extLst>
      <p:ext uri="{BB962C8B-B14F-4D97-AF65-F5344CB8AC3E}">
        <p14:creationId xmlns:p14="http://schemas.microsoft.com/office/powerpoint/2010/main" val="1357021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7F8A-F17F-E105-811E-F1AE7DD5698A}"/>
            </a:ext>
          </a:extLst>
        </p:cNvPr>
        <p:cNvGrpSpPr/>
        <p:nvPr/>
      </p:nvGrpSpPr>
      <p:grpSpPr>
        <a:xfrm>
          <a:off x="0" y="0"/>
          <a:ext cx="0" cy="0"/>
          <a:chOff x="0" y="0"/>
          <a:chExt cx="0" cy="0"/>
        </a:xfrm>
      </p:grpSpPr>
      <p:sp>
        <p:nvSpPr>
          <p:cNvPr id="5" name="Footer Placeholder 1">
            <a:extLst>
              <a:ext uri="{FF2B5EF4-FFF2-40B4-BE49-F238E27FC236}">
                <a16:creationId xmlns:a16="http://schemas.microsoft.com/office/drawing/2014/main" id="{A16EE0D9-F3C0-0B99-CB6A-ED9CF97D0D99}"/>
              </a:ext>
            </a:extLst>
          </p:cNvPr>
          <p:cNvSpPr>
            <a:spLocks noGrp="1"/>
          </p:cNvSpPr>
          <p:nvPr>
            <p:ph type="ftr" sz="quarter" idx="11"/>
          </p:nvPr>
        </p:nvSpPr>
        <p:spPr/>
        <p:txBody>
          <a:bodyPr/>
          <a:lstStyle/>
          <a:p>
            <a:r>
              <a:rPr lang="en-US" dirty="0"/>
              <a:t>These materials are confidential and to be used only by the client to whom they are addressed</a:t>
            </a:r>
          </a:p>
        </p:txBody>
      </p:sp>
      <p:sp>
        <p:nvSpPr>
          <p:cNvPr id="2" name="Title 1">
            <a:extLst>
              <a:ext uri="{FF2B5EF4-FFF2-40B4-BE49-F238E27FC236}">
                <a16:creationId xmlns:a16="http://schemas.microsoft.com/office/drawing/2014/main" id="{DCD5F7FB-64B6-8861-A3B3-CCF3BA31441F}"/>
              </a:ext>
            </a:extLst>
          </p:cNvPr>
          <p:cNvSpPr>
            <a:spLocks noGrp="1"/>
          </p:cNvSpPr>
          <p:nvPr>
            <p:ph type="title"/>
          </p:nvPr>
        </p:nvSpPr>
        <p:spPr/>
        <p:txBody>
          <a:bodyPr/>
          <a:lstStyle/>
          <a:p>
            <a:r>
              <a:rPr lang="en-US" dirty="0"/>
              <a:t>Each year, ACME reviews </a:t>
            </a:r>
            <a:r>
              <a:rPr lang="en-US" dirty="0" err="1"/>
              <a:t>Plutos</a:t>
            </a:r>
            <a:r>
              <a:rPr lang="en-US" dirty="0"/>
              <a:t>’ Compensation Peer Group to ensure size, business, and strategic relevance. As part of our process, we addressed how </a:t>
            </a:r>
            <a:r>
              <a:rPr lang="en-US" dirty="0" err="1"/>
              <a:t>Plutos</a:t>
            </a:r>
            <a:r>
              <a:rPr lang="en-US" dirty="0"/>
              <a:t>’ acquisition of PA Consulting might influence </a:t>
            </a:r>
            <a:r>
              <a:rPr lang="en-US" dirty="0" err="1"/>
              <a:t>Plutos</a:t>
            </a:r>
            <a:r>
              <a:rPr lang="en-US" dirty="0"/>
              <a:t>’ peer group</a:t>
            </a:r>
          </a:p>
        </p:txBody>
      </p:sp>
      <p:sp>
        <p:nvSpPr>
          <p:cNvPr id="3" name="Content Placeholder 2">
            <a:extLst>
              <a:ext uri="{FF2B5EF4-FFF2-40B4-BE49-F238E27FC236}">
                <a16:creationId xmlns:a16="http://schemas.microsoft.com/office/drawing/2014/main" id="{1ABB32CA-8F4F-04AE-8A79-ACAD8DD5F9D2}"/>
              </a:ext>
            </a:extLst>
          </p:cNvPr>
          <p:cNvSpPr>
            <a:spLocks noGrp="1"/>
          </p:cNvSpPr>
          <p:nvPr>
            <p:ph idx="4294967295"/>
          </p:nvPr>
        </p:nvSpPr>
        <p:spPr>
          <a:xfrm>
            <a:off x="4821679" y="2070463"/>
            <a:ext cx="3517826" cy="1887224"/>
          </a:xfrm>
          <a:ln>
            <a:solidFill>
              <a:schemeClr val="tx1"/>
            </a:solidFill>
          </a:ln>
        </p:spPr>
        <p:txBody>
          <a:bodyPr vert="horz" lIns="91440" tIns="91440" rIns="91440" bIns="91440" rtlCol="0" anchor="t">
            <a:noAutofit/>
          </a:bodyPr>
          <a:lstStyle/>
          <a:p>
            <a:pPr marL="228600" indent="-128588"/>
            <a:r>
              <a:rPr lang="en-US" sz="1200" dirty="0"/>
              <a:t>Should our screening criteria change?</a:t>
            </a:r>
          </a:p>
          <a:p>
            <a:pPr marL="398463" lvl="1" indent="-166688"/>
            <a:r>
              <a:rPr lang="en-US" sz="1200" dirty="0"/>
              <a:t>Should our size parameters change given the addition of PA’s $1.4B revenue?</a:t>
            </a:r>
          </a:p>
          <a:p>
            <a:pPr marL="398463" lvl="1" indent="-166688"/>
            <a:r>
              <a:rPr lang="en-US" sz="1200" dirty="0"/>
              <a:t>Are there additional GICS codes that we should consider?</a:t>
            </a:r>
          </a:p>
          <a:p>
            <a:pPr marL="398463" lvl="1" indent="-166688"/>
            <a:r>
              <a:rPr lang="en-US" sz="1200" dirty="0"/>
              <a:t>Given </a:t>
            </a:r>
            <a:r>
              <a:rPr lang="en-US" sz="1200" dirty="0" err="1"/>
              <a:t>Plutos</a:t>
            </a:r>
            <a:r>
              <a:rPr lang="en-US" sz="1200" dirty="0"/>
              <a:t>’ geographic mix, should we include companies headquartered in the UK?</a:t>
            </a:r>
          </a:p>
          <a:p>
            <a:pPr marL="228600" indent="-128588"/>
            <a:r>
              <a:rPr lang="en-US" sz="1200" dirty="0"/>
              <a:t>How has the weighting of </a:t>
            </a:r>
            <a:r>
              <a:rPr lang="en-US" sz="1200" dirty="0" err="1"/>
              <a:t>Plutos</a:t>
            </a:r>
            <a:r>
              <a:rPr lang="en-US" sz="1200" dirty="0"/>
              <a:t>’ business sectors changed? Is the peer group sufficiently weighted toward consulting businesses?</a:t>
            </a:r>
          </a:p>
        </p:txBody>
      </p:sp>
      <p:graphicFrame>
        <p:nvGraphicFramePr>
          <p:cNvPr id="10" name="Table 9">
            <a:extLst>
              <a:ext uri="{FF2B5EF4-FFF2-40B4-BE49-F238E27FC236}">
                <a16:creationId xmlns:a16="http://schemas.microsoft.com/office/drawing/2014/main" id="{67C0FE79-7BCB-1238-016C-6312BEB90B76}"/>
              </a:ext>
            </a:extLst>
          </p:cNvPr>
          <p:cNvGraphicFramePr>
            <a:graphicFrameLocks noGrp="1"/>
          </p:cNvGraphicFramePr>
          <p:nvPr>
            <p:extLst>
              <p:ext uri="{D42A27DB-BD31-4B8C-83A1-F6EECF244321}">
                <p14:modId xmlns:p14="http://schemas.microsoft.com/office/powerpoint/2010/main" val="1345684391"/>
              </p:ext>
            </p:extLst>
          </p:nvPr>
        </p:nvGraphicFramePr>
        <p:xfrm>
          <a:off x="952599" y="1799058"/>
          <a:ext cx="3675860" cy="4349496"/>
        </p:xfrm>
        <a:graphic>
          <a:graphicData uri="http://schemas.openxmlformats.org/drawingml/2006/table">
            <a:tbl>
              <a:tblPr/>
              <a:tblGrid>
                <a:gridCol w="1189772">
                  <a:extLst>
                    <a:ext uri="{9D8B030D-6E8A-4147-A177-3AD203B41FA5}">
                      <a16:colId xmlns:a16="http://schemas.microsoft.com/office/drawing/2014/main" val="1580081404"/>
                    </a:ext>
                  </a:extLst>
                </a:gridCol>
                <a:gridCol w="791028">
                  <a:extLst>
                    <a:ext uri="{9D8B030D-6E8A-4147-A177-3AD203B41FA5}">
                      <a16:colId xmlns:a16="http://schemas.microsoft.com/office/drawing/2014/main" val="4051440281"/>
                    </a:ext>
                  </a:extLst>
                </a:gridCol>
                <a:gridCol w="904032">
                  <a:extLst>
                    <a:ext uri="{9D8B030D-6E8A-4147-A177-3AD203B41FA5}">
                      <a16:colId xmlns:a16="http://schemas.microsoft.com/office/drawing/2014/main" val="3873922838"/>
                    </a:ext>
                  </a:extLst>
                </a:gridCol>
                <a:gridCol w="791028">
                  <a:extLst>
                    <a:ext uri="{9D8B030D-6E8A-4147-A177-3AD203B41FA5}">
                      <a16:colId xmlns:a16="http://schemas.microsoft.com/office/drawing/2014/main" val="3911719177"/>
                    </a:ext>
                  </a:extLst>
                </a:gridCol>
              </a:tblGrid>
              <a:tr h="142814">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18288" marB="18288" anchor="b">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18288" marB="18288" anchor="b">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0">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0">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463409954"/>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noFill/>
                  </a:tcPr>
                </a:tc>
                <a:extLst>
                  <a:ext uri="{0D108BD9-81ED-4DB2-BD59-A6C34878D82A}">
                    <a16:rowId xmlns:a16="http://schemas.microsoft.com/office/drawing/2014/main" val="2726622385"/>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1214304150"/>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18288" marB="18288" anchor="b">
                    <a:lnL>
                      <a:noFill/>
                    </a:lnL>
                    <a:lnR>
                      <a:noFill/>
                    </a:lnR>
                    <a:lnT>
                      <a:noFill/>
                    </a:lnT>
                    <a:lnB>
                      <a:noFill/>
                    </a:lnB>
                    <a:noFill/>
                  </a:tcPr>
                </a:tc>
                <a:extLst>
                  <a:ext uri="{0D108BD9-81ED-4DB2-BD59-A6C34878D82A}">
                    <a16:rowId xmlns:a16="http://schemas.microsoft.com/office/drawing/2014/main" val="2362820788"/>
                  </a:ext>
                </a:extLst>
              </a:tr>
              <a:tr h="0">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chemeClr val="bg1">
                        <a:lumMod val="95000"/>
                      </a:schemeClr>
                    </a:solidFill>
                  </a:tcPr>
                </a:tc>
                <a:extLst>
                  <a:ext uri="{0D108BD9-81ED-4DB2-BD59-A6C34878D82A}">
                    <a16:rowId xmlns:a16="http://schemas.microsoft.com/office/drawing/2014/main" val="375556163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18288" marB="18288" anchor="b">
                    <a:lnL>
                      <a:noFill/>
                    </a:lnL>
                    <a:lnR>
                      <a:noFill/>
                    </a:lnR>
                    <a:lnT>
                      <a:noFill/>
                    </a:lnT>
                    <a:lnB>
                      <a:noFill/>
                    </a:lnB>
                    <a:noFill/>
                  </a:tcPr>
                </a:tc>
                <a:extLst>
                  <a:ext uri="{0D108BD9-81ED-4DB2-BD59-A6C34878D82A}">
                    <a16:rowId xmlns:a16="http://schemas.microsoft.com/office/drawing/2014/main" val="4193629857"/>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414760202"/>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1966385599"/>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299918039"/>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a:noFill/>
                    </a:lnB>
                    <a:noFill/>
                  </a:tcPr>
                </a:tc>
                <a:extLst>
                  <a:ext uri="{0D108BD9-81ED-4DB2-BD59-A6C34878D82A}">
                    <a16:rowId xmlns:a16="http://schemas.microsoft.com/office/drawing/2014/main" val="2867474206"/>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4200270487"/>
                  </a:ext>
                </a:extLst>
              </a:tr>
              <a:tr h="0">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3515799974"/>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391721504"/>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18288" marB="18288" anchor="b">
                    <a:lnL>
                      <a:noFill/>
                    </a:lnL>
                    <a:lnR>
                      <a:noFill/>
                    </a:lnR>
                    <a:lnT>
                      <a:noFill/>
                    </a:lnT>
                    <a:lnB>
                      <a:noFill/>
                    </a:lnB>
                    <a:noFill/>
                  </a:tcPr>
                </a:tc>
                <a:extLst>
                  <a:ext uri="{0D108BD9-81ED-4DB2-BD59-A6C34878D82A}">
                    <a16:rowId xmlns:a16="http://schemas.microsoft.com/office/drawing/2014/main" val="2150949897"/>
                  </a:ext>
                </a:extLst>
              </a:tr>
              <a:tr h="0">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solidFill>
                      <a:srgbClr val="FFFFDB"/>
                    </a:solidFill>
                  </a:tcPr>
                </a:tc>
                <a:extLst>
                  <a:ext uri="{0D108BD9-81ED-4DB2-BD59-A6C34878D82A}">
                    <a16:rowId xmlns:a16="http://schemas.microsoft.com/office/drawing/2014/main" val="1646738110"/>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0">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sp>
        <p:nvSpPr>
          <p:cNvPr id="11" name="TextBox 10">
            <a:extLst>
              <a:ext uri="{FF2B5EF4-FFF2-40B4-BE49-F238E27FC236}">
                <a16:creationId xmlns:a16="http://schemas.microsoft.com/office/drawing/2014/main" id="{7A176926-8EA9-8F44-7290-2278EDAB48CA}"/>
              </a:ext>
            </a:extLst>
          </p:cNvPr>
          <p:cNvSpPr txBox="1"/>
          <p:nvPr/>
        </p:nvSpPr>
        <p:spPr>
          <a:xfrm>
            <a:off x="1603612" y="1511606"/>
            <a:ext cx="2372781"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2" name="TextBox 11">
            <a:extLst>
              <a:ext uri="{FF2B5EF4-FFF2-40B4-BE49-F238E27FC236}">
                <a16:creationId xmlns:a16="http://schemas.microsoft.com/office/drawing/2014/main" id="{DE19D66B-C281-5495-1796-D5E962950321}"/>
              </a:ext>
            </a:extLst>
          </p:cNvPr>
          <p:cNvSpPr txBox="1"/>
          <p:nvPr/>
        </p:nvSpPr>
        <p:spPr>
          <a:xfrm>
            <a:off x="4821679" y="1826113"/>
            <a:ext cx="3517826" cy="250710"/>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dirty="0">
                <a:solidFill>
                  <a:schemeClr val="bg1"/>
                </a:solidFill>
              </a:rPr>
              <a:t>Key Issues Given </a:t>
            </a:r>
            <a:r>
              <a:rPr lang="en-US" sz="1200" b="1" dirty="0" err="1">
                <a:solidFill>
                  <a:schemeClr val="bg1"/>
                </a:solidFill>
              </a:rPr>
              <a:t>Plutos</a:t>
            </a:r>
            <a:r>
              <a:rPr lang="en-US" sz="1200" b="1" dirty="0">
                <a:solidFill>
                  <a:schemeClr val="bg1"/>
                </a:solidFill>
              </a:rPr>
              <a:t>’ Acquisition of PA Consulting</a:t>
            </a:r>
          </a:p>
        </p:txBody>
      </p:sp>
      <p:sp>
        <p:nvSpPr>
          <p:cNvPr id="90003" name="acme-flag-90003"/>
          <p:cNvSpPr/>
          <p:nvPr/>
        </p:nvSpPr>
        <p:spPr>
          <a:xfrm>
            <a:off x="952599" y="1799058"/>
            <a:ext cx="3675860" cy="4349496"/>
          </a:xfrm>
          <a:prstGeom prst="rect">
            <a:avLst/>
          </a:prstGeom>
          <a:solidFill>
            <a:srgbClr val="FFD400">
              <a:alpha val="30000"/>
            </a:srgbClr>
          </a:solidFill>
          <a:ln w="19050">
            <a:solidFill>
              <a:srgbClr val="E80000"/>
            </a:solidFill>
          </a:ln>
        </p:spPr>
        <p:txBody>
          <a:bodyPr/>
          <a:lstStyle/>
          <a:p/>
        </p:txBody>
      </p:sp>
      <p:sp>
        <p:nvSpPr>
          <p:cNvPr id="90004" name="acme-flag-90004"/>
          <p:cNvSpPr/>
          <p:nvPr/>
        </p:nvSpPr>
        <p:spPr>
          <a:xfrm>
            <a:off x="952599" y="1799058"/>
            <a:ext cx="3675860" cy="4349496"/>
          </a:xfrm>
          <a:prstGeom prst="rect">
            <a:avLst/>
          </a:prstGeom>
          <a:solidFill>
            <a:srgbClr val="FFD400">
              <a:alpha val="30000"/>
            </a:srgbClr>
          </a:solidFill>
          <a:ln w="19050">
            <a:solidFill>
              <a:srgbClr val="E80000"/>
            </a:solidFill>
          </a:ln>
        </p:spPr>
        <p:txBody>
          <a:bodyPr/>
          <a:lstStyle/>
          <a:p/>
        </p:txBody>
      </p:sp>
      <p:sp>
        <p:nvSpPr>
          <p:cNvPr id="90005" name="acme-note-90005"/>
          <p:cNvSpPr txBox="1"/>
          <p:nvPr/>
        </p:nvSpPr>
        <p:spPr>
          <a:xfrm>
            <a:off x="152400" y="6153000"/>
            <a:ext cx="8839200" cy="64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2 brand issues flagged:</a:t>
            </a:r>
          </a:p>
          <a:p>
            <a:r>
              <a:rPr lang="en-US" sz="1000" b="0" dirty="0">
                <a:solidFill>
                  <a:srgbClr val="9B0000"/>
                </a:solidFill>
                <a:latin typeface="Calibri"/>
              </a:rPr>
              <a:t>1. Label uses “Percentile” spelled out (“75th Percentile”). Guidelines require “%ile”.</a:t>
            </a:r>
          </a:p>
          <a:p>
            <a:r>
              <a:rPr lang="en-US" sz="1000" b="0" dirty="0">
                <a:solidFill>
                  <a:srgbClr val="9B0000"/>
                </a:solidFill>
                <a:latin typeface="Calibri"/>
              </a:rPr>
              <a:t>2. Label uses “Percentile” spelled out (“25th Percentile”). Guidelines require “%ile”.</a:t>
            </a:r>
          </a:p>
        </p:txBody>
      </p:sp>
    </p:spTree>
    <p:extLst>
      <p:ext uri="{BB962C8B-B14F-4D97-AF65-F5344CB8AC3E}">
        <p14:creationId xmlns:p14="http://schemas.microsoft.com/office/powerpoint/2010/main" val="408918467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125303C1-786D-6F03-4C1B-65F5EA210732}"/>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7CD123C6-2F1D-66BE-A4DA-2F1D1D865E9F}"/>
              </a:ext>
            </a:extLst>
          </p:cNvPr>
          <p:cNvSpPr>
            <a:spLocks noGrp="1"/>
          </p:cNvSpPr>
          <p:nvPr>
            <p:ph type="title"/>
          </p:nvPr>
        </p:nvSpPr>
        <p:spPr>
          <a:xfrm>
            <a:off x="882797" y="44215"/>
            <a:ext cx="8074152" cy="1292899"/>
          </a:xfrm>
        </p:spPr>
        <p:txBody>
          <a:bodyPr/>
          <a:lstStyle/>
          <a:p>
            <a:r>
              <a:rPr lang="en-US" dirty="0" err="1"/>
              <a:t>Plutos</a:t>
            </a:r>
            <a:r>
              <a:rPr lang="en-US" dirty="0"/>
              <a:t>’ business profile has evolved with the addition of PA Consulting, which has implications for the peer group screening criteria</a:t>
            </a:r>
          </a:p>
        </p:txBody>
      </p:sp>
      <p:sp>
        <p:nvSpPr>
          <p:cNvPr id="4" name="Rectangle 3">
            <a:extLst>
              <a:ext uri="{FF2B5EF4-FFF2-40B4-BE49-F238E27FC236}">
                <a16:creationId xmlns:a16="http://schemas.microsoft.com/office/drawing/2014/main" id="{FDD11DD2-EFF1-68E6-50E3-8F3DD9459D38}"/>
              </a:ext>
            </a:extLst>
          </p:cNvPr>
          <p:cNvSpPr/>
          <p:nvPr/>
        </p:nvSpPr>
        <p:spPr>
          <a:xfrm>
            <a:off x="59256" y="1392912"/>
            <a:ext cx="2444688"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Segment Revenue Mix</a:t>
            </a:r>
          </a:p>
          <a:p>
            <a:pPr algn="ctr">
              <a:lnSpc>
                <a:spcPct val="85000"/>
              </a:lnSpc>
            </a:pPr>
            <a:r>
              <a:rPr lang="en-US" sz="1100" b="1" dirty="0">
                <a:solidFill>
                  <a:srgbClr val="000000"/>
                </a:solidFill>
                <a:latin typeface="Calibri" panose="020F0502020204030204" pitchFamily="34" charset="0"/>
              </a:rPr>
              <a:t>FY26E</a:t>
            </a:r>
            <a:r>
              <a:rPr lang="en-US" sz="1100" b="1" baseline="30000" dirty="0">
                <a:solidFill>
                  <a:srgbClr val="000000"/>
                </a:solidFill>
                <a:latin typeface="Calibri" panose="020F0502020204030204" pitchFamily="34" charset="0"/>
              </a:rPr>
              <a:t>(1)</a:t>
            </a:r>
            <a:endParaRPr lang="en-US" sz="1100" b="1" baseline="30000" dirty="0"/>
          </a:p>
        </p:txBody>
      </p:sp>
      <p:sp>
        <p:nvSpPr>
          <p:cNvPr id="6" name="Rectangle 5">
            <a:extLst>
              <a:ext uri="{FF2B5EF4-FFF2-40B4-BE49-F238E27FC236}">
                <a16:creationId xmlns:a16="http://schemas.microsoft.com/office/drawing/2014/main" id="{8F845FD9-2ED7-E37A-C259-B01686BEAD35}"/>
              </a:ext>
            </a:extLst>
          </p:cNvPr>
          <p:cNvSpPr/>
          <p:nvPr/>
        </p:nvSpPr>
        <p:spPr>
          <a:xfrm>
            <a:off x="53374" y="3234568"/>
            <a:ext cx="2444480" cy="497170"/>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pPr>
            <a:r>
              <a:rPr lang="en-US" sz="1100" b="1" dirty="0" err="1">
                <a:solidFill>
                  <a:schemeClr val="tx1"/>
                </a:solidFill>
              </a:rPr>
              <a:t>Plutos</a:t>
            </a:r>
            <a:r>
              <a:rPr lang="en-US" sz="1100" b="1" dirty="0">
                <a:solidFill>
                  <a:schemeClr val="tx1"/>
                </a:solidFill>
              </a:rPr>
              <a:t>’ Sector</a:t>
            </a:r>
          </a:p>
          <a:p>
            <a:pPr marL="171450" indent="-112713">
              <a:lnSpc>
                <a:spcPct val="80000"/>
              </a:lnSpc>
              <a:spcBef>
                <a:spcPts val="600"/>
              </a:spcBef>
              <a:buFont typeface="Wingdings" panose="05000000000000000000" pitchFamily="2" charset="2"/>
              <a:buChar char="§"/>
            </a:pPr>
            <a:r>
              <a:rPr lang="en-US" sz="1100" dirty="0">
                <a:solidFill>
                  <a:schemeClr val="tx1"/>
                </a:solidFill>
              </a:rPr>
              <a:t>Research &amp; Consulting</a:t>
            </a:r>
          </a:p>
        </p:txBody>
      </p:sp>
      <p:sp>
        <p:nvSpPr>
          <p:cNvPr id="7" name="Rectangle 6">
            <a:extLst>
              <a:ext uri="{FF2B5EF4-FFF2-40B4-BE49-F238E27FC236}">
                <a16:creationId xmlns:a16="http://schemas.microsoft.com/office/drawing/2014/main" id="{EC3E27AE-363A-81AD-700C-2532F4E3F390}"/>
              </a:ext>
            </a:extLst>
          </p:cNvPr>
          <p:cNvSpPr/>
          <p:nvPr/>
        </p:nvSpPr>
        <p:spPr>
          <a:xfrm>
            <a:off x="2565161" y="1392913"/>
            <a:ext cx="2314017"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Operating Unit Revenue Mix FY26E</a:t>
            </a:r>
            <a:r>
              <a:rPr lang="en-US" sz="1100" b="1" baseline="30000" dirty="0">
                <a:solidFill>
                  <a:srgbClr val="000000"/>
                </a:solidFill>
                <a:latin typeface="Calibri" panose="020F0502020204030204" pitchFamily="34" charset="0"/>
              </a:rPr>
              <a:t>(2)</a:t>
            </a:r>
            <a:endParaRPr lang="en-US" sz="1100" b="1" dirty="0">
              <a:solidFill>
                <a:schemeClr val="tx1"/>
              </a:solidFill>
            </a:endParaRPr>
          </a:p>
          <a:p>
            <a:pPr marL="171450" indent="-171450">
              <a:lnSpc>
                <a:spcPct val="85000"/>
              </a:lnSpc>
              <a:buFont typeface="Wingdings" panose="05000000000000000000" pitchFamily="2" charset="2"/>
              <a:buChar char="§"/>
            </a:pPr>
            <a:endParaRPr lang="en-US" sz="1100" dirty="0">
              <a:solidFill>
                <a:schemeClr val="tx1"/>
              </a:solidFill>
            </a:endParaRPr>
          </a:p>
          <a:p>
            <a:pPr marL="58737">
              <a:lnSpc>
                <a:spcPct val="85000"/>
              </a:lnSpc>
            </a:pPr>
            <a:endParaRPr lang="en-US" sz="1100" b="1" dirty="0">
              <a:solidFill>
                <a:schemeClr val="tx1"/>
              </a:solidFill>
            </a:endParaRPr>
          </a:p>
          <a:p>
            <a:pPr algn="ctr">
              <a:lnSpc>
                <a:spcPct val="85000"/>
              </a:lnSpc>
            </a:pPr>
            <a:endParaRPr lang="en-US" sz="1100" b="1" dirty="0">
              <a:solidFill>
                <a:schemeClr val="tx1"/>
              </a:solidFill>
            </a:endParaRPr>
          </a:p>
        </p:txBody>
      </p:sp>
      <p:sp>
        <p:nvSpPr>
          <p:cNvPr id="8" name="Rectangle 7">
            <a:extLst>
              <a:ext uri="{FF2B5EF4-FFF2-40B4-BE49-F238E27FC236}">
                <a16:creationId xmlns:a16="http://schemas.microsoft.com/office/drawing/2014/main" id="{EF267B8C-5092-9A43-5F7B-C1BA50DA43EF}"/>
              </a:ext>
            </a:extLst>
          </p:cNvPr>
          <p:cNvSpPr/>
          <p:nvPr/>
        </p:nvSpPr>
        <p:spPr>
          <a:xfrm>
            <a:off x="53270" y="3775742"/>
            <a:ext cx="2444689" cy="863312"/>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spcBef>
                <a:spcPts val="600"/>
              </a:spcBef>
            </a:pPr>
            <a:r>
              <a:rPr lang="en-US" sz="1100" b="1" dirty="0" err="1">
                <a:solidFill>
                  <a:schemeClr val="tx1"/>
                </a:solidFill>
              </a:rPr>
              <a:t>Plutos</a:t>
            </a:r>
            <a:r>
              <a:rPr lang="en-US" sz="1100" b="1" dirty="0">
                <a:solidFill>
                  <a:schemeClr val="tx1"/>
                </a:solidFill>
              </a:rPr>
              <a:t>’ Business Model</a:t>
            </a:r>
          </a:p>
          <a:p>
            <a:pPr marL="171450" indent="-112713">
              <a:lnSpc>
                <a:spcPct val="80000"/>
              </a:lnSpc>
              <a:spcBef>
                <a:spcPts val="600"/>
              </a:spcBef>
              <a:buFont typeface="Wingdings" panose="05000000000000000000" pitchFamily="2" charset="2"/>
              <a:buChar char="§"/>
            </a:pPr>
            <a:r>
              <a:rPr lang="en-US" sz="1100" dirty="0">
                <a:solidFill>
                  <a:schemeClr val="tx1"/>
                </a:solidFill>
              </a:rPr>
              <a:t>Consulting &amp; professional services</a:t>
            </a:r>
          </a:p>
          <a:p>
            <a:pPr marL="171450" indent="-112713">
              <a:lnSpc>
                <a:spcPct val="80000"/>
              </a:lnSpc>
              <a:spcBef>
                <a:spcPts val="600"/>
              </a:spcBef>
              <a:buFont typeface="Wingdings" panose="05000000000000000000" pitchFamily="2" charset="2"/>
              <a:buChar char="§"/>
            </a:pPr>
            <a:r>
              <a:rPr lang="en-US" sz="1100" dirty="0">
                <a:solidFill>
                  <a:schemeClr val="tx1"/>
                </a:solidFill>
              </a:rPr>
              <a:t>Advanced engineering and technology</a:t>
            </a:r>
          </a:p>
        </p:txBody>
      </p:sp>
      <p:sp>
        <p:nvSpPr>
          <p:cNvPr id="9" name="Rectangle 8">
            <a:extLst>
              <a:ext uri="{FF2B5EF4-FFF2-40B4-BE49-F238E27FC236}">
                <a16:creationId xmlns:a16="http://schemas.microsoft.com/office/drawing/2014/main" id="{09DCA786-F5F9-4EC0-FADC-8CCA4D618688}"/>
              </a:ext>
            </a:extLst>
          </p:cNvPr>
          <p:cNvSpPr/>
          <p:nvPr/>
        </p:nvSpPr>
        <p:spPr>
          <a:xfrm>
            <a:off x="59256" y="4685844"/>
            <a:ext cx="2444688"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Customers</a:t>
            </a:r>
          </a:p>
        </p:txBody>
      </p:sp>
      <p:graphicFrame>
        <p:nvGraphicFramePr>
          <p:cNvPr id="10" name="Table 9">
            <a:extLst>
              <a:ext uri="{FF2B5EF4-FFF2-40B4-BE49-F238E27FC236}">
                <a16:creationId xmlns:a16="http://schemas.microsoft.com/office/drawing/2014/main" id="{40153882-5954-76DF-40D1-08496F1FF069}"/>
              </a:ext>
            </a:extLst>
          </p:cNvPr>
          <p:cNvGraphicFramePr>
            <a:graphicFrameLocks noGrp="1"/>
          </p:cNvGraphicFramePr>
          <p:nvPr>
            <p:extLst>
              <p:ext uri="{D42A27DB-BD31-4B8C-83A1-F6EECF244321}">
                <p14:modId xmlns:p14="http://schemas.microsoft.com/office/powerpoint/2010/main" val="479422245"/>
              </p:ext>
            </p:extLst>
          </p:nvPr>
        </p:nvGraphicFramePr>
        <p:xfrm>
          <a:off x="4952039" y="1601027"/>
          <a:ext cx="4114800" cy="3849624"/>
        </p:xfrm>
        <a:graphic>
          <a:graphicData uri="http://schemas.openxmlformats.org/drawingml/2006/table">
            <a:tbl>
              <a:tblPr firstRow="1" bandRow="1">
                <a:tableStyleId>{A77E1047-C769-4665-AFDC-4AF39A3502B1}</a:tableStyleId>
              </a:tblPr>
              <a:tblGrid>
                <a:gridCol w="822960">
                  <a:extLst>
                    <a:ext uri="{9D8B030D-6E8A-4147-A177-3AD203B41FA5}">
                      <a16:colId xmlns:a16="http://schemas.microsoft.com/office/drawing/2014/main" val="2703726966"/>
                    </a:ext>
                  </a:extLst>
                </a:gridCol>
                <a:gridCol w="1366465">
                  <a:extLst>
                    <a:ext uri="{9D8B030D-6E8A-4147-A177-3AD203B41FA5}">
                      <a16:colId xmlns:a16="http://schemas.microsoft.com/office/drawing/2014/main" val="3757828032"/>
                    </a:ext>
                  </a:extLst>
                </a:gridCol>
                <a:gridCol w="1925375">
                  <a:extLst>
                    <a:ext uri="{9D8B030D-6E8A-4147-A177-3AD203B41FA5}">
                      <a16:colId xmlns:a16="http://schemas.microsoft.com/office/drawing/2014/main" val="189718360"/>
                    </a:ext>
                  </a:extLst>
                </a:gridCol>
              </a:tblGrid>
              <a:tr h="0">
                <a:tc>
                  <a:txBody>
                    <a:bodyPr/>
                    <a:lstStyle/>
                    <a:p>
                      <a:pPr algn="ctr"/>
                      <a:r>
                        <a:rPr lang="en-US" sz="900" dirty="0"/>
                        <a:t>Characteristic</a:t>
                      </a:r>
                    </a:p>
                  </a:txBody>
                  <a:tcPr marL="73152" marR="73152" marT="18288" marB="18288" anchor="b">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dirty="0" err="1"/>
                        <a:t>Plutos</a:t>
                      </a:r>
                      <a:endParaRPr lang="en-US" sz="900" dirty="0"/>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a:t>Criteria </a:t>
                      </a:r>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974926"/>
                  </a:ext>
                </a:extLst>
              </a:tr>
              <a:tr h="0">
                <a:tc>
                  <a:txBody>
                    <a:bodyPr/>
                    <a:lstStyle/>
                    <a:p>
                      <a:pPr>
                        <a:lnSpc>
                          <a:spcPct val="90000"/>
                        </a:lnSpc>
                      </a:pPr>
                      <a:r>
                        <a:rPr lang="en-US" sz="900" b="1"/>
                        <a:t>Universe</a:t>
                      </a:r>
                    </a:p>
                  </a:txBody>
                  <a:tcPr marL="73152" marR="73152" marT="18288" marB="18288">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endParaRPr lang="en-US" sz="900">
                        <a:solidFill>
                          <a:schemeClr val="tx1"/>
                        </a:solidFill>
                      </a:endParaRPr>
                    </a:p>
                  </a:txBody>
                  <a:tcPr marL="73152" marR="73152" marT="18288" marB="18288">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dirty="0">
                          <a:solidFill>
                            <a:srgbClr val="FF0000"/>
                          </a:solidFill>
                        </a:rPr>
                        <a:t>Review companies listed in </a:t>
                      </a:r>
                      <a:r>
                        <a:rPr lang="en-US" sz="900" b="1" dirty="0" err="1">
                          <a:solidFill>
                            <a:srgbClr val="FF0000"/>
                          </a:solidFill>
                        </a:rPr>
                        <a:t>Plutos</a:t>
                      </a:r>
                      <a:r>
                        <a:rPr lang="en-US" sz="900" b="1" dirty="0">
                          <a:solidFill>
                            <a:srgbClr val="FF0000"/>
                          </a:solidFill>
                        </a:rPr>
                        <a:t>’ and PA’s </a:t>
                      </a:r>
                      <a:r>
                        <a:rPr lang="en-US" sz="900" b="1" dirty="0" err="1">
                          <a:solidFill>
                            <a:srgbClr val="FF0000"/>
                          </a:solidFill>
                        </a:rPr>
                        <a:t>noncompetes</a:t>
                      </a:r>
                      <a:endParaRPr lang="en-US" sz="900" b="1" dirty="0">
                        <a:solidFill>
                          <a:srgbClr val="FF0000"/>
                        </a:solidFill>
                      </a:endParaRPr>
                    </a:p>
                  </a:txBody>
                  <a:tcPr marL="73152" marR="73152" marT="18288" marB="18288">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657361590"/>
                  </a:ext>
                </a:extLst>
              </a:tr>
              <a:tr h="0">
                <a:tc>
                  <a:txBody>
                    <a:bodyPr/>
                    <a:lstStyle/>
                    <a:p>
                      <a:pPr>
                        <a:lnSpc>
                          <a:spcPct val="90000"/>
                        </a:lnSpc>
                      </a:pPr>
                      <a:r>
                        <a:rPr lang="en-US" sz="900" b="1"/>
                        <a:t>Geography</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Expanded beyond US and Canada </a:t>
                      </a:r>
                      <a:r>
                        <a:rPr lang="en-US" sz="900" b="1">
                          <a:solidFill>
                            <a:srgbClr val="FF0000"/>
                          </a:solidFill>
                        </a:rPr>
                        <a:t>to include UK companies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42511456"/>
                  </a:ext>
                </a:extLst>
              </a:tr>
              <a:tr h="0">
                <a:tc>
                  <a:txBody>
                    <a:bodyPr/>
                    <a:lstStyle/>
                    <a:p>
                      <a:pPr>
                        <a:lnSpc>
                          <a:spcPct val="90000"/>
                        </a:lnSpc>
                      </a:pPr>
                      <a:r>
                        <a:rPr lang="en-US" sz="900" b="1"/>
                        <a:t>Sector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Construction &amp; Engineering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IT Consulting &amp; Other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Electrical Components &amp;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Industrial Conglomerates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Manufacturing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Environmental &amp; Facilities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Communications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Technology Hardware, Storage &amp; Peripherals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Equipment &amp; Instruments </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Application Software</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3829882"/>
                  </a:ext>
                </a:extLst>
              </a:tr>
              <a:tr h="0">
                <a:tc>
                  <a:txBody>
                    <a:bodyPr/>
                    <a:lstStyle/>
                    <a:p>
                      <a:pPr>
                        <a:lnSpc>
                          <a:spcPct val="90000"/>
                        </a:lnSpc>
                      </a:pPr>
                      <a:r>
                        <a:rPr lang="en-US" sz="900" b="1"/>
                        <a:t>Customer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indent="-91440">
                        <a:lnSpc>
                          <a:spcPct val="90000"/>
                        </a:lnSpc>
                        <a:buFont typeface="Wingdings" panose="05000000000000000000" pitchFamily="2" charset="2"/>
                        <a:buChar char="§"/>
                      </a:pPr>
                      <a:r>
                        <a:rPr lang="en-US" sz="900">
                          <a:solidFill>
                            <a:schemeClr val="tx1"/>
                          </a:solidFill>
                        </a:rPr>
                        <a:t>38% 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u="sng">
                          <a:solidFill>
                            <a:schemeClr val="tx1"/>
                          </a:solidFill>
                        </a:rPr>
                        <a:t>&gt;</a:t>
                      </a:r>
                      <a:r>
                        <a:rPr lang="en-US" sz="900">
                          <a:solidFill>
                            <a:schemeClr val="tx1"/>
                          </a:solidFill>
                        </a:rPr>
                        <a:t>30% international</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543477626"/>
                  </a:ext>
                </a:extLst>
              </a:tr>
              <a:tr h="0">
                <a:tc>
                  <a:txBody>
                    <a:bodyPr/>
                    <a:lstStyle/>
                    <a:p>
                      <a:pPr>
                        <a:lnSpc>
                          <a:spcPct val="90000"/>
                        </a:lnSpc>
                      </a:pPr>
                      <a:r>
                        <a:rPr lang="en-US" sz="900" b="1"/>
                        <a:t>Financial Health</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Strong financial performance</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a:solidFill>
                            <a:schemeClr val="accent4"/>
                          </a:solidFill>
                        </a:rPr>
                        <a:t>Financial viability, i.e., no material concerns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041730926"/>
                  </a:ext>
                </a:extLst>
              </a:tr>
              <a:tr h="0">
                <a:tc>
                  <a:txBody>
                    <a:bodyPr/>
                    <a:lstStyle/>
                    <a:p>
                      <a:pPr>
                        <a:lnSpc>
                          <a:spcPct val="90000"/>
                        </a:lnSpc>
                      </a:pPr>
                      <a:r>
                        <a:rPr lang="en-US" sz="900" b="1"/>
                        <a:t>Business Model</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Consulting &amp; professional services provider</a:t>
                      </a:r>
                    </a:p>
                    <a:p>
                      <a:pPr marL="91440" indent="-91440">
                        <a:lnSpc>
                          <a:spcPct val="90000"/>
                        </a:lnSpc>
                        <a:buFont typeface="Wingdings" panose="05000000000000000000" pitchFamily="2" charset="2"/>
                        <a:buChar char="§"/>
                      </a:pPr>
                      <a:r>
                        <a:rPr lang="en-US" sz="900">
                          <a:solidFill>
                            <a:schemeClr val="tx1"/>
                          </a:solidFill>
                        </a:rPr>
                        <a:t>Advanced engineering and technology capabilities</a:t>
                      </a:r>
                    </a:p>
                  </a:txBody>
                  <a:tcPr marL="73152" marR="73152" marT="18288" marB="18288">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Consulting &amp; professional services provider</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Advanced engineering and technology capabilities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6617838"/>
                  </a:ext>
                </a:extLst>
              </a:tr>
            </a:tbl>
          </a:graphicData>
        </a:graphic>
      </p:graphicFrame>
      <p:sp>
        <p:nvSpPr>
          <p:cNvPr id="13" name="Rectangle 12">
            <a:extLst>
              <a:ext uri="{FF2B5EF4-FFF2-40B4-BE49-F238E27FC236}">
                <a16:creationId xmlns:a16="http://schemas.microsoft.com/office/drawing/2014/main" id="{5732D7B0-05D6-A91F-5B6C-8E69DE0D7080}"/>
              </a:ext>
            </a:extLst>
          </p:cNvPr>
          <p:cNvSpPr/>
          <p:nvPr/>
        </p:nvSpPr>
        <p:spPr>
          <a:xfrm>
            <a:off x="2562385" y="4685844"/>
            <a:ext cx="2313061"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Adj. Net Revenue ($B)</a:t>
            </a:r>
          </a:p>
          <a:p>
            <a:pPr algn="ctr">
              <a:lnSpc>
                <a:spcPct val="85000"/>
              </a:lnSpc>
            </a:pPr>
            <a:r>
              <a:rPr lang="en-US" sz="1100" b="1" dirty="0">
                <a:solidFill>
                  <a:schemeClr val="tx1"/>
                </a:solidFill>
              </a:rPr>
              <a:t>FY24A - FY29E</a:t>
            </a:r>
            <a:r>
              <a:rPr lang="en-US" sz="1100" b="1" baseline="30000" dirty="0">
                <a:solidFill>
                  <a:schemeClr val="tx1"/>
                </a:solidFill>
              </a:rPr>
              <a:t>(3)(4)</a:t>
            </a:r>
            <a:endParaRPr lang="en-US" sz="1100" b="1" dirty="0">
              <a:solidFill>
                <a:schemeClr val="tx1"/>
              </a:solidFill>
            </a:endParaRPr>
          </a:p>
          <a:p>
            <a:pPr algn="ctr">
              <a:lnSpc>
                <a:spcPct val="85000"/>
              </a:lnSpc>
            </a:pPr>
            <a:endParaRPr lang="en-US" sz="1100" b="1" dirty="0">
              <a:solidFill>
                <a:schemeClr val="tx1"/>
              </a:solidFill>
            </a:endParaRPr>
          </a:p>
        </p:txBody>
      </p:sp>
      <p:sp>
        <p:nvSpPr>
          <p:cNvPr id="18" name="TextBox 17">
            <a:extLst>
              <a:ext uri="{FF2B5EF4-FFF2-40B4-BE49-F238E27FC236}">
                <a16:creationId xmlns:a16="http://schemas.microsoft.com/office/drawing/2014/main" id="{5AFC04ED-A808-4DDE-7127-B425A3E9EF6B}"/>
              </a:ext>
            </a:extLst>
          </p:cNvPr>
          <p:cNvSpPr txBox="1"/>
          <p:nvPr/>
        </p:nvSpPr>
        <p:spPr>
          <a:xfrm>
            <a:off x="59256" y="1167893"/>
            <a:ext cx="4816190" cy="196541"/>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dirty="0" err="1">
                <a:solidFill>
                  <a:schemeClr val="bg1"/>
                </a:solidFill>
              </a:rPr>
              <a:t>Plutos</a:t>
            </a:r>
            <a:r>
              <a:rPr lang="en-US" sz="1100" b="1" dirty="0">
                <a:solidFill>
                  <a:schemeClr val="bg1"/>
                </a:solidFill>
              </a:rPr>
              <a:t> Business Profile</a:t>
            </a:r>
            <a:endParaRPr lang="en-US" sz="1100" b="1" baseline="30000" dirty="0">
              <a:solidFill>
                <a:schemeClr val="bg1"/>
              </a:solidFill>
            </a:endParaRPr>
          </a:p>
        </p:txBody>
      </p:sp>
      <p:sp>
        <p:nvSpPr>
          <p:cNvPr id="20" name="TextBox 19">
            <a:extLst>
              <a:ext uri="{FF2B5EF4-FFF2-40B4-BE49-F238E27FC236}">
                <a16:creationId xmlns:a16="http://schemas.microsoft.com/office/drawing/2014/main" id="{C321E67B-A179-A09B-A2FE-4E641C1F7413}"/>
              </a:ext>
            </a:extLst>
          </p:cNvPr>
          <p:cNvSpPr txBox="1"/>
          <p:nvPr/>
        </p:nvSpPr>
        <p:spPr>
          <a:xfrm>
            <a:off x="4953000" y="1159421"/>
            <a:ext cx="4113839" cy="205013"/>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a:solidFill>
                  <a:schemeClr val="bg1"/>
                </a:solidFill>
              </a:rPr>
              <a:t>Implications for Peer Screening Criteria</a:t>
            </a:r>
            <a:endParaRPr lang="en-US" sz="1100" b="1" baseline="30000">
              <a:solidFill>
                <a:schemeClr val="bg1"/>
              </a:solidFill>
            </a:endParaRPr>
          </a:p>
        </p:txBody>
      </p:sp>
      <p:pic>
        <p:nvPicPr>
          <p:cNvPr id="21" name="Picture 20">
            <a:extLst>
              <a:ext uri="{FF2B5EF4-FFF2-40B4-BE49-F238E27FC236}">
                <a16:creationId xmlns:a16="http://schemas.microsoft.com/office/drawing/2014/main" id="{90B84045-DD08-C4B1-4C12-853C67A412C0}"/>
              </a:ext>
            </a:extLst>
          </p:cNvPr>
          <p:cNvPicPr>
            <a:picLocks noChangeAspect="1"/>
          </p:cNvPicPr>
          <p:nvPr/>
        </p:nvPicPr>
        <p:blipFill>
          <a:blip r:embed="rId3"/>
          <a:stretch>
            <a:fillRect/>
          </a:stretch>
        </p:blipFill>
        <p:spPr>
          <a:xfrm>
            <a:off x="-34056" y="4926012"/>
            <a:ext cx="2631311" cy="1578787"/>
          </a:xfrm>
          <a:prstGeom prst="rect">
            <a:avLst/>
          </a:prstGeom>
        </p:spPr>
      </p:pic>
      <p:pic>
        <p:nvPicPr>
          <p:cNvPr id="25" name="Picture 66">
            <a:extLst>
              <a:ext uri="{FF2B5EF4-FFF2-40B4-BE49-F238E27FC236}">
                <a16:creationId xmlns:a16="http://schemas.microsoft.com/office/drawing/2014/main" id="{EE813D8B-FB42-291D-91DA-EA2DE7269E1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74772" y="1336153"/>
            <a:ext cx="3886295" cy="2303241"/>
          </a:xfrm>
          <a:prstGeom prst="rect">
            <a:avLst/>
          </a:prstGeom>
        </p:spPr>
      </p:pic>
      <p:sp>
        <p:nvSpPr>
          <p:cNvPr id="27" name="TextBox 26">
            <a:extLst>
              <a:ext uri="{FF2B5EF4-FFF2-40B4-BE49-F238E27FC236}">
                <a16:creationId xmlns:a16="http://schemas.microsoft.com/office/drawing/2014/main" id="{80388426-B593-34E0-7EA7-2D562A3B1B8D}"/>
              </a:ext>
            </a:extLst>
          </p:cNvPr>
          <p:cNvSpPr txBox="1"/>
          <p:nvPr/>
        </p:nvSpPr>
        <p:spPr>
          <a:xfrm>
            <a:off x="4952039" y="5457486"/>
            <a:ext cx="4123180" cy="1152880"/>
          </a:xfrm>
          <a:prstGeom prst="rect">
            <a:avLst/>
          </a:prstGeom>
          <a:noFill/>
        </p:spPr>
        <p:txBody>
          <a:bodyPr vert="horz" wrap="square" lIns="45720" tIns="45720" rIns="45720" bIns="45720" rtlCol="0" anchor="ctr">
            <a:spAutoFit/>
          </a:bodyPr>
          <a:lstStyle/>
          <a:p>
            <a:pPr marL="173038" indent="-173038">
              <a:lnSpc>
                <a:spcPct val="85000"/>
              </a:lnSpc>
              <a:buAutoNum type="arabicParenBoth"/>
            </a:pPr>
            <a:r>
              <a:rPr lang="en-US" sz="900" i="1" dirty="0"/>
              <a:t>FY26 segment mix estimated by applying Q1 FY26 adj. net revenue segment mix for I&amp;AF to projected $8B of full‑year FY26 I&amp;AF adj. net revenue and adding $1.4B of projected PA Consulting revenue</a:t>
            </a:r>
          </a:p>
          <a:p>
            <a:pPr marL="173038" indent="-173038">
              <a:lnSpc>
                <a:spcPct val="85000"/>
              </a:lnSpc>
              <a:buAutoNum type="arabicParenBoth"/>
            </a:pPr>
            <a:r>
              <a:rPr lang="en-US" sz="900" i="1" dirty="0"/>
              <a:t>Total revenue for all OUs is based on FY26e (3+9F) adjusted net revenue forecast as provided by management</a:t>
            </a:r>
          </a:p>
          <a:p>
            <a:pPr marL="173038" indent="-173038">
              <a:lnSpc>
                <a:spcPct val="85000"/>
              </a:lnSpc>
              <a:buAutoNum type="arabicParenBoth"/>
            </a:pPr>
            <a:r>
              <a:rPr lang="en-US" sz="900" i="1" dirty="0"/>
              <a:t>FY26 and FY29 revenues projected using guidance per </a:t>
            </a:r>
            <a:r>
              <a:rPr lang="en-US" sz="900" i="1" dirty="0" err="1"/>
              <a:t>Plutos</a:t>
            </a:r>
            <a:r>
              <a:rPr lang="en-US" sz="900" i="1" dirty="0"/>
              <a:t>’ 2026 investor day: </a:t>
            </a:r>
          </a:p>
          <a:p>
            <a:pPr marL="284163" lvl="1" indent="-90488">
              <a:lnSpc>
                <a:spcPct val="85000"/>
              </a:lnSpc>
              <a:buFont typeface="Wingdings" panose="05000000000000000000" pitchFamily="2" charset="2"/>
              <a:buChar char="§"/>
            </a:pPr>
            <a:r>
              <a:rPr lang="en-US" sz="900" i="1" dirty="0"/>
              <a:t>Midpoint of 6.5%-10% growth for FY26</a:t>
            </a:r>
          </a:p>
          <a:p>
            <a:pPr marL="284163" lvl="1" indent="-90488">
              <a:lnSpc>
                <a:spcPct val="85000"/>
              </a:lnSpc>
              <a:buFont typeface="Wingdings" panose="05000000000000000000" pitchFamily="2" charset="2"/>
              <a:buChar char="§"/>
            </a:pPr>
            <a:r>
              <a:rPr lang="en-US" sz="900" i="1" dirty="0"/>
              <a:t>Midpoint of 6-8% CAGR for FY29 (using FY24 as baseline)</a:t>
            </a:r>
          </a:p>
          <a:p>
            <a:pPr marL="173038" indent="-173038">
              <a:lnSpc>
                <a:spcPct val="85000"/>
              </a:lnSpc>
              <a:buAutoNum type="arabicParenBoth"/>
            </a:pPr>
            <a:r>
              <a:rPr lang="en-US" sz="900" i="1" dirty="0"/>
              <a:t>Assumes gross revenue = adj. net revenue for PA Consulting</a:t>
            </a:r>
          </a:p>
        </p:txBody>
      </p:sp>
      <p:pic>
        <p:nvPicPr>
          <p:cNvPr id="32" name="Picture 31">
            <a:extLst>
              <a:ext uri="{FF2B5EF4-FFF2-40B4-BE49-F238E27FC236}">
                <a16:creationId xmlns:a16="http://schemas.microsoft.com/office/drawing/2014/main" id="{C6447481-66F6-135F-E02F-09FE5E135053}"/>
              </a:ext>
            </a:extLst>
          </p:cNvPr>
          <p:cNvPicPr>
            <a:picLocks noChangeAspect="1"/>
          </p:cNvPicPr>
          <p:nvPr/>
        </p:nvPicPr>
        <p:blipFill>
          <a:blip r:embed="rId5"/>
          <a:stretch>
            <a:fillRect/>
          </a:stretch>
        </p:blipFill>
        <p:spPr>
          <a:xfrm>
            <a:off x="2558723" y="5055520"/>
            <a:ext cx="2325893" cy="1292162"/>
          </a:xfrm>
          <a:prstGeom prst="rect">
            <a:avLst/>
          </a:prstGeom>
        </p:spPr>
      </p:pic>
      <p:sp>
        <p:nvSpPr>
          <p:cNvPr id="34" name="Rectangle 33">
            <a:extLst>
              <a:ext uri="{FF2B5EF4-FFF2-40B4-BE49-F238E27FC236}">
                <a16:creationId xmlns:a16="http://schemas.microsoft.com/office/drawing/2014/main" id="{A841D095-5E52-D2F1-8DBB-10F852391E6C}"/>
              </a:ext>
            </a:extLst>
          </p:cNvPr>
          <p:cNvSpPr/>
          <p:nvPr/>
        </p:nvSpPr>
        <p:spPr>
          <a:xfrm>
            <a:off x="3142852" y="6392338"/>
            <a:ext cx="91440" cy="91440"/>
          </a:xfrm>
          <a:prstGeom prst="rect">
            <a:avLst/>
          </a:prstGeom>
          <a:solidFill>
            <a:schemeClr val="accent1">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5" name="TextBox 34">
            <a:extLst>
              <a:ext uri="{FF2B5EF4-FFF2-40B4-BE49-F238E27FC236}">
                <a16:creationId xmlns:a16="http://schemas.microsoft.com/office/drawing/2014/main" id="{9E4A4CE0-EB96-E9CC-C1A0-3EFCBCAAB192}"/>
              </a:ext>
            </a:extLst>
          </p:cNvPr>
          <p:cNvSpPr txBox="1"/>
          <p:nvPr/>
        </p:nvSpPr>
        <p:spPr>
          <a:xfrm>
            <a:off x="3242948" y="6339089"/>
            <a:ext cx="1280160" cy="197939"/>
          </a:xfrm>
          <a:prstGeom prst="rect">
            <a:avLst/>
          </a:prstGeom>
          <a:noFill/>
        </p:spPr>
        <p:txBody>
          <a:bodyPr vert="horz" wrap="square" lIns="45720" tIns="45720" rIns="45720" bIns="45720" rtlCol="0" anchor="ctr">
            <a:spAutoFit/>
          </a:bodyPr>
          <a:lstStyle/>
          <a:p>
            <a:pPr>
              <a:lnSpc>
                <a:spcPct val="85000"/>
              </a:lnSpc>
            </a:pPr>
            <a:r>
              <a:rPr lang="en-US" sz="800" b="1"/>
              <a:t>I&amp;AF</a:t>
            </a:r>
          </a:p>
        </p:txBody>
      </p:sp>
      <p:sp>
        <p:nvSpPr>
          <p:cNvPr id="36" name="TextBox 35">
            <a:extLst>
              <a:ext uri="{FF2B5EF4-FFF2-40B4-BE49-F238E27FC236}">
                <a16:creationId xmlns:a16="http://schemas.microsoft.com/office/drawing/2014/main" id="{7CFFBE14-4A07-FF3B-11C4-E7E9EC3C1BEC}"/>
              </a:ext>
            </a:extLst>
          </p:cNvPr>
          <p:cNvSpPr txBox="1"/>
          <p:nvPr/>
        </p:nvSpPr>
        <p:spPr>
          <a:xfrm>
            <a:off x="2975918" y="5103912"/>
            <a:ext cx="1280160" cy="163587"/>
          </a:xfrm>
          <a:prstGeom prst="rect">
            <a:avLst/>
          </a:prstGeom>
          <a:noFill/>
          <a:ln w="12700">
            <a:solidFill>
              <a:schemeClr val="tx1"/>
            </a:solidFill>
          </a:ln>
        </p:spPr>
        <p:txBody>
          <a:bodyPr vert="horz" wrap="square" lIns="45720" tIns="45720" rIns="45720" bIns="45720" rtlCol="0" anchor="ctr">
            <a:spAutoFit/>
          </a:bodyPr>
          <a:lstStyle/>
          <a:p>
            <a:pPr algn="ctr">
              <a:lnSpc>
                <a:spcPct val="85000"/>
              </a:lnSpc>
            </a:pPr>
            <a:r>
              <a:rPr lang="en-US" sz="800" b="1"/>
              <a:t>FY25-29 CAGR: 6% to 8% </a:t>
            </a:r>
          </a:p>
        </p:txBody>
      </p:sp>
      <p:sp>
        <p:nvSpPr>
          <p:cNvPr id="37" name="Rectangle 36">
            <a:extLst>
              <a:ext uri="{FF2B5EF4-FFF2-40B4-BE49-F238E27FC236}">
                <a16:creationId xmlns:a16="http://schemas.microsoft.com/office/drawing/2014/main" id="{83E381C2-80A4-E9AC-BF22-D852170146BD}"/>
              </a:ext>
            </a:extLst>
          </p:cNvPr>
          <p:cNvSpPr/>
          <p:nvPr/>
        </p:nvSpPr>
        <p:spPr>
          <a:xfrm>
            <a:off x="3641802" y="6392338"/>
            <a:ext cx="91440" cy="91440"/>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8" name="TextBox 37">
            <a:extLst>
              <a:ext uri="{FF2B5EF4-FFF2-40B4-BE49-F238E27FC236}">
                <a16:creationId xmlns:a16="http://schemas.microsoft.com/office/drawing/2014/main" id="{D91F996A-2D21-8996-527D-3698DFA447C2}"/>
              </a:ext>
            </a:extLst>
          </p:cNvPr>
          <p:cNvSpPr txBox="1"/>
          <p:nvPr/>
        </p:nvSpPr>
        <p:spPr>
          <a:xfrm>
            <a:off x="3741898" y="6339089"/>
            <a:ext cx="731520" cy="197939"/>
          </a:xfrm>
          <a:prstGeom prst="rect">
            <a:avLst/>
          </a:prstGeom>
          <a:noFill/>
        </p:spPr>
        <p:txBody>
          <a:bodyPr vert="horz" wrap="square" lIns="45720" tIns="45720" rIns="45720" bIns="45720" rtlCol="0" anchor="ctr">
            <a:spAutoFit/>
          </a:bodyPr>
          <a:lstStyle/>
          <a:p>
            <a:pPr>
              <a:lnSpc>
                <a:spcPct val="85000"/>
              </a:lnSpc>
            </a:pPr>
            <a:r>
              <a:rPr lang="en-US" sz="800" b="1"/>
              <a:t>PA Consulting</a:t>
            </a:r>
          </a:p>
        </p:txBody>
      </p:sp>
      <p:sp>
        <p:nvSpPr>
          <p:cNvPr id="46" name="TextBox 45">
            <a:extLst>
              <a:ext uri="{FF2B5EF4-FFF2-40B4-BE49-F238E27FC236}">
                <a16:creationId xmlns:a16="http://schemas.microsoft.com/office/drawing/2014/main" id="{C0D57FE3-F485-0F7A-DCDC-D3D1F0375940}"/>
              </a:ext>
            </a:extLst>
          </p:cNvPr>
          <p:cNvSpPr txBox="1"/>
          <p:nvPr/>
        </p:nvSpPr>
        <p:spPr>
          <a:xfrm>
            <a:off x="7547875" y="1380759"/>
            <a:ext cx="1235275" cy="224292"/>
          </a:xfrm>
          <a:prstGeom prst="rect">
            <a:avLst/>
          </a:prstGeom>
          <a:noFill/>
        </p:spPr>
        <p:txBody>
          <a:bodyPr vert="horz" wrap="none" lIns="45720" tIns="45720" rIns="45720" bIns="45720" rtlCol="0" anchor="ctr">
            <a:spAutoFit/>
          </a:bodyPr>
          <a:lstStyle/>
          <a:p>
            <a:pPr algn="ctr">
              <a:lnSpc>
                <a:spcPct val="85000"/>
              </a:lnSpc>
            </a:pPr>
            <a:r>
              <a:rPr lang="en-US" sz="1000" b="1" i="1">
                <a:solidFill>
                  <a:srgbClr val="FF0000"/>
                </a:solidFill>
              </a:rPr>
              <a:t>New criteria this year</a:t>
            </a:r>
          </a:p>
        </p:txBody>
      </p:sp>
      <p:sp>
        <p:nvSpPr>
          <p:cNvPr id="11" name="Rectangle 10">
            <a:extLst>
              <a:ext uri="{FF2B5EF4-FFF2-40B4-BE49-F238E27FC236}">
                <a16:creationId xmlns:a16="http://schemas.microsoft.com/office/drawing/2014/main" id="{6A8813E4-5433-D7EA-8401-B739253E3CC6}"/>
              </a:ext>
            </a:extLst>
          </p:cNvPr>
          <p:cNvSpPr/>
          <p:nvPr/>
        </p:nvSpPr>
        <p:spPr>
          <a:xfrm>
            <a:off x="2561428" y="3234570"/>
            <a:ext cx="2314018" cy="1402987"/>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PA Acquisition</a:t>
            </a:r>
          </a:p>
          <a:p>
            <a:pPr marL="171450" indent="-112713">
              <a:lnSpc>
                <a:spcPct val="90000"/>
              </a:lnSpc>
              <a:spcBef>
                <a:spcPts val="600"/>
              </a:spcBef>
              <a:buFont typeface="Wingdings" panose="05000000000000000000" pitchFamily="2" charset="2"/>
              <a:buChar char="§"/>
            </a:pPr>
            <a:r>
              <a:rPr lang="en-US" sz="1100">
                <a:solidFill>
                  <a:schemeClr val="tx1"/>
                </a:solidFill>
              </a:rPr>
              <a:t>Enables higher-value consulting by expanding offerings higher up the client decision-making cycle</a:t>
            </a:r>
          </a:p>
          <a:p>
            <a:pPr marL="171450" indent="-112713">
              <a:lnSpc>
                <a:spcPct val="90000"/>
              </a:lnSpc>
              <a:spcBef>
                <a:spcPts val="600"/>
              </a:spcBef>
              <a:buFont typeface="Wingdings" panose="05000000000000000000" pitchFamily="2" charset="2"/>
              <a:buChar char="§"/>
            </a:pPr>
            <a:r>
              <a:rPr lang="en-US" sz="1100">
                <a:solidFill>
                  <a:schemeClr val="tx1"/>
                </a:solidFill>
              </a:rPr>
              <a:t>Drive higher margins, EPS accretion, and strong returns</a:t>
            </a:r>
          </a:p>
        </p:txBody>
      </p:sp>
      <p:pic>
        <p:nvPicPr>
          <p:cNvPr id="2" name="Picture 1">
            <a:extLst>
              <a:ext uri="{FF2B5EF4-FFF2-40B4-BE49-F238E27FC236}">
                <a16:creationId xmlns:a16="http://schemas.microsoft.com/office/drawing/2014/main" id="{A2540D42-52DB-A352-4BC0-0F8633209E55}"/>
              </a:ext>
            </a:extLst>
          </p:cNvPr>
          <p:cNvPicPr>
            <a:picLocks noChangeAspect="1"/>
          </p:cNvPicPr>
          <p:nvPr/>
        </p:nvPicPr>
        <p:blipFill>
          <a:blip r:embed="rId6"/>
          <a:stretch>
            <a:fillRect/>
          </a:stretch>
        </p:blipFill>
        <p:spPr>
          <a:xfrm>
            <a:off x="2449588" y="1688625"/>
            <a:ext cx="2557057" cy="1596966"/>
          </a:xfrm>
          <a:prstGeom prst="rect">
            <a:avLst/>
          </a:prstGeom>
        </p:spPr>
      </p:pic>
    </p:spTree>
    <p:extLst>
      <p:ext uri="{BB962C8B-B14F-4D97-AF65-F5344CB8AC3E}">
        <p14:creationId xmlns:p14="http://schemas.microsoft.com/office/powerpoint/2010/main" val="164563059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433116" y="2634095"/>
            <a:ext cx="0" cy="2097762"/>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61" name="Straight Connector 60">
            <a:extLst>
              <a:ext uri="{FF2B5EF4-FFF2-40B4-BE49-F238E27FC236}">
                <a16:creationId xmlns:a16="http://schemas.microsoft.com/office/drawing/2014/main" id="{9039A34B-CE00-459D-BB59-EA3F23E66C75}"/>
              </a:ext>
            </a:extLst>
          </p:cNvPr>
          <p:cNvCxnSpPr>
            <a:cxnSpLocks/>
          </p:cNvCxnSpPr>
          <p:nvPr/>
        </p:nvCxnSpPr>
        <p:spPr>
          <a:xfrm>
            <a:off x="2786726"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4" name="Straight Connector 43"/>
          <p:cNvCxnSpPr>
            <a:cxnSpLocks/>
            <a:stCxn id="5" idx="3"/>
            <a:endCxn id="6" idx="1"/>
          </p:cNvCxnSpPr>
          <p:nvPr/>
        </p:nvCxnSpPr>
        <p:spPr>
          <a:xfrm>
            <a:off x="1984931" y="2453441"/>
            <a:ext cx="160359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2" name="Straight Connector 41"/>
          <p:cNvCxnSpPr>
            <a:cxnSpLocks/>
          </p:cNvCxnSpPr>
          <p:nvPr/>
        </p:nvCxnSpPr>
        <p:spPr>
          <a:xfrm>
            <a:off x="2842960" y="5820671"/>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0" name="Straight Connector 39"/>
          <p:cNvCxnSpPr>
            <a:cxnSpLocks/>
            <a:endCxn id="12" idx="1"/>
          </p:cNvCxnSpPr>
          <p:nvPr/>
        </p:nvCxnSpPr>
        <p:spPr>
          <a:xfrm>
            <a:off x="2851093" y="4307815"/>
            <a:ext cx="182880" cy="1"/>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a:off x="3519275" y="3611570"/>
            <a:ext cx="0" cy="23774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1" name="Straight Connector 30"/>
          <p:cNvCxnSpPr>
            <a:cxnSpLocks/>
          </p:cNvCxnSpPr>
          <p:nvPr/>
        </p:nvCxnSpPr>
        <p:spPr>
          <a:xfrm flipH="1">
            <a:off x="4159622" y="2728816"/>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a:stCxn id="9" idx="3"/>
            <a:endCxn id="11" idx="1"/>
          </p:cNvCxnSpPr>
          <p:nvPr/>
        </p:nvCxnSpPr>
        <p:spPr>
          <a:xfrm>
            <a:off x="4022195" y="3326670"/>
            <a:ext cx="280929"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5" name="Straight Connector 24"/>
          <p:cNvCxnSpPr>
            <a:cxnSpLocks/>
            <a:stCxn id="7" idx="3"/>
            <a:endCxn id="15" idx="1"/>
          </p:cNvCxnSpPr>
          <p:nvPr/>
        </p:nvCxnSpPr>
        <p:spPr>
          <a:xfrm flipV="1">
            <a:off x="1234151" y="4030600"/>
            <a:ext cx="368710" cy="268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6" name="Straight Connector 25"/>
          <p:cNvCxnSpPr>
            <a:cxnSpLocks/>
            <a:stCxn id="16" idx="3"/>
            <a:endCxn id="17" idx="1"/>
          </p:cNvCxnSpPr>
          <p:nvPr/>
        </p:nvCxnSpPr>
        <p:spPr>
          <a:xfrm>
            <a:off x="1234150" y="4731857"/>
            <a:ext cx="35748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7" name="Straight Connector 26"/>
          <p:cNvCxnSpPr>
            <a:cxnSpLocks/>
          </p:cNvCxnSpPr>
          <p:nvPr/>
        </p:nvCxnSpPr>
        <p:spPr>
          <a:xfrm>
            <a:off x="1234150" y="3331746"/>
            <a:ext cx="19202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4" name="Straight Connector 23"/>
          <p:cNvCxnSpPr>
            <a:cxnSpLocks/>
            <a:endCxn id="8" idx="1"/>
          </p:cNvCxnSpPr>
          <p:nvPr/>
        </p:nvCxnSpPr>
        <p:spPr>
          <a:xfrm>
            <a:off x="1433116" y="3326670"/>
            <a:ext cx="1697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19" name="Footer Placeholder 1">
            <a:extLst>
              <a:ext uri="{FF2B5EF4-FFF2-40B4-BE49-F238E27FC236}">
                <a16:creationId xmlns:a16="http://schemas.microsoft.com/office/drawing/2014/main" id="{75957B73-C0BB-1625-1014-6113D0ACDB5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ACME’s industry screen captures companies that provide consulting services, including competitors identified by </a:t>
            </a:r>
            <a:r>
              <a:rPr lang="en-US" dirty="0" err="1"/>
              <a:t>Plutos</a:t>
            </a:r>
            <a:r>
              <a:rPr lang="en-US" dirty="0"/>
              <a:t> and PA Consulting</a:t>
            </a:r>
          </a:p>
        </p:txBody>
      </p:sp>
      <p:sp>
        <p:nvSpPr>
          <p:cNvPr id="4" name="Rectangle 3"/>
          <p:cNvSpPr/>
          <p:nvPr/>
        </p:nvSpPr>
        <p:spPr>
          <a:xfrm>
            <a:off x="2207563"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Industrials</a:t>
            </a:r>
          </a:p>
        </p:txBody>
      </p:sp>
      <p:sp>
        <p:nvSpPr>
          <p:cNvPr id="5" name="Rectangle 4"/>
          <p:cNvSpPr/>
          <p:nvPr/>
        </p:nvSpPr>
        <p:spPr>
          <a:xfrm>
            <a:off x="841931"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Capital Goods</a:t>
            </a:r>
          </a:p>
        </p:txBody>
      </p:sp>
      <p:sp>
        <p:nvSpPr>
          <p:cNvPr id="6" name="Rectangle 5"/>
          <p:cNvSpPr/>
          <p:nvPr/>
        </p:nvSpPr>
        <p:spPr>
          <a:xfrm>
            <a:off x="3588522"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&amp; Professional Services</a:t>
            </a:r>
          </a:p>
        </p:txBody>
      </p:sp>
      <p:sp>
        <p:nvSpPr>
          <p:cNvPr id="7" name="Rectangle 6"/>
          <p:cNvSpPr/>
          <p:nvPr/>
        </p:nvSpPr>
        <p:spPr>
          <a:xfrm>
            <a:off x="228311" y="3758968"/>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Electrical</a:t>
            </a:r>
          </a:p>
          <a:p>
            <a:pPr algn="ctr"/>
            <a:r>
              <a:rPr lang="en-US" sz="1200" b="1">
                <a:solidFill>
                  <a:schemeClr val="tx1"/>
                </a:solidFill>
              </a:rPr>
              <a:t>Components &amp; Equipment</a:t>
            </a:r>
          </a:p>
        </p:txBody>
      </p:sp>
      <p:sp>
        <p:nvSpPr>
          <p:cNvPr id="8" name="Rectangle 7"/>
          <p:cNvSpPr/>
          <p:nvPr/>
        </p:nvSpPr>
        <p:spPr>
          <a:xfrm>
            <a:off x="1602860"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Building Products</a:t>
            </a:r>
          </a:p>
        </p:txBody>
      </p:sp>
      <p:sp>
        <p:nvSpPr>
          <p:cNvPr id="9" name="Rectangle 8"/>
          <p:cNvSpPr/>
          <p:nvPr/>
        </p:nvSpPr>
        <p:spPr>
          <a:xfrm>
            <a:off x="3016355"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Professional Services</a:t>
            </a:r>
          </a:p>
        </p:txBody>
      </p:sp>
      <p:sp>
        <p:nvSpPr>
          <p:cNvPr id="11" name="Rectangle 10"/>
          <p:cNvSpPr/>
          <p:nvPr/>
        </p:nvSpPr>
        <p:spPr>
          <a:xfrm>
            <a:off x="4303124"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Services &amp; Supplies</a:t>
            </a:r>
          </a:p>
        </p:txBody>
      </p:sp>
      <p:sp>
        <p:nvSpPr>
          <p:cNvPr id="12" name="Rectangle 11"/>
          <p:cNvSpPr/>
          <p:nvPr/>
        </p:nvSpPr>
        <p:spPr>
          <a:xfrm>
            <a:off x="3044173" y="4158271"/>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Research &amp; Consulting Services (4)</a:t>
            </a:r>
          </a:p>
        </p:txBody>
      </p:sp>
      <p:sp>
        <p:nvSpPr>
          <p:cNvPr id="13" name="Rectangle 12"/>
          <p:cNvSpPr/>
          <p:nvPr/>
        </p:nvSpPr>
        <p:spPr>
          <a:xfrm>
            <a:off x="3033973" y="5631021"/>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HR &amp; Employment Services</a:t>
            </a:r>
          </a:p>
        </p:txBody>
      </p:sp>
      <p:sp>
        <p:nvSpPr>
          <p:cNvPr id="15" name="Rectangle 14"/>
          <p:cNvSpPr/>
          <p:nvPr/>
        </p:nvSpPr>
        <p:spPr>
          <a:xfrm>
            <a:off x="1602861" y="375628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accent4"/>
                </a:solidFill>
              </a:rPr>
              <a:t>Construction &amp; Engineering (5)</a:t>
            </a:r>
          </a:p>
        </p:txBody>
      </p:sp>
      <p:sp>
        <p:nvSpPr>
          <p:cNvPr id="16" name="Rectangle 15"/>
          <p:cNvSpPr/>
          <p:nvPr/>
        </p:nvSpPr>
        <p:spPr>
          <a:xfrm>
            <a:off x="228310" y="4457537"/>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27432" tIns="45720" rIns="27432" bIns="45720" rtlCol="0" anchor="ctr">
            <a:noAutofit/>
          </a:bodyPr>
          <a:lstStyle/>
          <a:p>
            <a:pPr algn="ctr"/>
            <a:r>
              <a:rPr lang="en-US" sz="1200" b="1">
                <a:solidFill>
                  <a:schemeClr val="tx1"/>
                </a:solidFill>
              </a:rPr>
              <a:t>Industrial Conglomerates</a:t>
            </a:r>
          </a:p>
        </p:txBody>
      </p:sp>
      <p:sp>
        <p:nvSpPr>
          <p:cNvPr id="17" name="Rectangle 16"/>
          <p:cNvSpPr/>
          <p:nvPr/>
        </p:nvSpPr>
        <p:spPr>
          <a:xfrm>
            <a:off x="1591631" y="445753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Machinery</a:t>
            </a:r>
          </a:p>
        </p:txBody>
      </p:sp>
      <p:sp>
        <p:nvSpPr>
          <p:cNvPr id="18" name="Rectangle 17"/>
          <p:cNvSpPr/>
          <p:nvPr/>
        </p:nvSpPr>
        <p:spPr>
          <a:xfrm>
            <a:off x="228310" y="3064555"/>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Trading Companies &amp; Distributors</a:t>
            </a:r>
          </a:p>
        </p:txBody>
      </p:sp>
      <p:cxnSp>
        <p:nvCxnSpPr>
          <p:cNvPr id="35" name="Straight Connector 34"/>
          <p:cNvCxnSpPr>
            <a:cxnSpLocks/>
          </p:cNvCxnSpPr>
          <p:nvPr/>
        </p:nvCxnSpPr>
        <p:spPr>
          <a:xfrm>
            <a:off x="2843635" y="3842884"/>
            <a:ext cx="676656"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a:off x="2842131" y="3835498"/>
            <a:ext cx="10040" cy="1981979"/>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45" name="TextBox 44"/>
          <p:cNvSpPr txBox="1"/>
          <p:nvPr/>
        </p:nvSpPr>
        <p:spPr>
          <a:xfrm>
            <a:off x="2188795" y="1109675"/>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a:ln>
                  <a:noFill/>
                </a:ln>
                <a:effectLst/>
                <a:uLnTx/>
                <a:uFillTx/>
                <a:latin typeface="Calibri" panose="020F0502020204030204"/>
                <a:ea typeface="+mn-ea"/>
                <a:cs typeface="+mn-cs"/>
              </a:rPr>
              <a:t>Select Global Industry Classifications</a:t>
            </a:r>
          </a:p>
        </p:txBody>
      </p:sp>
      <p:cxnSp>
        <p:nvCxnSpPr>
          <p:cNvPr id="65" name="Straight Connector 64">
            <a:extLst>
              <a:ext uri="{FF2B5EF4-FFF2-40B4-BE49-F238E27FC236}">
                <a16:creationId xmlns:a16="http://schemas.microsoft.com/office/drawing/2014/main" id="{8D374B47-93F0-4E2C-AC69-EB9426EB74FA}"/>
              </a:ext>
            </a:extLst>
          </p:cNvPr>
          <p:cNvCxnSpPr>
            <a:cxnSpLocks/>
          </p:cNvCxnSpPr>
          <p:nvPr/>
        </p:nvCxnSpPr>
        <p:spPr>
          <a:xfrm>
            <a:off x="5978016" y="3592520"/>
            <a:ext cx="0" cy="121224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66" name="Rectangle 65">
            <a:extLst>
              <a:ext uri="{FF2B5EF4-FFF2-40B4-BE49-F238E27FC236}">
                <a16:creationId xmlns:a16="http://schemas.microsoft.com/office/drawing/2014/main" id="{95486E80-2D59-4766-8098-65745CDA1A61}"/>
              </a:ext>
            </a:extLst>
          </p:cNvPr>
          <p:cNvSpPr/>
          <p:nvPr/>
        </p:nvSpPr>
        <p:spPr>
          <a:xfrm>
            <a:off x="6811400"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Information Technology</a:t>
            </a:r>
          </a:p>
        </p:txBody>
      </p:sp>
      <p:sp>
        <p:nvSpPr>
          <p:cNvPr id="67" name="Rectangle 66">
            <a:extLst>
              <a:ext uri="{FF2B5EF4-FFF2-40B4-BE49-F238E27FC236}">
                <a16:creationId xmlns:a16="http://schemas.microsoft.com/office/drawing/2014/main" id="{6C0E179C-9C35-44F1-96F8-5370534E3505}"/>
              </a:ext>
            </a:extLst>
          </p:cNvPr>
          <p:cNvSpPr/>
          <p:nvPr/>
        </p:nvSpPr>
        <p:spPr>
          <a:xfrm>
            <a:off x="6073814"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 &amp; Services</a:t>
            </a:r>
          </a:p>
        </p:txBody>
      </p:sp>
      <p:sp>
        <p:nvSpPr>
          <p:cNvPr id="68" name="Rectangle 67">
            <a:extLst>
              <a:ext uri="{FF2B5EF4-FFF2-40B4-BE49-F238E27FC236}">
                <a16:creationId xmlns:a16="http://schemas.microsoft.com/office/drawing/2014/main" id="{E7C2D08A-ED86-4634-98F6-34A7140FF1B0}"/>
              </a:ext>
            </a:extLst>
          </p:cNvPr>
          <p:cNvSpPr/>
          <p:nvPr/>
        </p:nvSpPr>
        <p:spPr>
          <a:xfrm>
            <a:off x="5475096"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IT Services</a:t>
            </a:r>
          </a:p>
        </p:txBody>
      </p:sp>
      <p:sp>
        <p:nvSpPr>
          <p:cNvPr id="69" name="Rectangle 68">
            <a:extLst>
              <a:ext uri="{FF2B5EF4-FFF2-40B4-BE49-F238E27FC236}">
                <a16:creationId xmlns:a16="http://schemas.microsoft.com/office/drawing/2014/main" id="{6113E160-2A38-444B-B4D2-566B04F68686}"/>
              </a:ext>
            </a:extLst>
          </p:cNvPr>
          <p:cNvSpPr/>
          <p:nvPr/>
        </p:nvSpPr>
        <p:spPr>
          <a:xfrm>
            <a:off x="6147986" y="3840942"/>
            <a:ext cx="1015888"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IT Consulting &amp; Other Services (6)</a:t>
            </a:r>
          </a:p>
        </p:txBody>
      </p:sp>
      <p:sp>
        <p:nvSpPr>
          <p:cNvPr id="48" name="Rectangle 47">
            <a:extLst>
              <a:ext uri="{FF2B5EF4-FFF2-40B4-BE49-F238E27FC236}">
                <a16:creationId xmlns:a16="http://schemas.microsoft.com/office/drawing/2014/main" id="{DE80DE30-7CC1-4180-B81C-5FE9484E1DF9}"/>
              </a:ext>
            </a:extLst>
          </p:cNvPr>
          <p:cNvSpPr/>
          <p:nvPr/>
        </p:nvSpPr>
        <p:spPr>
          <a:xfrm>
            <a:off x="4412828" y="6078523"/>
            <a:ext cx="366563" cy="212583"/>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51" name="TextBox 50">
            <a:extLst>
              <a:ext uri="{FF2B5EF4-FFF2-40B4-BE49-F238E27FC236}">
                <a16:creationId xmlns:a16="http://schemas.microsoft.com/office/drawing/2014/main" id="{33FDAC42-A1CF-440E-A56F-C1CA295AB564}"/>
              </a:ext>
            </a:extLst>
          </p:cNvPr>
          <p:cNvSpPr txBox="1"/>
          <p:nvPr/>
        </p:nvSpPr>
        <p:spPr>
          <a:xfrm>
            <a:off x="4786136" y="6002548"/>
            <a:ext cx="1837996" cy="400110"/>
          </a:xfrm>
          <a:prstGeom prst="rect">
            <a:avLst/>
          </a:prstGeom>
          <a:noFill/>
        </p:spPr>
        <p:txBody>
          <a:bodyPr wrap="square" rtlCol="0" anchor="ctr">
            <a:spAutoFit/>
          </a:bodyPr>
          <a:lstStyle/>
          <a:p>
            <a:r>
              <a:rPr lang="en-US" sz="1000" i="1"/>
              <a:t>Industry or sub-industry captured in industry screen</a:t>
            </a:r>
          </a:p>
        </p:txBody>
      </p:sp>
      <p:sp>
        <p:nvSpPr>
          <p:cNvPr id="52" name="Rectangle 51">
            <a:extLst>
              <a:ext uri="{FF2B5EF4-FFF2-40B4-BE49-F238E27FC236}">
                <a16:creationId xmlns:a16="http://schemas.microsoft.com/office/drawing/2014/main" id="{CE26F4D0-AE39-4E97-B082-9F4868D5F0A7}"/>
              </a:ext>
            </a:extLst>
          </p:cNvPr>
          <p:cNvSpPr/>
          <p:nvPr/>
        </p:nvSpPr>
        <p:spPr>
          <a:xfrm>
            <a:off x="7547637"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&amp; Equipment</a:t>
            </a:r>
          </a:p>
        </p:txBody>
      </p:sp>
      <p:cxnSp>
        <p:nvCxnSpPr>
          <p:cNvPr id="53" name="Straight Connector 52">
            <a:extLst>
              <a:ext uri="{FF2B5EF4-FFF2-40B4-BE49-F238E27FC236}">
                <a16:creationId xmlns:a16="http://schemas.microsoft.com/office/drawing/2014/main" id="{491669D0-9D22-4003-A768-8DE61772F532}"/>
              </a:ext>
            </a:extLst>
          </p:cNvPr>
          <p:cNvCxnSpPr>
            <a:cxnSpLocks/>
            <a:stCxn id="66" idx="2"/>
          </p:cNvCxnSpPr>
          <p:nvPr/>
        </p:nvCxnSpPr>
        <p:spPr>
          <a:xfrm>
            <a:off x="7382900"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4" name="Straight Connector 53">
            <a:extLst>
              <a:ext uri="{FF2B5EF4-FFF2-40B4-BE49-F238E27FC236}">
                <a16:creationId xmlns:a16="http://schemas.microsoft.com/office/drawing/2014/main" id="{CC8D0CED-FA97-4DE5-9BE8-FB2D7BA4DCD1}"/>
              </a:ext>
            </a:extLst>
          </p:cNvPr>
          <p:cNvCxnSpPr>
            <a:cxnSpLocks/>
            <a:stCxn id="67" idx="3"/>
            <a:endCxn id="52" idx="1"/>
          </p:cNvCxnSpPr>
          <p:nvPr/>
        </p:nvCxnSpPr>
        <p:spPr>
          <a:xfrm>
            <a:off x="7216814" y="2453441"/>
            <a:ext cx="33082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0" name="Straight Connector 69">
            <a:extLst>
              <a:ext uri="{FF2B5EF4-FFF2-40B4-BE49-F238E27FC236}">
                <a16:creationId xmlns:a16="http://schemas.microsoft.com/office/drawing/2014/main" id="{4580A61E-4F8F-4912-B3AB-CA2FC9972773}"/>
              </a:ext>
            </a:extLst>
          </p:cNvPr>
          <p:cNvCxnSpPr>
            <a:cxnSpLocks/>
          </p:cNvCxnSpPr>
          <p:nvPr/>
        </p:nvCxnSpPr>
        <p:spPr>
          <a:xfrm flipH="1">
            <a:off x="6638738" y="2727761"/>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3" name="Straight Connector 72">
            <a:extLst>
              <a:ext uri="{FF2B5EF4-FFF2-40B4-BE49-F238E27FC236}">
                <a16:creationId xmlns:a16="http://schemas.microsoft.com/office/drawing/2014/main" id="{DDB5E07B-A1D1-4E40-B003-8A3A1C93EDF0}"/>
              </a:ext>
            </a:extLst>
          </p:cNvPr>
          <p:cNvCxnSpPr>
            <a:cxnSpLocks/>
            <a:stCxn id="68" idx="3"/>
            <a:endCxn id="74" idx="1"/>
          </p:cNvCxnSpPr>
          <p:nvPr/>
        </p:nvCxnSpPr>
        <p:spPr>
          <a:xfrm>
            <a:off x="6480936" y="3326670"/>
            <a:ext cx="316447"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74" name="Rectangle 73">
            <a:extLst>
              <a:ext uri="{FF2B5EF4-FFF2-40B4-BE49-F238E27FC236}">
                <a16:creationId xmlns:a16="http://schemas.microsoft.com/office/drawing/2014/main" id="{8C2D18A8-D5B4-49EA-B64A-B9BEFFAE457E}"/>
              </a:ext>
            </a:extLst>
          </p:cNvPr>
          <p:cNvSpPr/>
          <p:nvPr/>
        </p:nvSpPr>
        <p:spPr>
          <a:xfrm>
            <a:off x="6797383" y="305235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a:t>
            </a:r>
          </a:p>
          <a:p>
            <a:pPr marL="119063" indent="-119063">
              <a:buFont typeface="Wingdings" panose="05000000000000000000" pitchFamily="2" charset="2"/>
              <a:buChar char="§"/>
            </a:pPr>
            <a:r>
              <a:rPr lang="en-US" sz="1100" b="1">
                <a:solidFill>
                  <a:schemeClr val="tx1"/>
                </a:solidFill>
              </a:rPr>
              <a:t>Application</a:t>
            </a:r>
          </a:p>
          <a:p>
            <a:pPr marL="119063" indent="-119063">
              <a:buFont typeface="Wingdings" panose="05000000000000000000" pitchFamily="2" charset="2"/>
              <a:buChar char="§"/>
            </a:pPr>
            <a:r>
              <a:rPr lang="en-US" sz="1100">
                <a:solidFill>
                  <a:schemeClr val="tx1"/>
                </a:solidFill>
              </a:rPr>
              <a:t>System</a:t>
            </a:r>
          </a:p>
        </p:txBody>
      </p:sp>
      <p:cxnSp>
        <p:nvCxnSpPr>
          <p:cNvPr id="78" name="Straight Connector 77">
            <a:extLst>
              <a:ext uri="{FF2B5EF4-FFF2-40B4-BE49-F238E27FC236}">
                <a16:creationId xmlns:a16="http://schemas.microsoft.com/office/drawing/2014/main" id="{81BE8E91-3DD6-46BA-BC0F-8729B21F32B0}"/>
              </a:ext>
            </a:extLst>
          </p:cNvPr>
          <p:cNvCxnSpPr>
            <a:cxnSpLocks/>
            <a:stCxn id="52" idx="2"/>
          </p:cNvCxnSpPr>
          <p:nvPr/>
        </p:nvCxnSpPr>
        <p:spPr>
          <a:xfrm>
            <a:off x="8119137" y="2727761"/>
            <a:ext cx="0" cy="67171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9" name="Straight Connector 78">
            <a:extLst>
              <a:ext uri="{FF2B5EF4-FFF2-40B4-BE49-F238E27FC236}">
                <a16:creationId xmlns:a16="http://schemas.microsoft.com/office/drawing/2014/main" id="{08BFF46B-86CA-4A59-8D4E-D765CF631733}"/>
              </a:ext>
            </a:extLst>
          </p:cNvPr>
          <p:cNvCxnSpPr>
            <a:cxnSpLocks/>
          </p:cNvCxnSpPr>
          <p:nvPr/>
        </p:nvCxnSpPr>
        <p:spPr>
          <a:xfrm>
            <a:off x="8119137" y="3399475"/>
            <a:ext cx="76226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0" name="Straight Connector 79">
            <a:extLst>
              <a:ext uri="{FF2B5EF4-FFF2-40B4-BE49-F238E27FC236}">
                <a16:creationId xmlns:a16="http://schemas.microsoft.com/office/drawing/2014/main" id="{0983C54F-4320-415D-A4F8-84FA2E464CFC}"/>
              </a:ext>
            </a:extLst>
          </p:cNvPr>
          <p:cNvCxnSpPr>
            <a:cxnSpLocks/>
          </p:cNvCxnSpPr>
          <p:nvPr/>
        </p:nvCxnSpPr>
        <p:spPr>
          <a:xfrm>
            <a:off x="8882880" y="3395805"/>
            <a:ext cx="15154" cy="268271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4" name="Straight Connector 83">
            <a:extLst>
              <a:ext uri="{FF2B5EF4-FFF2-40B4-BE49-F238E27FC236}">
                <a16:creationId xmlns:a16="http://schemas.microsoft.com/office/drawing/2014/main" id="{86B89806-BA44-48D3-9FF4-2EBCA9FF450C}"/>
              </a:ext>
            </a:extLst>
          </p:cNvPr>
          <p:cNvCxnSpPr>
            <a:cxnSpLocks/>
            <a:stCxn id="87" idx="3"/>
          </p:cNvCxnSpPr>
          <p:nvPr/>
        </p:nvCxnSpPr>
        <p:spPr>
          <a:xfrm>
            <a:off x="8751596" y="3989790"/>
            <a:ext cx="137160" cy="1983"/>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7" name="Rectangle 86">
            <a:extLst>
              <a:ext uri="{FF2B5EF4-FFF2-40B4-BE49-F238E27FC236}">
                <a16:creationId xmlns:a16="http://schemas.microsoft.com/office/drawing/2014/main" id="{991204CC-9149-4E8F-8ADB-398696A990D9}"/>
              </a:ext>
            </a:extLst>
          </p:cNvPr>
          <p:cNvSpPr/>
          <p:nvPr/>
        </p:nvSpPr>
        <p:spPr>
          <a:xfrm>
            <a:off x="7654317" y="3840245"/>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err="1">
                <a:solidFill>
                  <a:schemeClr val="tx1"/>
                </a:solidFill>
              </a:rPr>
              <a:t>Communica-tions</a:t>
            </a:r>
            <a:r>
              <a:rPr lang="en-US" sz="1200" b="1">
                <a:solidFill>
                  <a:schemeClr val="tx1"/>
                </a:solidFill>
              </a:rPr>
              <a:t> Equipment</a:t>
            </a:r>
          </a:p>
        </p:txBody>
      </p:sp>
      <p:cxnSp>
        <p:nvCxnSpPr>
          <p:cNvPr id="90" name="Straight Connector 89">
            <a:extLst>
              <a:ext uri="{FF2B5EF4-FFF2-40B4-BE49-F238E27FC236}">
                <a16:creationId xmlns:a16="http://schemas.microsoft.com/office/drawing/2014/main" id="{305473B5-A00E-4C55-9EA1-B992BE55A675}"/>
              </a:ext>
            </a:extLst>
          </p:cNvPr>
          <p:cNvCxnSpPr>
            <a:cxnSpLocks/>
            <a:stCxn id="91" idx="3"/>
          </p:cNvCxnSpPr>
          <p:nvPr/>
        </p:nvCxnSpPr>
        <p:spPr>
          <a:xfrm flipV="1">
            <a:off x="8754080" y="4654987"/>
            <a:ext cx="137160" cy="396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1" name="Rectangle 90">
            <a:extLst>
              <a:ext uri="{FF2B5EF4-FFF2-40B4-BE49-F238E27FC236}">
                <a16:creationId xmlns:a16="http://schemas.microsoft.com/office/drawing/2014/main" id="{94E5808C-C1AB-489A-A0C6-824DEDEDC3B2}"/>
              </a:ext>
            </a:extLst>
          </p:cNvPr>
          <p:cNvSpPr/>
          <p:nvPr/>
        </p:nvSpPr>
        <p:spPr>
          <a:xfrm>
            <a:off x="7656801" y="4509409"/>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Storage &amp; Peripherals</a:t>
            </a:r>
          </a:p>
        </p:txBody>
      </p:sp>
      <p:cxnSp>
        <p:nvCxnSpPr>
          <p:cNvPr id="92" name="Straight Connector 91">
            <a:extLst>
              <a:ext uri="{FF2B5EF4-FFF2-40B4-BE49-F238E27FC236}">
                <a16:creationId xmlns:a16="http://schemas.microsoft.com/office/drawing/2014/main" id="{6F174CD5-4332-408A-A9DF-9688C4D50DF9}"/>
              </a:ext>
            </a:extLst>
          </p:cNvPr>
          <p:cNvCxnSpPr>
            <a:cxnSpLocks/>
            <a:stCxn id="93" idx="3"/>
          </p:cNvCxnSpPr>
          <p:nvPr/>
        </p:nvCxnSpPr>
        <p:spPr>
          <a:xfrm>
            <a:off x="8744240" y="5313857"/>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3" name="Rectangle 92">
            <a:extLst>
              <a:ext uri="{FF2B5EF4-FFF2-40B4-BE49-F238E27FC236}">
                <a16:creationId xmlns:a16="http://schemas.microsoft.com/office/drawing/2014/main" id="{B4CF0916-B98A-4A5D-BF21-DB0A70E2ABA3}"/>
              </a:ext>
            </a:extLst>
          </p:cNvPr>
          <p:cNvSpPr/>
          <p:nvPr/>
        </p:nvSpPr>
        <p:spPr>
          <a:xfrm>
            <a:off x="7646961" y="5164312"/>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Equipment &amp; Instruments</a:t>
            </a:r>
          </a:p>
        </p:txBody>
      </p:sp>
      <p:sp>
        <p:nvSpPr>
          <p:cNvPr id="63" name="Rectangle 62">
            <a:extLst>
              <a:ext uri="{FF2B5EF4-FFF2-40B4-BE49-F238E27FC236}">
                <a16:creationId xmlns:a16="http://schemas.microsoft.com/office/drawing/2014/main" id="{5EDE5BFE-BB06-4936-9873-A75B794CD18A}"/>
              </a:ext>
            </a:extLst>
          </p:cNvPr>
          <p:cNvSpPr/>
          <p:nvPr/>
        </p:nvSpPr>
        <p:spPr>
          <a:xfrm>
            <a:off x="4412828" y="5767806"/>
            <a:ext cx="366563" cy="212583"/>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64" name="TextBox 63">
            <a:extLst>
              <a:ext uri="{FF2B5EF4-FFF2-40B4-BE49-F238E27FC236}">
                <a16:creationId xmlns:a16="http://schemas.microsoft.com/office/drawing/2014/main" id="{D77A1F44-3DC6-40DB-A3CA-FAA889932C3F}"/>
              </a:ext>
            </a:extLst>
          </p:cNvPr>
          <p:cNvSpPr txBox="1"/>
          <p:nvPr/>
        </p:nvSpPr>
        <p:spPr>
          <a:xfrm>
            <a:off x="4779391" y="5757493"/>
            <a:ext cx="1894079" cy="246221"/>
          </a:xfrm>
          <a:prstGeom prst="rect">
            <a:avLst/>
          </a:prstGeom>
          <a:noFill/>
        </p:spPr>
        <p:txBody>
          <a:bodyPr wrap="square" rtlCol="0" anchor="ctr">
            <a:spAutoFit/>
          </a:bodyPr>
          <a:lstStyle/>
          <a:p>
            <a:r>
              <a:rPr lang="en-US" sz="1000" i="1"/>
              <a:t>Industry</a:t>
            </a:r>
          </a:p>
        </p:txBody>
      </p:sp>
      <p:sp>
        <p:nvSpPr>
          <p:cNvPr id="71" name="Rectangle 70">
            <a:extLst>
              <a:ext uri="{FF2B5EF4-FFF2-40B4-BE49-F238E27FC236}">
                <a16:creationId xmlns:a16="http://schemas.microsoft.com/office/drawing/2014/main" id="{4B4A9ECB-85A3-4DDE-BE52-050CB8E7E781}"/>
              </a:ext>
            </a:extLst>
          </p:cNvPr>
          <p:cNvSpPr/>
          <p:nvPr/>
        </p:nvSpPr>
        <p:spPr>
          <a:xfrm>
            <a:off x="4408915" y="5478129"/>
            <a:ext cx="366563" cy="212583"/>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2" name="TextBox 71">
            <a:extLst>
              <a:ext uri="{FF2B5EF4-FFF2-40B4-BE49-F238E27FC236}">
                <a16:creationId xmlns:a16="http://schemas.microsoft.com/office/drawing/2014/main" id="{B6DB1E1D-123E-42A8-92DB-E1C7CE49C5B7}"/>
              </a:ext>
            </a:extLst>
          </p:cNvPr>
          <p:cNvSpPr txBox="1"/>
          <p:nvPr/>
        </p:nvSpPr>
        <p:spPr>
          <a:xfrm>
            <a:off x="4779391" y="5474730"/>
            <a:ext cx="1894079" cy="246221"/>
          </a:xfrm>
          <a:prstGeom prst="rect">
            <a:avLst/>
          </a:prstGeom>
          <a:noFill/>
        </p:spPr>
        <p:txBody>
          <a:bodyPr wrap="square" rtlCol="0" anchor="ctr">
            <a:spAutoFit/>
          </a:bodyPr>
          <a:lstStyle/>
          <a:p>
            <a:r>
              <a:rPr lang="en-US" sz="1000" i="1"/>
              <a:t>Industry Group</a:t>
            </a:r>
          </a:p>
        </p:txBody>
      </p:sp>
      <p:sp>
        <p:nvSpPr>
          <p:cNvPr id="76" name="Rectangle 75">
            <a:extLst>
              <a:ext uri="{FF2B5EF4-FFF2-40B4-BE49-F238E27FC236}">
                <a16:creationId xmlns:a16="http://schemas.microsoft.com/office/drawing/2014/main" id="{8A9D051D-A7B9-487F-92CD-F3C82A2FC3ED}"/>
              </a:ext>
            </a:extLst>
          </p:cNvPr>
          <p:cNvSpPr/>
          <p:nvPr/>
        </p:nvSpPr>
        <p:spPr>
          <a:xfrm>
            <a:off x="4408915" y="5192646"/>
            <a:ext cx="366563" cy="212583"/>
          </a:xfrm>
          <a:prstGeom prst="rect">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7" name="TextBox 76">
            <a:extLst>
              <a:ext uri="{FF2B5EF4-FFF2-40B4-BE49-F238E27FC236}">
                <a16:creationId xmlns:a16="http://schemas.microsoft.com/office/drawing/2014/main" id="{A5EEF779-32D6-4ABF-A2A1-5CBA80D43431}"/>
              </a:ext>
            </a:extLst>
          </p:cNvPr>
          <p:cNvSpPr txBox="1"/>
          <p:nvPr/>
        </p:nvSpPr>
        <p:spPr>
          <a:xfrm>
            <a:off x="4775478" y="5182333"/>
            <a:ext cx="1894079" cy="246221"/>
          </a:xfrm>
          <a:prstGeom prst="rect">
            <a:avLst/>
          </a:prstGeom>
          <a:noFill/>
        </p:spPr>
        <p:txBody>
          <a:bodyPr wrap="square" rtlCol="0" anchor="ctr">
            <a:spAutoFit/>
          </a:bodyPr>
          <a:lstStyle/>
          <a:p>
            <a:r>
              <a:rPr lang="en-US" sz="1000" i="1"/>
              <a:t>Sector</a:t>
            </a:r>
          </a:p>
        </p:txBody>
      </p:sp>
      <p:sp>
        <p:nvSpPr>
          <p:cNvPr id="81" name="TextBox 80">
            <a:extLst>
              <a:ext uri="{FF2B5EF4-FFF2-40B4-BE49-F238E27FC236}">
                <a16:creationId xmlns:a16="http://schemas.microsoft.com/office/drawing/2014/main" id="{9A5896A0-A5B8-4CEB-9F93-1151620448D3}"/>
              </a:ext>
            </a:extLst>
          </p:cNvPr>
          <p:cNvSpPr txBox="1"/>
          <p:nvPr/>
        </p:nvSpPr>
        <p:spPr>
          <a:xfrm>
            <a:off x="4286368" y="4923315"/>
            <a:ext cx="1038712" cy="246221"/>
          </a:xfrm>
          <a:prstGeom prst="rect">
            <a:avLst/>
          </a:prstGeom>
          <a:noFill/>
        </p:spPr>
        <p:txBody>
          <a:bodyPr wrap="square" rtlCol="0" anchor="ctr">
            <a:spAutoFit/>
          </a:bodyPr>
          <a:lstStyle/>
          <a:p>
            <a:r>
              <a:rPr lang="en-US" sz="1000" b="1" i="1"/>
              <a:t>Legend:</a:t>
            </a:r>
          </a:p>
        </p:txBody>
      </p:sp>
      <p:cxnSp>
        <p:nvCxnSpPr>
          <p:cNvPr id="82" name="Straight Connector 81">
            <a:extLst>
              <a:ext uri="{FF2B5EF4-FFF2-40B4-BE49-F238E27FC236}">
                <a16:creationId xmlns:a16="http://schemas.microsoft.com/office/drawing/2014/main" id="{A30BC225-CC3D-4A95-9191-ED64B6B70A67}"/>
              </a:ext>
            </a:extLst>
          </p:cNvPr>
          <p:cNvCxnSpPr>
            <a:cxnSpLocks/>
            <a:stCxn id="11" idx="2"/>
            <a:endCxn id="83" idx="0"/>
          </p:cNvCxnSpPr>
          <p:nvPr/>
        </p:nvCxnSpPr>
        <p:spPr>
          <a:xfrm flipH="1">
            <a:off x="4802421" y="3600990"/>
            <a:ext cx="3623" cy="242376"/>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3" name="Rectangle 82">
            <a:extLst>
              <a:ext uri="{FF2B5EF4-FFF2-40B4-BE49-F238E27FC236}">
                <a16:creationId xmlns:a16="http://schemas.microsoft.com/office/drawing/2014/main" id="{8E906457-C988-4286-92C2-ADFD2E56514E}"/>
              </a:ext>
            </a:extLst>
          </p:cNvPr>
          <p:cNvSpPr/>
          <p:nvPr/>
        </p:nvSpPr>
        <p:spPr>
          <a:xfrm>
            <a:off x="4249209" y="3843366"/>
            <a:ext cx="1106424"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Environmental &amp; Facilities Services (1)</a:t>
            </a:r>
          </a:p>
        </p:txBody>
      </p:sp>
      <p:pic>
        <p:nvPicPr>
          <p:cNvPr id="85" name="Picture 2" descr="Image result for jacobs logo">
            <a:extLst>
              <a:ext uri="{FF2B5EF4-FFF2-40B4-BE49-F238E27FC236}">
                <a16:creationId xmlns:a16="http://schemas.microsoft.com/office/drawing/2014/main" id="{BBA2FDA2-DDBB-4BCE-A8A8-00D85B21A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0266" y="3973587"/>
            <a:ext cx="587700" cy="137058"/>
          </a:xfrm>
          <a:prstGeom prst="rect">
            <a:avLst/>
          </a:prstGeom>
          <a:noFill/>
          <a:extLst>
            <a:ext uri="{909E8E84-426E-40DD-AFC4-6F175D3DCCD1}">
              <a14:hiddenFill xmlns:a14="http://schemas.microsoft.com/office/drawing/2010/main">
                <a:solidFill>
                  <a:srgbClr val="FFFFFF"/>
                </a:solidFill>
              </a14:hiddenFill>
            </a:ext>
          </a:extLst>
        </p:spPr>
      </p:pic>
      <p:cxnSp>
        <p:nvCxnSpPr>
          <p:cNvPr id="86" name="Straight Connector 85">
            <a:extLst>
              <a:ext uri="{FF2B5EF4-FFF2-40B4-BE49-F238E27FC236}">
                <a16:creationId xmlns:a16="http://schemas.microsoft.com/office/drawing/2014/main" id="{6AE683CD-2E7A-4F6D-8106-2653CC7B00C6}"/>
              </a:ext>
            </a:extLst>
          </p:cNvPr>
          <p:cNvCxnSpPr>
            <a:cxnSpLocks/>
          </p:cNvCxnSpPr>
          <p:nvPr/>
        </p:nvCxnSpPr>
        <p:spPr>
          <a:xfrm>
            <a:off x="5970559" y="4813230"/>
            <a:ext cx="1845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6" name="Rectangle 95">
            <a:extLst>
              <a:ext uri="{FF2B5EF4-FFF2-40B4-BE49-F238E27FC236}">
                <a16:creationId xmlns:a16="http://schemas.microsoft.com/office/drawing/2014/main" id="{315B84E6-21D3-421D-9C79-BAC65E24FE15}"/>
              </a:ext>
            </a:extLst>
          </p:cNvPr>
          <p:cNvSpPr/>
          <p:nvPr/>
        </p:nvSpPr>
        <p:spPr>
          <a:xfrm>
            <a:off x="6147986" y="454531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Internet Services &amp; Infrastructure</a:t>
            </a:r>
          </a:p>
        </p:txBody>
      </p:sp>
      <p:cxnSp>
        <p:nvCxnSpPr>
          <p:cNvPr id="98" name="Straight Connector 97">
            <a:extLst>
              <a:ext uri="{FF2B5EF4-FFF2-40B4-BE49-F238E27FC236}">
                <a16:creationId xmlns:a16="http://schemas.microsoft.com/office/drawing/2014/main" id="{735B35C0-3BC1-4DE8-A7F2-B4F77655C457}"/>
              </a:ext>
            </a:extLst>
          </p:cNvPr>
          <p:cNvCxnSpPr>
            <a:cxnSpLocks/>
            <a:endCxn id="69" idx="1"/>
          </p:cNvCxnSpPr>
          <p:nvPr/>
        </p:nvCxnSpPr>
        <p:spPr>
          <a:xfrm>
            <a:off x="5970559" y="4114565"/>
            <a:ext cx="177427" cy="69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9" name="Rectangle 28">
            <a:extLst>
              <a:ext uri="{FF2B5EF4-FFF2-40B4-BE49-F238E27FC236}">
                <a16:creationId xmlns:a16="http://schemas.microsoft.com/office/drawing/2014/main" id="{BE1960EF-DBDC-ED3E-C953-E75D02556A44}"/>
              </a:ext>
            </a:extLst>
          </p:cNvPr>
          <p:cNvSpPr/>
          <p:nvPr/>
        </p:nvSpPr>
        <p:spPr>
          <a:xfrm>
            <a:off x="3051631" y="4889992"/>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Data Process. &amp; Outsourced Services</a:t>
            </a:r>
            <a:endParaRPr lang="en-US" sz="1200" b="1" baseline="30000">
              <a:solidFill>
                <a:schemeClr val="tx1"/>
              </a:solidFill>
            </a:endParaRPr>
          </a:p>
        </p:txBody>
      </p:sp>
      <p:cxnSp>
        <p:nvCxnSpPr>
          <p:cNvPr id="34" name="Straight Connector 33">
            <a:extLst>
              <a:ext uri="{FF2B5EF4-FFF2-40B4-BE49-F238E27FC236}">
                <a16:creationId xmlns:a16="http://schemas.microsoft.com/office/drawing/2014/main" id="{49274BC5-0D48-B058-BBC8-1CF66A741BD6}"/>
              </a:ext>
            </a:extLst>
          </p:cNvPr>
          <p:cNvCxnSpPr>
            <a:cxnSpLocks/>
          </p:cNvCxnSpPr>
          <p:nvPr/>
        </p:nvCxnSpPr>
        <p:spPr>
          <a:xfrm>
            <a:off x="2851093" y="5093957"/>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2" name="TextBox 21">
            <a:extLst>
              <a:ext uri="{FF2B5EF4-FFF2-40B4-BE49-F238E27FC236}">
                <a16:creationId xmlns:a16="http://schemas.microsoft.com/office/drawing/2014/main" id="{A968031C-8D79-78B4-6A31-861988DD6BF7}"/>
              </a:ext>
            </a:extLst>
          </p:cNvPr>
          <p:cNvSpPr txBox="1"/>
          <p:nvPr/>
        </p:nvSpPr>
        <p:spPr>
          <a:xfrm>
            <a:off x="6729242" y="1039686"/>
            <a:ext cx="2200275" cy="355097"/>
          </a:xfrm>
          <a:prstGeom prst="rect">
            <a:avLst/>
          </a:prstGeom>
          <a:noFill/>
        </p:spPr>
        <p:txBody>
          <a:bodyPr vert="horz" wrap="square" lIns="45720" tIns="45720" rIns="45720" bIns="45720" rtlCol="0" anchor="ctr">
            <a:spAutoFit/>
          </a:bodyPr>
          <a:lstStyle/>
          <a:p>
            <a:pPr>
              <a:lnSpc>
                <a:spcPct val="85000"/>
              </a:lnSpc>
            </a:pPr>
            <a:r>
              <a:rPr lang="en-US" sz="1000" b="1" i="1">
                <a:solidFill>
                  <a:schemeClr val="accent4"/>
                </a:solidFill>
              </a:rPr>
              <a:t>Current Peers’ Industry or Sub-Industry (number of companies)</a:t>
            </a:r>
          </a:p>
        </p:txBody>
      </p:sp>
      <p:sp>
        <p:nvSpPr>
          <p:cNvPr id="10" name="Rectangle 9">
            <a:extLst>
              <a:ext uri="{FF2B5EF4-FFF2-40B4-BE49-F238E27FC236}">
                <a16:creationId xmlns:a16="http://schemas.microsoft.com/office/drawing/2014/main" id="{0C1F71B0-05E6-B238-79BD-5C83C67B5C8E}"/>
              </a:ext>
            </a:extLst>
          </p:cNvPr>
          <p:cNvSpPr/>
          <p:nvPr/>
        </p:nvSpPr>
        <p:spPr>
          <a:xfrm>
            <a:off x="7649138" y="5834188"/>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Manufacturing Services</a:t>
            </a:r>
          </a:p>
        </p:txBody>
      </p:sp>
      <p:cxnSp>
        <p:nvCxnSpPr>
          <p:cNvPr id="28" name="Straight Connector 27">
            <a:extLst>
              <a:ext uri="{FF2B5EF4-FFF2-40B4-BE49-F238E27FC236}">
                <a16:creationId xmlns:a16="http://schemas.microsoft.com/office/drawing/2014/main" id="{184C565C-42E1-CC90-D2A2-F74ACB283FFB}"/>
              </a:ext>
            </a:extLst>
          </p:cNvPr>
          <p:cNvCxnSpPr>
            <a:cxnSpLocks/>
          </p:cNvCxnSpPr>
          <p:nvPr/>
        </p:nvCxnSpPr>
        <p:spPr>
          <a:xfrm>
            <a:off x="8755696" y="6078523"/>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18907223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03ABD530-29EC-4637-A6AE-EC7A41BD6223}"/>
              </a:ext>
            </a:extLst>
          </p:cNvPr>
          <p:cNvSpPr txBox="1"/>
          <p:nvPr/>
        </p:nvSpPr>
        <p:spPr>
          <a:xfrm>
            <a:off x="3105720" y="2007811"/>
            <a:ext cx="5062003" cy="692497"/>
          </a:xfrm>
          <a:prstGeom prst="rect">
            <a:avLst/>
          </a:prstGeom>
          <a:noFill/>
        </p:spPr>
        <p:txBody>
          <a:bodyPr wrap="square" lIns="45720" tIns="45720" rIns="45720" bIns="45720" rtlCol="0" anchor="ctr">
            <a:spAutoFit/>
          </a:bodyPr>
          <a:lstStyle/>
          <a:p>
            <a:pPr marL="169863" lvl="0" indent="-169863">
              <a:buFont typeface="Wingdings" panose="05000000000000000000" pitchFamily="2" charset="2"/>
              <a:buChar char="§"/>
            </a:pPr>
            <a:r>
              <a:rPr lang="en-US" sz="1400" dirty="0"/>
              <a:t>US, Canadian, </a:t>
            </a:r>
            <a:r>
              <a:rPr lang="en-US" sz="1400" b="1" dirty="0">
                <a:solidFill>
                  <a:srgbClr val="FF0000"/>
                </a:solidFill>
              </a:rPr>
              <a:t>and UK </a:t>
            </a:r>
            <a:r>
              <a:rPr lang="en-US" sz="1400" dirty="0"/>
              <a:t>listed companies</a:t>
            </a:r>
          </a:p>
          <a:p>
            <a:pPr marL="169863" lvl="1"/>
            <a:r>
              <a:rPr lang="en-US" sz="1100" i="1" dirty="0">
                <a:solidFill>
                  <a:prstClr val="black"/>
                </a:solidFill>
              </a:rPr>
              <a:t>(exception for companies with atypical pay/disclosure, especially if outside the U.S.)</a:t>
            </a:r>
            <a:endParaRPr lang="en-US" sz="1100" dirty="0">
              <a:solidFill>
                <a:prstClr val="black"/>
              </a:solidFill>
            </a:endParaRPr>
          </a:p>
          <a:p>
            <a:pPr marL="177800" lvl="1" indent="-177800">
              <a:buFont typeface="Wingdings" panose="05000000000000000000" pitchFamily="2" charset="2"/>
              <a:buChar char="§"/>
            </a:pPr>
            <a:r>
              <a:rPr lang="en-US" sz="1400" b="1" dirty="0">
                <a:solidFill>
                  <a:schemeClr val="accent4"/>
                </a:solidFill>
              </a:rPr>
              <a:t>Companies listed as </a:t>
            </a:r>
            <a:r>
              <a:rPr lang="en-US" sz="1400" b="1" dirty="0" err="1">
                <a:solidFill>
                  <a:schemeClr val="accent4"/>
                </a:solidFill>
              </a:rPr>
              <a:t>Plutos</a:t>
            </a:r>
            <a:r>
              <a:rPr lang="en-US" sz="1400" b="1" dirty="0">
                <a:solidFill>
                  <a:schemeClr val="accent4"/>
                </a:solidFill>
              </a:rPr>
              <a:t>’ and/or PA Consulting’s competitors</a:t>
            </a:r>
          </a:p>
        </p:txBody>
      </p:sp>
      <p:sp>
        <p:nvSpPr>
          <p:cNvPr id="11" name="Footer Placeholder 1">
            <a:extLst>
              <a:ext uri="{FF2B5EF4-FFF2-40B4-BE49-F238E27FC236}">
                <a16:creationId xmlns:a16="http://schemas.microsoft.com/office/drawing/2014/main" id="{C428EB16-29CB-8EFD-0A09-6FA0197AF381}"/>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2" name="Title 1"/>
          <p:cNvSpPr>
            <a:spLocks noGrp="1"/>
          </p:cNvSpPr>
          <p:nvPr>
            <p:ph type="title"/>
          </p:nvPr>
        </p:nvSpPr>
        <p:spPr/>
        <p:txBody>
          <a:bodyPr/>
          <a:lstStyle/>
          <a:p>
            <a:r>
              <a:rPr lang="en-US" dirty="0"/>
              <a:t>As a result, ACME suggests modifying the screening criteria to:</a:t>
            </a:r>
            <a:br>
              <a:rPr lang="en-US" dirty="0"/>
            </a:br>
            <a:r>
              <a:rPr lang="en-US" dirty="0"/>
              <a:t>(1) include UK-listed companies, and companies that are  </a:t>
            </a:r>
            <a:r>
              <a:rPr lang="en-US" dirty="0" err="1"/>
              <a:t>Plutos</a:t>
            </a:r>
            <a:r>
              <a:rPr lang="en-US" dirty="0"/>
              <a:t>’ and PA’s competitors; (2) require financial viability; and (3) de-emphasize mission-critical businesses</a:t>
            </a:r>
          </a:p>
        </p:txBody>
      </p:sp>
      <p:sp>
        <p:nvSpPr>
          <p:cNvPr id="23" name="TextBox 22"/>
          <p:cNvSpPr txBox="1"/>
          <p:nvPr/>
        </p:nvSpPr>
        <p:spPr>
          <a:xfrm>
            <a:off x="657279" y="1517697"/>
            <a:ext cx="1920186" cy="307777"/>
          </a:xfrm>
          <a:prstGeom prst="rect">
            <a:avLst/>
          </a:prstGeom>
          <a:noFill/>
        </p:spPr>
        <p:txBody>
          <a:bodyPr wrap="square" lIns="45720" tIns="45720" rIns="45720" bIns="45720" rtlCol="0" anchor="ctr">
            <a:spAutoFit/>
          </a:bodyPr>
          <a:lstStyle/>
          <a:p>
            <a:pPr algn="ctr"/>
            <a:r>
              <a:rPr lang="en-US" sz="1400" b="1"/>
              <a:t>Peer Screen</a:t>
            </a:r>
          </a:p>
        </p:txBody>
      </p:sp>
      <p:sp>
        <p:nvSpPr>
          <p:cNvPr id="35" name="TextBox 34"/>
          <p:cNvSpPr txBox="1"/>
          <p:nvPr/>
        </p:nvSpPr>
        <p:spPr>
          <a:xfrm>
            <a:off x="3099910" y="4017995"/>
            <a:ext cx="5052160" cy="646331"/>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u="sng" dirty="0"/>
              <a:t>&gt;</a:t>
            </a:r>
            <a:r>
              <a:rPr lang="en-US" sz="1400" dirty="0"/>
              <a:t>$3B and ≤</a:t>
            </a:r>
            <a:r>
              <a:rPr lang="en-US" sz="1400" b="1" dirty="0">
                <a:solidFill>
                  <a:srgbClr val="FF0000"/>
                </a:solidFill>
              </a:rPr>
              <a:t>$48B</a:t>
            </a:r>
            <a:r>
              <a:rPr lang="en-US" sz="1400" dirty="0"/>
              <a:t> total Last Twelve Months (LTM) gross revenue </a:t>
            </a:r>
            <a:br>
              <a:rPr lang="en-US" sz="1400" dirty="0"/>
            </a:br>
            <a:r>
              <a:rPr lang="en-US" sz="1100" dirty="0"/>
              <a:t>(≈ 0.25x-4x </a:t>
            </a:r>
            <a:r>
              <a:rPr lang="en-US" sz="1100" dirty="0" err="1"/>
              <a:t>Plutos</a:t>
            </a:r>
            <a:r>
              <a:rPr lang="en-US" sz="1100" dirty="0"/>
              <a:t>’ FY26e total revenue, including PA; was $3B to $46B)</a:t>
            </a:r>
          </a:p>
          <a:p>
            <a:pPr marL="288925" indent="-115888"/>
            <a:r>
              <a:rPr lang="en-US" sz="1100" i="1" dirty="0"/>
              <a:t>Note: ACME also considered revenue outliers that are strong business model fits</a:t>
            </a:r>
            <a:endParaRPr lang="en-US" sz="900" i="1" dirty="0"/>
          </a:p>
        </p:txBody>
      </p:sp>
      <p:cxnSp>
        <p:nvCxnSpPr>
          <p:cNvPr id="24" name="Straight Connector 23"/>
          <p:cNvCxnSpPr>
            <a:cxnSpLocks/>
          </p:cNvCxnSpPr>
          <p:nvPr/>
        </p:nvCxnSpPr>
        <p:spPr>
          <a:xfrm>
            <a:off x="3084869" y="2774781"/>
            <a:ext cx="51206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p:cNvCxnSpPr>
          <p:nvPr/>
        </p:nvCxnSpPr>
        <p:spPr>
          <a:xfrm flipV="1">
            <a:off x="2627669" y="4647618"/>
            <a:ext cx="55778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flipV="1">
            <a:off x="2810549" y="4047932"/>
            <a:ext cx="539496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flipV="1">
            <a:off x="2444789" y="6389961"/>
            <a:ext cx="576072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46" name="TextBox 45"/>
          <p:cNvSpPr txBox="1"/>
          <p:nvPr/>
        </p:nvSpPr>
        <p:spPr>
          <a:xfrm>
            <a:off x="3153391" y="1517696"/>
            <a:ext cx="4956820" cy="307777"/>
          </a:xfrm>
          <a:prstGeom prst="rect">
            <a:avLst/>
          </a:prstGeom>
          <a:noFill/>
        </p:spPr>
        <p:txBody>
          <a:bodyPr wrap="square" lIns="45720" tIns="45720" rIns="45720" bIns="45720" rtlCol="0" anchor="ctr">
            <a:spAutoFit/>
          </a:bodyPr>
          <a:lstStyle/>
          <a:p>
            <a:pPr algn="ctr"/>
            <a:r>
              <a:rPr lang="en-US" sz="1400" b="1" dirty="0"/>
              <a:t>ACME’s Current and Recommended FY27 Screening Criteria</a:t>
            </a:r>
          </a:p>
        </p:txBody>
      </p:sp>
      <p:sp>
        <p:nvSpPr>
          <p:cNvPr id="49" name="TextBox 48"/>
          <p:cNvSpPr txBox="1"/>
          <p:nvPr/>
        </p:nvSpPr>
        <p:spPr>
          <a:xfrm>
            <a:off x="2365583" y="5201686"/>
            <a:ext cx="6412108" cy="1154162"/>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Business model criteria (at least 3 out of 4): </a:t>
            </a:r>
          </a:p>
          <a:p>
            <a:pPr marL="346075" lvl="1" indent="-173038">
              <a:buFont typeface="Calibri" panose="020F0502020204030204" pitchFamily="34" charset="0"/>
              <a:buChar char="‒"/>
            </a:pPr>
            <a:r>
              <a:rPr lang="en-US" sz="1100" b="1"/>
              <a:t>What</a:t>
            </a:r>
            <a:r>
              <a:rPr lang="en-US" sz="1100"/>
              <a:t>: Advanced engineering and technology capabilities in select areas including, but not necessarily requiring, an emphasis on civil infrastructure</a:t>
            </a:r>
            <a:endParaRPr lang="en-US" sz="1100" strike="sngStrike" baseline="30000"/>
          </a:p>
          <a:p>
            <a:pPr marL="346075" lvl="1" indent="-173038">
              <a:buFont typeface="Calibri" panose="020F0502020204030204" pitchFamily="34" charset="0"/>
              <a:buChar char="‒"/>
            </a:pPr>
            <a:r>
              <a:rPr lang="en-US" sz="1100" b="1"/>
              <a:t>How</a:t>
            </a:r>
            <a:r>
              <a:rPr lang="en-US" sz="1100"/>
              <a:t>: Delivery of solutions mainly through consulting and professional services</a:t>
            </a:r>
          </a:p>
          <a:p>
            <a:pPr marL="346075" lvl="1" indent="-173038">
              <a:buFont typeface="Calibri" panose="020F0502020204030204" pitchFamily="34" charset="0"/>
              <a:buChar char="‒"/>
            </a:pPr>
            <a:r>
              <a:rPr lang="en-US" sz="1100" b="1"/>
              <a:t>For Whom</a:t>
            </a:r>
            <a:r>
              <a:rPr lang="en-US" sz="1100"/>
              <a:t>: Major commercial clients </a:t>
            </a:r>
            <a:r>
              <a:rPr lang="en-US" sz="1100" b="1">
                <a:solidFill>
                  <a:srgbClr val="FF0000"/>
                </a:solidFill>
              </a:rPr>
              <a:t>in similar end markets </a:t>
            </a:r>
            <a:r>
              <a:rPr lang="en-US" sz="1100"/>
              <a:t>and </a:t>
            </a:r>
            <a:r>
              <a:rPr lang="en-US" sz="1100" b="1">
                <a:solidFill>
                  <a:srgbClr val="FF0000"/>
                </a:solidFill>
              </a:rPr>
              <a:t>non-mission critical </a:t>
            </a:r>
            <a:r>
              <a:rPr lang="en-US" sz="1100"/>
              <a:t>government clients</a:t>
            </a:r>
          </a:p>
          <a:p>
            <a:pPr marL="346075" lvl="1" indent="-173038">
              <a:buFont typeface="Calibri" panose="020F0502020204030204" pitchFamily="34" charset="0"/>
              <a:buChar char="‒"/>
            </a:pPr>
            <a:r>
              <a:rPr lang="en-US" sz="1100" b="1"/>
              <a:t>Where</a:t>
            </a:r>
            <a:r>
              <a:rPr lang="en-US" sz="1100"/>
              <a:t>: Significant percent of international revenue and employees (≥ 30%)</a:t>
            </a:r>
          </a:p>
        </p:txBody>
      </p:sp>
      <p:sp>
        <p:nvSpPr>
          <p:cNvPr id="37" name="TextBox 36"/>
          <p:cNvSpPr txBox="1"/>
          <p:nvPr/>
        </p:nvSpPr>
        <p:spPr>
          <a:xfrm>
            <a:off x="3105722" y="2746399"/>
            <a:ext cx="2532888" cy="1323439"/>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Potentially relevant industries</a:t>
            </a:r>
          </a:p>
          <a:p>
            <a:pPr marL="284163" lvl="1" indent="-120650">
              <a:buFont typeface="Calibri" panose="020F0502020204030204" pitchFamily="34" charset="0"/>
              <a:buChar char="‒"/>
            </a:pPr>
            <a:r>
              <a:rPr lang="en-US" sz="1100"/>
              <a:t>Construction &amp; Engineering</a:t>
            </a:r>
          </a:p>
          <a:p>
            <a:pPr marL="284163" lvl="1" indent="-120650">
              <a:buFont typeface="Calibri" panose="020F0502020204030204" pitchFamily="34" charset="0"/>
              <a:buChar char="‒"/>
            </a:pPr>
            <a:r>
              <a:rPr lang="en-US" sz="1100"/>
              <a:t>Research &amp; Consulting</a:t>
            </a:r>
          </a:p>
          <a:p>
            <a:pPr marL="284163" lvl="1" indent="-120650">
              <a:buFont typeface="Calibri" panose="020F0502020204030204" pitchFamily="34" charset="0"/>
              <a:buChar char="‒"/>
            </a:pPr>
            <a:r>
              <a:rPr lang="en-US" sz="1100"/>
              <a:t>IT Consulting &amp; Other Services</a:t>
            </a:r>
          </a:p>
          <a:p>
            <a:pPr marL="284163" lvl="1" indent="-120650">
              <a:buFont typeface="Calibri" panose="020F0502020204030204" pitchFamily="34" charset="0"/>
              <a:buChar char="‒"/>
            </a:pPr>
            <a:r>
              <a:rPr lang="en-US" sz="1100"/>
              <a:t>Electrical Components &amp; Equipment</a:t>
            </a:r>
            <a:endParaRPr lang="en-US" sz="1100" baseline="30000"/>
          </a:p>
          <a:p>
            <a:pPr marL="284163" lvl="1" indent="-120650">
              <a:buFont typeface="Calibri" panose="020F0502020204030204" pitchFamily="34" charset="0"/>
              <a:buChar char="‒"/>
            </a:pPr>
            <a:r>
              <a:rPr lang="en-US" sz="1100"/>
              <a:t>Industrial Conglomerates</a:t>
            </a:r>
          </a:p>
          <a:p>
            <a:pPr marL="284163" lvl="1" indent="-120650">
              <a:buFont typeface="Calibri" panose="020F0502020204030204" pitchFamily="34" charset="0"/>
              <a:buChar char="‒"/>
            </a:pPr>
            <a:r>
              <a:rPr lang="en-US" sz="1100"/>
              <a:t>Electronic Manufacturing Services</a:t>
            </a:r>
          </a:p>
        </p:txBody>
      </p:sp>
      <p:sp>
        <p:nvSpPr>
          <p:cNvPr id="50" name="Rectangle 49"/>
          <p:cNvSpPr/>
          <p:nvPr/>
        </p:nvSpPr>
        <p:spPr>
          <a:xfrm>
            <a:off x="5416589" y="2963719"/>
            <a:ext cx="3295770" cy="938719"/>
          </a:xfrm>
          <a:prstGeom prst="rect">
            <a:avLst/>
          </a:prstGeom>
        </p:spPr>
        <p:txBody>
          <a:bodyPr wrap="square">
            <a:spAutoFit/>
          </a:bodyPr>
          <a:lstStyle/>
          <a:p>
            <a:pPr marL="233363" lvl="1" indent="-120650">
              <a:buFont typeface="Calibri" panose="020F0502020204030204" pitchFamily="34" charset="0"/>
              <a:buChar char="‒"/>
            </a:pPr>
            <a:r>
              <a:rPr lang="en-US" sz="1100"/>
              <a:t>Environmental &amp; Facilities Services</a:t>
            </a:r>
          </a:p>
          <a:p>
            <a:pPr marL="233363" lvl="1" indent="-120650">
              <a:buFont typeface="Calibri" panose="020F0502020204030204" pitchFamily="34" charset="0"/>
              <a:buChar char="‒"/>
            </a:pPr>
            <a:r>
              <a:rPr lang="en-US" sz="1100"/>
              <a:t>Communications Equipment</a:t>
            </a:r>
          </a:p>
          <a:p>
            <a:pPr marL="233363" lvl="1" indent="-120650">
              <a:buFont typeface="Calibri" panose="020F0502020204030204" pitchFamily="34" charset="0"/>
              <a:buChar char="‒"/>
            </a:pPr>
            <a:r>
              <a:rPr lang="en-US" sz="1100"/>
              <a:t>Technology Hardware, Storage &amp; Peripherals</a:t>
            </a:r>
          </a:p>
          <a:p>
            <a:pPr marL="233363" lvl="1" indent="-120650">
              <a:buFont typeface="Calibri" panose="020F0502020204030204" pitchFamily="34" charset="0"/>
              <a:buChar char="‒"/>
            </a:pPr>
            <a:r>
              <a:rPr lang="en-US" sz="1100"/>
              <a:t>Electronic Equipment &amp; Instruments </a:t>
            </a:r>
          </a:p>
          <a:p>
            <a:pPr marL="233363" lvl="1" indent="-120650">
              <a:buFont typeface="Calibri" panose="020F0502020204030204" pitchFamily="34" charset="0"/>
              <a:buChar char="‒"/>
            </a:pPr>
            <a:r>
              <a:rPr lang="en-US" sz="1100"/>
              <a:t>Application Software</a:t>
            </a:r>
          </a:p>
        </p:txBody>
      </p:sp>
      <p:sp>
        <p:nvSpPr>
          <p:cNvPr id="44" name="Trapezoid 43"/>
          <p:cNvSpPr/>
          <p:nvPr/>
        </p:nvSpPr>
        <p:spPr>
          <a:xfrm rot="10800000">
            <a:off x="252575" y="2099852"/>
            <a:ext cx="2678736" cy="3910359"/>
          </a:xfrm>
          <a:prstGeom prst="trapezoid">
            <a:avLst>
              <a:gd name="adj" fmla="val 30668"/>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800">
              <a:solidFill>
                <a:schemeClr val="tx1"/>
              </a:solidFill>
            </a:endParaRPr>
          </a:p>
        </p:txBody>
      </p:sp>
      <p:sp>
        <p:nvSpPr>
          <p:cNvPr id="10" name="Oval 9"/>
          <p:cNvSpPr/>
          <p:nvPr/>
        </p:nvSpPr>
        <p:spPr>
          <a:xfrm>
            <a:off x="245571" y="1830665"/>
            <a:ext cx="2695975" cy="45720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Universe of Publicly</a:t>
            </a:r>
          </a:p>
          <a:p>
            <a:pPr algn="ctr"/>
            <a:r>
              <a:rPr lang="en-US" sz="1200" b="1">
                <a:solidFill>
                  <a:schemeClr val="tx1"/>
                </a:solidFill>
              </a:rPr>
              <a:t>Traded Companies</a:t>
            </a:r>
          </a:p>
        </p:txBody>
      </p:sp>
      <p:sp>
        <p:nvSpPr>
          <p:cNvPr id="21" name="Oval 20"/>
          <p:cNvSpPr/>
          <p:nvPr/>
        </p:nvSpPr>
        <p:spPr>
          <a:xfrm>
            <a:off x="390159" y="2582757"/>
            <a:ext cx="2387172" cy="384048"/>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Industry</a:t>
            </a:r>
          </a:p>
        </p:txBody>
      </p:sp>
      <p:sp>
        <p:nvSpPr>
          <p:cNvPr id="26" name="Oval 25"/>
          <p:cNvSpPr/>
          <p:nvPr/>
        </p:nvSpPr>
        <p:spPr>
          <a:xfrm>
            <a:off x="648930" y="3845842"/>
            <a:ext cx="1869052"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Size</a:t>
            </a:r>
          </a:p>
        </p:txBody>
      </p:sp>
      <p:sp>
        <p:nvSpPr>
          <p:cNvPr id="27" name="Oval 26"/>
          <p:cNvSpPr/>
          <p:nvPr/>
        </p:nvSpPr>
        <p:spPr>
          <a:xfrm>
            <a:off x="930102" y="5107868"/>
            <a:ext cx="132908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Business Model</a:t>
            </a:r>
          </a:p>
        </p:txBody>
      </p:sp>
      <p:sp>
        <p:nvSpPr>
          <p:cNvPr id="40" name="Oval 39"/>
          <p:cNvSpPr/>
          <p:nvPr/>
        </p:nvSpPr>
        <p:spPr>
          <a:xfrm>
            <a:off x="1080571" y="5819094"/>
            <a:ext cx="102597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Peers</a:t>
            </a:r>
          </a:p>
        </p:txBody>
      </p:sp>
      <p:sp>
        <p:nvSpPr>
          <p:cNvPr id="12" name="TextBox 11">
            <a:extLst>
              <a:ext uri="{FF2B5EF4-FFF2-40B4-BE49-F238E27FC236}">
                <a16:creationId xmlns:a16="http://schemas.microsoft.com/office/drawing/2014/main" id="{A7451DC5-BC5B-7454-6F8D-2DEA2937D722}"/>
              </a:ext>
            </a:extLst>
          </p:cNvPr>
          <p:cNvSpPr txBox="1"/>
          <p:nvPr/>
        </p:nvSpPr>
        <p:spPr>
          <a:xfrm>
            <a:off x="1251837" y="2297289"/>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10,911</a:t>
            </a:r>
          </a:p>
        </p:txBody>
      </p:sp>
      <p:sp>
        <p:nvSpPr>
          <p:cNvPr id="13" name="TextBox 12">
            <a:extLst>
              <a:ext uri="{FF2B5EF4-FFF2-40B4-BE49-F238E27FC236}">
                <a16:creationId xmlns:a16="http://schemas.microsoft.com/office/drawing/2014/main" id="{BAB381D0-2317-1A42-970C-B52626F0BCB4}"/>
              </a:ext>
            </a:extLst>
          </p:cNvPr>
          <p:cNvSpPr txBox="1"/>
          <p:nvPr/>
        </p:nvSpPr>
        <p:spPr>
          <a:xfrm>
            <a:off x="1261243" y="2975214"/>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10,500</a:t>
            </a:r>
          </a:p>
        </p:txBody>
      </p:sp>
      <p:sp>
        <p:nvSpPr>
          <p:cNvPr id="14" name="TextBox 13">
            <a:extLst>
              <a:ext uri="{FF2B5EF4-FFF2-40B4-BE49-F238E27FC236}">
                <a16:creationId xmlns:a16="http://schemas.microsoft.com/office/drawing/2014/main" id="{A1808DFE-8345-F09F-07B2-895D806346E8}"/>
              </a:ext>
            </a:extLst>
          </p:cNvPr>
          <p:cNvSpPr txBox="1"/>
          <p:nvPr/>
        </p:nvSpPr>
        <p:spPr>
          <a:xfrm>
            <a:off x="1353040" y="4207850"/>
            <a:ext cx="496291"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983</a:t>
            </a:r>
          </a:p>
        </p:txBody>
      </p:sp>
      <p:sp>
        <p:nvSpPr>
          <p:cNvPr id="8" name="Oval 7">
            <a:extLst>
              <a:ext uri="{FF2B5EF4-FFF2-40B4-BE49-F238E27FC236}">
                <a16:creationId xmlns:a16="http://schemas.microsoft.com/office/drawing/2014/main" id="{A83B7DDD-DCF3-3C89-EB93-4C048A8EDF2D}"/>
              </a:ext>
            </a:extLst>
          </p:cNvPr>
          <p:cNvSpPr/>
          <p:nvPr/>
        </p:nvSpPr>
        <p:spPr>
          <a:xfrm>
            <a:off x="792399" y="4464738"/>
            <a:ext cx="1603541"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Financial Health</a:t>
            </a:r>
          </a:p>
        </p:txBody>
      </p:sp>
      <p:cxnSp>
        <p:nvCxnSpPr>
          <p:cNvPr id="9" name="Straight Connector 8">
            <a:extLst>
              <a:ext uri="{FF2B5EF4-FFF2-40B4-BE49-F238E27FC236}">
                <a16:creationId xmlns:a16="http://schemas.microsoft.com/office/drawing/2014/main" id="{93421D23-78A5-63F3-16BF-0168674DE74C}"/>
              </a:ext>
            </a:extLst>
          </p:cNvPr>
          <p:cNvCxnSpPr>
            <a:cxnSpLocks/>
          </p:cNvCxnSpPr>
          <p:nvPr/>
        </p:nvCxnSpPr>
        <p:spPr>
          <a:xfrm>
            <a:off x="2527825" y="5189147"/>
            <a:ext cx="5677684"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57E579DA-A825-2C20-BFA3-29F173AEC997}"/>
              </a:ext>
            </a:extLst>
          </p:cNvPr>
          <p:cNvSpPr txBox="1"/>
          <p:nvPr/>
        </p:nvSpPr>
        <p:spPr>
          <a:xfrm>
            <a:off x="3099910" y="4770429"/>
            <a:ext cx="5052160" cy="307777"/>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b="1">
                <a:solidFill>
                  <a:srgbClr val="FF0000"/>
                </a:solidFill>
              </a:rPr>
              <a:t>Financial viability; no material concerns</a:t>
            </a:r>
            <a:endParaRPr lang="en-US" sz="1400">
              <a:solidFill>
                <a:srgbClr val="FF0000"/>
              </a:solidFill>
            </a:endParaRPr>
          </a:p>
        </p:txBody>
      </p:sp>
      <p:sp>
        <p:nvSpPr>
          <p:cNvPr id="15" name="TextBox 14">
            <a:extLst>
              <a:ext uri="{FF2B5EF4-FFF2-40B4-BE49-F238E27FC236}">
                <a16:creationId xmlns:a16="http://schemas.microsoft.com/office/drawing/2014/main" id="{9F27B59C-603C-0319-04DE-0DF66D20C277}"/>
              </a:ext>
            </a:extLst>
          </p:cNvPr>
          <p:cNvSpPr txBox="1"/>
          <p:nvPr/>
        </p:nvSpPr>
        <p:spPr>
          <a:xfrm>
            <a:off x="7132439" y="1944692"/>
            <a:ext cx="1579920" cy="224292"/>
          </a:xfrm>
          <a:prstGeom prst="rect">
            <a:avLst/>
          </a:prstGeom>
          <a:noFill/>
        </p:spPr>
        <p:txBody>
          <a:bodyPr vert="horz" wrap="none" lIns="45720" tIns="45720" rIns="45720" bIns="45720" rtlCol="0" anchor="ctr">
            <a:spAutoFit/>
          </a:bodyPr>
          <a:lstStyle/>
          <a:p>
            <a:pPr algn="ctr">
              <a:lnSpc>
                <a:spcPct val="85000"/>
              </a:lnSpc>
            </a:pPr>
            <a:r>
              <a:rPr lang="en-US" sz="1000" b="1">
                <a:solidFill>
                  <a:srgbClr val="FF0000"/>
                </a:solidFill>
              </a:rPr>
              <a:t>Refined criteria for this year</a:t>
            </a:r>
          </a:p>
        </p:txBody>
      </p:sp>
    </p:spTree>
    <p:extLst>
      <p:ext uri="{BB962C8B-B14F-4D97-AF65-F5344CB8AC3E}">
        <p14:creationId xmlns:p14="http://schemas.microsoft.com/office/powerpoint/2010/main" val="183693139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45C2C52-D3EA-C46D-8689-389E4FEBD5B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58F74E8-3A23-A16B-EFEB-19D51279A8E0}"/>
              </a:ext>
            </a:extLst>
          </p:cNvPr>
          <p:cNvSpPr>
            <a:spLocks noGrp="1"/>
          </p:cNvSpPr>
          <p:nvPr>
            <p:ph type="title"/>
          </p:nvPr>
        </p:nvSpPr>
        <p:spPr/>
        <p:txBody>
          <a:bodyPr/>
          <a:lstStyle/>
          <a:p>
            <a:r>
              <a:rPr lang="en-US" dirty="0" err="1"/>
              <a:t>Plutos</a:t>
            </a:r>
            <a:r>
              <a:rPr lang="en-US" dirty="0"/>
              <a:t>’ current peers continue to meet most of the screening criteria; however, DXC and Kyndryl are under financial duress </a:t>
            </a:r>
            <a:r>
              <a:rPr lang="en-US" i="1" dirty="0"/>
              <a:t>(see next page)</a:t>
            </a:r>
            <a:r>
              <a:rPr lang="en-US" dirty="0"/>
              <a:t>, and KBR is planning a spin-off</a:t>
            </a:r>
          </a:p>
        </p:txBody>
      </p:sp>
      <p:sp>
        <p:nvSpPr>
          <p:cNvPr id="7" name="TextBox 6">
            <a:extLst>
              <a:ext uri="{FF2B5EF4-FFF2-40B4-BE49-F238E27FC236}">
                <a16:creationId xmlns:a16="http://schemas.microsoft.com/office/drawing/2014/main" id="{4BA9C702-4C52-F5CA-E336-11BB0AE07E46}"/>
              </a:ext>
            </a:extLst>
          </p:cNvPr>
          <p:cNvSpPr txBox="1"/>
          <p:nvPr/>
        </p:nvSpPr>
        <p:spPr>
          <a:xfrm>
            <a:off x="2188795" y="1199737"/>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D3014650-61A5-F95D-13C4-4FFA639D2BB1}"/>
              </a:ext>
            </a:extLst>
          </p:cNvPr>
          <p:cNvSpPr txBox="1"/>
          <p:nvPr/>
        </p:nvSpPr>
        <p:spPr>
          <a:xfrm>
            <a:off x="88602" y="6108749"/>
            <a:ext cx="3780147" cy="3693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a:p>
            <a:pPr marL="169863" indent="-169863">
              <a:buAutoNum type="arabicParenBoth"/>
            </a:pPr>
            <a:r>
              <a:rPr lang="en-US" sz="900" i="1"/>
              <a:t>Values represent non-U.S. revenue as a % of total revenue</a:t>
            </a:r>
          </a:p>
        </p:txBody>
      </p:sp>
      <p:sp>
        <p:nvSpPr>
          <p:cNvPr id="17" name="Rectangle 16">
            <a:extLst>
              <a:ext uri="{FF2B5EF4-FFF2-40B4-BE49-F238E27FC236}">
                <a16:creationId xmlns:a16="http://schemas.microsoft.com/office/drawing/2014/main" id="{9C1B790D-357C-5895-FF1F-2257A6F6FDD3}"/>
              </a:ext>
            </a:extLst>
          </p:cNvPr>
          <p:cNvSpPr/>
          <p:nvPr/>
        </p:nvSpPr>
        <p:spPr bwMode="auto">
          <a:xfrm>
            <a:off x="5624368" y="6298078"/>
            <a:ext cx="317079" cy="105446"/>
          </a:xfrm>
          <a:prstGeom prst="rect">
            <a:avLst/>
          </a:prstGeom>
          <a:solidFill>
            <a:schemeClr val="accent6">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8" name="TextBox 17">
            <a:extLst>
              <a:ext uri="{FF2B5EF4-FFF2-40B4-BE49-F238E27FC236}">
                <a16:creationId xmlns:a16="http://schemas.microsoft.com/office/drawing/2014/main" id="{ED6B1530-812D-7B75-6C67-5CD63EEFDFC3}"/>
              </a:ext>
            </a:extLst>
          </p:cNvPr>
          <p:cNvSpPr txBox="1"/>
          <p:nvPr/>
        </p:nvSpPr>
        <p:spPr>
          <a:xfrm>
            <a:off x="5913173" y="6214172"/>
            <a:ext cx="2950201" cy="369332"/>
          </a:xfrm>
          <a:prstGeom prst="rect">
            <a:avLst/>
          </a:prstGeom>
          <a:noFill/>
        </p:spPr>
        <p:txBody>
          <a:bodyPr wrap="square" rtlCol="0" anchor="ctr">
            <a:spAutoFit/>
          </a:bodyPr>
          <a:lstStyle/>
          <a:p>
            <a:r>
              <a:rPr lang="en-US" sz="900" i="1"/>
              <a:t>Requires monitoring due to the anticipated spin-off of the Mission Technology Solutions business</a:t>
            </a:r>
          </a:p>
        </p:txBody>
      </p:sp>
      <p:sp>
        <p:nvSpPr>
          <p:cNvPr id="9" name="Rectangle 8">
            <a:extLst>
              <a:ext uri="{FF2B5EF4-FFF2-40B4-BE49-F238E27FC236}">
                <a16:creationId xmlns:a16="http://schemas.microsoft.com/office/drawing/2014/main" id="{17C20E07-31F0-384A-9AD4-1CD227D7DDA0}"/>
              </a:ext>
            </a:extLst>
          </p:cNvPr>
          <p:cNvSpPr/>
          <p:nvPr/>
        </p:nvSpPr>
        <p:spPr bwMode="auto">
          <a:xfrm>
            <a:off x="4636630" y="6147064"/>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0" name="TextBox 9">
            <a:extLst>
              <a:ext uri="{FF2B5EF4-FFF2-40B4-BE49-F238E27FC236}">
                <a16:creationId xmlns:a16="http://schemas.microsoft.com/office/drawing/2014/main" id="{30D00DAE-502E-A0A0-D737-89F470BFC6C7}"/>
              </a:ext>
            </a:extLst>
          </p:cNvPr>
          <p:cNvSpPr txBox="1"/>
          <p:nvPr/>
        </p:nvSpPr>
        <p:spPr>
          <a:xfrm>
            <a:off x="4898189" y="6079319"/>
            <a:ext cx="717035" cy="230831"/>
          </a:xfrm>
          <a:prstGeom prst="rect">
            <a:avLst/>
          </a:prstGeom>
          <a:noFill/>
        </p:spPr>
        <p:txBody>
          <a:bodyPr wrap="square" rtlCol="0" anchor="ctr">
            <a:spAutoFit/>
          </a:bodyPr>
          <a:lstStyle/>
          <a:p>
            <a:r>
              <a:rPr lang="en-US" sz="900" i="1"/>
              <a:t>Fails screen</a:t>
            </a:r>
          </a:p>
        </p:txBody>
      </p:sp>
      <p:graphicFrame>
        <p:nvGraphicFramePr>
          <p:cNvPr id="11" name="Table 10">
            <a:extLst>
              <a:ext uri="{FF2B5EF4-FFF2-40B4-BE49-F238E27FC236}">
                <a16:creationId xmlns:a16="http://schemas.microsoft.com/office/drawing/2014/main" id="{8934C269-E2ED-3938-466A-0083C1CD9F74}"/>
              </a:ext>
            </a:extLst>
          </p:cNvPr>
          <p:cNvGraphicFramePr>
            <a:graphicFrameLocks noGrp="1"/>
          </p:cNvGraphicFramePr>
          <p:nvPr>
            <p:extLst>
              <p:ext uri="{D42A27DB-BD31-4B8C-83A1-F6EECF244321}">
                <p14:modId xmlns:p14="http://schemas.microsoft.com/office/powerpoint/2010/main" val="760872278"/>
              </p:ext>
            </p:extLst>
          </p:nvPr>
        </p:nvGraphicFramePr>
        <p:xfrm>
          <a:off x="74317" y="1470280"/>
          <a:ext cx="9024704" cy="4604512"/>
        </p:xfrm>
        <a:graphic>
          <a:graphicData uri="http://schemas.openxmlformats.org/drawingml/2006/table">
            <a:tbl>
              <a:tblPr/>
              <a:tblGrid>
                <a:gridCol w="1005840">
                  <a:extLst>
                    <a:ext uri="{9D8B030D-6E8A-4147-A177-3AD203B41FA5}">
                      <a16:colId xmlns:a16="http://schemas.microsoft.com/office/drawing/2014/main" val="3498740264"/>
                    </a:ext>
                  </a:extLst>
                </a:gridCol>
                <a:gridCol w="1920240">
                  <a:extLst>
                    <a:ext uri="{9D8B030D-6E8A-4147-A177-3AD203B41FA5}">
                      <a16:colId xmlns:a16="http://schemas.microsoft.com/office/drawing/2014/main" val="2672747293"/>
                    </a:ext>
                  </a:extLst>
                </a:gridCol>
                <a:gridCol w="581977">
                  <a:extLst>
                    <a:ext uri="{9D8B030D-6E8A-4147-A177-3AD203B41FA5}">
                      <a16:colId xmlns:a16="http://schemas.microsoft.com/office/drawing/2014/main" val="4055734719"/>
                    </a:ext>
                  </a:extLst>
                </a:gridCol>
                <a:gridCol w="578803">
                  <a:extLst>
                    <a:ext uri="{9D8B030D-6E8A-4147-A177-3AD203B41FA5}">
                      <a16:colId xmlns:a16="http://schemas.microsoft.com/office/drawing/2014/main" val="3175602178"/>
                    </a:ext>
                  </a:extLst>
                </a:gridCol>
                <a:gridCol w="618490">
                  <a:extLst>
                    <a:ext uri="{9D8B030D-6E8A-4147-A177-3AD203B41FA5}">
                      <a16:colId xmlns:a16="http://schemas.microsoft.com/office/drawing/2014/main" val="1998022990"/>
                    </a:ext>
                  </a:extLst>
                </a:gridCol>
                <a:gridCol w="578803">
                  <a:extLst>
                    <a:ext uri="{9D8B030D-6E8A-4147-A177-3AD203B41FA5}">
                      <a16:colId xmlns:a16="http://schemas.microsoft.com/office/drawing/2014/main" val="1028378551"/>
                    </a:ext>
                  </a:extLst>
                </a:gridCol>
                <a:gridCol w="932751">
                  <a:extLst>
                    <a:ext uri="{9D8B030D-6E8A-4147-A177-3AD203B41FA5}">
                      <a16:colId xmlns:a16="http://schemas.microsoft.com/office/drawing/2014/main" val="635879128"/>
                    </a:ext>
                  </a:extLst>
                </a:gridCol>
                <a:gridCol w="869251">
                  <a:extLst>
                    <a:ext uri="{9D8B030D-6E8A-4147-A177-3AD203B41FA5}">
                      <a16:colId xmlns:a16="http://schemas.microsoft.com/office/drawing/2014/main" val="1604285976"/>
                    </a:ext>
                  </a:extLst>
                </a:gridCol>
                <a:gridCol w="739077">
                  <a:extLst>
                    <a:ext uri="{9D8B030D-6E8A-4147-A177-3AD203B41FA5}">
                      <a16:colId xmlns:a16="http://schemas.microsoft.com/office/drawing/2014/main" val="1903442265"/>
                    </a:ext>
                  </a:extLst>
                </a:gridCol>
                <a:gridCol w="774001">
                  <a:extLst>
                    <a:ext uri="{9D8B030D-6E8A-4147-A177-3AD203B41FA5}">
                      <a16:colId xmlns:a16="http://schemas.microsoft.com/office/drawing/2014/main" val="2149508805"/>
                    </a:ext>
                  </a:extLst>
                </a:gridCol>
                <a:gridCol w="425471">
                  <a:extLst>
                    <a:ext uri="{9D8B030D-6E8A-4147-A177-3AD203B41FA5}">
                      <a16:colId xmlns:a16="http://schemas.microsoft.com/office/drawing/2014/main" val="186923601"/>
                    </a:ext>
                  </a:extLst>
                </a:gridCol>
              </a:tblGrid>
              <a:tr h="0">
                <a:tc>
                  <a:txBody>
                    <a:bodyPr/>
                    <a:lstStyle/>
                    <a:p>
                      <a:pPr algn="ctr" fontAlgn="b">
                        <a:buNone/>
                      </a:pPr>
                      <a:endParaRPr lang="en-US" sz="10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3">
                  <a:txBody>
                    <a:bodyPr/>
                    <a:lstStyle/>
                    <a:p>
                      <a:pPr algn="ctr" fontAlgn="b">
                        <a:buNone/>
                      </a:pPr>
                      <a:r>
                        <a:rPr lang="fr-FR" sz="1000" b="1" i="0" u="none" strike="noStrike">
                          <a:solidFill>
                            <a:srgbClr val="FFFFFF"/>
                          </a:solidFill>
                          <a:effectLst/>
                          <a:latin typeface="Calibri" panose="020F0502020204030204" pitchFamily="34" charset="0"/>
                        </a:rPr>
                        <a:t>For Reference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5">
                  <a:txBody>
                    <a:bodyPr/>
                    <a:lstStyle/>
                    <a:p>
                      <a:pPr algn="ctr" fontAlgn="b"/>
                      <a:r>
                        <a:rPr lang="en-US" sz="1000" b="1" i="0" u="none" strike="noStrike">
                          <a:solidFill>
                            <a:srgbClr val="FFFFFF"/>
                          </a:solidFill>
                          <a:effectLst/>
                          <a:latin typeface="Calibri" panose="020F0502020204030204" pitchFamily="34" charset="0"/>
                        </a:rPr>
                        <a:t>Business Model</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baseline="30000">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894052986"/>
                  </a:ext>
                </a:extLst>
              </a:tr>
              <a:tr h="0">
                <a:tc>
                  <a:txBody>
                    <a:bodyPr/>
                    <a:lstStyle/>
                    <a:p>
                      <a:pPr algn="ctr" fontAlgn="b">
                        <a:buNone/>
                      </a:pPr>
                      <a:r>
                        <a:rPr lang="en-US" sz="10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1000" b="1" i="0" u="none" strike="noStrike" err="1">
                          <a:solidFill>
                            <a:srgbClr val="FFFFFF"/>
                          </a:solidFill>
                          <a:effectLst/>
                          <a:latin typeface="Calibri" panose="020F0502020204030204" pitchFamily="34" charset="0"/>
                        </a:rPr>
                        <a:t>LTM</a:t>
                      </a:r>
                      <a:endParaRPr lang="fr-FR" sz="1000" b="1" i="0" u="none" strike="noStrike">
                        <a:solidFill>
                          <a:srgbClr val="FFFFFF"/>
                        </a:solidFill>
                        <a:effectLst/>
                        <a:latin typeface="Calibri" panose="020F0502020204030204" pitchFamily="34" charset="0"/>
                      </a:endParaRPr>
                    </a:p>
                    <a:p>
                      <a:pPr algn="ctr" fontAlgn="b">
                        <a:buNone/>
                      </a:pPr>
                      <a:r>
                        <a:rPr lang="fr-FR" sz="1000" b="1" i="0" u="none" strike="noStrike">
                          <a:solidFill>
                            <a:srgbClr val="FFFFFF"/>
                          </a:solidFill>
                          <a:effectLst/>
                          <a:latin typeface="Calibri" panose="020F0502020204030204" pitchFamily="34" charset="0"/>
                        </a:rPr>
                        <a:t>Revenue</a:t>
                      </a:r>
                    </a:p>
                    <a:p>
                      <a:pPr algn="ctr" fontAlgn="b">
                        <a:buNone/>
                      </a:pPr>
                      <a:r>
                        <a:rPr lang="fr-FR" sz="1000" b="1" i="0" u="none" strike="noStrike">
                          <a:solidFill>
                            <a:srgbClr val="FFFFFF"/>
                          </a:solidFill>
                          <a:effectLst/>
                          <a:latin typeface="Calibri" panose="020F0502020204030204" pitchFamily="34" charset="0"/>
                        </a:rPr>
                        <a:t>($</a:t>
                      </a:r>
                      <a:r>
                        <a:rPr lang="fr-FR" sz="1000" b="1" i="0" u="none" strike="noStrike" err="1">
                          <a:solidFill>
                            <a:srgbClr val="FFFFFF"/>
                          </a:solidFill>
                          <a:effectLst/>
                          <a:latin typeface="Calibri" panose="020F0502020204030204" pitchFamily="34" charset="0"/>
                        </a:rPr>
                        <a:t>MMs</a:t>
                      </a:r>
                      <a:r>
                        <a:rPr lang="fr-FR"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a:t>
                      </a:r>
                    </a:p>
                    <a:p>
                      <a:pPr algn="ctr" fontAlgn="b">
                        <a:buNone/>
                      </a:pPr>
                      <a:r>
                        <a:rPr lang="en-US" sz="1000" b="1" i="0" u="none" strike="noStrike">
                          <a:solidFill>
                            <a:srgbClr val="FFFFFF"/>
                          </a:solidFill>
                          <a:effectLst/>
                          <a:latin typeface="Calibri" panose="020F0502020204030204" pitchFamily="34" charset="0"/>
                        </a:rPr>
                        <a:t>3/5/2026</a:t>
                      </a:r>
                    </a:p>
                    <a:p>
                      <a:pPr algn="ctr" fontAlgn="b">
                        <a:buNone/>
                      </a:pPr>
                      <a:r>
                        <a:rPr lang="en-US" sz="1000" b="1" i="0" u="none" strike="noStrike">
                          <a:solidFill>
                            <a:srgbClr val="FFFFFF"/>
                          </a:solidFill>
                          <a:effectLst/>
                          <a:latin typeface="Calibri" panose="020F0502020204030204" pitchFamily="34" charset="0"/>
                        </a:rPr>
                        <a:t>($</a:t>
                      </a:r>
                      <a:r>
                        <a:rPr lang="en-US" sz="1000" b="1" i="0" u="none" strike="noStrike" err="1">
                          <a:solidFill>
                            <a:srgbClr val="FFFFFF"/>
                          </a:solidFill>
                          <a:effectLst/>
                          <a:latin typeface="Calibri" panose="020F0502020204030204" pitchFamily="34" charset="0"/>
                        </a:rPr>
                        <a:t>MMs</a:t>
                      </a:r>
                      <a:r>
                        <a:rPr lang="en-US"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 to</a:t>
                      </a:r>
                    </a:p>
                    <a:p>
                      <a:pPr algn="ctr" fontAlgn="b">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Advanced</a:t>
                      </a:r>
                    </a:p>
                    <a:p>
                      <a:pPr algn="ctr" fontAlgn="b"/>
                      <a:r>
                        <a:rPr lang="en-US" sz="1000" b="1" i="0" u="none" strike="noStrike">
                          <a:solidFill>
                            <a:srgbClr val="FFFFFF"/>
                          </a:solidFill>
                          <a:effectLst/>
                          <a:latin typeface="Calibri" panose="020F0502020204030204" pitchFamily="34" charset="0"/>
                        </a:rPr>
                        <a:t>Engineering and</a:t>
                      </a:r>
                    </a:p>
                    <a:p>
                      <a:pPr algn="ctr" fontAlgn="b"/>
                      <a:r>
                        <a:rPr lang="en-US" sz="1000" b="1" i="0" u="none" strike="noStrike">
                          <a:solidFill>
                            <a:srgbClr val="FFFFFF"/>
                          </a:solidFill>
                          <a:effectLst/>
                          <a:latin typeface="Calibri" panose="020F0502020204030204" pitchFamily="34" charset="0"/>
                        </a:rPr>
                        <a:t>Technology Capabilities</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Consulting and</a:t>
                      </a:r>
                    </a:p>
                    <a:p>
                      <a:pPr algn="ctr" fontAlgn="b"/>
                      <a:r>
                        <a:rPr lang="en-US" sz="1000" b="1" i="0" u="none" strike="noStrike">
                          <a:solidFill>
                            <a:srgbClr val="FFFFFF"/>
                          </a:solidFill>
                          <a:effectLst/>
                          <a:latin typeface="Calibri" panose="020F0502020204030204" pitchFamily="34" charset="0"/>
                        </a:rPr>
                        <a:t>Professional</a:t>
                      </a:r>
                    </a:p>
                    <a:p>
                      <a:pPr algn="ctr" fontAlgn="b"/>
                      <a:r>
                        <a:rPr lang="en-US" sz="1000" b="1" i="0" u="none" strike="noStrike">
                          <a:solidFill>
                            <a:srgbClr val="FFFFFF"/>
                          </a:solidFill>
                          <a:effectLst/>
                          <a:latin typeface="Calibri" panose="020F0502020204030204" pitchFamily="34" charset="0"/>
                        </a:rPr>
                        <a:t>Services</a:t>
                      </a:r>
                    </a:p>
                    <a:p>
                      <a:pPr algn="ctr" fontAlgn="b"/>
                      <a:r>
                        <a:rPr lang="en-US" sz="1000" b="1" i="0" u="none" strike="noStrike">
                          <a:solidFill>
                            <a:srgbClr val="FFFFFF"/>
                          </a:solidFill>
                          <a:effectLst/>
                          <a:latin typeface="Calibri" panose="020F0502020204030204" pitchFamily="34" charset="0"/>
                        </a:rPr>
                        <a:t>Solutions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Major </a:t>
                      </a:r>
                    </a:p>
                    <a:p>
                      <a:pPr algn="ctr" fontAlgn="b"/>
                      <a:r>
                        <a:rPr lang="en-US" sz="1000" b="1" i="0" u="none" strike="noStrike">
                          <a:solidFill>
                            <a:srgbClr val="FFFFFF"/>
                          </a:solidFill>
                          <a:effectLst/>
                          <a:latin typeface="Calibri" panose="020F0502020204030204" pitchFamily="34" charset="0"/>
                        </a:rPr>
                        <a:t>Commercial </a:t>
                      </a:r>
                    </a:p>
                    <a:p>
                      <a:pPr algn="ctr" fontAlgn="b"/>
                      <a:r>
                        <a:rPr lang="en-US" sz="1000" b="1" i="0" u="none" strike="noStrike">
                          <a:solidFill>
                            <a:srgbClr val="FFFFFF"/>
                          </a:solidFill>
                          <a:effectLst/>
                          <a:latin typeface="Calibri" panose="020F0502020204030204" pitchFamily="34" charset="0"/>
                        </a:rPr>
                        <a:t>and Gov’t </a:t>
                      </a:r>
                    </a:p>
                    <a:p>
                      <a:pPr algn="ctr" fontAlgn="b"/>
                      <a:r>
                        <a:rPr lang="en-US" sz="1000" b="1" i="0" u="none" strike="noStrike">
                          <a:solidFill>
                            <a:srgbClr val="FFFFFF"/>
                          </a:solidFill>
                          <a:effectLst/>
                          <a:latin typeface="Calibri" panose="020F0502020204030204" pitchFamily="34" charset="0"/>
                        </a:rPr>
                        <a:t>Clients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30%</a:t>
                      </a:r>
                    </a:p>
                    <a:p>
                      <a:pPr algn="ctr" fontAlgn="b"/>
                      <a:r>
                        <a:rPr lang="en-US" sz="1000" b="1" i="0" u="none" strike="noStrike">
                          <a:solidFill>
                            <a:srgbClr val="FFFFFF"/>
                          </a:solidFill>
                          <a:effectLst/>
                          <a:latin typeface="Calibri" panose="020F0502020204030204" pitchFamily="34" charset="0"/>
                        </a:rPr>
                        <a:t>International</a:t>
                      </a:r>
                    </a:p>
                    <a:p>
                      <a:pPr algn="ctr" fontAlgn="b"/>
                      <a:r>
                        <a:rPr lang="en-US" sz="1000" b="1" i="0" u="none" strike="noStrike">
                          <a:solidFill>
                            <a:srgbClr val="FFFFFF"/>
                          </a:solidFill>
                          <a:effectLst/>
                          <a:latin typeface="Calibri" panose="020F0502020204030204" pitchFamily="34" charset="0"/>
                        </a:rPr>
                        <a:t>Revenue and</a:t>
                      </a:r>
                    </a:p>
                    <a:p>
                      <a:pPr algn="ctr" fontAlgn="b"/>
                      <a:r>
                        <a:rPr lang="en-US" sz="1000" b="1" i="0" u="none" strike="noStrike">
                          <a:solidFill>
                            <a:srgbClr val="FFFFFF"/>
                          </a:solidFill>
                          <a:effectLst/>
                          <a:latin typeface="Calibri" panose="020F0502020204030204" pitchFamily="34" charset="0"/>
                        </a:rPr>
                        <a:t>Employees</a:t>
                      </a:r>
                      <a:r>
                        <a:rPr lang="en-US" sz="1000" b="1" i="0" u="none" strike="noStrike" baseline="30000">
                          <a:solidFill>
                            <a:srgbClr val="FFFFFF"/>
                          </a:solidFill>
                          <a:effectLst/>
                          <a:latin typeface="Calibri" panose="020F0502020204030204" pitchFamily="34" charset="0"/>
                        </a:rPr>
                        <a:t>(2)</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Count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006612381"/>
                  </a:ext>
                </a:extLst>
              </a:tr>
              <a:tr h="0">
                <a:tc>
                  <a:txBody>
                    <a:bodyPr/>
                    <a:lstStyle/>
                    <a:p>
                      <a:pPr algn="l" fontAlgn="b">
                        <a:buNone/>
                      </a:pPr>
                      <a:r>
                        <a:rPr lang="en-US" sz="1000" b="0" i="0" u="none" strike="noStrike">
                          <a:solidFill>
                            <a:schemeClr val="tx1"/>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34470819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17449434"/>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0" marR="0" marT="0" marB="0" anchor="b">
                    <a:lnL>
                      <a:noFill/>
                    </a:lnL>
                    <a:lnR>
                      <a:noFill/>
                    </a:lnR>
                    <a:lnT>
                      <a:noFill/>
                    </a:lnT>
                    <a:lnB>
                      <a:noFill/>
                    </a:lnB>
                    <a:solidFill>
                      <a:schemeClr val="accent5">
                        <a:lumMod val="40000"/>
                        <a:lumOff val="60000"/>
                      </a:schemeClr>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48669820"/>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32166356"/>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742670015"/>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rgbClr val="EAD5FF"/>
                    </a:solid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10635801"/>
                  </a:ext>
                </a:extLst>
              </a:tr>
              <a:tr h="0">
                <a:tc>
                  <a:txBody>
                    <a:bodyPr/>
                    <a:lstStyle/>
                    <a:p>
                      <a:pPr algn="l" fontAlgn="b">
                        <a:buNone/>
                      </a:pPr>
                      <a:r>
                        <a:rPr lang="en-US" sz="1000" b="0" i="0" u="none" strike="noStrike">
                          <a:solidFill>
                            <a:schemeClr val="tx1"/>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1422271757"/>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86223489"/>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9144" marB="9144" anchor="ctr">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Environmental and Facilities </a:t>
                      </a:r>
                      <a:r>
                        <a:rPr lang="en-US" sz="1000" b="0" i="0" u="none" strike="noStrike" err="1">
                          <a:solidFill>
                            <a:srgbClr val="000000"/>
                          </a:solidFill>
                          <a:effectLst/>
                          <a:latin typeface="Calibri" panose="020F0502020204030204" pitchFamily="34" charset="0"/>
                        </a:rPr>
                        <a:t>Svcs</a:t>
                      </a:r>
                      <a:endParaRPr lang="en-US" sz="1000" b="0" i="0" u="none" strike="noStrike">
                        <a:solidFill>
                          <a:srgbClr val="000000"/>
                        </a:solidFill>
                        <a:effectLst/>
                        <a:latin typeface="Calibri" panose="020F0502020204030204" pitchFamily="34" charset="0"/>
                      </a:endParaRP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noFill/>
                  </a:tcPr>
                </a:tc>
                <a:extLst>
                  <a:ext uri="{0D108BD9-81ED-4DB2-BD59-A6C34878D82A}">
                    <a16:rowId xmlns:a16="http://schemas.microsoft.com/office/drawing/2014/main" val="1291660921"/>
                  </a:ext>
                </a:extLst>
              </a:tr>
              <a:tr h="0">
                <a:tc>
                  <a:txBody>
                    <a:bodyPr/>
                    <a:lstStyle/>
                    <a:p>
                      <a:pPr algn="l" fontAlgn="b">
                        <a:buNone/>
                      </a:pPr>
                      <a:r>
                        <a:rPr lang="en-US" sz="1000" b="0" i="0" u="none" strike="noStrike">
                          <a:solidFill>
                            <a:schemeClr val="tx1"/>
                          </a:solidFill>
                          <a:effectLst/>
                          <a:latin typeface="Calibri" panose="020F0502020204030204" pitchFamily="34" charset="0"/>
                        </a:rPr>
                        <a:t>Cognizant</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68778428"/>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Mainly U.S.</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780848612"/>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814794057"/>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156821816"/>
                  </a:ext>
                </a:extLst>
              </a:tr>
              <a:tr h="0">
                <a:tc>
                  <a:txBody>
                    <a:bodyPr/>
                    <a:lstStyle/>
                    <a:p>
                      <a:pPr algn="l" fontAlgn="ctr">
                        <a:buNone/>
                      </a:pPr>
                      <a:r>
                        <a:rPr lang="en-US" sz="10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$15,123</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$3,046</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0.2x</a:t>
                      </a:r>
                    </a:p>
                  </a:txBody>
                  <a:tcPr marL="0" marR="0" marT="0" marB="0" anchor="ctr">
                    <a:lnL>
                      <a:noFill/>
                    </a:lnL>
                    <a:lnR>
                      <a:noFill/>
                    </a:lnR>
                    <a:lnT>
                      <a:noFill/>
                    </a:lnT>
                    <a:lnB>
                      <a:noFill/>
                    </a:lnB>
                    <a:solidFill>
                      <a:schemeClr val="accent5">
                        <a:lumMod val="40000"/>
                        <a:lumOff val="60000"/>
                      </a:schemeClr>
                    </a:solidFill>
                  </a:tcPr>
                </a:tc>
                <a:tc>
                  <a:txBody>
                    <a:bodyPr/>
                    <a:lstStyle/>
                    <a:p>
                      <a:pPr algn="ctr" fontAlgn="ctr">
                        <a:buNone/>
                      </a:pPr>
                      <a:r>
                        <a:rPr lang="en-US" sz="1000" b="0" i="0" u="none" strike="noStrike">
                          <a:solidFill>
                            <a:schemeClr val="tx1"/>
                          </a:solidFill>
                          <a:effectLst/>
                          <a:latin typeface="Calibri" panose="020F0502020204030204" pitchFamily="34" charset="0"/>
                        </a:rPr>
                        <a:t>IT Infrastructure Ops</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044625981"/>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74547200"/>
                  </a:ext>
                </a:extLst>
              </a:tr>
              <a:tr h="0">
                <a:tc>
                  <a:txBody>
                    <a:bodyPr/>
                    <a:lstStyle/>
                    <a:p>
                      <a:pPr algn="l" fontAlgn="ctr">
                        <a:buNone/>
                      </a:pPr>
                      <a:r>
                        <a:rPr lang="en-US" sz="1000" b="0" i="0" u="none" strike="noStrike">
                          <a:solidFill>
                            <a:srgbClr val="000000"/>
                          </a:solidFill>
                          <a:effectLst/>
                          <a:latin typeface="Calibri" panose="020F0502020204030204" pitchFamily="34" charset="0"/>
                        </a:rPr>
                        <a:t>FTI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$3,789</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$4,967</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1.3x</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Management</a:t>
                      </a:r>
                    </a:p>
                    <a:p>
                      <a:pPr algn="ctr" fontAlgn="ctr">
                        <a:buNone/>
                      </a:pPr>
                      <a:r>
                        <a:rPr lang="en-US" sz="1000" b="0" i="0" u="none" strike="noStrike">
                          <a:solidFill>
                            <a:srgbClr val="000000"/>
                          </a:solidFill>
                          <a:effectLst/>
                          <a:latin typeface="Calibri" panose="020F0502020204030204" pitchFamily="34" charset="0"/>
                        </a:rPr>
                        <a:t>Consulting Only</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540889896"/>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790349"/>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$15,616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$17,513</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1.5x</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909323377"/>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$12,142</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$9,778</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377064740"/>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$6,137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$6,345</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0.7x</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733945848"/>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8695572"/>
                  </a:ext>
                </a:extLst>
              </a:tr>
              <a:tr h="0">
                <a:tc>
                  <a:txBody>
                    <a:bodyPr/>
                    <a:lstStyle/>
                    <a:p>
                      <a:pPr algn="l" fontAlgn="b">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US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$12,390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$15,984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208191878"/>
                  </a:ext>
                </a:extLst>
              </a:tr>
            </a:tbl>
          </a:graphicData>
        </a:graphic>
      </p:graphicFrame>
      <p:sp>
        <p:nvSpPr>
          <p:cNvPr id="12" name="Rectangle 11">
            <a:extLst>
              <a:ext uri="{FF2B5EF4-FFF2-40B4-BE49-F238E27FC236}">
                <a16:creationId xmlns:a16="http://schemas.microsoft.com/office/drawing/2014/main" id="{A394B268-0ADC-6A91-2227-45D1347C622E}"/>
              </a:ext>
            </a:extLst>
          </p:cNvPr>
          <p:cNvSpPr/>
          <p:nvPr/>
        </p:nvSpPr>
        <p:spPr bwMode="auto">
          <a:xfrm>
            <a:off x="5624368" y="6143109"/>
            <a:ext cx="317079" cy="105446"/>
          </a:xfrm>
          <a:prstGeom prst="rect">
            <a:avLst/>
          </a:prstGeom>
          <a:solidFill>
            <a:schemeClr val="accent5">
              <a:lumMod val="40000"/>
              <a:lumOff val="6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96625D42-CDEA-4CB6-C548-7E60F0CA44A3}"/>
              </a:ext>
            </a:extLst>
          </p:cNvPr>
          <p:cNvSpPr txBox="1"/>
          <p:nvPr/>
        </p:nvSpPr>
        <p:spPr>
          <a:xfrm>
            <a:off x="5908596" y="6072143"/>
            <a:ext cx="1809562" cy="230832"/>
          </a:xfrm>
          <a:prstGeom prst="rect">
            <a:avLst/>
          </a:prstGeom>
          <a:noFill/>
        </p:spPr>
        <p:txBody>
          <a:bodyPr wrap="square" rtlCol="0" anchor="ctr">
            <a:spAutoFit/>
          </a:bodyPr>
          <a:lstStyle/>
          <a:p>
            <a:r>
              <a:rPr lang="en-US" sz="900" i="1"/>
              <a:t>Is in poor financial condition</a:t>
            </a:r>
          </a:p>
        </p:txBody>
      </p:sp>
      <p:sp>
        <p:nvSpPr>
          <p:cNvPr id="4" name="TextBox 3">
            <a:extLst>
              <a:ext uri="{FF2B5EF4-FFF2-40B4-BE49-F238E27FC236}">
                <a16:creationId xmlns:a16="http://schemas.microsoft.com/office/drawing/2014/main" id="{C78F2EEE-E5D7-B8FA-A94C-13DB030EA2F7}"/>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
        <p:nvSpPr>
          <p:cNvPr id="90006" name="acme-flag-90006"/>
          <p:cNvSpPr/>
          <p:nvPr/>
        </p:nvSpPr>
        <p:spPr>
          <a:xfrm>
            <a:off x="74317" y="1470280"/>
            <a:ext cx="9024704" cy="4604512"/>
          </a:xfrm>
          <a:prstGeom prst="rect">
            <a:avLst/>
          </a:prstGeom>
          <a:solidFill>
            <a:srgbClr val="FFD400">
              <a:alpha val="30000"/>
            </a:srgbClr>
          </a:solidFill>
          <a:ln w="19050">
            <a:solidFill>
              <a:srgbClr val="E80000"/>
            </a:solidFill>
          </a:ln>
        </p:spPr>
        <p:txBody>
          <a:bodyPr/>
          <a:lstStyle/>
          <a:p/>
        </p:txBody>
      </p:sp>
      <p:sp>
        <p:nvSpPr>
          <p:cNvPr id="90007" name="acme-flag-90007"/>
          <p:cNvSpPr/>
          <p:nvPr/>
        </p:nvSpPr>
        <p:spPr>
          <a:xfrm>
            <a:off x="74317" y="1470280"/>
            <a:ext cx="9024704" cy="4604512"/>
          </a:xfrm>
          <a:prstGeom prst="rect">
            <a:avLst/>
          </a:prstGeom>
          <a:solidFill>
            <a:srgbClr val="FFD400">
              <a:alpha val="30000"/>
            </a:srgbClr>
          </a:solidFill>
          <a:ln w="19050">
            <a:solidFill>
              <a:srgbClr val="E80000"/>
            </a:solidFill>
          </a:ln>
        </p:spPr>
        <p:txBody>
          <a:bodyPr/>
          <a:lstStyle/>
          <a:p/>
        </p:txBody>
      </p:sp>
      <p:sp>
        <p:nvSpPr>
          <p:cNvPr id="90008" name="acme-note-90008"/>
          <p:cNvSpPr txBox="1"/>
          <p:nvPr/>
        </p:nvSpPr>
        <p:spPr>
          <a:xfrm>
            <a:off x="152400" y="6153000"/>
            <a:ext cx="8839200" cy="64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2 brand issues flagged:</a:t>
            </a:r>
          </a:p>
          <a:p>
            <a:r>
              <a:rPr lang="en-US" sz="1000" b="0" dirty="0">
                <a:solidFill>
                  <a:srgbClr val="9B0000"/>
                </a:solidFill>
                <a:latin typeface="Calibri"/>
              </a:rPr>
              <a:t>1. Label uses “Percentile” spelled out (“75th Percentile”). Guidelines require “%ile”.</a:t>
            </a:r>
          </a:p>
          <a:p>
            <a:r>
              <a:rPr lang="en-US" sz="1000" b="0" dirty="0">
                <a:solidFill>
                  <a:srgbClr val="9B0000"/>
                </a:solidFill>
                <a:latin typeface="Calibri"/>
              </a:rPr>
              <a:t>2. Label uses “Percentile” spelled out (“25th Percentile”). Guidelines require “%ile”.</a:t>
            </a:r>
          </a:p>
        </p:txBody>
      </p:sp>
    </p:spTree>
    <p:extLst>
      <p:ext uri="{BB962C8B-B14F-4D97-AF65-F5344CB8AC3E}">
        <p14:creationId xmlns:p14="http://schemas.microsoft.com/office/powerpoint/2010/main" val="335867645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682BAB-3B55-620D-3093-DF6950F1AE6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D8075050-DED0-711D-C222-6ACD57B5988E}"/>
              </a:ext>
            </a:extLst>
          </p:cNvPr>
          <p:cNvSpPr>
            <a:spLocks noGrp="1"/>
          </p:cNvSpPr>
          <p:nvPr>
            <p:ph type="title"/>
          </p:nvPr>
        </p:nvSpPr>
        <p:spPr/>
        <p:txBody>
          <a:bodyPr/>
          <a:lstStyle/>
          <a:p>
            <a:r>
              <a:rPr lang="en-US"/>
              <a:t>Kyndryl and DXC rank in the bottom quartile on most financial and market measures, raising questions about the financial viability of these companies for the peer group</a:t>
            </a:r>
          </a:p>
        </p:txBody>
      </p:sp>
      <p:sp>
        <p:nvSpPr>
          <p:cNvPr id="5" name="TextBox 4">
            <a:extLst>
              <a:ext uri="{FF2B5EF4-FFF2-40B4-BE49-F238E27FC236}">
                <a16:creationId xmlns:a16="http://schemas.microsoft.com/office/drawing/2014/main" id="{217BC1CD-FB38-933C-348C-3DF8ACC5A1C0}"/>
              </a:ext>
            </a:extLst>
          </p:cNvPr>
          <p:cNvSpPr txBox="1"/>
          <p:nvPr/>
        </p:nvSpPr>
        <p:spPr>
          <a:xfrm>
            <a:off x="2188793" y="1313309"/>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Financial 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graphicFrame>
        <p:nvGraphicFramePr>
          <p:cNvPr id="9" name="Table 8">
            <a:extLst>
              <a:ext uri="{FF2B5EF4-FFF2-40B4-BE49-F238E27FC236}">
                <a16:creationId xmlns:a16="http://schemas.microsoft.com/office/drawing/2014/main" id="{37F69384-8134-F6EB-1A07-687677650FEA}"/>
              </a:ext>
            </a:extLst>
          </p:cNvPr>
          <p:cNvGraphicFramePr>
            <a:graphicFrameLocks noGrp="1"/>
          </p:cNvGraphicFramePr>
          <p:nvPr>
            <p:extLst>
              <p:ext uri="{D42A27DB-BD31-4B8C-83A1-F6EECF244321}">
                <p14:modId xmlns:p14="http://schemas.microsoft.com/office/powerpoint/2010/main" val="1330180067"/>
              </p:ext>
            </p:extLst>
          </p:nvPr>
        </p:nvGraphicFramePr>
        <p:xfrm>
          <a:off x="89653" y="1625979"/>
          <a:ext cx="8964694" cy="3781552"/>
        </p:xfrm>
        <a:graphic>
          <a:graphicData uri="http://schemas.openxmlformats.org/drawingml/2006/table">
            <a:tbl>
              <a:tblPr/>
              <a:tblGrid>
                <a:gridCol w="831639">
                  <a:extLst>
                    <a:ext uri="{9D8B030D-6E8A-4147-A177-3AD203B41FA5}">
                      <a16:colId xmlns:a16="http://schemas.microsoft.com/office/drawing/2014/main" val="2010070584"/>
                    </a:ext>
                  </a:extLst>
                </a:gridCol>
                <a:gridCol w="1831340">
                  <a:extLst>
                    <a:ext uri="{9D8B030D-6E8A-4147-A177-3AD203B41FA5}">
                      <a16:colId xmlns:a16="http://schemas.microsoft.com/office/drawing/2014/main" val="2054700537"/>
                    </a:ext>
                  </a:extLst>
                </a:gridCol>
                <a:gridCol w="534352">
                  <a:extLst>
                    <a:ext uri="{9D8B030D-6E8A-4147-A177-3AD203B41FA5}">
                      <a16:colId xmlns:a16="http://schemas.microsoft.com/office/drawing/2014/main" val="2844164286"/>
                    </a:ext>
                  </a:extLst>
                </a:gridCol>
                <a:gridCol w="494602">
                  <a:extLst>
                    <a:ext uri="{9D8B030D-6E8A-4147-A177-3AD203B41FA5}">
                      <a16:colId xmlns:a16="http://schemas.microsoft.com/office/drawing/2014/main" val="3519048605"/>
                    </a:ext>
                  </a:extLst>
                </a:gridCol>
                <a:gridCol w="545465">
                  <a:extLst>
                    <a:ext uri="{9D8B030D-6E8A-4147-A177-3AD203B41FA5}">
                      <a16:colId xmlns:a16="http://schemas.microsoft.com/office/drawing/2014/main" val="668972597"/>
                    </a:ext>
                  </a:extLst>
                </a:gridCol>
                <a:gridCol w="521056">
                  <a:extLst>
                    <a:ext uri="{9D8B030D-6E8A-4147-A177-3AD203B41FA5}">
                      <a16:colId xmlns:a16="http://schemas.microsoft.com/office/drawing/2014/main" val="3601716928"/>
                    </a:ext>
                  </a:extLst>
                </a:gridCol>
                <a:gridCol w="457200">
                  <a:extLst>
                    <a:ext uri="{9D8B030D-6E8A-4147-A177-3AD203B41FA5}">
                      <a16:colId xmlns:a16="http://schemas.microsoft.com/office/drawing/2014/main" val="708405666"/>
                    </a:ext>
                  </a:extLst>
                </a:gridCol>
                <a:gridCol w="457200">
                  <a:extLst>
                    <a:ext uri="{9D8B030D-6E8A-4147-A177-3AD203B41FA5}">
                      <a16:colId xmlns:a16="http://schemas.microsoft.com/office/drawing/2014/main" val="1994589338"/>
                    </a:ext>
                  </a:extLst>
                </a:gridCol>
                <a:gridCol w="457200">
                  <a:extLst>
                    <a:ext uri="{9D8B030D-6E8A-4147-A177-3AD203B41FA5}">
                      <a16:colId xmlns:a16="http://schemas.microsoft.com/office/drawing/2014/main" val="1067866513"/>
                    </a:ext>
                  </a:extLst>
                </a:gridCol>
                <a:gridCol w="457200">
                  <a:extLst>
                    <a:ext uri="{9D8B030D-6E8A-4147-A177-3AD203B41FA5}">
                      <a16:colId xmlns:a16="http://schemas.microsoft.com/office/drawing/2014/main" val="714836468"/>
                    </a:ext>
                  </a:extLst>
                </a:gridCol>
                <a:gridCol w="457200">
                  <a:extLst>
                    <a:ext uri="{9D8B030D-6E8A-4147-A177-3AD203B41FA5}">
                      <a16:colId xmlns:a16="http://schemas.microsoft.com/office/drawing/2014/main" val="203911306"/>
                    </a:ext>
                  </a:extLst>
                </a:gridCol>
                <a:gridCol w="457200">
                  <a:extLst>
                    <a:ext uri="{9D8B030D-6E8A-4147-A177-3AD203B41FA5}">
                      <a16:colId xmlns:a16="http://schemas.microsoft.com/office/drawing/2014/main" val="558661927"/>
                    </a:ext>
                  </a:extLst>
                </a:gridCol>
                <a:gridCol w="457200">
                  <a:extLst>
                    <a:ext uri="{9D8B030D-6E8A-4147-A177-3AD203B41FA5}">
                      <a16:colId xmlns:a16="http://schemas.microsoft.com/office/drawing/2014/main" val="2334488175"/>
                    </a:ext>
                  </a:extLst>
                </a:gridCol>
                <a:gridCol w="457200">
                  <a:extLst>
                    <a:ext uri="{9D8B030D-6E8A-4147-A177-3AD203B41FA5}">
                      <a16:colId xmlns:a16="http://schemas.microsoft.com/office/drawing/2014/main" val="1689892221"/>
                    </a:ext>
                  </a:extLst>
                </a:gridCol>
                <a:gridCol w="548640">
                  <a:extLst>
                    <a:ext uri="{9D8B030D-6E8A-4147-A177-3AD203B41FA5}">
                      <a16:colId xmlns:a16="http://schemas.microsoft.com/office/drawing/2014/main" val="3879426364"/>
                    </a:ext>
                  </a:extLst>
                </a:gridCol>
              </a:tblGrid>
              <a:tr h="0">
                <a:tc>
                  <a:txBody>
                    <a:bodyPr/>
                    <a:lstStyle/>
                    <a:p>
                      <a:pPr algn="ctr" fontAlgn="b">
                        <a:buNone/>
                      </a:pPr>
                      <a:endParaRPr lang="en-US" sz="9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a:t>
                      </a:r>
                      <a:r>
                        <a:rPr lang="en-US" sz="900" b="1" i="0" u="none" strike="noStrike" err="1">
                          <a:solidFill>
                            <a:srgbClr val="FFFFFF"/>
                          </a:solidFill>
                          <a:effectLst/>
                          <a:latin typeface="Calibri" panose="020F0502020204030204" pitchFamily="34" charset="0"/>
                        </a:rPr>
                        <a:t>MMs</a:t>
                      </a:r>
                      <a:r>
                        <a:rPr lang="en-US"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Operating</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Net Income</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err="1">
                          <a:solidFill>
                            <a:srgbClr val="FFFFFF"/>
                          </a:solidFill>
                          <a:effectLst/>
                          <a:latin typeface="Calibri" panose="020F0502020204030204" pitchFamily="34" charset="0"/>
                        </a:rPr>
                        <a:t>TSR</a:t>
                      </a: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Business Model</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409338986"/>
                  </a:ext>
                </a:extLst>
              </a:tr>
              <a:tr h="0">
                <a:tc>
                  <a:txBody>
                    <a:bodyPr/>
                    <a:lstStyle/>
                    <a:p>
                      <a:pPr algn="ctr" fontAlgn="b">
                        <a:buNone/>
                      </a:pPr>
                      <a:r>
                        <a:rPr lang="en-US" sz="9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Criteria Met</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112836875"/>
                  </a:ext>
                </a:extLst>
              </a:tr>
              <a:tr h="0">
                <a:tc>
                  <a:txBody>
                    <a:bodyPr/>
                    <a:lstStyle/>
                    <a:p>
                      <a:pPr algn="l" fontAlgn="b">
                        <a:buNone/>
                      </a:pPr>
                      <a:r>
                        <a:rPr lang="en-US" sz="900" b="0" i="0" u="none" strike="noStrike">
                          <a:solidFill>
                            <a:srgbClr val="000000"/>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$70,726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$131,676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1.9x</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42790770"/>
                  </a:ext>
                </a:extLst>
              </a:tr>
              <a:tr h="0">
                <a:tc>
                  <a:txBody>
                    <a:bodyPr/>
                    <a:lstStyle/>
                    <a:p>
                      <a:pPr algn="l" fontAlgn="b">
                        <a:buNone/>
                      </a:pPr>
                      <a:r>
                        <a:rPr lang="en-US" sz="900" b="0" i="0" u="none" strike="noStrike" err="1">
                          <a:solidFill>
                            <a:srgbClr val="000000"/>
                          </a:solidFill>
                          <a:effectLst/>
                          <a:latin typeface="Calibri" panose="020F0502020204030204" pitchFamily="34" charset="0"/>
                        </a:rPr>
                        <a:t>WSP</a:t>
                      </a:r>
                      <a:r>
                        <a:rPr lang="en-US" sz="900" b="0" i="0" u="none" strike="noStrike">
                          <a:solidFill>
                            <a:srgbClr val="000000"/>
                          </a:solidFill>
                          <a:effectLst/>
                          <a:latin typeface="Calibri" panose="020F0502020204030204" pitchFamily="34" charset="0"/>
                        </a:rPr>
                        <a:t>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$13,090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$22,279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23326301"/>
                  </a:ext>
                </a:extLst>
              </a:tr>
              <a:tr h="0">
                <a:tc>
                  <a:txBody>
                    <a:bodyPr/>
                    <a:lstStyle/>
                    <a:p>
                      <a:pPr algn="l" fontAlgn="b">
                        <a:buNone/>
                      </a:pPr>
                      <a:r>
                        <a:rPr lang="en-US" sz="9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$12,683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$2,239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0.2x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4107548468"/>
                  </a:ext>
                </a:extLst>
              </a:tr>
              <a:tr h="0">
                <a:tc>
                  <a:txBody>
                    <a:bodyPr/>
                    <a:lstStyle/>
                    <a:p>
                      <a:pPr algn="l" fontAlgn="b">
                        <a:buNone/>
                      </a:pPr>
                      <a:r>
                        <a:rPr lang="en-US" sz="9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3461500652"/>
                  </a:ext>
                </a:extLst>
              </a:tr>
              <a:tr h="0">
                <a:tc>
                  <a:txBody>
                    <a:bodyPr/>
                    <a:lstStyle/>
                    <a:p>
                      <a:pPr algn="l" fontAlgn="b">
                        <a:buNone/>
                      </a:pPr>
                      <a:r>
                        <a:rPr lang="en-US" sz="900" b="0" i="0" u="none" strike="noStrike" err="1">
                          <a:solidFill>
                            <a:srgbClr val="000000"/>
                          </a:solidFill>
                          <a:effectLst/>
                          <a:latin typeface="Calibri" panose="020F0502020204030204" pitchFamily="34" charset="0"/>
                        </a:rPr>
                        <a:t>AtkinsRéalis</a:t>
                      </a: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$7,876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$11,561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82039972"/>
                  </a:ext>
                </a:extLst>
              </a:tr>
              <a:tr h="0">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chemeClr val="bg1">
                        <a:lumMod val="95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$7,786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$5,075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142993902"/>
                  </a:ext>
                </a:extLst>
              </a:tr>
              <a:tr h="0">
                <a:tc>
                  <a:txBody>
                    <a:bodyPr/>
                    <a:lstStyle/>
                    <a:p>
                      <a:pPr algn="l" fontAlgn="b">
                        <a:buNone/>
                      </a:pPr>
                      <a:r>
                        <a:rPr lang="en-US" sz="900" b="0" i="0" u="none" strike="noStrike">
                          <a:solidFill>
                            <a:srgbClr val="000000"/>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$5,457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$7,828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267621713"/>
                  </a:ext>
                </a:extLst>
              </a:tr>
              <a:tr h="0">
                <a:tc>
                  <a:txBody>
                    <a:bodyPr/>
                    <a:lstStyle/>
                    <a:p>
                      <a:pPr algn="l" fontAlgn="b">
                        <a:buNone/>
                      </a:pPr>
                      <a:r>
                        <a:rPr lang="en-US" sz="9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$4,649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337817522"/>
                  </a:ext>
                </a:extLst>
              </a:tr>
              <a:tr h="0">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Calibri" panose="020F0502020204030204" pitchFamily="34" charset="0"/>
                        </a:rPr>
                        <a:t>Environmental and Facilities Services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$4,457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$9,163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2.1x</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4445060"/>
                  </a:ext>
                </a:extLst>
              </a:tr>
              <a:tr h="0">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$21,108</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$31,459</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37775602"/>
                  </a:ext>
                </a:extLst>
              </a:tr>
              <a:tr h="0">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$17,174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$22,202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22087471"/>
                  </a:ext>
                </a:extLst>
              </a:tr>
              <a:tr h="0">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$12,125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0.8x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2137373110"/>
                  </a:ext>
                </a:extLst>
              </a:tr>
              <a:tr h="0">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$15,503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$6,768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0.4x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31908593"/>
                  </a:ext>
                </a:extLst>
              </a:tr>
              <a:tr h="0">
                <a:tc>
                  <a:txBody>
                    <a:bodyPr/>
                    <a:lstStyle/>
                    <a:p>
                      <a:pPr algn="l" fontAlgn="ctr">
                        <a:buNone/>
                      </a:pPr>
                      <a:r>
                        <a:rPr lang="en-US" sz="9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$15,123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$3,046</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0.2x</a:t>
                      </a:r>
                    </a:p>
                  </a:txBody>
                  <a:tcPr marL="45720" marR="4572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1%</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-5%</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3200878070"/>
                  </a:ext>
                </a:extLst>
              </a:tr>
              <a:tr h="0">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$6,364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$7,004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1415641442"/>
                  </a:ext>
                </a:extLst>
              </a:tr>
              <a:tr h="0">
                <a:tc>
                  <a:txBody>
                    <a:bodyPr/>
                    <a:lstStyle/>
                    <a:p>
                      <a:pPr algn="l" fontAlgn="ctr">
                        <a:buNone/>
                      </a:pPr>
                      <a:r>
                        <a:rPr lang="en-US" sz="900" b="0" i="0" u="none" strike="noStrike" err="1">
                          <a:solidFill>
                            <a:srgbClr val="000000"/>
                          </a:solidFill>
                          <a:effectLst/>
                          <a:latin typeface="Calibri" panose="020F0502020204030204" pitchFamily="34" charset="0"/>
                        </a:rPr>
                        <a:t>FTI</a:t>
                      </a:r>
                      <a:r>
                        <a:rPr lang="en-US" sz="900" b="0" i="0" u="none" strike="noStrike">
                          <a:solidFill>
                            <a:srgbClr val="000000"/>
                          </a:solidFill>
                          <a:effectLst/>
                          <a:latin typeface="Calibri" panose="020F0502020204030204" pitchFamily="34" charset="0"/>
                        </a:rPr>
                        <a:t>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$3,789</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$4,967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1.3x</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11%</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10%</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1805274820"/>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7872434"/>
                  </a:ext>
                </a:extLst>
              </a:tr>
              <a:tr h="0">
                <a:tc>
                  <a:txBody>
                    <a:bodyPr/>
                    <a:lstStyle/>
                    <a:p>
                      <a:pPr algn="l" rtl="0" fontAlgn="b">
                        <a:buNone/>
                      </a:pPr>
                      <a:r>
                        <a:rPr lang="en-US" sz="900" b="1" i="0" u="none" strike="noStrike">
                          <a:solidFill>
                            <a:srgbClr val="000000"/>
                          </a:solidFill>
                          <a:effectLst/>
                          <a:latin typeface="Calibri" panose="020F0502020204030204" pitchFamily="34" charset="0"/>
                        </a:rPr>
                        <a:t>75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059015926"/>
                  </a:ext>
                </a:extLst>
              </a:tr>
              <a:tr h="0">
                <a:tc>
                  <a:txBody>
                    <a:bodyPr/>
                    <a:lstStyle/>
                    <a:p>
                      <a:pPr algn="l" rtl="0" fontAlgn="b">
                        <a:buNone/>
                      </a:pPr>
                      <a:r>
                        <a:rPr lang="en-US" sz="9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2048259717"/>
                  </a:ext>
                </a:extLst>
              </a:tr>
              <a:tr h="0">
                <a:tc>
                  <a:txBody>
                    <a:bodyPr/>
                    <a:lstStyle/>
                    <a:p>
                      <a:pPr algn="l" rtl="0" fontAlgn="b">
                        <a:buNone/>
                      </a:pPr>
                      <a:r>
                        <a:rPr lang="en-US" sz="900" b="1" i="0" u="none" strike="noStrike">
                          <a:solidFill>
                            <a:srgbClr val="000000"/>
                          </a:solidFill>
                          <a:effectLst/>
                          <a:latin typeface="Calibri" panose="020F0502020204030204" pitchFamily="34" charset="0"/>
                        </a:rPr>
                        <a:t>25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220247447"/>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4131073"/>
                  </a:ext>
                </a:extLst>
              </a:tr>
              <a:tr h="0">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174197552"/>
                  </a:ext>
                </a:extLst>
              </a:tr>
            </a:tbl>
          </a:graphicData>
        </a:graphic>
      </p:graphicFrame>
      <p:sp>
        <p:nvSpPr>
          <p:cNvPr id="10" name="Rectangle 9">
            <a:extLst>
              <a:ext uri="{FF2B5EF4-FFF2-40B4-BE49-F238E27FC236}">
                <a16:creationId xmlns:a16="http://schemas.microsoft.com/office/drawing/2014/main" id="{70EE00D5-E6A8-C073-8756-3F7EB092F062}"/>
              </a:ext>
            </a:extLst>
          </p:cNvPr>
          <p:cNvSpPr/>
          <p:nvPr/>
        </p:nvSpPr>
        <p:spPr bwMode="auto">
          <a:xfrm>
            <a:off x="7026407" y="5496296"/>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AD3ED72B-F382-460C-0E7B-0999EA95D425}"/>
              </a:ext>
            </a:extLst>
          </p:cNvPr>
          <p:cNvSpPr txBox="1"/>
          <p:nvPr/>
        </p:nvSpPr>
        <p:spPr>
          <a:xfrm>
            <a:off x="7301491" y="5433603"/>
            <a:ext cx="2508646" cy="230832"/>
          </a:xfrm>
          <a:prstGeom prst="rect">
            <a:avLst/>
          </a:prstGeom>
          <a:noFill/>
        </p:spPr>
        <p:txBody>
          <a:bodyPr wrap="square" rtlCol="0" anchor="ctr">
            <a:spAutoFit/>
          </a:bodyPr>
          <a:lstStyle/>
          <a:p>
            <a:r>
              <a:rPr lang="en-US" sz="900" i="1" u="sng"/>
              <a:t>&lt;</a:t>
            </a:r>
            <a:r>
              <a:rPr lang="en-US" sz="900" i="1"/>
              <a:t>25</a:t>
            </a:r>
            <a:r>
              <a:rPr lang="en-US" sz="900" i="1" baseline="30000"/>
              <a:t>th</a:t>
            </a:r>
            <a:r>
              <a:rPr lang="en-US" sz="900" i="1"/>
              <a:t>%ile performance</a:t>
            </a:r>
          </a:p>
        </p:txBody>
      </p:sp>
      <p:sp>
        <p:nvSpPr>
          <p:cNvPr id="14" name="TextBox 13">
            <a:extLst>
              <a:ext uri="{FF2B5EF4-FFF2-40B4-BE49-F238E27FC236}">
                <a16:creationId xmlns:a16="http://schemas.microsoft.com/office/drawing/2014/main" id="{44631C8A-DFA6-1232-B117-8254F9F2F10B}"/>
              </a:ext>
            </a:extLst>
          </p:cNvPr>
          <p:cNvSpPr txBox="1"/>
          <p:nvPr/>
        </p:nvSpPr>
        <p:spPr>
          <a:xfrm>
            <a:off x="89653" y="5429275"/>
            <a:ext cx="3780147" cy="2308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p:txBody>
      </p:sp>
      <p:sp>
        <p:nvSpPr>
          <p:cNvPr id="4" name="TextBox 3">
            <a:extLst>
              <a:ext uri="{FF2B5EF4-FFF2-40B4-BE49-F238E27FC236}">
                <a16:creationId xmlns:a16="http://schemas.microsoft.com/office/drawing/2014/main" id="{9C43E5AB-F2A3-D806-E3B0-456FBA2BE055}"/>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
        <p:nvSpPr>
          <p:cNvPr id="90009" name="acme-flag-90009"/>
          <p:cNvSpPr/>
          <p:nvPr/>
        </p:nvSpPr>
        <p:spPr>
          <a:xfrm>
            <a:off x="89653" y="1625979"/>
            <a:ext cx="8964694" cy="3781552"/>
          </a:xfrm>
          <a:prstGeom prst="rect">
            <a:avLst/>
          </a:prstGeom>
          <a:solidFill>
            <a:srgbClr val="FFD400">
              <a:alpha val="30000"/>
            </a:srgbClr>
          </a:solidFill>
          <a:ln w="19050">
            <a:solidFill>
              <a:srgbClr val="E80000"/>
            </a:solidFill>
          </a:ln>
        </p:spPr>
        <p:txBody>
          <a:bodyPr/>
          <a:lstStyle/>
          <a:p/>
        </p:txBody>
      </p:sp>
      <p:sp>
        <p:nvSpPr>
          <p:cNvPr id="90010" name="acme-flag-90010"/>
          <p:cNvSpPr/>
          <p:nvPr/>
        </p:nvSpPr>
        <p:spPr>
          <a:xfrm>
            <a:off x="89653" y="1625979"/>
            <a:ext cx="8964694" cy="3781552"/>
          </a:xfrm>
          <a:prstGeom prst="rect">
            <a:avLst/>
          </a:prstGeom>
          <a:solidFill>
            <a:srgbClr val="FFD400">
              <a:alpha val="30000"/>
            </a:srgbClr>
          </a:solidFill>
          <a:ln w="19050">
            <a:solidFill>
              <a:srgbClr val="E80000"/>
            </a:solidFill>
          </a:ln>
        </p:spPr>
        <p:txBody>
          <a:bodyPr/>
          <a:lstStyle/>
          <a:p/>
        </p:txBody>
      </p:sp>
      <p:sp>
        <p:nvSpPr>
          <p:cNvPr id="90011" name="acme-note-90011"/>
          <p:cNvSpPr txBox="1"/>
          <p:nvPr/>
        </p:nvSpPr>
        <p:spPr>
          <a:xfrm>
            <a:off x="152400" y="6153000"/>
            <a:ext cx="8839200" cy="64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2 brand issues flagged:</a:t>
            </a:r>
          </a:p>
          <a:p>
            <a:r>
              <a:rPr lang="en-US" sz="1000" b="0" dirty="0">
                <a:solidFill>
                  <a:srgbClr val="9B0000"/>
                </a:solidFill>
                <a:latin typeface="Calibri"/>
              </a:rPr>
              <a:t>1. Label uses “Percentile” spelled out (“75th Percentile”). Guidelines require “%ile”.</a:t>
            </a:r>
          </a:p>
          <a:p>
            <a:r>
              <a:rPr lang="en-US" sz="1000" b="0" dirty="0">
                <a:solidFill>
                  <a:srgbClr val="9B0000"/>
                </a:solidFill>
                <a:latin typeface="Calibri"/>
              </a:rPr>
              <a:t>2. Label uses “Percentile” spelled out (“25th Percentile”). Guidelines require “%ile”.</a:t>
            </a:r>
          </a:p>
        </p:txBody>
      </p:sp>
    </p:spTree>
    <p:extLst>
      <p:ext uri="{BB962C8B-B14F-4D97-AF65-F5344CB8AC3E}">
        <p14:creationId xmlns:p14="http://schemas.microsoft.com/office/powerpoint/2010/main" val="145901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AFEE9-DF29-92C1-1D3D-10F70C091ED5}"/>
            </a:ext>
          </a:extLst>
        </p:cNvPr>
        <p:cNvGrpSpPr/>
        <p:nvPr/>
      </p:nvGrpSpPr>
      <p:grpSpPr>
        <a:xfrm>
          <a:off x="0" y="0"/>
          <a:ext cx="0" cy="0"/>
          <a:chOff x="0" y="0"/>
          <a:chExt cx="0" cy="0"/>
        </a:xfrm>
      </p:grpSpPr>
      <p:sp>
        <p:nvSpPr>
          <p:cNvPr id="6" name="Rounded Rectangle 26">
            <a:extLst>
              <a:ext uri="{FF2B5EF4-FFF2-40B4-BE49-F238E27FC236}">
                <a16:creationId xmlns:a16="http://schemas.microsoft.com/office/drawing/2014/main" id="{B130AC1C-081B-8DD7-7492-7098611EBAF4}"/>
              </a:ext>
            </a:extLst>
          </p:cNvPr>
          <p:cNvSpPr/>
          <p:nvPr/>
        </p:nvSpPr>
        <p:spPr bwMode="auto">
          <a:xfrm>
            <a:off x="4952330" y="4087295"/>
            <a:ext cx="1586251" cy="1238820"/>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7" name="Rounded Rectangle 27">
            <a:extLst>
              <a:ext uri="{FF2B5EF4-FFF2-40B4-BE49-F238E27FC236}">
                <a16:creationId xmlns:a16="http://schemas.microsoft.com/office/drawing/2014/main" id="{AE0D8384-88CB-063C-218F-54FBDABCBD6E}"/>
              </a:ext>
            </a:extLst>
          </p:cNvPr>
          <p:cNvSpPr/>
          <p:nvPr/>
        </p:nvSpPr>
        <p:spPr bwMode="auto">
          <a:xfrm>
            <a:off x="4972751" y="3899054"/>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SpinCo</a:t>
            </a:r>
          </a:p>
        </p:txBody>
      </p:sp>
      <p:sp>
        <p:nvSpPr>
          <p:cNvPr id="8" name="Rounded Rectangle 28">
            <a:extLst>
              <a:ext uri="{FF2B5EF4-FFF2-40B4-BE49-F238E27FC236}">
                <a16:creationId xmlns:a16="http://schemas.microsoft.com/office/drawing/2014/main" id="{C691EC42-B112-35CE-DE3C-F5A59CE2499C}"/>
              </a:ext>
            </a:extLst>
          </p:cNvPr>
          <p:cNvSpPr/>
          <p:nvPr/>
        </p:nvSpPr>
        <p:spPr bwMode="auto">
          <a:xfrm>
            <a:off x="5357625" y="5220719"/>
            <a:ext cx="775659" cy="244258"/>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$6B</a:t>
            </a:r>
            <a:endParaRPr lang="en-US" b="1" baseline="30000">
              <a:solidFill>
                <a:srgbClr val="000000"/>
              </a:solidFill>
            </a:endParaRPr>
          </a:p>
        </p:txBody>
      </p:sp>
      <p:sp>
        <p:nvSpPr>
          <p:cNvPr id="9" name="Rounded Rectangle 30">
            <a:extLst>
              <a:ext uri="{FF2B5EF4-FFF2-40B4-BE49-F238E27FC236}">
                <a16:creationId xmlns:a16="http://schemas.microsoft.com/office/drawing/2014/main" id="{9814A4F4-4327-9FAB-5F69-0F8261170D3B}"/>
              </a:ext>
            </a:extLst>
          </p:cNvPr>
          <p:cNvSpPr/>
          <p:nvPr/>
        </p:nvSpPr>
        <p:spPr bwMode="auto">
          <a:xfrm>
            <a:off x="461532" y="2814497"/>
            <a:ext cx="3513973" cy="1458561"/>
          </a:xfrm>
          <a:prstGeom prst="roundRect">
            <a:avLst/>
          </a:prstGeom>
          <a:noFill/>
          <a:ln w="12700"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10" name="Rounded Rectangle 51">
            <a:extLst>
              <a:ext uri="{FF2B5EF4-FFF2-40B4-BE49-F238E27FC236}">
                <a16:creationId xmlns:a16="http://schemas.microsoft.com/office/drawing/2014/main" id="{A06EE14B-0ECB-B508-01DA-B654FA77D8A0}"/>
              </a:ext>
            </a:extLst>
          </p:cNvPr>
          <p:cNvSpPr/>
          <p:nvPr/>
        </p:nvSpPr>
        <p:spPr bwMode="auto">
          <a:xfrm>
            <a:off x="1397734" y="4177214"/>
            <a:ext cx="1513633" cy="222054"/>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$8B</a:t>
            </a:r>
            <a:endParaRPr lang="en-US" b="1" baseline="30000">
              <a:solidFill>
                <a:srgbClr val="000000"/>
              </a:solidFill>
            </a:endParaRPr>
          </a:p>
        </p:txBody>
      </p:sp>
      <p:sp>
        <p:nvSpPr>
          <p:cNvPr id="14" name="Equal 5">
            <a:extLst>
              <a:ext uri="{FF2B5EF4-FFF2-40B4-BE49-F238E27FC236}">
                <a16:creationId xmlns:a16="http://schemas.microsoft.com/office/drawing/2014/main" id="{736EB785-1FAC-AC6E-22BF-B2CBD8B4E151}"/>
              </a:ext>
            </a:extLst>
          </p:cNvPr>
          <p:cNvSpPr/>
          <p:nvPr/>
        </p:nvSpPr>
        <p:spPr>
          <a:xfrm>
            <a:off x="4256849" y="3475755"/>
            <a:ext cx="434558" cy="332720"/>
          </a:xfrm>
          <a:prstGeom prst="mathEqual">
            <a:avLst/>
          </a:prstGeom>
          <a:solidFill>
            <a:schemeClr val="accent3">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45720" rIns="45720" bIns="45720" rtlCol="0" anchor="ctr">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1200">
              <a:solidFill>
                <a:schemeClr val="tx1"/>
              </a:solidFill>
            </a:endParaRPr>
          </a:p>
        </p:txBody>
      </p:sp>
      <p:sp>
        <p:nvSpPr>
          <p:cNvPr id="25" name="Rounded Rectangle 140">
            <a:extLst>
              <a:ext uri="{FF2B5EF4-FFF2-40B4-BE49-F238E27FC236}">
                <a16:creationId xmlns:a16="http://schemas.microsoft.com/office/drawing/2014/main" id="{B54CF8EF-4794-CC3C-1A71-FE91CD948D99}"/>
              </a:ext>
            </a:extLst>
          </p:cNvPr>
          <p:cNvSpPr/>
          <p:nvPr/>
        </p:nvSpPr>
        <p:spPr bwMode="auto">
          <a:xfrm>
            <a:off x="1216861" y="2735432"/>
            <a:ext cx="2003314" cy="233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KBR</a:t>
            </a:r>
          </a:p>
        </p:txBody>
      </p:sp>
      <p:sp>
        <p:nvSpPr>
          <p:cNvPr id="26" name="TextBox 64">
            <a:extLst>
              <a:ext uri="{FF2B5EF4-FFF2-40B4-BE49-F238E27FC236}">
                <a16:creationId xmlns:a16="http://schemas.microsoft.com/office/drawing/2014/main" id="{0BB44D8F-A545-58E9-F681-B324A726AC19}"/>
              </a:ext>
            </a:extLst>
          </p:cNvPr>
          <p:cNvSpPr txBox="1"/>
          <p:nvPr/>
        </p:nvSpPr>
        <p:spPr>
          <a:xfrm>
            <a:off x="1360033" y="23479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Pre-Transaction:</a:t>
            </a:r>
            <a:endParaRPr lang="en-US" sz="1600" b="1" baseline="30000"/>
          </a:p>
        </p:txBody>
      </p:sp>
      <p:sp>
        <p:nvSpPr>
          <p:cNvPr id="32" name="Rounded Rectangle 26">
            <a:extLst>
              <a:ext uri="{FF2B5EF4-FFF2-40B4-BE49-F238E27FC236}">
                <a16:creationId xmlns:a16="http://schemas.microsoft.com/office/drawing/2014/main" id="{B4ACE051-1A52-E885-8260-9D3F982F4BB7}"/>
              </a:ext>
            </a:extLst>
          </p:cNvPr>
          <p:cNvSpPr/>
          <p:nvPr/>
        </p:nvSpPr>
        <p:spPr bwMode="auto">
          <a:xfrm>
            <a:off x="4952329" y="2105507"/>
            <a:ext cx="1586252" cy="1288594"/>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33" name="Rounded Rectangle 27">
            <a:extLst>
              <a:ext uri="{FF2B5EF4-FFF2-40B4-BE49-F238E27FC236}">
                <a16:creationId xmlns:a16="http://schemas.microsoft.com/office/drawing/2014/main" id="{E31FD6C2-6302-9C6D-A392-343B1DFD1C3F}"/>
              </a:ext>
            </a:extLst>
          </p:cNvPr>
          <p:cNvSpPr/>
          <p:nvPr/>
        </p:nvSpPr>
        <p:spPr bwMode="auto">
          <a:xfrm>
            <a:off x="4972751" y="1985861"/>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New KBR</a:t>
            </a:r>
          </a:p>
        </p:txBody>
      </p:sp>
      <p:sp>
        <p:nvSpPr>
          <p:cNvPr id="34" name="Rounded Rectangle 28">
            <a:extLst>
              <a:ext uri="{FF2B5EF4-FFF2-40B4-BE49-F238E27FC236}">
                <a16:creationId xmlns:a16="http://schemas.microsoft.com/office/drawing/2014/main" id="{BE9732D1-ED76-C67D-522F-C4465C6062B6}"/>
              </a:ext>
            </a:extLst>
          </p:cNvPr>
          <p:cNvSpPr/>
          <p:nvPr/>
        </p:nvSpPr>
        <p:spPr bwMode="auto">
          <a:xfrm>
            <a:off x="5357625" y="3249649"/>
            <a:ext cx="775659" cy="281451"/>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$2B</a:t>
            </a:r>
            <a:endParaRPr lang="en-US" b="1" baseline="30000">
              <a:solidFill>
                <a:srgbClr val="000000"/>
              </a:solidFill>
            </a:endParaRPr>
          </a:p>
        </p:txBody>
      </p:sp>
      <p:sp>
        <p:nvSpPr>
          <p:cNvPr id="62" name="TextBox 64">
            <a:extLst>
              <a:ext uri="{FF2B5EF4-FFF2-40B4-BE49-F238E27FC236}">
                <a16:creationId xmlns:a16="http://schemas.microsoft.com/office/drawing/2014/main" id="{01A9E789-C5C9-B2DA-3D16-A6A5F8DD186B}"/>
              </a:ext>
            </a:extLst>
          </p:cNvPr>
          <p:cNvSpPr txBox="1"/>
          <p:nvPr/>
        </p:nvSpPr>
        <p:spPr>
          <a:xfrm>
            <a:off x="4886970" y="15515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Post-Transaction:</a:t>
            </a:r>
            <a:endParaRPr lang="en-US" sz="1600" b="1" baseline="30000"/>
          </a:p>
        </p:txBody>
      </p:sp>
      <p:sp>
        <p:nvSpPr>
          <p:cNvPr id="63" name="TextBox 62">
            <a:extLst>
              <a:ext uri="{FF2B5EF4-FFF2-40B4-BE49-F238E27FC236}">
                <a16:creationId xmlns:a16="http://schemas.microsoft.com/office/drawing/2014/main" id="{4D218CAE-1906-8C5B-A7BC-EA3A2D24D4C9}"/>
              </a:ext>
            </a:extLst>
          </p:cNvPr>
          <p:cNvSpPr txBox="1"/>
          <p:nvPr/>
        </p:nvSpPr>
        <p:spPr>
          <a:xfrm>
            <a:off x="6830121" y="2256668"/>
            <a:ext cx="1737360" cy="1015663"/>
          </a:xfrm>
          <a:prstGeom prst="rect">
            <a:avLst/>
          </a:prstGeom>
          <a:solidFill>
            <a:schemeClr val="accent1">
              <a:lumMod val="20000"/>
              <a:lumOff val="80000"/>
            </a:schemeClr>
          </a:solidFill>
          <a:ln>
            <a:solidFill>
              <a:schemeClr val="tx1"/>
            </a:solidFill>
          </a:ln>
        </p:spPr>
        <p:txBody>
          <a:bodyPr wrap="square" lIns="45720" tIns="45720" rIns="45720" bIns="45720" rtlCol="0" anchor="ctr">
            <a:spAutoFit/>
          </a:bodyPr>
          <a:lstStyle/>
          <a:p>
            <a:pPr algn="ctr"/>
            <a:r>
              <a:rPr lang="en-US" sz="1200"/>
              <a:t>Trusted technology-enabled solutions provider focused on diversified energy and critical infrastructure </a:t>
            </a:r>
          </a:p>
        </p:txBody>
      </p:sp>
      <p:sp>
        <p:nvSpPr>
          <p:cNvPr id="64" name="TextBox 63">
            <a:extLst>
              <a:ext uri="{FF2B5EF4-FFF2-40B4-BE49-F238E27FC236}">
                <a16:creationId xmlns:a16="http://schemas.microsoft.com/office/drawing/2014/main" id="{0118520B-4F2C-5B98-CB36-15457A7975F3}"/>
              </a:ext>
            </a:extLst>
          </p:cNvPr>
          <p:cNvSpPr txBox="1"/>
          <p:nvPr/>
        </p:nvSpPr>
        <p:spPr>
          <a:xfrm>
            <a:off x="6830121" y="4201091"/>
            <a:ext cx="1737360" cy="1015663"/>
          </a:xfrm>
          <a:prstGeom prst="rect">
            <a:avLst/>
          </a:prstGeom>
          <a:solidFill>
            <a:schemeClr val="accent2">
              <a:lumMod val="20000"/>
              <a:lumOff val="80000"/>
            </a:schemeClr>
          </a:solidFill>
          <a:ln>
            <a:solidFill>
              <a:schemeClr val="tx1"/>
            </a:solidFill>
          </a:ln>
        </p:spPr>
        <p:txBody>
          <a:bodyPr wrap="square" lIns="45720" tIns="45720" rIns="45720" bIns="45720" rtlCol="0" anchor="ctr">
            <a:spAutoFit/>
          </a:bodyPr>
          <a:lstStyle/>
          <a:p>
            <a:pPr algn="ctr"/>
            <a:r>
              <a:rPr lang="en-US" sz="1200"/>
              <a:t>Leading government services provider focused on critical national security and space solutions</a:t>
            </a:r>
          </a:p>
        </p:txBody>
      </p:sp>
      <p:graphicFrame>
        <p:nvGraphicFramePr>
          <p:cNvPr id="5" name="Table 10">
            <a:extLst>
              <a:ext uri="{FF2B5EF4-FFF2-40B4-BE49-F238E27FC236}">
                <a16:creationId xmlns:a16="http://schemas.microsoft.com/office/drawing/2014/main" id="{AE57E95A-529D-A148-BE86-5E6493FCB266}"/>
              </a:ext>
            </a:extLst>
          </p:cNvPr>
          <p:cNvGraphicFramePr>
            <a:graphicFrameLocks noGrp="1"/>
          </p:cNvGraphicFramePr>
          <p:nvPr>
            <p:extLst>
              <p:ext uri="{D42A27DB-BD31-4B8C-83A1-F6EECF244321}">
                <p14:modId xmlns:p14="http://schemas.microsoft.com/office/powerpoint/2010/main" val="3998342751"/>
              </p:ext>
            </p:extLst>
          </p:nvPr>
        </p:nvGraphicFramePr>
        <p:xfrm>
          <a:off x="691511" y="3137393"/>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11" name="Table 10">
            <a:extLst>
              <a:ext uri="{FF2B5EF4-FFF2-40B4-BE49-F238E27FC236}">
                <a16:creationId xmlns:a16="http://schemas.microsoft.com/office/drawing/2014/main" id="{ACFBE435-F07F-23A0-4754-19E880BCFD87}"/>
              </a:ext>
            </a:extLst>
          </p:cNvPr>
          <p:cNvGraphicFramePr>
            <a:graphicFrameLocks noGrp="1"/>
          </p:cNvGraphicFramePr>
          <p:nvPr>
            <p:extLst>
              <p:ext uri="{D42A27DB-BD31-4B8C-83A1-F6EECF244321}">
                <p14:modId xmlns:p14="http://schemas.microsoft.com/office/powerpoint/2010/main" val="2062990924"/>
              </p:ext>
            </p:extLst>
          </p:nvPr>
        </p:nvGraphicFramePr>
        <p:xfrm>
          <a:off x="2244888" y="313110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2" name="Table 21">
            <a:extLst>
              <a:ext uri="{FF2B5EF4-FFF2-40B4-BE49-F238E27FC236}">
                <a16:creationId xmlns:a16="http://schemas.microsoft.com/office/drawing/2014/main" id="{295921BF-5B62-75B3-3A40-954EBDCB444B}"/>
              </a:ext>
            </a:extLst>
          </p:cNvPr>
          <p:cNvGraphicFramePr>
            <a:graphicFrameLocks noGrp="1"/>
          </p:cNvGraphicFramePr>
          <p:nvPr>
            <p:extLst>
              <p:ext uri="{D42A27DB-BD31-4B8C-83A1-F6EECF244321}">
                <p14:modId xmlns:p14="http://schemas.microsoft.com/office/powerpoint/2010/main" val="2622213142"/>
              </p:ext>
            </p:extLst>
          </p:nvPr>
        </p:nvGraphicFramePr>
        <p:xfrm>
          <a:off x="5013935" y="4273058"/>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3" name="Table 10">
            <a:extLst>
              <a:ext uri="{FF2B5EF4-FFF2-40B4-BE49-F238E27FC236}">
                <a16:creationId xmlns:a16="http://schemas.microsoft.com/office/drawing/2014/main" id="{EF8FD14D-FE09-A85E-92A0-26F57EEBC3F5}"/>
              </a:ext>
            </a:extLst>
          </p:cNvPr>
          <p:cNvGraphicFramePr>
            <a:graphicFrameLocks noGrp="1"/>
          </p:cNvGraphicFramePr>
          <p:nvPr>
            <p:extLst>
              <p:ext uri="{D42A27DB-BD31-4B8C-83A1-F6EECF244321}">
                <p14:modId xmlns:p14="http://schemas.microsoft.com/office/powerpoint/2010/main" val="724373228"/>
              </p:ext>
            </p:extLst>
          </p:nvPr>
        </p:nvGraphicFramePr>
        <p:xfrm>
          <a:off x="5013935" y="232863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sp>
        <p:nvSpPr>
          <p:cNvPr id="2" name="Footer Placeholder 1">
            <a:extLst>
              <a:ext uri="{FF2B5EF4-FFF2-40B4-BE49-F238E27FC236}">
                <a16:creationId xmlns:a16="http://schemas.microsoft.com/office/drawing/2014/main" id="{A532957E-4CD2-371D-6E0C-BAF63D0B9770}"/>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7" name="Title 16">
            <a:extLst>
              <a:ext uri="{FF2B5EF4-FFF2-40B4-BE49-F238E27FC236}">
                <a16:creationId xmlns:a16="http://schemas.microsoft.com/office/drawing/2014/main" id="{FE8B52D1-D62B-D1D9-5FAC-5072DA765A54}"/>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KBR announced a spin-off of its Mission Technology Solutions unit, which is expected to close later this year. The surviving entity may be too small to be a viable </a:t>
            </a:r>
            <a:r>
              <a:rPr lang="en-US" dirty="0" err="1">
                <a:latin typeface="Calibri" panose="020F0502020204030204" pitchFamily="34" charset="0"/>
                <a:cs typeface="Calibri" panose="020F0502020204030204" pitchFamily="34" charset="0"/>
              </a:rPr>
              <a:t>Plutos</a:t>
            </a:r>
            <a:r>
              <a:rPr lang="en-US" dirty="0">
                <a:latin typeface="Calibri" panose="020F0502020204030204" pitchFamily="34" charset="0"/>
                <a:cs typeface="Calibri" panose="020F0502020204030204" pitchFamily="34" charset="0"/>
              </a:rPr>
              <a:t> peer</a:t>
            </a:r>
            <a:endParaRPr lang="en-US" dirty="0"/>
          </a:p>
        </p:txBody>
      </p:sp>
    </p:spTree>
    <p:extLst>
      <p:ext uri="{BB962C8B-B14F-4D97-AF65-F5344CB8AC3E}">
        <p14:creationId xmlns:p14="http://schemas.microsoft.com/office/powerpoint/2010/main" val="46015000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5B22B7-6445-7674-0278-FCE3729994B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C232CD57-BB06-B7EA-1DB5-369702BF6AB3}"/>
              </a:ext>
            </a:extLst>
          </p:cNvPr>
          <p:cNvSpPr>
            <a:spLocks noGrp="1"/>
          </p:cNvSpPr>
          <p:nvPr>
            <p:ph type="title"/>
          </p:nvPr>
        </p:nvSpPr>
        <p:spPr>
          <a:xfrm>
            <a:off x="882797" y="44215"/>
            <a:ext cx="8074152" cy="1292899"/>
          </a:xfrm>
        </p:spPr>
        <p:txBody>
          <a:bodyPr/>
          <a:lstStyle/>
          <a:p>
            <a:r>
              <a:rPr lang="en-US" dirty="0"/>
              <a:t>At this juncture, ACME recommends removing Kyndryl in light of its poor business and operational performance, monitoring DXC, given its business fit with </a:t>
            </a:r>
            <a:r>
              <a:rPr lang="en-US" dirty="0" err="1"/>
              <a:t>Plutos</a:t>
            </a:r>
            <a:r>
              <a:rPr lang="en-US" dirty="0"/>
              <a:t>, and monitoring KBR, given that its planned spin-off has not yet occurred</a:t>
            </a:r>
          </a:p>
        </p:txBody>
      </p:sp>
      <p:graphicFrame>
        <p:nvGraphicFramePr>
          <p:cNvPr id="7" name="Table 6">
            <a:extLst>
              <a:ext uri="{FF2B5EF4-FFF2-40B4-BE49-F238E27FC236}">
                <a16:creationId xmlns:a16="http://schemas.microsoft.com/office/drawing/2014/main" id="{97D8DE6F-1311-4D03-B78A-252E3BF9D84E}"/>
              </a:ext>
            </a:extLst>
          </p:cNvPr>
          <p:cNvGraphicFramePr>
            <a:graphicFrameLocks noGrp="1"/>
          </p:cNvGraphicFramePr>
          <p:nvPr>
            <p:extLst>
              <p:ext uri="{D42A27DB-BD31-4B8C-83A1-F6EECF244321}">
                <p14:modId xmlns:p14="http://schemas.microsoft.com/office/powerpoint/2010/main" val="2670292684"/>
              </p:ext>
            </p:extLst>
          </p:nvPr>
        </p:nvGraphicFramePr>
        <p:xfrm>
          <a:off x="1068923" y="1953961"/>
          <a:ext cx="7955280" cy="4413504"/>
        </p:xfrm>
        <a:graphic>
          <a:graphicData uri="http://schemas.openxmlformats.org/drawingml/2006/table">
            <a:tbl>
              <a:tblPr/>
              <a:tblGrid>
                <a:gridCol w="640080">
                  <a:extLst>
                    <a:ext uri="{9D8B030D-6E8A-4147-A177-3AD203B41FA5}">
                      <a16:colId xmlns:a16="http://schemas.microsoft.com/office/drawing/2014/main" val="1219495189"/>
                    </a:ext>
                  </a:extLst>
                </a:gridCol>
                <a:gridCol w="3474720">
                  <a:extLst>
                    <a:ext uri="{9D8B030D-6E8A-4147-A177-3AD203B41FA5}">
                      <a16:colId xmlns:a16="http://schemas.microsoft.com/office/drawing/2014/main" val="272026038"/>
                    </a:ext>
                  </a:extLst>
                </a:gridCol>
                <a:gridCol w="3840480">
                  <a:extLst>
                    <a:ext uri="{9D8B030D-6E8A-4147-A177-3AD203B41FA5}">
                      <a16:colId xmlns:a16="http://schemas.microsoft.com/office/drawing/2014/main" val="560436882"/>
                    </a:ext>
                  </a:extLst>
                </a:gridCol>
              </a:tblGrid>
              <a:tr h="105476">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dirty="0">
                          <a:solidFill>
                            <a:schemeClr val="bg1"/>
                          </a:solidFill>
                          <a:effectLst/>
                          <a:latin typeface="Calibri" panose="020F0502020204030204" pitchFamily="34" charset="0"/>
                        </a:rPr>
                        <a:t>Company</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Business Description</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Considerations</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253792308"/>
                  </a:ext>
                </a:extLst>
              </a:tr>
              <a:tr h="785968">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Kyndryl</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Technology services company and IT infrastructure services provider</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Offers cloud services; core enterprise and zCloud services; application, data, and artificial intelligence services; digital workplace services; security and resiliency services; and network services and edge services</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Serves financial, healthcare, public, technology, media and telecom, retail, travel, and automotive industries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some consulting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Narrow focus on IT infrastructure operations; has limited overlap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offerings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financial performance (negative margins, declining revenues, and negative TSR over 3- and 5-year periods)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Undergoing SEC investigation and multiple class-action lawsuits for material weaknesses in its internal controls over financial reporting</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Experiencing significant executive (CFO, General Counsel) turnover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835266709"/>
                  </a:ext>
                </a:extLst>
              </a:tr>
              <a:tr h="956091">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Information technology services and solutions provider</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Segments: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Business Services: delivers analytics, consulting, software engineering, and industry-specific solutions that help clients modernize mission‑critical operations, automate processes, and drive digital transformation across insurance and financial services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Infrastructure Services: provides cybersecurity, cloud infrastructure, and IT outsourcing services that centralize IT management, secure data, optimize costs, and enable efficient hybrid and multi-cloud operations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consulting and professional services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advanced infrastructure engineering capabilities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 strong emphasis on data center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recent financial performance (negative margins, declining revenues, weak TSR performance over the last 3 years)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Legacy GIS business, which is less relevant to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is dragging down investor perception of 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6222397"/>
                  </a:ext>
                </a:extLst>
              </a:tr>
              <a:tr h="615845">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KBR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Provides proprietary process technologies and engineering services that support energy transition, decarbonization, and circular economy solutions across chemicals, refining, and clean energy</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Announced a spin-off of its separate Mission Solutions business, expected to close in 2026</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Strong business model alignment</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Adequate financial performance; investors viewed the spinoff announcement positively</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Spinoff intended to strengthen alignment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endParaRPr lang="en-US" sz="1000" b="0" kern="1200" dirty="0">
                        <a:solidFill>
                          <a:schemeClr val="tx1">
                            <a:lumMod val="50000"/>
                          </a:schemeClr>
                        </a:solidFill>
                        <a:latin typeface="Calibri" panose="020F0502020204030204" pitchFamily="34" charset="0"/>
                        <a:ea typeface="+mn-ea"/>
                        <a:cs typeface="Calibri" panose="020F0502020204030204" pitchFamily="34" charset="0"/>
                      </a:endParaRP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Mission Technology segment spin-off may reduce overall government exposure</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Continuing entity likely to be on the lower end of the revenue screen</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23981"/>
                  </a:ext>
                </a:extLst>
              </a:tr>
            </a:tbl>
          </a:graphicData>
        </a:graphic>
      </p:graphicFrame>
      <p:pic>
        <p:nvPicPr>
          <p:cNvPr id="8" name="Picture 7">
            <a:extLst>
              <a:ext uri="{FF2B5EF4-FFF2-40B4-BE49-F238E27FC236}">
                <a16:creationId xmlns:a16="http://schemas.microsoft.com/office/drawing/2014/main" id="{02088C1D-6A16-671E-6000-F1CEF2DCE96C}"/>
              </a:ext>
            </a:extLst>
          </p:cNvPr>
          <p:cNvPicPr>
            <a:picLocks noChangeAspect="1"/>
          </p:cNvPicPr>
          <p:nvPr/>
        </p:nvPicPr>
        <p:blipFill>
          <a:blip r:embed="rId2">
            <a:duotone>
              <a:schemeClr val="accent4">
                <a:shade val="45000"/>
                <a:satMod val="135000"/>
              </a:schemeClr>
              <a:prstClr val="white"/>
            </a:duotone>
          </a:blip>
          <a:stretch>
            <a:fillRect/>
          </a:stretch>
        </p:blipFill>
        <p:spPr>
          <a:xfrm>
            <a:off x="52652" y="2967245"/>
            <a:ext cx="969348" cy="2856301"/>
          </a:xfrm>
          <a:prstGeom prst="rect">
            <a:avLst/>
          </a:prstGeom>
        </p:spPr>
      </p:pic>
      <p:sp>
        <p:nvSpPr>
          <p:cNvPr id="9" name="TextBox 8">
            <a:extLst>
              <a:ext uri="{FF2B5EF4-FFF2-40B4-BE49-F238E27FC236}">
                <a16:creationId xmlns:a16="http://schemas.microsoft.com/office/drawing/2014/main" id="{AE47C21B-0CC4-E35B-9E1C-CAEDA695E8A2}"/>
              </a:ext>
            </a:extLst>
          </p:cNvPr>
          <p:cNvSpPr txBox="1"/>
          <p:nvPr/>
        </p:nvSpPr>
        <p:spPr>
          <a:xfrm>
            <a:off x="58701" y="5370012"/>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Stronger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0" name="TextBox 9">
            <a:extLst>
              <a:ext uri="{FF2B5EF4-FFF2-40B4-BE49-F238E27FC236}">
                <a16:creationId xmlns:a16="http://schemas.microsoft.com/office/drawing/2014/main" id="{F6C4CE23-E2DB-18D5-4423-980D370D81FB}"/>
              </a:ext>
            </a:extLst>
          </p:cNvPr>
          <p:cNvSpPr txBox="1"/>
          <p:nvPr/>
        </p:nvSpPr>
        <p:spPr>
          <a:xfrm>
            <a:off x="58701" y="2854866"/>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Weaker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4" name="TextBox 13">
            <a:extLst>
              <a:ext uri="{FF2B5EF4-FFF2-40B4-BE49-F238E27FC236}">
                <a16:creationId xmlns:a16="http://schemas.microsoft.com/office/drawing/2014/main" id="{792B17A0-C7ED-90FE-A47A-C8DEDAF046EF}"/>
              </a:ext>
            </a:extLst>
          </p:cNvPr>
          <p:cNvSpPr txBox="1"/>
          <p:nvPr/>
        </p:nvSpPr>
        <p:spPr>
          <a:xfrm>
            <a:off x="1918215" y="1632070"/>
            <a:ext cx="5290636"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Detailed Considerations for Specific Peers</a:t>
            </a:r>
            <a:endParaRPr kumimoji="0" lang="en-US" sz="1400" b="1" i="0" u="none" strike="noStrike" kern="1200" cap="none" spc="0" normalizeH="0" noProof="0">
              <a:ln>
                <a:noFill/>
              </a:ln>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FF0CAC31-CEBD-CC2A-85C2-34544F9E38D2}"/>
              </a:ext>
            </a:extLst>
          </p:cNvPr>
          <p:cNvGrpSpPr/>
          <p:nvPr/>
        </p:nvGrpSpPr>
        <p:grpSpPr>
          <a:xfrm>
            <a:off x="7276843" y="1416042"/>
            <a:ext cx="1784869" cy="507831"/>
            <a:chOff x="7391400" y="1097623"/>
            <a:chExt cx="1830888" cy="507831"/>
          </a:xfrm>
        </p:grpSpPr>
        <p:sp>
          <p:nvSpPr>
            <p:cNvPr id="13" name="TextBox 12">
              <a:extLst>
                <a:ext uri="{FF2B5EF4-FFF2-40B4-BE49-F238E27FC236}">
                  <a16:creationId xmlns:a16="http://schemas.microsoft.com/office/drawing/2014/main" id="{01FA68A5-EE5A-196B-92EB-E6FFFA940C18}"/>
                </a:ext>
              </a:extLst>
            </p:cNvPr>
            <p:cNvSpPr txBox="1"/>
            <p:nvPr/>
          </p:nvSpPr>
          <p:spPr>
            <a:xfrm>
              <a:off x="7391400" y="1097623"/>
              <a:ext cx="1830888" cy="507831"/>
            </a:xfrm>
            <a:prstGeom prst="rect">
              <a:avLst/>
            </a:prstGeom>
            <a:noFill/>
          </p:spPr>
          <p:txBody>
            <a:bodyPr wrap="square" rtlCol="0">
              <a:spAutoFit/>
            </a:bodyPr>
            <a:lstStyle/>
            <a:p>
              <a:pPr marL="171450" indent="-171450">
                <a:buClr>
                  <a:srgbClr val="00B050"/>
                </a:buClr>
                <a:buSzPct val="150000"/>
                <a:buFont typeface="Wingdings 2" panose="05020102010507070707" pitchFamily="18" charset="2"/>
                <a:buChar char="P"/>
              </a:pPr>
              <a:r>
                <a:rPr lang="en-US" sz="900" i="1" dirty="0">
                  <a:latin typeface="Calibri" panose="020F0502020204030204" pitchFamily="34" charset="0"/>
                  <a:cs typeface="Calibri" panose="020F0502020204030204" pitchFamily="34" charset="0"/>
                </a:rPr>
                <a:t>Strong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indent="-171450">
                <a:buClr>
                  <a:srgbClr val="C00000"/>
                </a:buClr>
                <a:buSzPct val="150000"/>
                <a:buFont typeface="Calibri" panose="020F0502020204030204" pitchFamily="34" charset="0"/>
                <a:buChar char="×"/>
              </a:pPr>
              <a:r>
                <a:rPr lang="en-US" sz="900" i="1" dirty="0">
                  <a:latin typeface="Calibri" panose="020F0502020204030204" pitchFamily="34" charset="0"/>
                  <a:cs typeface="Calibri" panose="020F0502020204030204" pitchFamily="34" charset="0"/>
                </a:rPr>
                <a:t>Weak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a:buClr>
                  <a:srgbClr val="C00000"/>
                </a:buClr>
                <a:buSzPct val="150000"/>
              </a:pPr>
              <a:r>
                <a:rPr lang="en-US" sz="900" i="1" dirty="0"/>
                <a:t>Recommended for removal</a:t>
              </a:r>
            </a:p>
          </p:txBody>
        </p:sp>
        <p:sp>
          <p:nvSpPr>
            <p:cNvPr id="15" name="Rectangle 14">
              <a:extLst>
                <a:ext uri="{FF2B5EF4-FFF2-40B4-BE49-F238E27FC236}">
                  <a16:creationId xmlns:a16="http://schemas.microsoft.com/office/drawing/2014/main" id="{2C801335-EDAF-8EE6-F967-3BEE59E2B5DE}"/>
                </a:ext>
              </a:extLst>
            </p:cNvPr>
            <p:cNvSpPr/>
            <p:nvPr/>
          </p:nvSpPr>
          <p:spPr bwMode="auto">
            <a:xfrm>
              <a:off x="7452147" y="1452521"/>
              <a:ext cx="141942" cy="73152"/>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grpSp>
    </p:spTree>
    <p:extLst>
      <p:ext uri="{BB962C8B-B14F-4D97-AF65-F5344CB8AC3E}">
        <p14:creationId xmlns:p14="http://schemas.microsoft.com/office/powerpoint/2010/main" val="181882202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78CB0D-1028-7F35-99D8-6F420B1DC843}"/>
              </a:ext>
            </a:extLst>
          </p:cNvPr>
          <p:cNvSpPr>
            <a:spLocks noGrp="1"/>
          </p:cNvSpPr>
          <p:nvPr>
            <p:ph idx="1"/>
          </p:nvPr>
        </p:nvSpPr>
        <p:spPr/>
        <p:txBody>
          <a:bodyPr/>
          <a:lstStyle/>
          <a:p>
            <a:r>
              <a:rPr lang="en-US" dirty="0"/>
              <a:t>Fifteen UK-listed companies </a:t>
            </a:r>
            <a:r>
              <a:rPr lang="en-US" i="1" dirty="0"/>
              <a:t>(see Appendix page 17)</a:t>
            </a:r>
          </a:p>
          <a:p>
            <a:r>
              <a:rPr lang="en-US" dirty="0"/>
              <a:t>Peers of peer companies </a:t>
            </a:r>
            <a:r>
              <a:rPr lang="en-US" i="1" dirty="0"/>
              <a:t>(see Appendix page 18)</a:t>
            </a:r>
          </a:p>
          <a:p>
            <a:r>
              <a:rPr lang="en-US" dirty="0" err="1"/>
              <a:t>Plutos</a:t>
            </a:r>
            <a:r>
              <a:rPr lang="en-US" dirty="0"/>
              <a:t>’ and PA’s named competitors (including Capgemini, Arcadis, and Worley, among others) </a:t>
            </a:r>
            <a:r>
              <a:rPr lang="en-US" i="1" dirty="0"/>
              <a:t>(see Appendix pages 19-21)</a:t>
            </a:r>
          </a:p>
          <a:p>
            <a:r>
              <a:rPr lang="en-US" dirty="0"/>
              <a:t>Other companies raised for monitoring in prior discussions (i.e., Quanta, </a:t>
            </a:r>
            <a:r>
              <a:rPr lang="en-US" dirty="0" err="1"/>
              <a:t>Primoris</a:t>
            </a:r>
            <a:r>
              <a:rPr lang="en-US" dirty="0"/>
              <a:t>, and Palantir) </a:t>
            </a:r>
            <a:r>
              <a:rPr lang="en-US" i="1" dirty="0"/>
              <a:t>(see Appendix page 22)</a:t>
            </a:r>
          </a:p>
        </p:txBody>
      </p:sp>
      <p:sp>
        <p:nvSpPr>
          <p:cNvPr id="3" name="Footer Placeholder 2">
            <a:extLst>
              <a:ext uri="{FF2B5EF4-FFF2-40B4-BE49-F238E27FC236}">
                <a16:creationId xmlns:a16="http://schemas.microsoft.com/office/drawing/2014/main" id="{575DC7E6-6068-6D04-9434-DC44E53B7D1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A8041038-C630-62B6-4A0A-7ACB242A0FB8}"/>
              </a:ext>
            </a:extLst>
          </p:cNvPr>
          <p:cNvSpPr>
            <a:spLocks noGrp="1"/>
          </p:cNvSpPr>
          <p:nvPr>
            <p:ph type="title"/>
          </p:nvPr>
        </p:nvSpPr>
        <p:spPr/>
        <p:txBody>
          <a:bodyPr/>
          <a:lstStyle/>
          <a:p>
            <a:r>
              <a:rPr lang="en-US" dirty="0"/>
              <a:t>ACME broadened the list of companies it put through the screen to include:</a:t>
            </a:r>
          </a:p>
        </p:txBody>
      </p:sp>
      <p:sp>
        <p:nvSpPr>
          <p:cNvPr id="5" name="TextBox 4">
            <a:extLst>
              <a:ext uri="{FF2B5EF4-FFF2-40B4-BE49-F238E27FC236}">
                <a16:creationId xmlns:a16="http://schemas.microsoft.com/office/drawing/2014/main" id="{FFB97C46-AA9C-0335-6006-44F1B6E8E11F}"/>
              </a:ext>
            </a:extLst>
          </p:cNvPr>
          <p:cNvSpPr txBox="1"/>
          <p:nvPr/>
        </p:nvSpPr>
        <p:spPr>
          <a:xfrm>
            <a:off x="2210269" y="3692804"/>
            <a:ext cx="4796634" cy="277064"/>
          </a:xfrm>
          <a:prstGeom prst="rect">
            <a:avLst/>
          </a:prstGeom>
          <a:solidFill>
            <a:schemeClr val="accent1">
              <a:lumMod val="20000"/>
              <a:lumOff val="80000"/>
            </a:schemeClr>
          </a:solidFill>
          <a:ln>
            <a:solidFill>
              <a:schemeClr val="tx1"/>
            </a:solidFill>
          </a:ln>
        </p:spPr>
        <p:txBody>
          <a:bodyPr vert="horz" wrap="none" lIns="45720" tIns="45720" rIns="45720" bIns="45720" rtlCol="0" anchor="ctr">
            <a:spAutoFit/>
          </a:bodyPr>
          <a:lstStyle/>
          <a:p>
            <a:pPr algn="ctr">
              <a:lnSpc>
                <a:spcPct val="85000"/>
              </a:lnSpc>
            </a:pPr>
            <a:r>
              <a:rPr lang="en-US" sz="1400" i="1"/>
              <a:t>None of these companies sufficiently meets the screening criteria</a:t>
            </a:r>
          </a:p>
        </p:txBody>
      </p:sp>
    </p:spTree>
    <p:extLst>
      <p:ext uri="{BB962C8B-B14F-4D97-AF65-F5344CB8AC3E}">
        <p14:creationId xmlns:p14="http://schemas.microsoft.com/office/powerpoint/2010/main" val="35606082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04A95F3-2838-F73E-2E9C-DA1FC4A881E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657555" y="5057707"/>
            <a:ext cx="4818296" cy="1782954"/>
          </a:xfrm>
          <a:prstGeom prst="rect">
            <a:avLst/>
          </a:prstGeom>
        </p:spPr>
      </p:pic>
      <p:sp>
        <p:nvSpPr>
          <p:cNvPr id="2" name="Footer Placeholder 1">
            <a:extLst>
              <a:ext uri="{FF2B5EF4-FFF2-40B4-BE49-F238E27FC236}">
                <a16:creationId xmlns:a16="http://schemas.microsoft.com/office/drawing/2014/main" id="{8B4E9C8D-BCBF-4D94-F510-DA276B92A10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17DE127B-2B5E-AC45-8678-D8289A28FCB8}"/>
              </a:ext>
            </a:extLst>
          </p:cNvPr>
          <p:cNvSpPr>
            <a:spLocks noGrp="1"/>
          </p:cNvSpPr>
          <p:nvPr>
            <p:ph type="title"/>
          </p:nvPr>
        </p:nvSpPr>
        <p:spPr/>
        <p:txBody>
          <a:bodyPr/>
          <a:lstStyle/>
          <a:p>
            <a:r>
              <a:rPr lang="en-US" dirty="0" err="1"/>
              <a:t>Plutos</a:t>
            </a:r>
            <a:r>
              <a:rPr lang="en-US" dirty="0"/>
              <a:t>’ peer group would tilt slightly more towards Critical Infrastructure and Consulting if Kyndryl were removed from the mix</a:t>
            </a:r>
          </a:p>
        </p:txBody>
      </p:sp>
      <p:sp>
        <p:nvSpPr>
          <p:cNvPr id="8" name="TextBox 7">
            <a:extLst>
              <a:ext uri="{FF2B5EF4-FFF2-40B4-BE49-F238E27FC236}">
                <a16:creationId xmlns:a16="http://schemas.microsoft.com/office/drawing/2014/main" id="{7805FA84-0946-0298-1B7A-B5EA57A45CB1}"/>
              </a:ext>
            </a:extLst>
          </p:cNvPr>
          <p:cNvSpPr txBox="1"/>
          <p:nvPr/>
        </p:nvSpPr>
        <p:spPr>
          <a:xfrm>
            <a:off x="4842156" y="1283672"/>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 Group (n=15)</a:t>
            </a:r>
          </a:p>
        </p:txBody>
      </p:sp>
      <p:graphicFrame>
        <p:nvGraphicFramePr>
          <p:cNvPr id="11" name="Table 10">
            <a:extLst>
              <a:ext uri="{FF2B5EF4-FFF2-40B4-BE49-F238E27FC236}">
                <a16:creationId xmlns:a16="http://schemas.microsoft.com/office/drawing/2014/main" id="{B66491E8-2B70-F117-3BCD-C5CAE3783CAB}"/>
              </a:ext>
            </a:extLst>
          </p:cNvPr>
          <p:cNvGraphicFramePr>
            <a:graphicFrameLocks noGrp="1"/>
          </p:cNvGraphicFramePr>
          <p:nvPr>
            <p:extLst>
              <p:ext uri="{D42A27DB-BD31-4B8C-83A1-F6EECF244321}">
                <p14:modId xmlns:p14="http://schemas.microsoft.com/office/powerpoint/2010/main" val="518737561"/>
              </p:ext>
            </p:extLst>
          </p:nvPr>
        </p:nvGraphicFramePr>
        <p:xfrm>
          <a:off x="915594" y="1451136"/>
          <a:ext cx="2974414" cy="3584984"/>
        </p:xfrm>
        <a:graphic>
          <a:graphicData uri="http://schemas.openxmlformats.org/drawingml/2006/table">
            <a:tbl>
              <a:tblPr/>
              <a:tblGrid>
                <a:gridCol w="962734">
                  <a:extLst>
                    <a:ext uri="{9D8B030D-6E8A-4147-A177-3AD203B41FA5}">
                      <a16:colId xmlns:a16="http://schemas.microsoft.com/office/drawing/2014/main" val="1580081404"/>
                    </a:ext>
                  </a:extLst>
                </a:gridCol>
                <a:gridCol w="640080">
                  <a:extLst>
                    <a:ext uri="{9D8B030D-6E8A-4147-A177-3AD203B41FA5}">
                      <a16:colId xmlns:a16="http://schemas.microsoft.com/office/drawing/2014/main" val="4051440281"/>
                    </a:ext>
                  </a:extLst>
                </a:gridCol>
                <a:gridCol w="731520">
                  <a:extLst>
                    <a:ext uri="{9D8B030D-6E8A-4147-A177-3AD203B41FA5}">
                      <a16:colId xmlns:a16="http://schemas.microsoft.com/office/drawing/2014/main" val="3873922838"/>
                    </a:ext>
                  </a:extLst>
                </a:gridCol>
                <a:gridCol w="640080">
                  <a:extLst>
                    <a:ext uri="{9D8B030D-6E8A-4147-A177-3AD203B41FA5}">
                      <a16:colId xmlns:a16="http://schemas.microsoft.com/office/drawing/2014/main" val="3911719177"/>
                    </a:ext>
                  </a:extLst>
                </a:gridCol>
              </a:tblGrid>
              <a:tr h="422663">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46340995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2726622385"/>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214304150"/>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2362820788"/>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FD7D7"/>
                    </a:solidFill>
                  </a:tcPr>
                </a:tc>
                <a:extLst>
                  <a:ext uri="{0D108BD9-81ED-4DB2-BD59-A6C34878D82A}">
                    <a16:rowId xmlns:a16="http://schemas.microsoft.com/office/drawing/2014/main" val="3755561633"/>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noFill/>
                  </a:tcPr>
                </a:tc>
                <a:extLst>
                  <a:ext uri="{0D108BD9-81ED-4DB2-BD59-A6C34878D82A}">
                    <a16:rowId xmlns:a16="http://schemas.microsoft.com/office/drawing/2014/main" val="419362985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41476020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196638559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29991803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noFill/>
                  </a:tcPr>
                </a:tc>
                <a:extLst>
                  <a:ext uri="{0D108BD9-81ED-4DB2-BD59-A6C34878D82A}">
                    <a16:rowId xmlns:a16="http://schemas.microsoft.com/office/drawing/2014/main" val="2867474206"/>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420027048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351579997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9172150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noFill/>
                  </a:tcPr>
                </a:tc>
                <a:extLst>
                  <a:ext uri="{0D108BD9-81ED-4DB2-BD59-A6C34878D82A}">
                    <a16:rowId xmlns:a16="http://schemas.microsoft.com/office/drawing/2014/main" val="215094989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46738110"/>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152878">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graphicFrame>
        <p:nvGraphicFramePr>
          <p:cNvPr id="13" name="Table 12">
            <a:extLst>
              <a:ext uri="{FF2B5EF4-FFF2-40B4-BE49-F238E27FC236}">
                <a16:creationId xmlns:a16="http://schemas.microsoft.com/office/drawing/2014/main" id="{D1EB550F-F840-1C43-FFD3-97326C49E2A9}"/>
              </a:ext>
            </a:extLst>
          </p:cNvPr>
          <p:cNvGraphicFramePr>
            <a:graphicFrameLocks noGrp="1"/>
          </p:cNvGraphicFramePr>
          <p:nvPr>
            <p:extLst>
              <p:ext uri="{D42A27DB-BD31-4B8C-83A1-F6EECF244321}">
                <p14:modId xmlns:p14="http://schemas.microsoft.com/office/powerpoint/2010/main" val="2658863670"/>
              </p:ext>
            </p:extLst>
          </p:nvPr>
        </p:nvGraphicFramePr>
        <p:xfrm>
          <a:off x="5093251" y="1565330"/>
          <a:ext cx="2971800" cy="3424936"/>
        </p:xfrm>
        <a:graphic>
          <a:graphicData uri="http://schemas.openxmlformats.org/drawingml/2006/table">
            <a:tbl>
              <a:tblPr/>
              <a:tblGrid>
                <a:gridCol w="960120">
                  <a:extLst>
                    <a:ext uri="{9D8B030D-6E8A-4147-A177-3AD203B41FA5}">
                      <a16:colId xmlns:a16="http://schemas.microsoft.com/office/drawing/2014/main" val="1439108807"/>
                    </a:ext>
                  </a:extLst>
                </a:gridCol>
                <a:gridCol w="640080">
                  <a:extLst>
                    <a:ext uri="{9D8B030D-6E8A-4147-A177-3AD203B41FA5}">
                      <a16:colId xmlns:a16="http://schemas.microsoft.com/office/drawing/2014/main" val="2183462360"/>
                    </a:ext>
                  </a:extLst>
                </a:gridCol>
                <a:gridCol w="731520">
                  <a:extLst>
                    <a:ext uri="{9D8B030D-6E8A-4147-A177-3AD203B41FA5}">
                      <a16:colId xmlns:a16="http://schemas.microsoft.com/office/drawing/2014/main" val="1136581877"/>
                    </a:ext>
                  </a:extLst>
                </a:gridCol>
                <a:gridCol w="640080">
                  <a:extLst>
                    <a:ext uri="{9D8B030D-6E8A-4147-A177-3AD203B41FA5}">
                      <a16:colId xmlns:a16="http://schemas.microsoft.com/office/drawing/2014/main" val="457838467"/>
                    </a:ext>
                  </a:extLst>
                </a:gridCol>
              </a:tblGrid>
              <a:tr h="373657">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411850859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670309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69066103"/>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1396389550"/>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3925788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7243572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8027977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noFill/>
                  </a:tcPr>
                </a:tc>
                <a:extLst>
                  <a:ext uri="{0D108BD9-81ED-4DB2-BD59-A6C34878D82A}">
                    <a16:rowId xmlns:a16="http://schemas.microsoft.com/office/drawing/2014/main" val="2566125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474468131"/>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noFill/>
                  </a:tcPr>
                </a:tc>
                <a:extLst>
                  <a:ext uri="{0D108BD9-81ED-4DB2-BD59-A6C34878D82A}">
                    <a16:rowId xmlns:a16="http://schemas.microsoft.com/office/drawing/2014/main" val="34055872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991745866"/>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noFill/>
                  </a:tcPr>
                </a:tc>
                <a:extLst>
                  <a:ext uri="{0D108BD9-81ED-4DB2-BD59-A6C34878D82A}">
                    <a16:rowId xmlns:a16="http://schemas.microsoft.com/office/drawing/2014/main" val="189105220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22114709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noFill/>
                  </a:tcPr>
                </a:tc>
                <a:extLst>
                  <a:ext uri="{0D108BD9-81ED-4DB2-BD59-A6C34878D82A}">
                    <a16:rowId xmlns:a16="http://schemas.microsoft.com/office/drawing/2014/main" val="356746193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70847005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348877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1898001"/>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$15,730</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$19,076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1.6x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427179996"/>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22783638"/>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$5,911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$6,886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0.9x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971744473"/>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455139"/>
                  </a:ext>
                </a:extLst>
              </a:tr>
              <a:tr h="135152">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450371325"/>
                  </a:ext>
                </a:extLst>
              </a:tr>
            </a:tbl>
          </a:graphicData>
        </a:graphic>
      </p:graphicFrame>
      <p:sp>
        <p:nvSpPr>
          <p:cNvPr id="14" name="TextBox 13">
            <a:extLst>
              <a:ext uri="{FF2B5EF4-FFF2-40B4-BE49-F238E27FC236}">
                <a16:creationId xmlns:a16="http://schemas.microsoft.com/office/drawing/2014/main" id="{19416814-8224-F936-013C-408279BE24BA}"/>
              </a:ext>
            </a:extLst>
          </p:cNvPr>
          <p:cNvSpPr txBox="1"/>
          <p:nvPr/>
        </p:nvSpPr>
        <p:spPr>
          <a:xfrm>
            <a:off x="665806" y="1164904"/>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5" name="Arrow: Right 14">
            <a:extLst>
              <a:ext uri="{FF2B5EF4-FFF2-40B4-BE49-F238E27FC236}">
                <a16:creationId xmlns:a16="http://schemas.microsoft.com/office/drawing/2014/main" id="{B30A6EFD-7CFA-CE9C-CA90-4722E4328640}"/>
              </a:ext>
            </a:extLst>
          </p:cNvPr>
          <p:cNvSpPr/>
          <p:nvPr/>
        </p:nvSpPr>
        <p:spPr>
          <a:xfrm>
            <a:off x="4325704" y="3091006"/>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graphicFrame>
        <p:nvGraphicFramePr>
          <p:cNvPr id="16" name="Table 15">
            <a:extLst>
              <a:ext uri="{FF2B5EF4-FFF2-40B4-BE49-F238E27FC236}">
                <a16:creationId xmlns:a16="http://schemas.microsoft.com/office/drawing/2014/main" id="{2EF1E1A0-60A5-BC58-AA0B-BA7708BB70F0}"/>
              </a:ext>
            </a:extLst>
          </p:cNvPr>
          <p:cNvGraphicFramePr>
            <a:graphicFrameLocks noGrp="1"/>
          </p:cNvGraphicFramePr>
          <p:nvPr>
            <p:extLst>
              <p:ext uri="{D42A27DB-BD31-4B8C-83A1-F6EECF244321}">
                <p14:modId xmlns:p14="http://schemas.microsoft.com/office/powerpoint/2010/main" val="3704521991"/>
              </p:ext>
            </p:extLst>
          </p:nvPr>
        </p:nvGraphicFramePr>
        <p:xfrm>
          <a:off x="3986004" y="2648219"/>
          <a:ext cx="1011253" cy="341376"/>
        </p:xfrm>
        <a:graphic>
          <a:graphicData uri="http://schemas.openxmlformats.org/drawingml/2006/table">
            <a:tbl>
              <a:tblPr/>
              <a:tblGrid>
                <a:gridCol w="1011253">
                  <a:extLst>
                    <a:ext uri="{9D8B030D-6E8A-4147-A177-3AD203B41FA5}">
                      <a16:colId xmlns:a16="http://schemas.microsoft.com/office/drawing/2014/main" val="3932681074"/>
                    </a:ext>
                  </a:extLst>
                </a:gridCol>
              </a:tblGrid>
              <a:tr h="0">
                <a:tc>
                  <a:txBody>
                    <a:bodyPr/>
                    <a:lstStyle/>
                    <a:p>
                      <a:pPr algn="ctr" fontAlgn="b">
                        <a:buNone/>
                      </a:pPr>
                      <a:r>
                        <a:rPr lang="en-US" sz="1000" b="1" i="0" u="none" strike="noStrike">
                          <a:solidFill>
                            <a:srgbClr val="FFFFFF"/>
                          </a:solidFill>
                          <a:effectLst/>
                          <a:latin typeface="Calibri" panose="020F0502020204030204" pitchFamily="34" charset="0"/>
                        </a:rPr>
                        <a:t>Removals (n=1)</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2753272152"/>
                  </a:ext>
                </a:extLst>
              </a:tr>
              <a:tr h="0">
                <a:tc>
                  <a:txBody>
                    <a:bodyPr/>
                    <a:lstStyle/>
                    <a:p>
                      <a:pPr algn="ctr" fontAlgn="b">
                        <a:buNone/>
                      </a:pPr>
                      <a:r>
                        <a:rPr lang="en-US" sz="1000" b="0" i="0" u="none" strike="noStrike">
                          <a:solidFill>
                            <a:srgbClr val="000000"/>
                          </a:solidFill>
                          <a:effectLst/>
                          <a:latin typeface="Calibri" panose="020F0502020204030204" pitchFamily="34" charset="0"/>
                        </a:rPr>
                        <a:t>Kyndryl</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extLst>
                  <a:ext uri="{0D108BD9-81ED-4DB2-BD59-A6C34878D82A}">
                    <a16:rowId xmlns:a16="http://schemas.microsoft.com/office/drawing/2014/main" val="984723978"/>
                  </a:ext>
                </a:extLst>
              </a:tr>
            </a:tbl>
          </a:graphicData>
        </a:graphic>
      </p:graphicFrame>
      <p:pic>
        <p:nvPicPr>
          <p:cNvPr id="17" name="Picture 16">
            <a:extLst>
              <a:ext uri="{FF2B5EF4-FFF2-40B4-BE49-F238E27FC236}">
                <a16:creationId xmlns:a16="http://schemas.microsoft.com/office/drawing/2014/main" id="{CB0A5A2C-4649-9538-5BC1-624B7FB0B33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36573" y="5142747"/>
            <a:ext cx="4657243" cy="1723359"/>
          </a:xfrm>
          <a:prstGeom prst="rect">
            <a:avLst/>
          </a:prstGeom>
        </p:spPr>
      </p:pic>
      <p:sp>
        <p:nvSpPr>
          <p:cNvPr id="19" name="TextBox 18">
            <a:extLst>
              <a:ext uri="{FF2B5EF4-FFF2-40B4-BE49-F238E27FC236}">
                <a16:creationId xmlns:a16="http://schemas.microsoft.com/office/drawing/2014/main" id="{C16A8B26-0A13-AA71-FC3C-59ABF74F7909}"/>
              </a:ext>
            </a:extLst>
          </p:cNvPr>
          <p:cNvSpPr txBox="1"/>
          <p:nvPr/>
        </p:nvSpPr>
        <p:spPr>
          <a:xfrm>
            <a:off x="234266" y="5134219"/>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Peers Segment Mix</a:t>
            </a:r>
          </a:p>
        </p:txBody>
      </p:sp>
      <p:sp>
        <p:nvSpPr>
          <p:cNvPr id="20" name="TextBox 19">
            <a:extLst>
              <a:ext uri="{FF2B5EF4-FFF2-40B4-BE49-F238E27FC236}">
                <a16:creationId xmlns:a16="http://schemas.microsoft.com/office/drawing/2014/main" id="{4DAAE9A9-C37F-4FB8-FF11-749C74F8C8E8}"/>
              </a:ext>
            </a:extLst>
          </p:cNvPr>
          <p:cNvSpPr txBox="1"/>
          <p:nvPr/>
        </p:nvSpPr>
        <p:spPr>
          <a:xfrm>
            <a:off x="4903851" y="5147793"/>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Peers Segment Mix</a:t>
            </a:r>
          </a:p>
        </p:txBody>
      </p:sp>
      <p:sp>
        <p:nvSpPr>
          <p:cNvPr id="21" name="Arrow: Right 20">
            <a:extLst>
              <a:ext uri="{FF2B5EF4-FFF2-40B4-BE49-F238E27FC236}">
                <a16:creationId xmlns:a16="http://schemas.microsoft.com/office/drawing/2014/main" id="{037D8AF1-5C11-BCB5-FD4B-BB23AD9D4BC2}"/>
              </a:ext>
            </a:extLst>
          </p:cNvPr>
          <p:cNvSpPr/>
          <p:nvPr/>
        </p:nvSpPr>
        <p:spPr>
          <a:xfrm>
            <a:off x="4344754" y="5666762"/>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90012" name="acme-flag-90012"/>
          <p:cNvSpPr/>
          <p:nvPr/>
        </p:nvSpPr>
        <p:spPr>
          <a:xfrm>
            <a:off x="915594" y="1451136"/>
            <a:ext cx="2974414" cy="3584984"/>
          </a:xfrm>
          <a:prstGeom prst="rect">
            <a:avLst/>
          </a:prstGeom>
          <a:solidFill>
            <a:srgbClr val="FFD400">
              <a:alpha val="30000"/>
            </a:srgbClr>
          </a:solidFill>
          <a:ln w="19050">
            <a:solidFill>
              <a:srgbClr val="E80000"/>
            </a:solidFill>
          </a:ln>
        </p:spPr>
        <p:txBody>
          <a:bodyPr/>
          <a:lstStyle/>
          <a:p/>
        </p:txBody>
      </p:sp>
      <p:sp>
        <p:nvSpPr>
          <p:cNvPr id="90013" name="acme-flag-90013"/>
          <p:cNvSpPr/>
          <p:nvPr/>
        </p:nvSpPr>
        <p:spPr>
          <a:xfrm>
            <a:off x="915594" y="1451136"/>
            <a:ext cx="2974414" cy="3584984"/>
          </a:xfrm>
          <a:prstGeom prst="rect">
            <a:avLst/>
          </a:prstGeom>
          <a:solidFill>
            <a:srgbClr val="FFD400">
              <a:alpha val="30000"/>
            </a:srgbClr>
          </a:solidFill>
          <a:ln w="19050">
            <a:solidFill>
              <a:srgbClr val="E80000"/>
            </a:solidFill>
          </a:ln>
        </p:spPr>
        <p:txBody>
          <a:bodyPr/>
          <a:lstStyle/>
          <a:p/>
        </p:txBody>
      </p:sp>
      <p:sp>
        <p:nvSpPr>
          <p:cNvPr id="90014" name="acme-flag-90014"/>
          <p:cNvSpPr/>
          <p:nvPr/>
        </p:nvSpPr>
        <p:spPr>
          <a:xfrm>
            <a:off x="5093251" y="1565330"/>
            <a:ext cx="2971800" cy="3424936"/>
          </a:xfrm>
          <a:prstGeom prst="rect">
            <a:avLst/>
          </a:prstGeom>
          <a:solidFill>
            <a:srgbClr val="FFD400">
              <a:alpha val="30000"/>
            </a:srgbClr>
          </a:solidFill>
          <a:ln w="19050">
            <a:solidFill>
              <a:srgbClr val="E80000"/>
            </a:solidFill>
          </a:ln>
        </p:spPr>
        <p:txBody>
          <a:bodyPr/>
          <a:lstStyle/>
          <a:p/>
        </p:txBody>
      </p:sp>
      <p:sp>
        <p:nvSpPr>
          <p:cNvPr id="90015" name="acme-flag-90015"/>
          <p:cNvSpPr/>
          <p:nvPr/>
        </p:nvSpPr>
        <p:spPr>
          <a:xfrm>
            <a:off x="5093251" y="1565330"/>
            <a:ext cx="2971800" cy="3424936"/>
          </a:xfrm>
          <a:prstGeom prst="rect">
            <a:avLst/>
          </a:prstGeom>
          <a:solidFill>
            <a:srgbClr val="FFD400">
              <a:alpha val="30000"/>
            </a:srgbClr>
          </a:solidFill>
          <a:ln w="19050">
            <a:solidFill>
              <a:srgbClr val="E80000"/>
            </a:solidFill>
          </a:ln>
        </p:spPr>
        <p:txBody>
          <a:bodyPr/>
          <a:lstStyle/>
          <a:p/>
        </p:txBody>
      </p:sp>
      <p:sp>
        <p:nvSpPr>
          <p:cNvPr id="90016" name="acme-note-90016"/>
          <p:cNvSpPr txBox="1"/>
          <p:nvPr/>
        </p:nvSpPr>
        <p:spPr>
          <a:xfrm>
            <a:off x="152400" y="5803000"/>
            <a:ext cx="8839200" cy="995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4 brand issues flagged:</a:t>
            </a:r>
          </a:p>
          <a:p>
            <a:r>
              <a:rPr lang="en-US" sz="1000" b="0" dirty="0">
                <a:solidFill>
                  <a:srgbClr val="9B0000"/>
                </a:solidFill>
                <a:latin typeface="Calibri"/>
              </a:rPr>
              <a:t>1. Label uses “Percentile” spelled out (“75th Percentile”). Guidelines require “%ile”.</a:t>
            </a:r>
          </a:p>
          <a:p>
            <a:r>
              <a:rPr lang="en-US" sz="1000" b="0" dirty="0">
                <a:solidFill>
                  <a:srgbClr val="9B0000"/>
                </a:solidFill>
                <a:latin typeface="Calibri"/>
              </a:rPr>
              <a:t>2. Label uses “Percentile” spelled out (“25th Percentile”). Guidelines require “%ile”.</a:t>
            </a:r>
          </a:p>
          <a:p>
            <a:r>
              <a:rPr lang="en-US" sz="1000" b="0" dirty="0">
                <a:solidFill>
                  <a:srgbClr val="9B0000"/>
                </a:solidFill>
                <a:latin typeface="Calibri"/>
              </a:rPr>
              <a:t>3. Label uses “Percentile” spelled out (“75th Percentile”). Guidelines require “%ile”.</a:t>
            </a:r>
          </a:p>
          <a:p>
            <a:r>
              <a:rPr lang="en-US" sz="1000" b="0" dirty="0">
                <a:solidFill>
                  <a:srgbClr val="9B0000"/>
                </a:solidFill>
                <a:latin typeface="Calibri"/>
              </a:rPr>
              <a:t>4. Label uses “Percentile” spelled out (“25th Percentile”). Guidelines require “%ile”.</a:t>
            </a:r>
          </a:p>
        </p:txBody>
      </p:sp>
    </p:spTree>
    <p:extLst>
      <p:ext uri="{BB962C8B-B14F-4D97-AF65-F5344CB8AC3E}">
        <p14:creationId xmlns:p14="http://schemas.microsoft.com/office/powerpoint/2010/main" val="346248862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E744FBE-C1A2-C724-5520-191F997206FA}"/>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A14C0C5D-B207-56E5-512D-4C8BD82E9AE0}"/>
              </a:ext>
            </a:extLst>
          </p:cNvPr>
          <p:cNvSpPr>
            <a:spLocks noGrp="1"/>
          </p:cNvSpPr>
          <p:nvPr>
            <p:ph type="title"/>
          </p:nvPr>
        </p:nvSpPr>
        <p:spPr/>
        <p:txBody>
          <a:bodyPr/>
          <a:lstStyle/>
          <a:p>
            <a:r>
              <a:rPr lang="en-US"/>
              <a:t>Appendix</a:t>
            </a:r>
          </a:p>
        </p:txBody>
      </p:sp>
    </p:spTree>
    <p:extLst>
      <p:ext uri="{BB962C8B-B14F-4D97-AF65-F5344CB8AC3E}">
        <p14:creationId xmlns:p14="http://schemas.microsoft.com/office/powerpoint/2010/main" val="374591811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93C699FE-F6A3-DF4F-E542-1DCBA19B2E1D}"/>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2" name="Title 1">
            <a:extLst>
              <a:ext uri="{FF2B5EF4-FFF2-40B4-BE49-F238E27FC236}">
                <a16:creationId xmlns:a16="http://schemas.microsoft.com/office/drawing/2014/main" id="{1B9611E8-59AC-4D95-8DA9-7B540CD842F5}"/>
              </a:ext>
            </a:extLst>
          </p:cNvPr>
          <p:cNvSpPr>
            <a:spLocks noGrp="1"/>
          </p:cNvSpPr>
          <p:nvPr>
            <p:ph type="title"/>
          </p:nvPr>
        </p:nvSpPr>
        <p:spPr/>
        <p:txBody>
          <a:bodyPr/>
          <a:lstStyle/>
          <a:p>
            <a:r>
              <a:rPr lang="en-US" dirty="0" err="1"/>
              <a:t>Plutos</a:t>
            </a:r>
            <a:r>
              <a:rPr lang="en-US" dirty="0"/>
              <a:t>’ Compensation Peer group is used for a variety of analytical applications</a:t>
            </a:r>
          </a:p>
        </p:txBody>
      </p:sp>
      <p:sp>
        <p:nvSpPr>
          <p:cNvPr id="6" name="TextBox 5">
            <a:extLst>
              <a:ext uri="{FF2B5EF4-FFF2-40B4-BE49-F238E27FC236}">
                <a16:creationId xmlns:a16="http://schemas.microsoft.com/office/drawing/2014/main" id="{AA4C5BF6-6A67-5A63-834A-B5969CB04A2C}"/>
              </a:ext>
            </a:extLst>
          </p:cNvPr>
          <p:cNvSpPr txBox="1"/>
          <p:nvPr/>
        </p:nvSpPr>
        <p:spPr>
          <a:xfrm>
            <a:off x="2905776" y="1336136"/>
            <a:ext cx="3332448" cy="369397"/>
          </a:xfrm>
          <a:prstGeom prst="rect">
            <a:avLst/>
          </a:prstGeom>
          <a:noFill/>
        </p:spPr>
        <p:txBody>
          <a:bodyPr wrap="square" lIns="91440" tIns="91440" rIns="91440" bIns="91440" rtlCol="0" anchor="ctr">
            <a:spAutoFit/>
          </a:bodyPr>
          <a:lstStyle/>
          <a:p>
            <a:pPr algn="ctr">
              <a:lnSpc>
                <a:spcPct val="85000"/>
              </a:lnSpc>
            </a:pPr>
            <a:r>
              <a:rPr lang="en-US" sz="1400" b="1" dirty="0" err="1"/>
              <a:t>Plutos</a:t>
            </a:r>
            <a:r>
              <a:rPr lang="en-US" sz="1400" b="1" dirty="0"/>
              <a:t> Comparator Group Framework</a:t>
            </a:r>
          </a:p>
        </p:txBody>
      </p:sp>
      <p:graphicFrame>
        <p:nvGraphicFramePr>
          <p:cNvPr id="7" name="Table 6">
            <a:extLst>
              <a:ext uri="{FF2B5EF4-FFF2-40B4-BE49-F238E27FC236}">
                <a16:creationId xmlns:a16="http://schemas.microsoft.com/office/drawing/2014/main" id="{D5C58EC4-1955-7148-4B92-53AE9B130E30}"/>
              </a:ext>
            </a:extLst>
          </p:cNvPr>
          <p:cNvGraphicFramePr>
            <a:graphicFrameLocks noGrp="1"/>
          </p:cNvGraphicFramePr>
          <p:nvPr>
            <p:extLst>
              <p:ext uri="{D42A27DB-BD31-4B8C-83A1-F6EECF244321}">
                <p14:modId xmlns:p14="http://schemas.microsoft.com/office/powerpoint/2010/main" val="537328818"/>
              </p:ext>
            </p:extLst>
          </p:nvPr>
        </p:nvGraphicFramePr>
        <p:xfrm>
          <a:off x="362460" y="1670934"/>
          <a:ext cx="8419079" cy="2026920"/>
        </p:xfrm>
        <a:graphic>
          <a:graphicData uri="http://schemas.openxmlformats.org/drawingml/2006/table">
            <a:tbl>
              <a:tblPr firstRow="1" bandRow="1">
                <a:tableStyleId>{A77E1047-C769-4665-AFDC-4AF39A3502B1}</a:tableStyleId>
              </a:tblPr>
              <a:tblGrid>
                <a:gridCol w="1005840">
                  <a:extLst>
                    <a:ext uri="{9D8B030D-6E8A-4147-A177-3AD203B41FA5}">
                      <a16:colId xmlns:a16="http://schemas.microsoft.com/office/drawing/2014/main" val="3200937497"/>
                    </a:ext>
                  </a:extLst>
                </a:gridCol>
                <a:gridCol w="2103120">
                  <a:extLst>
                    <a:ext uri="{9D8B030D-6E8A-4147-A177-3AD203B41FA5}">
                      <a16:colId xmlns:a16="http://schemas.microsoft.com/office/drawing/2014/main" val="2954239048"/>
                    </a:ext>
                  </a:extLst>
                </a:gridCol>
                <a:gridCol w="738119">
                  <a:extLst>
                    <a:ext uri="{9D8B030D-6E8A-4147-A177-3AD203B41FA5}">
                      <a16:colId xmlns:a16="http://schemas.microsoft.com/office/drawing/2014/main" val="3590747133"/>
                    </a:ext>
                  </a:extLst>
                </a:gridCol>
                <a:gridCol w="914400">
                  <a:extLst>
                    <a:ext uri="{9D8B030D-6E8A-4147-A177-3AD203B41FA5}">
                      <a16:colId xmlns:a16="http://schemas.microsoft.com/office/drawing/2014/main" val="1267910357"/>
                    </a:ext>
                  </a:extLst>
                </a:gridCol>
                <a:gridCol w="914400">
                  <a:extLst>
                    <a:ext uri="{9D8B030D-6E8A-4147-A177-3AD203B41FA5}">
                      <a16:colId xmlns:a16="http://schemas.microsoft.com/office/drawing/2014/main" val="3192940460"/>
                    </a:ext>
                  </a:extLst>
                </a:gridCol>
                <a:gridCol w="914400">
                  <a:extLst>
                    <a:ext uri="{9D8B030D-6E8A-4147-A177-3AD203B41FA5}">
                      <a16:colId xmlns:a16="http://schemas.microsoft.com/office/drawing/2014/main" val="545235574"/>
                    </a:ext>
                  </a:extLst>
                </a:gridCol>
                <a:gridCol w="914400">
                  <a:extLst>
                    <a:ext uri="{9D8B030D-6E8A-4147-A177-3AD203B41FA5}">
                      <a16:colId xmlns:a16="http://schemas.microsoft.com/office/drawing/2014/main" val="2401771797"/>
                    </a:ext>
                  </a:extLst>
                </a:gridCol>
                <a:gridCol w="914400">
                  <a:extLst>
                    <a:ext uri="{9D8B030D-6E8A-4147-A177-3AD203B41FA5}">
                      <a16:colId xmlns:a16="http://schemas.microsoft.com/office/drawing/2014/main" val="2210728792"/>
                    </a:ext>
                  </a:extLst>
                </a:gridCol>
              </a:tblGrid>
              <a:tr h="0">
                <a:tc rowSpan="2">
                  <a:txBody>
                    <a:bodyPr/>
                    <a:lstStyle/>
                    <a:p>
                      <a:r>
                        <a:rPr lang="en-US" sz="1100" b="1">
                          <a:solidFill>
                            <a:schemeClr val="bg1"/>
                          </a:solidFill>
                          <a:latin typeface="+mn-lt"/>
                        </a:rPr>
                        <a:t>Comparator</a:t>
                      </a:r>
                    </a:p>
                  </a:txBody>
                  <a:tcPr marL="45720" marR="45720" marT="18288" marB="18288" anchor="b">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rowSpan="2">
                  <a:txBody>
                    <a:bodyPr/>
                    <a:lstStyle/>
                    <a:p>
                      <a:r>
                        <a:rPr lang="en-US" sz="1100" b="1">
                          <a:solidFill>
                            <a:schemeClr val="bg1"/>
                          </a:solidFill>
                          <a:latin typeface="+mn-lt"/>
                        </a:rPr>
                        <a:t>Description</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rowSpan="2">
                  <a:txBody>
                    <a:bodyPr/>
                    <a:lstStyle/>
                    <a:p>
                      <a:pPr algn="ctr"/>
                      <a:r>
                        <a:rPr lang="en-US" sz="1100" b="1">
                          <a:solidFill>
                            <a:schemeClr val="bg1"/>
                          </a:solidFill>
                          <a:latin typeface="+mn-lt"/>
                        </a:rPr>
                        <a:t># Companies</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gridSpan="5">
                  <a:txBody>
                    <a:bodyPr/>
                    <a:lstStyle/>
                    <a:p>
                      <a:pPr algn="ctr"/>
                      <a:r>
                        <a:rPr lang="en-US" sz="1100" b="1">
                          <a:solidFill>
                            <a:schemeClr val="bg1"/>
                          </a:solidFill>
                          <a:latin typeface="+mn-lt"/>
                        </a:rPr>
                        <a:t>Application</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lnL w="0" cmpd="sng">
                      <a:noFill/>
                    </a:lnL>
                    <a:lnR w="0" cmpd="sng">
                      <a:noFill/>
                    </a:lnR>
                    <a:lnT w="6350" cap="flat" cmpd="sng" algn="ctr">
                      <a:solidFill>
                        <a:schemeClr val="tx1"/>
                      </a:solidFill>
                      <a:prstDash val="solid"/>
                      <a:round/>
                      <a:headEnd type="none" w="med" len="med"/>
                      <a:tailEnd type="none" w="med" len="med"/>
                    </a:lnT>
                    <a:lnB w="6350" cmpd="sng">
                      <a:noFill/>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lnL w="0" cmpd="sng">
                      <a:noFill/>
                    </a:lnL>
                    <a:lnR w="0" cmpd="sng">
                      <a:noFill/>
                    </a:lnR>
                    <a:lnT w="6350" cap="flat" cmpd="sng" algn="ctr">
                      <a:solidFill>
                        <a:schemeClr val="tx1"/>
                      </a:solidFill>
                      <a:prstDash val="solid"/>
                      <a:round/>
                      <a:headEnd type="none" w="med" len="med"/>
                      <a:tailEnd type="none" w="med" len="med"/>
                    </a:lnT>
                    <a:lnB w="6350" cmpd="sng">
                      <a:noFill/>
                    </a:lnB>
                    <a:lnTlToBr w="12700" cmpd="sng">
                      <a:noFill/>
                      <a:prstDash val="solid"/>
                    </a:lnTlToBr>
                    <a:lnBlToTr w="12700" cmpd="sng">
                      <a:noFill/>
                      <a:prstDash val="solid"/>
                    </a:lnBlToTr>
                  </a:tcPr>
                </a:tc>
                <a:tc hMerge="1">
                  <a:txBody>
                    <a:bodyPr/>
                    <a:lstStyle/>
                    <a:p>
                      <a:pPr algn="ctr"/>
                      <a:endParaRPr lang="en-US" b="1">
                        <a:solidFill>
                          <a:schemeClr val="bg1"/>
                        </a:solidFill>
                      </a:endParaRP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17011107"/>
                  </a:ext>
                </a:extLst>
              </a:tr>
              <a:tr h="0">
                <a:tc vMerge="1">
                  <a:txBody>
                    <a:bodyPr/>
                    <a:lstStyle/>
                    <a:p>
                      <a:endParaRPr lang="en-US"/>
                    </a:p>
                  </a:txBody>
                  <a:tcPr>
                    <a:lnT w="6350" cap="flat" cmpd="sng" algn="ctr">
                      <a:solidFill>
                        <a:schemeClr val="tx1"/>
                      </a:solidFill>
                      <a:prstDash val="solid"/>
                      <a:round/>
                      <a:headEnd type="none" w="med" len="med"/>
                      <a:tailEnd type="none" w="med" len="med"/>
                    </a:lnT>
                  </a:tcPr>
                </a:tc>
                <a:tc vMerge="1">
                  <a:txBody>
                    <a:bodyPr/>
                    <a:lstStyle/>
                    <a:p>
                      <a:endParaRPr lang="en-US"/>
                    </a:p>
                  </a:txBody>
                  <a:tcPr>
                    <a:lnT w="6350" cap="flat" cmpd="sng" algn="ctr">
                      <a:solidFill>
                        <a:schemeClr val="tx1"/>
                      </a:solidFill>
                      <a:prstDash val="solid"/>
                      <a:round/>
                      <a:headEnd type="none" w="med" len="med"/>
                      <a:tailEnd type="none" w="med" len="med"/>
                    </a:lnT>
                  </a:tcPr>
                </a:tc>
                <a:tc vMerge="1">
                  <a:txBody>
                    <a:bodyPr/>
                    <a:lstStyle/>
                    <a:p>
                      <a:endParaRPr lang="en-US"/>
                    </a:p>
                  </a:txBody>
                  <a:tcPr>
                    <a:lnT w="6350" cap="flat" cmpd="sng" algn="ctr">
                      <a:solidFill>
                        <a:schemeClr val="tx1"/>
                      </a:solidFill>
                      <a:prstDash val="solid"/>
                      <a:round/>
                      <a:headEnd type="none" w="med" len="med"/>
                      <a:tailEnd type="none" w="med" len="med"/>
                    </a:lnT>
                  </a:tcPr>
                </a:tc>
                <a:tc>
                  <a:txBody>
                    <a:bodyPr/>
                    <a:lstStyle/>
                    <a:p>
                      <a:pPr algn="ctr"/>
                      <a:r>
                        <a:rPr lang="en-US" sz="1100" b="1">
                          <a:solidFill>
                            <a:schemeClr val="bg1"/>
                          </a:solidFill>
                          <a:latin typeface="+mn-lt"/>
                        </a:rPr>
                        <a:t>Pay Levels</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1">
                          <a:solidFill>
                            <a:schemeClr val="bg1"/>
                          </a:solidFill>
                          <a:latin typeface="+mn-lt"/>
                        </a:rPr>
                        <a:t>Pay Practices</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1">
                          <a:solidFill>
                            <a:schemeClr val="bg1"/>
                          </a:solidFill>
                          <a:latin typeface="+mn-lt"/>
                        </a:rPr>
                        <a:t>Performance/Goal-Setting</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1">
                          <a:solidFill>
                            <a:schemeClr val="bg1"/>
                          </a:solidFill>
                          <a:latin typeface="+mn-lt"/>
                        </a:rPr>
                        <a:t>PvP Table</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100" b="1">
                          <a:solidFill>
                            <a:schemeClr val="bg1"/>
                          </a:solidFill>
                          <a:latin typeface="+mn-lt"/>
                        </a:rPr>
                        <a:t>10-K Graph</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9748740"/>
                  </a:ext>
                </a:extLst>
              </a:tr>
              <a:tr h="0">
                <a:tc>
                  <a:txBody>
                    <a:bodyPr/>
                    <a:lstStyle/>
                    <a:p>
                      <a:r>
                        <a:rPr lang="en-US" sz="1100" b="1">
                          <a:latin typeface="+mn-lt"/>
                        </a:rPr>
                        <a:t>Compensation Peers</a:t>
                      </a:r>
                    </a:p>
                  </a:txBody>
                  <a:tcPr marL="45720" marR="45720" marT="18288" marB="18288">
                    <a:lnL w="19050" cap="flat" cmpd="sng" algn="ctr">
                      <a:solidFill>
                        <a:schemeClr val="accent4"/>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accent1">
                        <a:lumMod val="20000"/>
                        <a:lumOff val="80000"/>
                      </a:schemeClr>
                    </a:solidFill>
                  </a:tcPr>
                </a:tc>
                <a:tc>
                  <a:txBody>
                    <a:bodyPr/>
                    <a:lstStyle/>
                    <a:p>
                      <a:r>
                        <a:rPr lang="en-US" sz="1100">
                          <a:latin typeface="+mn-lt"/>
                        </a:rPr>
                        <a:t>Competitors for talent and capital based on application of tailored screening criteria</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algn="ctr"/>
                      <a:r>
                        <a:rPr lang="en-US" sz="1100">
                          <a:latin typeface="+mn-lt"/>
                        </a:rPr>
                        <a:t>16</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p>
                      <a:pPr marL="0" indent="0" algn="ctr">
                        <a:buFont typeface="Wingdings" panose="05000000000000000000" pitchFamily="2" charset="2"/>
                        <a:buNone/>
                      </a:pPr>
                      <a:r>
                        <a:rPr lang="en-US" sz="1100">
                          <a:latin typeface="+mn-lt"/>
                        </a:rPr>
                        <a:t>(CEO, CFO)</a:t>
                      </a:r>
                    </a:p>
                  </a:txBody>
                  <a:tcPr marL="45720" marR="45720" marT="18288" marB="18288"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3775634214"/>
                  </a:ext>
                </a:extLst>
              </a:tr>
              <a:tr h="0">
                <a:tc>
                  <a:txBody>
                    <a:bodyPr/>
                    <a:lstStyle/>
                    <a:p>
                      <a:r>
                        <a:rPr lang="en-US" sz="1100" b="1">
                          <a:latin typeface="+mn-lt"/>
                        </a:rPr>
                        <a:t>WTW Survey</a:t>
                      </a:r>
                    </a:p>
                  </a:txBody>
                  <a:tcPr marL="45720" marR="45720" marT="18288" marB="18288">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1">
                        <a:lumMod val="20000"/>
                        <a:lumOff val="80000"/>
                      </a:schemeClr>
                    </a:solidFill>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100" b="0">
                          <a:solidFill>
                            <a:schemeClr val="tx1"/>
                          </a:solidFill>
                          <a:latin typeface="+mn-lt"/>
                        </a:rPr>
                        <a:t>Willis Towers</a:t>
                      </a:r>
                      <a:r>
                        <a:rPr lang="en-US" sz="1100" b="0" baseline="0">
                          <a:solidFill>
                            <a:schemeClr val="tx1"/>
                          </a:solidFill>
                          <a:latin typeface="+mn-lt"/>
                        </a:rPr>
                        <a:t> </a:t>
                      </a:r>
                      <a:r>
                        <a:rPr lang="en-US" sz="1100" b="0">
                          <a:solidFill>
                            <a:schemeClr val="tx1"/>
                          </a:solidFill>
                          <a:latin typeface="+mn-lt"/>
                        </a:rPr>
                        <a:t>Watson</a:t>
                      </a:r>
                      <a:r>
                        <a:rPr lang="en-US" sz="1100">
                          <a:latin typeface="+mn-lt"/>
                        </a:rPr>
                        <a:t> </a:t>
                      </a:r>
                      <a:r>
                        <a:rPr lang="en-US" sz="1100" kern="1200">
                          <a:solidFill>
                            <a:schemeClr val="tx1"/>
                          </a:solidFill>
                          <a:latin typeface="+mn-lt"/>
                          <a:ea typeface="+mn-ea"/>
                          <a:cs typeface="+mn-cs"/>
                        </a:rPr>
                        <a:t>General Industry Executive Compensation Survey – North America</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a:r>
                        <a:rPr lang="en-US" sz="1100">
                          <a:latin typeface="+mn-lt"/>
                        </a:rPr>
                        <a:t>~500</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txBody>
                  <a:tcPr marL="45720" marR="45720" marT="18288" marB="18288"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224406177"/>
                  </a:ext>
                </a:extLst>
              </a:tr>
              <a:tr h="0">
                <a:tc>
                  <a:txBody>
                    <a:bodyPr/>
                    <a:lstStyle/>
                    <a:p>
                      <a:r>
                        <a:rPr lang="en-US" sz="1100" b="1">
                          <a:latin typeface="+mn-lt"/>
                        </a:rPr>
                        <a:t>S&amp;P</a:t>
                      </a:r>
                    </a:p>
                  </a:txBody>
                  <a:tcPr marL="45720" marR="45720"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100">
                          <a:latin typeface="+mn-lt"/>
                        </a:rPr>
                        <a:t>S&amp;P 500 Index</a:t>
                      </a:r>
                    </a:p>
                    <a:p>
                      <a:r>
                        <a:rPr lang="en-US" sz="1100">
                          <a:latin typeface="+mn-lt"/>
                        </a:rPr>
                        <a:t>S&amp;P 1500 IT Consulting &amp; Services</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100">
                          <a:latin typeface="+mn-lt"/>
                        </a:rPr>
                        <a:t>500</a:t>
                      </a:r>
                    </a:p>
                    <a:p>
                      <a:pPr algn="ctr"/>
                      <a:r>
                        <a:rPr lang="en-US" sz="1100">
                          <a:latin typeface="+mn-lt"/>
                        </a:rPr>
                        <a:t>1500</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mn-lt"/>
                      </a:endParaRPr>
                    </a:p>
                  </a:txBody>
                  <a:tcPr marL="45720" marR="45720" marT="18288" marB="18288"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 </a:t>
                      </a:r>
                    </a:p>
                    <a:p>
                      <a:pPr marL="0" indent="0" algn="ctr">
                        <a:buFont typeface="Wingdings" panose="05000000000000000000" pitchFamily="2" charset="2"/>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p>
                      <a:pPr marL="0" indent="0" algn="ctr">
                        <a:buFont typeface="Wingdings" panose="05000000000000000000" pitchFamily="2" charset="2"/>
                        <a:buNone/>
                      </a:pPr>
                      <a:r>
                        <a:rPr lang="en-US" sz="1100">
                          <a:latin typeface="Wingdings 2" panose="05020102010507070707" pitchFamily="18" charset="2"/>
                        </a:rPr>
                        <a:t>P </a:t>
                      </a:r>
                    </a:p>
                  </a:txBody>
                  <a:tcPr marL="45720" marR="45720" marT="18288" marB="18288" anchor="ctr">
                    <a:lnL w="6350" cap="flat" cmpd="sng" algn="ctr">
                      <a:noFill/>
                      <a:prstDash val="solid"/>
                      <a:round/>
                      <a:headEnd type="none" w="med" len="med"/>
                      <a:tailEnd type="none" w="med" len="med"/>
                    </a:lnL>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1357837"/>
                  </a:ext>
                </a:extLst>
              </a:tr>
            </a:tbl>
          </a:graphicData>
        </a:graphic>
      </p:graphicFrame>
      <p:sp>
        <p:nvSpPr>
          <p:cNvPr id="4" name="TextBox 3">
            <a:extLst>
              <a:ext uri="{FF2B5EF4-FFF2-40B4-BE49-F238E27FC236}">
                <a16:creationId xmlns:a16="http://schemas.microsoft.com/office/drawing/2014/main" id="{D8C31AFB-A62B-5361-2FDD-F57E35AAA28A}"/>
              </a:ext>
            </a:extLst>
          </p:cNvPr>
          <p:cNvSpPr txBox="1"/>
          <p:nvPr/>
        </p:nvSpPr>
        <p:spPr>
          <a:xfrm flipH="1">
            <a:off x="7370061" y="1433889"/>
            <a:ext cx="1411478" cy="224292"/>
          </a:xfrm>
          <a:prstGeom prst="rect">
            <a:avLst/>
          </a:prstGeom>
          <a:noFill/>
        </p:spPr>
        <p:txBody>
          <a:bodyPr vert="horz" wrap="square" lIns="45720" tIns="45720" rIns="45720" bIns="45720" rtlCol="0" anchor="ctr">
            <a:spAutoFit/>
          </a:bodyPr>
          <a:lstStyle/>
          <a:p>
            <a:pPr>
              <a:lnSpc>
                <a:spcPct val="85000"/>
              </a:lnSpc>
            </a:pPr>
            <a:r>
              <a:rPr lang="en-US" sz="1000" i="1"/>
              <a:t>Focus of this presentation </a:t>
            </a:r>
          </a:p>
        </p:txBody>
      </p:sp>
      <p:sp>
        <p:nvSpPr>
          <p:cNvPr id="8" name="Rectangle 7">
            <a:extLst>
              <a:ext uri="{FF2B5EF4-FFF2-40B4-BE49-F238E27FC236}">
                <a16:creationId xmlns:a16="http://schemas.microsoft.com/office/drawing/2014/main" id="{1A49B4FF-D2F3-869C-FD30-AC865DA286B2}"/>
              </a:ext>
            </a:extLst>
          </p:cNvPr>
          <p:cNvSpPr/>
          <p:nvPr/>
        </p:nvSpPr>
        <p:spPr>
          <a:xfrm>
            <a:off x="7235593" y="1489698"/>
            <a:ext cx="127973" cy="93625"/>
          </a:xfrm>
          <a:prstGeom prst="rect">
            <a:avLst/>
          </a:prstGeom>
          <a:noFill/>
          <a:ln w="28575">
            <a:solidFill>
              <a:schemeClr val="accent4"/>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244042654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56392B06-E395-E2A9-0073-2D2024C5B664}"/>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For FY25, </a:t>
            </a:r>
            <a:r>
              <a:rPr lang="en-US" dirty="0" err="1"/>
              <a:t>Plutos</a:t>
            </a:r>
            <a:r>
              <a:rPr lang="en-US" dirty="0"/>
              <a:t> rotated its peer group as a result of its CMS spin-off and go-forward strategy</a:t>
            </a:r>
          </a:p>
        </p:txBody>
      </p:sp>
      <p:sp>
        <p:nvSpPr>
          <p:cNvPr id="8" name="TextBox 7"/>
          <p:cNvSpPr txBox="1"/>
          <p:nvPr/>
        </p:nvSpPr>
        <p:spPr>
          <a:xfrm>
            <a:off x="2456546" y="1292489"/>
            <a:ext cx="4123525" cy="307777"/>
          </a:xfrm>
          <a:prstGeom prst="rect">
            <a:avLst/>
          </a:prstGeom>
          <a:noFill/>
        </p:spPr>
        <p:txBody>
          <a:bodyPr wrap="square" rtlCol="0">
            <a:spAutoFit/>
          </a:bodyPr>
          <a:lstStyle/>
          <a:p>
            <a:pPr algn="ctr"/>
            <a:r>
              <a:rPr lang="en-US" sz="1400" b="1" dirty="0" err="1"/>
              <a:t>Plutos</a:t>
            </a:r>
            <a:r>
              <a:rPr lang="en-US" sz="1400" b="1" dirty="0"/>
              <a:t> Proxy Peer Group FY22 to Present</a:t>
            </a:r>
          </a:p>
        </p:txBody>
      </p:sp>
      <p:sp>
        <p:nvSpPr>
          <p:cNvPr id="6" name="Rectangle 5">
            <a:extLst>
              <a:ext uri="{FF2B5EF4-FFF2-40B4-BE49-F238E27FC236}">
                <a16:creationId xmlns:a16="http://schemas.microsoft.com/office/drawing/2014/main" id="{ADD8E2AC-203B-472F-B498-2662623A039C}"/>
              </a:ext>
            </a:extLst>
          </p:cNvPr>
          <p:cNvSpPr/>
          <p:nvPr/>
        </p:nvSpPr>
        <p:spPr bwMode="auto">
          <a:xfrm>
            <a:off x="6867381" y="6106990"/>
            <a:ext cx="196881" cy="105446"/>
          </a:xfrm>
          <a:prstGeom prst="rect">
            <a:avLst/>
          </a:prstGeom>
          <a:solidFill>
            <a:schemeClr val="accent2">
              <a:lumMod val="40000"/>
              <a:lumOff val="6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7" name="TextBox 6">
            <a:extLst>
              <a:ext uri="{FF2B5EF4-FFF2-40B4-BE49-F238E27FC236}">
                <a16:creationId xmlns:a16="http://schemas.microsoft.com/office/drawing/2014/main" id="{5AAFF2BF-4F47-4C5B-9A7F-CC46A3432EEB}"/>
              </a:ext>
            </a:extLst>
          </p:cNvPr>
          <p:cNvSpPr txBox="1"/>
          <p:nvPr/>
        </p:nvSpPr>
        <p:spPr>
          <a:xfrm>
            <a:off x="7038985" y="6036603"/>
            <a:ext cx="1750572" cy="246221"/>
          </a:xfrm>
          <a:prstGeom prst="rect">
            <a:avLst/>
          </a:prstGeom>
          <a:noFill/>
        </p:spPr>
        <p:txBody>
          <a:bodyPr wrap="square" rtlCol="0" anchor="ctr">
            <a:spAutoFit/>
          </a:bodyPr>
          <a:lstStyle/>
          <a:p>
            <a:r>
              <a:rPr lang="en-US" sz="1000" i="1"/>
              <a:t>Companies added in that year</a:t>
            </a:r>
          </a:p>
        </p:txBody>
      </p:sp>
      <p:sp>
        <p:nvSpPr>
          <p:cNvPr id="9" name="TextBox 8">
            <a:extLst>
              <a:ext uri="{FF2B5EF4-FFF2-40B4-BE49-F238E27FC236}">
                <a16:creationId xmlns:a16="http://schemas.microsoft.com/office/drawing/2014/main" id="{864BD0BC-112F-1968-45DE-5D8DA62384F6}"/>
              </a:ext>
            </a:extLst>
          </p:cNvPr>
          <p:cNvSpPr txBox="1"/>
          <p:nvPr/>
        </p:nvSpPr>
        <p:spPr>
          <a:xfrm>
            <a:off x="354443" y="5991077"/>
            <a:ext cx="5763224" cy="246221"/>
          </a:xfrm>
          <a:prstGeom prst="rect">
            <a:avLst/>
          </a:prstGeom>
          <a:noFill/>
        </p:spPr>
        <p:txBody>
          <a:bodyPr wrap="square" lIns="45720" tIns="45720" rIns="45720" bIns="45720" rtlCol="0" anchor="ctr">
            <a:spAutoFit/>
          </a:bodyPr>
          <a:lstStyle/>
          <a:p>
            <a:pPr marL="228600" indent="-228600">
              <a:buFontTx/>
              <a:buAutoNum type="arabicParenBoth"/>
            </a:pPr>
            <a:r>
              <a:rPr lang="en-US" sz="1000" b="0" i="1" u="none" strike="noStrike">
                <a:solidFill>
                  <a:srgbClr val="000000"/>
                </a:solidFill>
                <a:effectLst/>
                <a:latin typeface="Calibri" panose="020F0502020204030204" pitchFamily="34" charset="0"/>
              </a:rPr>
              <a:t>Compan</a:t>
            </a:r>
            <a:r>
              <a:rPr lang="en-US" sz="1000" i="1">
                <a:solidFill>
                  <a:srgbClr val="000000"/>
                </a:solidFill>
                <a:latin typeface="Calibri" panose="020F0502020204030204" pitchFamily="34" charset="0"/>
              </a:rPr>
              <a:t>y previously known as </a:t>
            </a:r>
            <a:r>
              <a:rPr lang="en-US" sz="1000" b="0" i="1" u="none" strike="noStrike">
                <a:solidFill>
                  <a:srgbClr val="000000"/>
                </a:solidFill>
                <a:effectLst/>
                <a:latin typeface="Calibri" panose="020F0502020204030204" pitchFamily="34" charset="0"/>
              </a:rPr>
              <a:t>SNC-Lavalin</a:t>
            </a:r>
          </a:p>
        </p:txBody>
      </p:sp>
      <p:graphicFrame>
        <p:nvGraphicFramePr>
          <p:cNvPr id="11" name="Table 10">
            <a:extLst>
              <a:ext uri="{FF2B5EF4-FFF2-40B4-BE49-F238E27FC236}">
                <a16:creationId xmlns:a16="http://schemas.microsoft.com/office/drawing/2014/main" id="{33BFC4F2-EFA1-7E03-4541-44E3C75256EF}"/>
              </a:ext>
            </a:extLst>
          </p:cNvPr>
          <p:cNvGraphicFramePr>
            <a:graphicFrameLocks noGrp="1"/>
          </p:cNvGraphicFramePr>
          <p:nvPr>
            <p:extLst>
              <p:ext uri="{D42A27DB-BD31-4B8C-83A1-F6EECF244321}">
                <p14:modId xmlns:p14="http://schemas.microsoft.com/office/powerpoint/2010/main" val="988015280"/>
              </p:ext>
            </p:extLst>
          </p:nvPr>
        </p:nvGraphicFramePr>
        <p:xfrm>
          <a:off x="339879" y="1592335"/>
          <a:ext cx="8464243" cy="4373880"/>
        </p:xfrm>
        <a:graphic>
          <a:graphicData uri="http://schemas.openxmlformats.org/drawingml/2006/table">
            <a:tbl>
              <a:tblPr/>
              <a:tblGrid>
                <a:gridCol w="731520">
                  <a:extLst>
                    <a:ext uri="{9D8B030D-6E8A-4147-A177-3AD203B41FA5}">
                      <a16:colId xmlns:a16="http://schemas.microsoft.com/office/drawing/2014/main" val="3846520385"/>
                    </a:ext>
                  </a:extLst>
                </a:gridCol>
                <a:gridCol w="1463040">
                  <a:extLst>
                    <a:ext uri="{9D8B030D-6E8A-4147-A177-3AD203B41FA5}">
                      <a16:colId xmlns:a16="http://schemas.microsoft.com/office/drawing/2014/main" val="3897067108"/>
                    </a:ext>
                  </a:extLst>
                </a:gridCol>
                <a:gridCol w="87389">
                  <a:extLst>
                    <a:ext uri="{9D8B030D-6E8A-4147-A177-3AD203B41FA5}">
                      <a16:colId xmlns:a16="http://schemas.microsoft.com/office/drawing/2014/main" val="2596510373"/>
                    </a:ext>
                  </a:extLst>
                </a:gridCol>
                <a:gridCol w="1463040">
                  <a:extLst>
                    <a:ext uri="{9D8B030D-6E8A-4147-A177-3AD203B41FA5}">
                      <a16:colId xmlns:a16="http://schemas.microsoft.com/office/drawing/2014/main" val="1750889848"/>
                    </a:ext>
                  </a:extLst>
                </a:gridCol>
                <a:gridCol w="126228">
                  <a:extLst>
                    <a:ext uri="{9D8B030D-6E8A-4147-A177-3AD203B41FA5}">
                      <a16:colId xmlns:a16="http://schemas.microsoft.com/office/drawing/2014/main" val="4017723283"/>
                    </a:ext>
                  </a:extLst>
                </a:gridCol>
                <a:gridCol w="1463040">
                  <a:extLst>
                    <a:ext uri="{9D8B030D-6E8A-4147-A177-3AD203B41FA5}">
                      <a16:colId xmlns:a16="http://schemas.microsoft.com/office/drawing/2014/main" val="2846269139"/>
                    </a:ext>
                  </a:extLst>
                </a:gridCol>
                <a:gridCol w="97098">
                  <a:extLst>
                    <a:ext uri="{9D8B030D-6E8A-4147-A177-3AD203B41FA5}">
                      <a16:colId xmlns:a16="http://schemas.microsoft.com/office/drawing/2014/main" val="1423557181"/>
                    </a:ext>
                  </a:extLst>
                </a:gridCol>
                <a:gridCol w="1463040">
                  <a:extLst>
                    <a:ext uri="{9D8B030D-6E8A-4147-A177-3AD203B41FA5}">
                      <a16:colId xmlns:a16="http://schemas.microsoft.com/office/drawing/2014/main" val="1735599158"/>
                    </a:ext>
                  </a:extLst>
                </a:gridCol>
                <a:gridCol w="106808">
                  <a:extLst>
                    <a:ext uri="{9D8B030D-6E8A-4147-A177-3AD203B41FA5}">
                      <a16:colId xmlns:a16="http://schemas.microsoft.com/office/drawing/2014/main" val="2474799959"/>
                    </a:ext>
                  </a:extLst>
                </a:gridCol>
                <a:gridCol w="1463040">
                  <a:extLst>
                    <a:ext uri="{9D8B030D-6E8A-4147-A177-3AD203B41FA5}">
                      <a16:colId xmlns:a16="http://schemas.microsoft.com/office/drawing/2014/main" val="1046669399"/>
                    </a:ext>
                  </a:extLst>
                </a:gridCol>
              </a:tblGrid>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FY27 Proposed</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551751145"/>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874457602"/>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841809363"/>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627411198"/>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CACI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CACI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CGI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CGI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CGI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093656919"/>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SNC-Lavalin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SNC-Lavalin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AtkinsRéalis</a:t>
                      </a:r>
                      <a:r>
                        <a:rPr lang="en-US" sz="1100" b="0" i="0" u="none" strike="noStrike" baseline="30000">
                          <a:solidFill>
                            <a:srgbClr val="000000"/>
                          </a:solidFill>
                          <a:effectLst/>
                          <a:latin typeface="Calibri" panose="020F0502020204030204" pitchFamily="34" charset="0"/>
                        </a:rPr>
                        <a:t>(1)</a:t>
                      </a: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AtkinsRéalis</a:t>
                      </a:r>
                      <a:r>
                        <a:rPr lang="en-US" sz="1100" b="0" i="0" u="none" strike="noStrike" baseline="30000">
                          <a:solidFill>
                            <a:srgbClr val="000000"/>
                          </a:solidFill>
                          <a:effectLst/>
                          <a:latin typeface="Calibri" panose="020F0502020204030204" pitchFamily="34" charset="0"/>
                        </a:rPr>
                        <a:t>(1)</a:t>
                      </a: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AtkinsRéalis</a:t>
                      </a:r>
                      <a:r>
                        <a:rPr lang="en-US" sz="1100" b="0" i="0" u="none" strike="noStrike" baseline="30000">
                          <a:solidFill>
                            <a:srgbClr val="000000"/>
                          </a:solidFill>
                          <a:effectLst/>
                          <a:latin typeface="Calibri" panose="020F0502020204030204" pitchFamily="34" charset="0"/>
                        </a:rPr>
                        <a:t>(1)</a:t>
                      </a: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5392329"/>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16406209"/>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Booz Allen Hamilton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Booz Allen Hamilton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EPAM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EPAM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EPAM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040911846"/>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General Dynamics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General Dynamics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Tetra Tech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Tetra Tech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Tetra Tech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283874403"/>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06980092"/>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50568431"/>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L3Harris Technologies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L3Harris Technologies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Stantec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Stantec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Stantec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531848867"/>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8679697"/>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Northrop Grumman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Northrop Grumman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FTI Consulting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FTI Consulting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FTI Consulting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01537024"/>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758717166"/>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230859330"/>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Textron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Textron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Kyndryl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Kyndryl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9971751"/>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6814324"/>
                  </a:ext>
                </a:extLst>
              </a:tr>
              <a:tr h="91440">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3642695"/>
                  </a:ext>
                </a:extLst>
              </a:tr>
              <a:tr h="0">
                <a:tc>
                  <a:txBody>
                    <a:bodyPr/>
                    <a:lstStyle/>
                    <a:p>
                      <a:pPr algn="ctr" rtl="0" fontAlgn="ctr">
                        <a:buNone/>
                      </a:pPr>
                      <a:r>
                        <a:rPr lang="en-US" sz="1100" b="1" i="0" u="none" strike="noStrike">
                          <a:solidFill>
                            <a:srgbClr val="FFFFFF"/>
                          </a:solidFill>
                          <a:effectLst/>
                          <a:latin typeface="Calibri" panose="020F0502020204030204" pitchFamily="34" charset="0"/>
                        </a:rPr>
                        <a:t>Additions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ctr">
                        <a:buNone/>
                      </a:pPr>
                      <a:r>
                        <a:rPr lang="en-US"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Calibri" panose="020F0502020204030204" pitchFamily="34" charset="0"/>
                        </a:rPr>
                        <a:t>CGI, EPAM, Tetra Tech, Stantec, FTI Consulting, Kyndryl</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1147489"/>
                  </a:ext>
                </a:extLst>
              </a:tr>
              <a:tr h="91440">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 b="0" i="0" u="none" strike="noStrike">
                        <a:solidFill>
                          <a:srgbClr val="000000"/>
                        </a:solidFill>
                        <a:effectLst/>
                        <a:latin typeface="Arial" panose="020B060402020202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0655539"/>
                  </a:ext>
                </a:extLst>
              </a:tr>
              <a:tr h="0">
                <a:tc>
                  <a:txBody>
                    <a:bodyPr/>
                    <a:lstStyle/>
                    <a:p>
                      <a:pPr algn="ctr" rtl="0" fontAlgn="ctr">
                        <a:buNone/>
                      </a:pPr>
                      <a:r>
                        <a:rPr lang="en-US" sz="1100" b="1" i="0" u="none" strike="noStrike">
                          <a:solidFill>
                            <a:srgbClr val="FFFFFF"/>
                          </a:solidFill>
                          <a:effectLst/>
                          <a:latin typeface="Calibri" panose="020F0502020204030204" pitchFamily="34" charset="0"/>
                        </a:rPr>
                        <a:t>Deletions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ctr">
                        <a:buNone/>
                      </a:pPr>
                      <a:r>
                        <a:rPr lang="en-US" sz="1100" b="1"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rtl="0" fontAlgn="ctr">
                        <a:buNone/>
                      </a:pPr>
                      <a:r>
                        <a:rPr lang="en-US" sz="1100" b="1" i="0" u="none" strike="noStrike">
                          <a:solidFill>
                            <a:srgbClr val="000000"/>
                          </a:solidFill>
                          <a:effectLst/>
                          <a:latin typeface="Calibri" panose="020F0502020204030204" pitchFamily="34" charset="0"/>
                        </a:rPr>
                        <a:t>General Dynamics, Northrop Grumman, L3Harris, Textron, Booz Allen Hamilton, CACI</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1" i="0" u="none" strike="noStrike">
                          <a:solidFill>
                            <a:srgbClr val="000000"/>
                          </a:solidFill>
                          <a:effectLst/>
                          <a:latin typeface="Calibri" panose="020F0502020204030204" pitchFamily="34" charset="0"/>
                        </a:rPr>
                        <a:t>Kyndryl</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extLst>
                  <a:ext uri="{0D108BD9-81ED-4DB2-BD59-A6C34878D82A}">
                    <a16:rowId xmlns:a16="http://schemas.microsoft.com/office/drawing/2014/main" val="452253792"/>
                  </a:ext>
                </a:extLst>
              </a:tr>
            </a:tbl>
          </a:graphicData>
        </a:graphic>
      </p:graphicFrame>
    </p:spTree>
    <p:extLst>
      <p:ext uri="{BB962C8B-B14F-4D97-AF65-F5344CB8AC3E}">
        <p14:creationId xmlns:p14="http://schemas.microsoft.com/office/powerpoint/2010/main" val="112693521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D7B8660F-05C5-A98E-D2CC-01F9BD81255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592924" y="5013109"/>
            <a:ext cx="4791772" cy="1773140"/>
          </a:xfrm>
          <a:prstGeom prst="rect">
            <a:avLst/>
          </a:prstGeom>
        </p:spPr>
      </p:pic>
      <p:pic>
        <p:nvPicPr>
          <p:cNvPr id="25" name="Picture 24">
            <a:extLst>
              <a:ext uri="{FF2B5EF4-FFF2-40B4-BE49-F238E27FC236}">
                <a16:creationId xmlns:a16="http://schemas.microsoft.com/office/drawing/2014/main" id="{BA461139-7F62-D85F-79D9-090270189AB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74045" y="5032780"/>
            <a:ext cx="3358332" cy="1809286"/>
          </a:xfrm>
          <a:prstGeom prst="rect">
            <a:avLst/>
          </a:prstGeom>
        </p:spPr>
      </p:pic>
      <p:sp>
        <p:nvSpPr>
          <p:cNvPr id="2" name="Footer Placeholder 1">
            <a:extLst>
              <a:ext uri="{FF2B5EF4-FFF2-40B4-BE49-F238E27FC236}">
                <a16:creationId xmlns:a16="http://schemas.microsoft.com/office/drawing/2014/main" id="{0CADAC6F-244A-3DE6-BCB8-25C88E0B7421}"/>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9ADAF595-F61D-410C-7BF7-0E650A0A1BED}"/>
              </a:ext>
            </a:extLst>
          </p:cNvPr>
          <p:cNvSpPr>
            <a:spLocks noGrp="1"/>
          </p:cNvSpPr>
          <p:nvPr>
            <p:ph type="title"/>
          </p:nvPr>
        </p:nvSpPr>
        <p:spPr>
          <a:xfrm>
            <a:off x="882797" y="44215"/>
            <a:ext cx="8074152" cy="1292899"/>
          </a:xfrm>
        </p:spPr>
        <p:txBody>
          <a:bodyPr/>
          <a:lstStyle/>
          <a:p>
            <a:r>
              <a:rPr lang="en-US" dirty="0" err="1"/>
              <a:t>Plutos</a:t>
            </a:r>
            <a:r>
              <a:rPr lang="en-US" dirty="0"/>
              <a:t>’ current peer group has an average segment mix that emphasizes critical infrastructure and consulting businesses</a:t>
            </a:r>
          </a:p>
        </p:txBody>
      </p:sp>
      <p:graphicFrame>
        <p:nvGraphicFramePr>
          <p:cNvPr id="9" name="Table 8">
            <a:extLst>
              <a:ext uri="{FF2B5EF4-FFF2-40B4-BE49-F238E27FC236}">
                <a16:creationId xmlns:a16="http://schemas.microsoft.com/office/drawing/2014/main" id="{1192B97F-8E57-3C89-3A00-AC4B9D537E99}"/>
              </a:ext>
            </a:extLst>
          </p:cNvPr>
          <p:cNvGraphicFramePr>
            <a:graphicFrameLocks noGrp="1"/>
          </p:cNvGraphicFramePr>
          <p:nvPr>
            <p:extLst>
              <p:ext uri="{D42A27DB-BD31-4B8C-83A1-F6EECF244321}">
                <p14:modId xmlns:p14="http://schemas.microsoft.com/office/powerpoint/2010/main" val="4138944593"/>
              </p:ext>
            </p:extLst>
          </p:nvPr>
        </p:nvGraphicFramePr>
        <p:xfrm>
          <a:off x="577850" y="1300119"/>
          <a:ext cx="7988300" cy="3513328"/>
        </p:xfrm>
        <a:graphic>
          <a:graphicData uri="http://schemas.openxmlformats.org/drawingml/2006/table">
            <a:tbl>
              <a:tblPr/>
              <a:tblGrid>
                <a:gridCol w="1097280">
                  <a:extLst>
                    <a:ext uri="{9D8B030D-6E8A-4147-A177-3AD203B41FA5}">
                      <a16:colId xmlns:a16="http://schemas.microsoft.com/office/drawing/2014/main" val="3266536670"/>
                    </a:ext>
                  </a:extLst>
                </a:gridCol>
                <a:gridCol w="848677">
                  <a:extLst>
                    <a:ext uri="{9D8B030D-6E8A-4147-A177-3AD203B41FA5}">
                      <a16:colId xmlns:a16="http://schemas.microsoft.com/office/drawing/2014/main" val="2426311938"/>
                    </a:ext>
                  </a:extLst>
                </a:gridCol>
                <a:gridCol w="896303">
                  <a:extLst>
                    <a:ext uri="{9D8B030D-6E8A-4147-A177-3AD203B41FA5}">
                      <a16:colId xmlns:a16="http://schemas.microsoft.com/office/drawing/2014/main" val="2277864327"/>
                    </a:ext>
                  </a:extLst>
                </a:gridCol>
                <a:gridCol w="901065">
                  <a:extLst>
                    <a:ext uri="{9D8B030D-6E8A-4147-A177-3AD203B41FA5}">
                      <a16:colId xmlns:a16="http://schemas.microsoft.com/office/drawing/2014/main" val="3981700119"/>
                    </a:ext>
                  </a:extLst>
                </a:gridCol>
                <a:gridCol w="678815">
                  <a:extLst>
                    <a:ext uri="{9D8B030D-6E8A-4147-A177-3AD203B41FA5}">
                      <a16:colId xmlns:a16="http://schemas.microsoft.com/office/drawing/2014/main" val="3539281089"/>
                    </a:ext>
                  </a:extLst>
                </a:gridCol>
                <a:gridCol w="457200">
                  <a:extLst>
                    <a:ext uri="{9D8B030D-6E8A-4147-A177-3AD203B41FA5}">
                      <a16:colId xmlns:a16="http://schemas.microsoft.com/office/drawing/2014/main" val="2583893155"/>
                    </a:ext>
                  </a:extLst>
                </a:gridCol>
                <a:gridCol w="3108960">
                  <a:extLst>
                    <a:ext uri="{9D8B030D-6E8A-4147-A177-3AD203B41FA5}">
                      <a16:colId xmlns:a16="http://schemas.microsoft.com/office/drawing/2014/main" val="3856941185"/>
                    </a:ext>
                  </a:extLst>
                </a:gridCol>
              </a:tblGrid>
              <a:tr h="425045">
                <a:tc>
                  <a:txBody>
                    <a:bodyPr/>
                    <a:lstStyle/>
                    <a:p>
                      <a:pPr algn="l" fontAlgn="b">
                        <a:lnSpc>
                          <a:spcPct val="90000"/>
                        </a:lnSpc>
                        <a:buNone/>
                      </a:pPr>
                      <a:r>
                        <a:rPr lang="en-US" sz="1000" b="1" i="0" u="none" strike="noStrike" dirty="0">
                          <a:solidFill>
                            <a:srgbClr val="FFFFFF"/>
                          </a:solidFill>
                          <a:effectLst/>
                          <a:latin typeface="Calibri" panose="020F0502020204030204" pitchFamily="34" charset="0"/>
                        </a:rPr>
                        <a:t> Company</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Critical</a:t>
                      </a:r>
                    </a:p>
                    <a:p>
                      <a:pPr algn="ctr" fontAlgn="b">
                        <a:lnSpc>
                          <a:spcPct val="90000"/>
                        </a:lnSpc>
                        <a:buNone/>
                      </a:pPr>
                      <a:r>
                        <a:rPr lang="en-US" sz="1000" b="1" i="0" u="none" strike="noStrike">
                          <a:solidFill>
                            <a:srgbClr val="FFFFFF"/>
                          </a:solidFill>
                          <a:effectLst/>
                          <a:latin typeface="Calibri" panose="020F0502020204030204" pitchFamily="34" charset="0"/>
                        </a:rPr>
                        <a:t>Infrastructure</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Water &amp;</a:t>
                      </a:r>
                    </a:p>
                    <a:p>
                      <a:pPr algn="ctr" fontAlgn="b">
                        <a:lnSpc>
                          <a:spcPct val="90000"/>
                        </a:lnSpc>
                        <a:buNone/>
                      </a:pPr>
                      <a:r>
                        <a:rPr lang="en-US" sz="1000" b="1" i="0" u="none" strike="noStrike">
                          <a:solidFill>
                            <a:srgbClr val="FFFFFF"/>
                          </a:solidFill>
                          <a:effectLst/>
                          <a:latin typeface="Calibri" panose="020F0502020204030204" pitchFamily="34" charset="0"/>
                        </a:rPr>
                        <a:t>Environmental</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Life Sciences &amp;</a:t>
                      </a:r>
                    </a:p>
                    <a:p>
                      <a:pPr algn="ctr" fontAlgn="b">
                        <a:lnSpc>
                          <a:spcPct val="90000"/>
                        </a:lnSpc>
                        <a:buNone/>
                      </a:pPr>
                      <a:r>
                        <a:rPr lang="en-US" sz="1000" b="1" i="0" u="none" strike="noStrike">
                          <a:solidFill>
                            <a:srgbClr val="FFFFFF"/>
                          </a:solidFill>
                          <a:effectLst/>
                          <a:latin typeface="Calibri" panose="020F0502020204030204" pitchFamily="34" charset="0"/>
                        </a:rPr>
                        <a:t>Advanced</a:t>
                      </a:r>
                    </a:p>
                    <a:p>
                      <a:pPr algn="ctr" fontAlgn="b">
                        <a:lnSpc>
                          <a:spcPct val="90000"/>
                        </a:lnSpc>
                        <a:buNone/>
                      </a:pPr>
                      <a:r>
                        <a:rPr lang="en-US" sz="1000" b="1" i="0" u="none" strike="noStrike">
                          <a:solidFill>
                            <a:srgbClr val="FFFFFF"/>
                          </a:solidFill>
                          <a:effectLst/>
                          <a:latin typeface="Calibri" panose="020F0502020204030204" pitchFamily="34" charset="0"/>
                        </a:rPr>
                        <a:t>Manufacturing</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Consulting</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Other</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Notes</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1490200005"/>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Accenture</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780223305"/>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Cognizant</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30%</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54%</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16%</a:t>
                      </a: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Communications, Media &amp; Tech segment</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3140998897"/>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Leidos</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26%</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30%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44%</a:t>
                      </a:r>
                    </a:p>
                  </a:txBody>
                  <a:tcPr marL="27432" marR="27432" marT="0" marB="0" anchor="ctr">
                    <a:lnL>
                      <a:noFill/>
                    </a:lnL>
                    <a:lnR>
                      <a:noFill/>
                    </a:lnR>
                    <a:lnT>
                      <a:noFill/>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National Security and Digital Segment</a:t>
                      </a:r>
                    </a:p>
                  </a:txBody>
                  <a:tcPr marL="0" marR="0" marT="0" marB="0" anchor="ctr">
                    <a:lnL>
                      <a:noFill/>
                    </a:lnL>
                    <a:lnR>
                      <a:noFill/>
                    </a:lnR>
                    <a:lnT>
                      <a:noFill/>
                    </a:lnT>
                    <a:lnB>
                      <a:noFill/>
                    </a:lnB>
                    <a:noFill/>
                  </a:tcPr>
                </a:tc>
                <a:extLst>
                  <a:ext uri="{0D108BD9-81ED-4DB2-BD59-A6C34878D82A}">
                    <a16:rowId xmlns:a16="http://schemas.microsoft.com/office/drawing/2014/main" val="4192158933"/>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Fluor</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434549271"/>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AECOM</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76%</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24%</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2126007948"/>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Kyndryl</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Focus on IT infrastructure &amp; operations</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2992033184"/>
                  </a:ext>
                </a:extLst>
              </a:tr>
              <a:tr h="275074">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DXC</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52%</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48%</a:t>
                      </a:r>
                    </a:p>
                  </a:txBody>
                  <a:tcPr marL="27432" marR="27432" marT="0" marB="0" anchor="ctr">
                    <a:lnL>
                      <a:noFill/>
                    </a:lnL>
                    <a:lnR>
                      <a:noFill/>
                    </a:lnR>
                    <a:lnT>
                      <a:noFill/>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Global Infrastructure Svcs (GIS) segment, which focuses on cloud/IT infrastructure sol'ns</a:t>
                      </a:r>
                    </a:p>
                  </a:txBody>
                  <a:tcPr marL="0" marR="0" marT="0" marB="0" anchor="ctr">
                    <a:lnL>
                      <a:noFill/>
                    </a:lnL>
                    <a:lnR>
                      <a:noFill/>
                    </a:lnR>
                    <a:lnT>
                      <a:noFill/>
                    </a:lnT>
                    <a:lnB>
                      <a:noFill/>
                    </a:lnB>
                    <a:noFill/>
                  </a:tcPr>
                </a:tc>
                <a:extLst>
                  <a:ext uri="{0D108BD9-81ED-4DB2-BD59-A6C34878D82A}">
                    <a16:rowId xmlns:a16="http://schemas.microsoft.com/office/drawing/2014/main" val="3597010039"/>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WSP Global</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71%</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29%</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88448673"/>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CGI</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3551050363"/>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KBR</a:t>
                      </a:r>
                      <a:r>
                        <a:rPr lang="en-US" sz="1000" b="0" i="0" u="none" strike="noStrike" baseline="30000">
                          <a:solidFill>
                            <a:srgbClr val="000000"/>
                          </a:solidFill>
                          <a:effectLst/>
                          <a:latin typeface="Calibri" panose="020F0502020204030204" pitchFamily="34" charset="0"/>
                        </a:rPr>
                        <a:t>(1)</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2669745305"/>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AtkinsRéalis </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76%</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24%</a:t>
                      </a:r>
                    </a:p>
                  </a:txBody>
                  <a:tcPr marL="27432" marR="27432" marT="0" marB="0" anchor="ctr">
                    <a:lnL>
                      <a:noFill/>
                    </a:lnL>
                    <a:lnR>
                      <a:noFill/>
                    </a:lnR>
                    <a:lnT>
                      <a:noFill/>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Nuclear segment</a:t>
                      </a:r>
                    </a:p>
                  </a:txBody>
                  <a:tcPr marL="0" marR="0" marT="0" marB="0" anchor="ctr">
                    <a:lnL>
                      <a:noFill/>
                    </a:lnL>
                    <a:lnR>
                      <a:noFill/>
                    </a:lnR>
                    <a:lnT>
                      <a:noFill/>
                    </a:lnT>
                    <a:lnB>
                      <a:noFill/>
                    </a:lnB>
                    <a:noFill/>
                  </a:tcPr>
                </a:tc>
                <a:extLst>
                  <a:ext uri="{0D108BD9-81ED-4DB2-BD59-A6C34878D82A}">
                    <a16:rowId xmlns:a16="http://schemas.microsoft.com/office/drawing/2014/main" val="2168254552"/>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Parsons</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49%</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51%</a:t>
                      </a: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Federal Solutions segment</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674576852"/>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EPAM</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3312648214"/>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Tetra Tech</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54%</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46%</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14778048"/>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Stantec</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60%</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790618559"/>
                  </a:ext>
                </a:extLst>
              </a:tr>
              <a:tr h="275074">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FTI Consulting</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51%</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49%</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Forensic and Litigation Consulting, Strategic Communications, and Economic Consulting</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051705576"/>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0503938"/>
                  </a:ext>
                </a:extLst>
              </a:tr>
              <a:tr h="153740">
                <a:tc>
                  <a:txBody>
                    <a:bodyPr/>
                    <a:lstStyle/>
                    <a:p>
                      <a:pPr algn="l" fontAlgn="b">
                        <a:lnSpc>
                          <a:spcPct val="90000"/>
                        </a:lnSpc>
                        <a:buNone/>
                      </a:pPr>
                      <a:r>
                        <a:rPr lang="en-US" sz="1000" b="1" i="0" u="none" strike="noStrike">
                          <a:solidFill>
                            <a:srgbClr val="000000"/>
                          </a:solidFill>
                          <a:effectLst/>
                          <a:latin typeface="Calibri" panose="020F0502020204030204" pitchFamily="34" charset="0"/>
                        </a:rPr>
                        <a:t>Median Weighting</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71%</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35%</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30%</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77%</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48%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endParaRPr lang="en-US" sz="1000" b="1"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299847730"/>
                  </a:ext>
                </a:extLst>
              </a:tr>
              <a:tr h="153740">
                <a:tc>
                  <a:txBody>
                    <a:bodyPr/>
                    <a:lstStyle/>
                    <a:p>
                      <a:pPr algn="l" fontAlgn="b">
                        <a:lnSpc>
                          <a:spcPct val="90000"/>
                        </a:lnSpc>
                        <a:buNone/>
                      </a:pPr>
                      <a:r>
                        <a:rPr lang="en-US" sz="1000" b="1" i="0" u="none" strike="noStrike">
                          <a:solidFill>
                            <a:srgbClr val="000000"/>
                          </a:solidFill>
                          <a:effectLst/>
                          <a:latin typeface="Calibri" panose="020F0502020204030204" pitchFamily="34" charset="0"/>
                        </a:rPr>
                        <a:t>Avg. Segment Mix</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4%</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29%</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21%</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endParaRPr lang="en-US" sz="1000" b="1"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587383064"/>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1049239"/>
                  </a:ext>
                </a:extLst>
              </a:tr>
              <a:tr h="153740">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38%</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27%</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25%</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10%</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endParaRPr lang="en-US" sz="1000" b="1"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4042303000"/>
                  </a:ext>
                </a:extLst>
              </a:tr>
            </a:tbl>
          </a:graphicData>
        </a:graphic>
      </p:graphicFrame>
      <p:sp>
        <p:nvSpPr>
          <p:cNvPr id="14" name="TextBox 13">
            <a:extLst>
              <a:ext uri="{FF2B5EF4-FFF2-40B4-BE49-F238E27FC236}">
                <a16:creationId xmlns:a16="http://schemas.microsoft.com/office/drawing/2014/main" id="{3E382E11-FF55-0C0A-2CEB-16C70392F954}"/>
              </a:ext>
            </a:extLst>
          </p:cNvPr>
          <p:cNvSpPr txBox="1"/>
          <p:nvPr/>
        </p:nvSpPr>
        <p:spPr>
          <a:xfrm>
            <a:off x="2835006" y="1013957"/>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Segment Mix</a:t>
            </a:r>
          </a:p>
        </p:txBody>
      </p:sp>
      <p:sp>
        <p:nvSpPr>
          <p:cNvPr id="15" name="TextBox 14">
            <a:extLst>
              <a:ext uri="{FF2B5EF4-FFF2-40B4-BE49-F238E27FC236}">
                <a16:creationId xmlns:a16="http://schemas.microsoft.com/office/drawing/2014/main" id="{4554B3FC-A3E5-D340-5D7C-6E428F41A218}"/>
              </a:ext>
            </a:extLst>
          </p:cNvPr>
          <p:cNvSpPr txBox="1"/>
          <p:nvPr/>
        </p:nvSpPr>
        <p:spPr>
          <a:xfrm>
            <a:off x="5437785" y="5013109"/>
            <a:ext cx="2267927"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Average</a:t>
            </a:r>
          </a:p>
        </p:txBody>
      </p:sp>
      <p:sp>
        <p:nvSpPr>
          <p:cNvPr id="16" name="TextBox 15">
            <a:extLst>
              <a:ext uri="{FF2B5EF4-FFF2-40B4-BE49-F238E27FC236}">
                <a16:creationId xmlns:a16="http://schemas.microsoft.com/office/drawing/2014/main" id="{D8035895-D3AC-64F4-C3BC-F5F99FC6A8EB}"/>
              </a:ext>
            </a:extLst>
          </p:cNvPr>
          <p:cNvSpPr txBox="1"/>
          <p:nvPr/>
        </p:nvSpPr>
        <p:spPr>
          <a:xfrm>
            <a:off x="1540133" y="5022753"/>
            <a:ext cx="1815776" cy="286232"/>
          </a:xfrm>
          <a:prstGeom prst="rect">
            <a:avLst/>
          </a:prstGeom>
          <a:noFill/>
        </p:spPr>
        <p:txBody>
          <a:bodyPr wrap="square" lIns="45720" tIns="45720" rIns="45720" bIns="45720" rtlCol="0" anchor="ctr">
            <a:spAutoFit/>
          </a:bodyPr>
          <a:lstStyle/>
          <a:p>
            <a:pPr algn="ctr">
              <a:lnSpc>
                <a:spcPct val="90000"/>
              </a:lnSpc>
            </a:pPr>
            <a:r>
              <a:rPr lang="en-US" sz="1400" b="1" dirty="0" err="1"/>
              <a:t>Plutos</a:t>
            </a:r>
            <a:endParaRPr lang="en-US" sz="1400" b="1" dirty="0"/>
          </a:p>
        </p:txBody>
      </p:sp>
      <p:sp>
        <p:nvSpPr>
          <p:cNvPr id="18" name="TextBox 17">
            <a:extLst>
              <a:ext uri="{FF2B5EF4-FFF2-40B4-BE49-F238E27FC236}">
                <a16:creationId xmlns:a16="http://schemas.microsoft.com/office/drawing/2014/main" id="{AD2EFDD1-DCF7-1FC1-FB17-E3768A28914D}"/>
              </a:ext>
            </a:extLst>
          </p:cNvPr>
          <p:cNvSpPr txBox="1"/>
          <p:nvPr/>
        </p:nvSpPr>
        <p:spPr>
          <a:xfrm>
            <a:off x="577850" y="4829681"/>
            <a:ext cx="5191408" cy="230832"/>
          </a:xfrm>
          <a:prstGeom prst="rect">
            <a:avLst/>
          </a:prstGeom>
          <a:noFill/>
        </p:spPr>
        <p:txBody>
          <a:bodyPr wrap="square" lIns="45720" tIns="45720" rIns="45720" bIns="45720" rtlCol="0" anchor="ctr">
            <a:spAutoFit/>
          </a:bodyPr>
          <a:lstStyle/>
          <a:p>
            <a:pPr marL="228600" indent="-228600">
              <a:buAutoNum type="arabicParenBoth"/>
            </a:pPr>
            <a:r>
              <a:rPr lang="en-US" sz="900" i="1"/>
              <a:t>KBR’s segment mix excludes the Mission Technology Solutions Segment due to its anticipated spin-off</a:t>
            </a:r>
          </a:p>
        </p:txBody>
      </p:sp>
      <p:sp>
        <p:nvSpPr>
          <p:cNvPr id="4" name="Rectangle 3">
            <a:extLst>
              <a:ext uri="{FF2B5EF4-FFF2-40B4-BE49-F238E27FC236}">
                <a16:creationId xmlns:a16="http://schemas.microsoft.com/office/drawing/2014/main" id="{69DC3ED1-7BF8-DF5C-2814-81238AE9201C}"/>
              </a:ext>
            </a:extLst>
          </p:cNvPr>
          <p:cNvSpPr/>
          <p:nvPr/>
        </p:nvSpPr>
        <p:spPr>
          <a:xfrm>
            <a:off x="4326467" y="1525921"/>
            <a:ext cx="685800" cy="3303760"/>
          </a:xfrm>
          <a:prstGeom prst="rect">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326701854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D8D46A-152C-6C53-91EA-0600EC86E1C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D6D3EF17-8E9A-FE36-6D81-6A010C0976A5}"/>
              </a:ext>
            </a:extLst>
          </p:cNvPr>
          <p:cNvSpPr>
            <a:spLocks noGrp="1"/>
          </p:cNvSpPr>
          <p:nvPr>
            <p:ph type="title"/>
          </p:nvPr>
        </p:nvSpPr>
        <p:spPr>
          <a:xfrm>
            <a:off x="882797" y="44215"/>
            <a:ext cx="8074152" cy="1292899"/>
          </a:xfrm>
        </p:spPr>
        <p:txBody>
          <a:bodyPr/>
          <a:lstStyle/>
          <a:p>
            <a:r>
              <a:rPr lang="en-US" dirty="0"/>
              <a:t>KBR, WSP, and Leidos engaged in multibillion-dollar deals over the past year, enhancing their suitability as a peer for </a:t>
            </a:r>
            <a:r>
              <a:rPr lang="en-US" dirty="0" err="1"/>
              <a:t>Plutos</a:t>
            </a:r>
            <a:endParaRPr lang="en-US" dirty="0"/>
          </a:p>
        </p:txBody>
      </p:sp>
      <p:sp>
        <p:nvSpPr>
          <p:cNvPr id="8" name="TextBox 7">
            <a:extLst>
              <a:ext uri="{FF2B5EF4-FFF2-40B4-BE49-F238E27FC236}">
                <a16:creationId xmlns:a16="http://schemas.microsoft.com/office/drawing/2014/main" id="{CE6D4652-45EF-6467-51F8-DC9B6F80ED33}"/>
              </a:ext>
            </a:extLst>
          </p:cNvPr>
          <p:cNvSpPr txBox="1"/>
          <p:nvPr/>
        </p:nvSpPr>
        <p:spPr>
          <a:xfrm>
            <a:off x="2905776" y="1267065"/>
            <a:ext cx="3332448" cy="369397"/>
          </a:xfrm>
          <a:prstGeom prst="rect">
            <a:avLst/>
          </a:prstGeom>
          <a:noFill/>
        </p:spPr>
        <p:txBody>
          <a:bodyPr wrap="square" lIns="91440" tIns="91440" rIns="91440" bIns="91440" rtlCol="0" anchor="ctr">
            <a:spAutoFit/>
          </a:bodyPr>
          <a:lstStyle/>
          <a:p>
            <a:pPr algn="ctr">
              <a:lnSpc>
                <a:spcPct val="85000"/>
              </a:lnSpc>
            </a:pPr>
            <a:r>
              <a:rPr lang="en-US" sz="1400" b="1" dirty="0"/>
              <a:t>Plutos Peers M&amp;A Activity</a:t>
            </a:r>
            <a:r>
              <a:rPr lang="en-US" sz="1400" b="1" baseline="30000" dirty="0"/>
              <a:t>(1)</a:t>
            </a:r>
            <a:endParaRPr lang="en-US" sz="1400" b="1" dirty="0"/>
          </a:p>
        </p:txBody>
      </p:sp>
      <p:graphicFrame>
        <p:nvGraphicFramePr>
          <p:cNvPr id="9" name="Table 8">
            <a:extLst>
              <a:ext uri="{FF2B5EF4-FFF2-40B4-BE49-F238E27FC236}">
                <a16:creationId xmlns:a16="http://schemas.microsoft.com/office/drawing/2014/main" id="{D4937901-202E-D8AC-9C72-3D3F8D925C2D}"/>
              </a:ext>
            </a:extLst>
          </p:cNvPr>
          <p:cNvGraphicFramePr>
            <a:graphicFrameLocks noGrp="1"/>
          </p:cNvGraphicFramePr>
          <p:nvPr>
            <p:extLst>
              <p:ext uri="{D42A27DB-BD31-4B8C-83A1-F6EECF244321}">
                <p14:modId xmlns:p14="http://schemas.microsoft.com/office/powerpoint/2010/main" val="1697236165"/>
              </p:ext>
            </p:extLst>
          </p:nvPr>
        </p:nvGraphicFramePr>
        <p:xfrm>
          <a:off x="328136" y="1594202"/>
          <a:ext cx="8487728" cy="3404616"/>
        </p:xfrm>
        <a:graphic>
          <a:graphicData uri="http://schemas.openxmlformats.org/drawingml/2006/table">
            <a:tbl>
              <a:tblPr/>
              <a:tblGrid>
                <a:gridCol w="715328">
                  <a:extLst>
                    <a:ext uri="{9D8B030D-6E8A-4147-A177-3AD203B41FA5}">
                      <a16:colId xmlns:a16="http://schemas.microsoft.com/office/drawing/2014/main" val="1103253196"/>
                    </a:ext>
                  </a:extLst>
                </a:gridCol>
                <a:gridCol w="822960">
                  <a:extLst>
                    <a:ext uri="{9D8B030D-6E8A-4147-A177-3AD203B41FA5}">
                      <a16:colId xmlns:a16="http://schemas.microsoft.com/office/drawing/2014/main" val="217923903"/>
                    </a:ext>
                  </a:extLst>
                </a:gridCol>
                <a:gridCol w="640080">
                  <a:extLst>
                    <a:ext uri="{9D8B030D-6E8A-4147-A177-3AD203B41FA5}">
                      <a16:colId xmlns:a16="http://schemas.microsoft.com/office/drawing/2014/main" val="1474149491"/>
                    </a:ext>
                  </a:extLst>
                </a:gridCol>
                <a:gridCol w="2926080">
                  <a:extLst>
                    <a:ext uri="{9D8B030D-6E8A-4147-A177-3AD203B41FA5}">
                      <a16:colId xmlns:a16="http://schemas.microsoft.com/office/drawing/2014/main" val="2388438907"/>
                    </a:ext>
                  </a:extLst>
                </a:gridCol>
                <a:gridCol w="2468880">
                  <a:extLst>
                    <a:ext uri="{9D8B030D-6E8A-4147-A177-3AD203B41FA5}">
                      <a16:colId xmlns:a16="http://schemas.microsoft.com/office/drawing/2014/main" val="1678085007"/>
                    </a:ext>
                  </a:extLst>
                </a:gridCol>
                <a:gridCol w="914400">
                  <a:extLst>
                    <a:ext uri="{9D8B030D-6E8A-4147-A177-3AD203B41FA5}">
                      <a16:colId xmlns:a16="http://schemas.microsoft.com/office/drawing/2014/main" val="295990675"/>
                    </a:ext>
                  </a:extLst>
                </a:gridCol>
              </a:tblGrid>
              <a:tr h="0">
                <a:tc>
                  <a:txBody>
                    <a:bodyPr/>
                    <a:lstStyle/>
                    <a:p>
                      <a:pPr algn="l" fontAlgn="b">
                        <a:lnSpc>
                          <a:spcPct val="100000"/>
                        </a:lnSpc>
                        <a:buNone/>
                      </a:pPr>
                      <a:r>
                        <a:rPr lang="en-US" sz="1100" b="1" i="0" u="none" strike="noStrike">
                          <a:solidFill>
                            <a:srgbClr val="FFFFFF"/>
                          </a:solidFill>
                          <a:effectLst/>
                          <a:latin typeface="Calibri" panose="020F0502020204030204" pitchFamily="34" charset="0"/>
                        </a:rPr>
                        <a:t>Company</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Transaction</a:t>
                      </a:r>
                    </a:p>
                    <a:p>
                      <a:pPr algn="ctr" fontAlgn="b">
                        <a:lnSpc>
                          <a:spcPct val="100000"/>
                        </a:lnSpc>
                        <a:buNone/>
                      </a:pPr>
                      <a:r>
                        <a:rPr lang="en-US" sz="1100" b="1" i="0" u="none" strike="noStrike">
                          <a:solidFill>
                            <a:srgbClr val="FFFFFF"/>
                          </a:solidFill>
                          <a:effectLst/>
                          <a:latin typeface="Calibri" panose="020F0502020204030204" pitchFamily="34" charset="0"/>
                        </a:rPr>
                        <a:t>Type</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Size</a:t>
                      </a:r>
                    </a:p>
                    <a:p>
                      <a:pPr algn="ctr" fontAlgn="b">
                        <a:lnSpc>
                          <a:spcPct val="100000"/>
                        </a:lnSpc>
                        <a:buNone/>
                      </a:pPr>
                      <a:r>
                        <a:rPr lang="en-US" sz="1100" b="1" i="0" u="none" strike="noStrike">
                          <a:solidFill>
                            <a:srgbClr val="FFFFFF"/>
                          </a:solidFill>
                          <a:effectLst/>
                          <a:latin typeface="Calibri" panose="020F0502020204030204" pitchFamily="34" charset="0"/>
                        </a:rPr>
                        <a:t>($</a:t>
                      </a:r>
                      <a:r>
                        <a:rPr lang="en-US" sz="1100" b="1" i="0" u="none" strike="noStrike" err="1">
                          <a:solidFill>
                            <a:srgbClr val="FFFFFF"/>
                          </a:solidFill>
                          <a:effectLst/>
                          <a:latin typeface="Calibri" panose="020F0502020204030204" pitchFamily="34" charset="0"/>
                        </a:rPr>
                        <a:t>MMs</a:t>
                      </a:r>
                      <a:r>
                        <a:rPr lang="en-US" sz="1100" b="1" i="0" u="none" strike="noStrike">
                          <a:solidFill>
                            <a:srgbClr val="FFFFFF"/>
                          </a:solidFill>
                          <a:effectLst/>
                          <a:latin typeface="Calibri" panose="020F0502020204030204" pitchFamily="34" charset="0"/>
                        </a:rPr>
                        <a:t>)</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Activity</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Results from Activity</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Implications</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549153028"/>
                  </a:ext>
                </a:extLst>
              </a:tr>
              <a:tr h="127818">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KBR</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Spin-Off</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n/a</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KBR announced the spin-off of Mission Technology Solutions of KBR on September 24, 2025, expected to close in the second half of 2026</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Splits the firm into two independent publicly traded companies separating Sustainable Technology Solutions and Mission Technology Solutions</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 &amp; Monitor</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287052878"/>
                  </a:ext>
                </a:extLst>
              </a:tr>
              <a:tr h="102704">
                <a:tc>
                  <a:txBody>
                    <a:bodyPr/>
                    <a:lstStyle/>
                    <a:p>
                      <a:pPr algn="l" fontAlgn="ctr">
                        <a:lnSpc>
                          <a:spcPct val="100000"/>
                        </a:lnSpc>
                        <a:buNone/>
                      </a:pPr>
                      <a:r>
                        <a:rPr lang="en-US" sz="1100" b="0" i="0" u="none" strike="noStrike" err="1">
                          <a:solidFill>
                            <a:srgbClr val="000000"/>
                          </a:solidFill>
                          <a:effectLst/>
                          <a:latin typeface="Calibri" panose="020F0502020204030204" pitchFamily="34" charset="0"/>
                        </a:rPr>
                        <a:t>WSP</a:t>
                      </a:r>
                      <a:r>
                        <a:rPr lang="en-US" sz="1100" b="0" i="0" u="none" strike="noStrike">
                          <a:solidFill>
                            <a:srgbClr val="000000"/>
                          </a:solidFill>
                          <a:effectLst/>
                          <a:latin typeface="Calibri" panose="020F0502020204030204" pitchFamily="34" charset="0"/>
                        </a:rPr>
                        <a:t> Global</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$3,300</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err="1">
                          <a:solidFill>
                            <a:srgbClr val="000000"/>
                          </a:solidFill>
                          <a:effectLst/>
                          <a:latin typeface="Calibri" panose="020F0502020204030204" pitchFamily="34" charset="0"/>
                        </a:rPr>
                        <a:t>WSP</a:t>
                      </a:r>
                      <a:r>
                        <a:rPr lang="en-US" sz="1100" b="0" i="0" u="none" strike="noStrike">
                          <a:solidFill>
                            <a:srgbClr val="000000"/>
                          </a:solidFill>
                          <a:effectLst/>
                          <a:latin typeface="Calibri" panose="020F0502020204030204" pitchFamily="34" charset="0"/>
                        </a:rPr>
                        <a:t> announced the acquisition of </a:t>
                      </a:r>
                      <a:r>
                        <a:rPr lang="en-US" sz="1100" b="0" i="0" u="none" strike="noStrike" err="1">
                          <a:solidFill>
                            <a:srgbClr val="000000"/>
                          </a:solidFill>
                          <a:effectLst/>
                          <a:latin typeface="Calibri" panose="020F0502020204030204" pitchFamily="34" charset="0"/>
                        </a:rPr>
                        <a:t>TRC</a:t>
                      </a:r>
                      <a:r>
                        <a:rPr lang="en-US" sz="1100" b="0" i="0" u="none" strike="noStrike">
                          <a:solidFill>
                            <a:srgbClr val="000000"/>
                          </a:solidFill>
                          <a:effectLst/>
                          <a:latin typeface="Calibri" panose="020F0502020204030204" pitchFamily="34" charset="0"/>
                        </a:rPr>
                        <a:t> Companies from Warburg Pincus on December 15, 2025, expected to close before April 2026</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Improves competitiveness in engineering, consulting, and construction management solutions</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extLst>
                  <a:ext uri="{0D108BD9-81ED-4DB2-BD59-A6C34878D82A}">
                    <a16:rowId xmlns:a16="http://schemas.microsoft.com/office/drawing/2014/main" val="1846127623"/>
                  </a:ext>
                </a:extLst>
              </a:tr>
              <a:tr h="102704">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Leidos</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$2,400</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Leidos announced the acquisition of ENTRUST Solutions Group from Kohlberg &amp; Company on January 23, 2026, expected to close in the second quarter of 2026</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Improves revenue growth, adjusted EBITDA margin, and non-GAAP diluted earnings per share in 2027</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685044467"/>
                  </a:ext>
                </a:extLst>
              </a:tr>
              <a:tr h="0">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Accenture</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$984</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Accenture announced the acquisition of Faculty Science Limited from Apax Digital Fund I on January 6, 2026</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Adds 400+ Al native EEs, including data scientists and Al engineers, to help scale Al capabilities for clients</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extLst>
                  <a:ext uri="{0D108BD9-81ED-4DB2-BD59-A6C34878D82A}">
                    <a16:rowId xmlns:a16="http://schemas.microsoft.com/office/drawing/2014/main" val="835064072"/>
                  </a:ext>
                </a:extLst>
              </a:tr>
              <a:tr h="0">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Stantec</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$535</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Stantec acquired Page Southerland Page for $535 million on July 31, 2025</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Grows Stantec's US Buildings practice 35% and overall US employee headcount to ~13,500</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721030"/>
                  </a:ext>
                </a:extLst>
              </a:tr>
            </a:tbl>
          </a:graphicData>
        </a:graphic>
      </p:graphicFrame>
      <p:sp>
        <p:nvSpPr>
          <p:cNvPr id="10" name="Rectangle 9">
            <a:extLst>
              <a:ext uri="{FF2B5EF4-FFF2-40B4-BE49-F238E27FC236}">
                <a16:creationId xmlns:a16="http://schemas.microsoft.com/office/drawing/2014/main" id="{CC6F03D9-0490-0BE0-FE3D-0D2882F78054}"/>
              </a:ext>
            </a:extLst>
          </p:cNvPr>
          <p:cNvSpPr/>
          <p:nvPr/>
        </p:nvSpPr>
        <p:spPr>
          <a:xfrm>
            <a:off x="7217624" y="1389398"/>
            <a:ext cx="165600" cy="109289"/>
          </a:xfrm>
          <a:prstGeom prst="rect">
            <a:avLst/>
          </a:prstGeom>
          <a:solidFill>
            <a:schemeClr val="accent3">
              <a:lumMod val="40000"/>
              <a:lumOff val="6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11" name="TextBox 10">
            <a:extLst>
              <a:ext uri="{FF2B5EF4-FFF2-40B4-BE49-F238E27FC236}">
                <a16:creationId xmlns:a16="http://schemas.microsoft.com/office/drawing/2014/main" id="{62C25072-423F-9D0A-620C-213DDEEAECCF}"/>
              </a:ext>
            </a:extLst>
          </p:cNvPr>
          <p:cNvSpPr txBox="1"/>
          <p:nvPr/>
        </p:nvSpPr>
        <p:spPr>
          <a:xfrm>
            <a:off x="7383224" y="1347754"/>
            <a:ext cx="1573725" cy="224292"/>
          </a:xfrm>
          <a:prstGeom prst="rect">
            <a:avLst/>
          </a:prstGeom>
          <a:noFill/>
        </p:spPr>
        <p:txBody>
          <a:bodyPr vert="horz" wrap="square" lIns="45720" tIns="45720" rIns="45720" bIns="45720" rtlCol="0" anchor="ctr">
            <a:spAutoFit/>
          </a:bodyPr>
          <a:lstStyle/>
          <a:p>
            <a:pPr>
              <a:lnSpc>
                <a:spcPct val="85000"/>
              </a:lnSpc>
            </a:pPr>
            <a:r>
              <a:rPr lang="en-US" sz="1000" i="1"/>
              <a:t>Peer to Monitor</a:t>
            </a:r>
          </a:p>
        </p:txBody>
      </p:sp>
      <p:sp>
        <p:nvSpPr>
          <p:cNvPr id="12" name="TextBox 11">
            <a:extLst>
              <a:ext uri="{FF2B5EF4-FFF2-40B4-BE49-F238E27FC236}">
                <a16:creationId xmlns:a16="http://schemas.microsoft.com/office/drawing/2014/main" id="{34F3FABE-0D54-2AE1-3E97-DBA1E1835DF1}"/>
              </a:ext>
            </a:extLst>
          </p:cNvPr>
          <p:cNvSpPr txBox="1"/>
          <p:nvPr/>
        </p:nvSpPr>
        <p:spPr>
          <a:xfrm>
            <a:off x="328136" y="5025074"/>
            <a:ext cx="4042414" cy="230832"/>
          </a:xfrm>
          <a:prstGeom prst="rect">
            <a:avLst/>
          </a:prstGeom>
          <a:noFill/>
        </p:spPr>
        <p:txBody>
          <a:bodyPr wrap="square" lIns="45720" tIns="45720" rIns="45720" bIns="45720" rtlCol="0" anchor="ctr">
            <a:spAutoFit/>
          </a:bodyPr>
          <a:lstStyle/>
          <a:p>
            <a:pPr marL="228600" indent="-228600">
              <a:buAutoNum type="arabicParenBoth"/>
            </a:pPr>
            <a:r>
              <a:rPr lang="en-US" sz="900" i="1"/>
              <a:t>Includes M&amp;A activity over $500MM</a:t>
            </a:r>
          </a:p>
        </p:txBody>
      </p:sp>
    </p:spTree>
    <p:extLst>
      <p:ext uri="{BB962C8B-B14F-4D97-AF65-F5344CB8AC3E}">
        <p14:creationId xmlns:p14="http://schemas.microsoft.com/office/powerpoint/2010/main" val="316374479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E66EAD5-0C91-4705-89D6-A0B065C14553}"/>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6D1F60BE-3D78-293D-38ED-BF47C21A0F30}"/>
              </a:ext>
            </a:extLst>
          </p:cNvPr>
          <p:cNvSpPr>
            <a:spLocks noGrp="1"/>
          </p:cNvSpPr>
          <p:nvPr>
            <p:ph type="title"/>
          </p:nvPr>
        </p:nvSpPr>
        <p:spPr>
          <a:xfrm>
            <a:off x="882797" y="44215"/>
            <a:ext cx="8074152" cy="1292899"/>
          </a:xfrm>
        </p:spPr>
        <p:txBody>
          <a:bodyPr/>
          <a:lstStyle/>
          <a:p>
            <a:r>
              <a:rPr lang="en-US" dirty="0"/>
              <a:t>ACME assessed 15 UK-based companies for possible inclusion in </a:t>
            </a:r>
            <a:r>
              <a:rPr lang="en-US" dirty="0" err="1"/>
              <a:t>Plutos</a:t>
            </a:r>
            <a:r>
              <a:rPr lang="en-US" dirty="0"/>
              <a:t>’ peer group, but none sufficiently met the screening criteria</a:t>
            </a:r>
          </a:p>
        </p:txBody>
      </p:sp>
      <p:sp>
        <p:nvSpPr>
          <p:cNvPr id="7" name="TextBox 6">
            <a:extLst>
              <a:ext uri="{FF2B5EF4-FFF2-40B4-BE49-F238E27FC236}">
                <a16:creationId xmlns:a16="http://schemas.microsoft.com/office/drawing/2014/main" id="{54606E07-8DCF-2CB4-EB9A-CE22F88B214C}"/>
              </a:ext>
            </a:extLst>
          </p:cNvPr>
          <p:cNvSpPr txBox="1"/>
          <p:nvPr/>
        </p:nvSpPr>
        <p:spPr>
          <a:xfrm>
            <a:off x="2188794" y="1013847"/>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Screen Applied to UK </a:t>
            </a:r>
            <a:r>
              <a:rPr kumimoji="0" lang="en-US" sz="1400" b="1" i="0" u="none" strike="noStrike" kern="1200" cap="none" spc="0" normalizeH="0" noProof="0">
                <a:ln>
                  <a:noFill/>
                </a:ln>
                <a:effectLst/>
                <a:uLnTx/>
                <a:uFillTx/>
                <a:latin typeface="Calibri" panose="020F0502020204030204"/>
                <a:ea typeface="+mn-ea"/>
                <a:cs typeface="+mn-cs"/>
              </a:rPr>
              <a:t>Companies</a:t>
            </a:r>
            <a:r>
              <a:rPr kumimoji="0" lang="en-US" sz="1400" b="1" i="0" u="none" strike="noStrike" kern="1200" cap="none" spc="0" normalizeH="0" baseline="30000" noProof="0">
                <a:ln>
                  <a:noFill/>
                </a:ln>
                <a:effectLst/>
                <a:uLnTx/>
                <a:uFillTx/>
                <a:latin typeface="Calibri" panose="020F0502020204030204"/>
                <a:ea typeface="+mn-ea"/>
                <a:cs typeface="+mn-cs"/>
              </a:rPr>
              <a:t>(1)</a:t>
            </a:r>
          </a:p>
        </p:txBody>
      </p:sp>
      <p:graphicFrame>
        <p:nvGraphicFramePr>
          <p:cNvPr id="9" name="Table 8">
            <a:extLst>
              <a:ext uri="{FF2B5EF4-FFF2-40B4-BE49-F238E27FC236}">
                <a16:creationId xmlns:a16="http://schemas.microsoft.com/office/drawing/2014/main" id="{E22569F2-71E5-D78B-39CC-BE3BC9DBD334}"/>
              </a:ext>
            </a:extLst>
          </p:cNvPr>
          <p:cNvGraphicFramePr>
            <a:graphicFrameLocks noGrp="1"/>
          </p:cNvGraphicFramePr>
          <p:nvPr>
            <p:extLst>
              <p:ext uri="{D42A27DB-BD31-4B8C-83A1-F6EECF244321}">
                <p14:modId xmlns:p14="http://schemas.microsoft.com/office/powerpoint/2010/main" val="2821178536"/>
              </p:ext>
            </p:extLst>
          </p:nvPr>
        </p:nvGraphicFramePr>
        <p:xfrm>
          <a:off x="141923" y="1305510"/>
          <a:ext cx="8860154" cy="5028311"/>
        </p:xfrm>
        <a:graphic>
          <a:graphicData uri="http://schemas.openxmlformats.org/drawingml/2006/table">
            <a:tbl>
              <a:tblPr/>
              <a:tblGrid>
                <a:gridCol w="839089">
                  <a:extLst>
                    <a:ext uri="{9D8B030D-6E8A-4147-A177-3AD203B41FA5}">
                      <a16:colId xmlns:a16="http://schemas.microsoft.com/office/drawing/2014/main" val="355064325"/>
                    </a:ext>
                  </a:extLst>
                </a:gridCol>
                <a:gridCol w="1097280">
                  <a:extLst>
                    <a:ext uri="{9D8B030D-6E8A-4147-A177-3AD203B41FA5}">
                      <a16:colId xmlns:a16="http://schemas.microsoft.com/office/drawing/2014/main" val="529005761"/>
                    </a:ext>
                  </a:extLst>
                </a:gridCol>
                <a:gridCol w="497776">
                  <a:extLst>
                    <a:ext uri="{9D8B030D-6E8A-4147-A177-3AD203B41FA5}">
                      <a16:colId xmlns:a16="http://schemas.microsoft.com/office/drawing/2014/main" val="3921166032"/>
                    </a:ext>
                  </a:extLst>
                </a:gridCol>
                <a:gridCol w="494602">
                  <a:extLst>
                    <a:ext uri="{9D8B030D-6E8A-4147-A177-3AD203B41FA5}">
                      <a16:colId xmlns:a16="http://schemas.microsoft.com/office/drawing/2014/main" val="485947125"/>
                    </a:ext>
                  </a:extLst>
                </a:gridCol>
                <a:gridCol w="453326">
                  <a:extLst>
                    <a:ext uri="{9D8B030D-6E8A-4147-A177-3AD203B41FA5}">
                      <a16:colId xmlns:a16="http://schemas.microsoft.com/office/drawing/2014/main" val="594631347"/>
                    </a:ext>
                  </a:extLst>
                </a:gridCol>
                <a:gridCol w="494602">
                  <a:extLst>
                    <a:ext uri="{9D8B030D-6E8A-4147-A177-3AD203B41FA5}">
                      <a16:colId xmlns:a16="http://schemas.microsoft.com/office/drawing/2014/main" val="2302161621"/>
                    </a:ext>
                  </a:extLst>
                </a:gridCol>
                <a:gridCol w="848614">
                  <a:extLst>
                    <a:ext uri="{9D8B030D-6E8A-4147-A177-3AD203B41FA5}">
                      <a16:colId xmlns:a16="http://schemas.microsoft.com/office/drawing/2014/main" val="12244381"/>
                    </a:ext>
                  </a:extLst>
                </a:gridCol>
                <a:gridCol w="1105789">
                  <a:extLst>
                    <a:ext uri="{9D8B030D-6E8A-4147-A177-3AD203B41FA5}">
                      <a16:colId xmlns:a16="http://schemas.microsoft.com/office/drawing/2014/main" val="4153938373"/>
                    </a:ext>
                  </a:extLst>
                </a:gridCol>
                <a:gridCol w="675576">
                  <a:extLst>
                    <a:ext uri="{9D8B030D-6E8A-4147-A177-3AD203B41FA5}">
                      <a16:colId xmlns:a16="http://schemas.microsoft.com/office/drawing/2014/main" val="2905850513"/>
                    </a:ext>
                  </a:extLst>
                </a:gridCol>
                <a:gridCol w="707326">
                  <a:extLst>
                    <a:ext uri="{9D8B030D-6E8A-4147-A177-3AD203B41FA5}">
                      <a16:colId xmlns:a16="http://schemas.microsoft.com/office/drawing/2014/main" val="1212058550"/>
                    </a:ext>
                  </a:extLst>
                </a:gridCol>
                <a:gridCol w="366014">
                  <a:extLst>
                    <a:ext uri="{9D8B030D-6E8A-4147-A177-3AD203B41FA5}">
                      <a16:colId xmlns:a16="http://schemas.microsoft.com/office/drawing/2014/main" val="1213336418"/>
                    </a:ext>
                  </a:extLst>
                </a:gridCol>
                <a:gridCol w="1280160">
                  <a:extLst>
                    <a:ext uri="{9D8B030D-6E8A-4147-A177-3AD203B41FA5}">
                      <a16:colId xmlns:a16="http://schemas.microsoft.com/office/drawing/2014/main" val="3716915031"/>
                    </a:ext>
                  </a:extLst>
                </a:gridCol>
              </a:tblGrid>
              <a:tr h="372467">
                <a:tc>
                  <a:txBody>
                    <a:bodyPr/>
                    <a:lstStyle/>
                    <a:p>
                      <a:pPr algn="ctr" fontAlgn="b">
                        <a:lnSpc>
                          <a:spcPct val="90000"/>
                        </a:lnSpc>
                        <a:buNone/>
                      </a:pPr>
                      <a:r>
                        <a:rPr lang="en-US" sz="900" b="1" i="0" u="none" strike="noStrike" dirty="0">
                          <a:solidFill>
                            <a:srgbClr val="FFFFFF"/>
                          </a:solidFill>
                          <a:effectLst/>
                          <a:latin typeface="Calibri" panose="020F0502020204030204" pitchFamily="34" charset="0"/>
                        </a:rPr>
                        <a:t>Company Name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Industry</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Domicile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LTM</a:t>
                      </a:r>
                    </a:p>
                    <a:p>
                      <a:pPr algn="ctr" fontAlgn="b">
                        <a:lnSpc>
                          <a:spcPct val="90000"/>
                        </a:lnSpc>
                        <a:buNone/>
                      </a:pPr>
                      <a:r>
                        <a:rPr lang="en-US" sz="900" b="1" i="0" u="none" strike="noStrike">
                          <a:solidFill>
                            <a:srgbClr val="FFFFFF"/>
                          </a:solidFill>
                          <a:effectLst/>
                          <a:latin typeface="Calibri" panose="020F0502020204030204" pitchFamily="34" charset="0"/>
                        </a:rPr>
                        <a:t>Revenue</a:t>
                      </a:r>
                    </a:p>
                    <a:p>
                      <a:pPr algn="ctr" fontAlgn="b">
                        <a:lnSpc>
                          <a:spcPct val="90000"/>
                        </a:lnSpc>
                        <a:buNone/>
                      </a:pPr>
                      <a:r>
                        <a:rPr lang="en-US" sz="900" b="1" i="0" u="none" strike="noStrike">
                          <a:solidFill>
                            <a:srgbClr val="FFFFFF"/>
                          </a:solidFill>
                          <a:effectLst/>
                          <a:latin typeface="Calibri" panose="020F0502020204030204" pitchFamily="34" charset="0"/>
                        </a:rPr>
                        <a:t>($MMs)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a:t>
                      </a:r>
                    </a:p>
                    <a:p>
                      <a:pPr algn="ctr" fontAlgn="b">
                        <a:lnSpc>
                          <a:spcPct val="90000"/>
                        </a:lnSpc>
                        <a:buNone/>
                      </a:pPr>
                      <a:r>
                        <a:rPr lang="en-US" sz="900" b="1" i="0" u="none" strike="noStrike">
                          <a:solidFill>
                            <a:srgbClr val="FFFFFF"/>
                          </a:solidFill>
                          <a:effectLst/>
                          <a:latin typeface="Calibri" panose="020F0502020204030204" pitchFamily="34" charset="0"/>
                        </a:rPr>
                        <a:t>($MMs)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 to</a:t>
                      </a:r>
                    </a:p>
                    <a:p>
                      <a:pPr algn="ctr" fontAlgn="b">
                        <a:lnSpc>
                          <a:spcPct val="90000"/>
                        </a:lnSpc>
                        <a:buNone/>
                      </a:pPr>
                      <a:r>
                        <a:rPr lang="en-US" sz="900" b="1" i="0" u="none" strike="noStrike">
                          <a:solidFill>
                            <a:srgbClr val="FFFFFF"/>
                          </a:solidFill>
                          <a:effectLst/>
                          <a:latin typeface="Calibri" panose="020F0502020204030204" pitchFamily="34" charset="0"/>
                        </a:rPr>
                        <a:t>Revenue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Advanced</a:t>
                      </a:r>
                    </a:p>
                    <a:p>
                      <a:pPr algn="ctr" fontAlgn="b"/>
                      <a:r>
                        <a:rPr lang="en-US" sz="900" b="1" i="0" u="none" strike="noStrike">
                          <a:solidFill>
                            <a:srgbClr val="FFFFFF"/>
                          </a:solidFill>
                          <a:effectLst/>
                          <a:latin typeface="Calibri" panose="020F0502020204030204" pitchFamily="34" charset="0"/>
                        </a:rPr>
                        <a:t>Engineering and</a:t>
                      </a:r>
                    </a:p>
                    <a:p>
                      <a:pPr algn="ctr" fontAlgn="b"/>
                      <a:r>
                        <a:rPr lang="en-US" sz="900" b="1" i="0" u="none" strike="noStrike">
                          <a:solidFill>
                            <a:srgbClr val="FFFFFF"/>
                          </a:solidFill>
                          <a:effectLst/>
                          <a:latin typeface="Calibri" panose="020F0502020204030204" pitchFamily="34" charset="0"/>
                        </a:rPr>
                        <a:t>Technology Capabilities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Consulting and</a:t>
                      </a:r>
                    </a:p>
                    <a:p>
                      <a:pPr algn="ctr" fontAlgn="b">
                        <a:lnSpc>
                          <a:spcPct val="90000"/>
                        </a:lnSpc>
                      </a:pPr>
                      <a:r>
                        <a:rPr lang="en-US" sz="900" b="1" i="0" u="none" strike="noStrike">
                          <a:solidFill>
                            <a:srgbClr val="FFFFFF"/>
                          </a:solidFill>
                          <a:effectLst/>
                          <a:latin typeface="Calibri" panose="020F0502020204030204" pitchFamily="34" charset="0"/>
                        </a:rPr>
                        <a:t>Professional</a:t>
                      </a:r>
                    </a:p>
                    <a:p>
                      <a:pPr algn="ctr" fontAlgn="b">
                        <a:lnSpc>
                          <a:spcPct val="90000"/>
                        </a:lnSpc>
                      </a:pPr>
                      <a:r>
                        <a:rPr lang="en-US" sz="900" b="1" i="0" u="none" strike="noStrike">
                          <a:solidFill>
                            <a:srgbClr val="FFFFFF"/>
                          </a:solidFill>
                          <a:effectLst/>
                          <a:latin typeface="Calibri" panose="020F0502020204030204" pitchFamily="34" charset="0"/>
                        </a:rPr>
                        <a:t>Services</a:t>
                      </a:r>
                    </a:p>
                    <a:p>
                      <a:pPr algn="ctr" fontAlgn="b">
                        <a:lnSpc>
                          <a:spcPct val="90000"/>
                        </a:lnSpc>
                      </a:pPr>
                      <a:r>
                        <a:rPr lang="en-US" sz="900" b="1" i="0" u="none" strike="noStrike">
                          <a:solidFill>
                            <a:srgbClr val="FFFFFF"/>
                          </a:solidFill>
                          <a:effectLst/>
                          <a:latin typeface="Calibri" panose="020F0502020204030204" pitchFamily="34" charset="0"/>
                        </a:rPr>
                        <a:t>Solutions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Major </a:t>
                      </a:r>
                    </a:p>
                    <a:p>
                      <a:pPr algn="ctr" fontAlgn="b">
                        <a:lnSpc>
                          <a:spcPct val="90000"/>
                        </a:lnSpc>
                      </a:pPr>
                      <a:r>
                        <a:rPr lang="en-US" sz="900" b="1" i="0" u="none" strike="noStrike">
                          <a:solidFill>
                            <a:srgbClr val="FFFFFF"/>
                          </a:solidFill>
                          <a:effectLst/>
                          <a:latin typeface="Calibri" panose="020F0502020204030204" pitchFamily="34" charset="0"/>
                        </a:rPr>
                        <a:t>Commercial </a:t>
                      </a:r>
                    </a:p>
                    <a:p>
                      <a:pPr algn="ctr" fontAlgn="b">
                        <a:lnSpc>
                          <a:spcPct val="90000"/>
                        </a:lnSpc>
                      </a:pPr>
                      <a:r>
                        <a:rPr lang="en-US" sz="900" b="1" i="0" u="none" strike="noStrike">
                          <a:solidFill>
                            <a:srgbClr val="FFFFFF"/>
                          </a:solidFill>
                          <a:effectLst/>
                          <a:latin typeface="Calibri" panose="020F0502020204030204" pitchFamily="34" charset="0"/>
                        </a:rPr>
                        <a:t>and Gov’t </a:t>
                      </a:r>
                    </a:p>
                    <a:p>
                      <a:pPr algn="ctr" fontAlgn="b">
                        <a:lnSpc>
                          <a:spcPct val="90000"/>
                        </a:lnSpc>
                      </a:pPr>
                      <a:r>
                        <a:rPr lang="en-US" sz="900" b="1" i="0" u="none" strike="noStrike">
                          <a:solidFill>
                            <a:srgbClr val="FFFFFF"/>
                          </a:solidFill>
                          <a:effectLst/>
                          <a:latin typeface="Calibri" panose="020F0502020204030204" pitchFamily="34" charset="0"/>
                        </a:rPr>
                        <a:t>Clients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 30%</a:t>
                      </a:r>
                    </a:p>
                    <a:p>
                      <a:pPr algn="ctr" fontAlgn="b">
                        <a:lnSpc>
                          <a:spcPct val="90000"/>
                        </a:lnSpc>
                      </a:pPr>
                      <a:r>
                        <a:rPr lang="en-US" sz="900" b="1" i="0" u="none" strike="noStrike">
                          <a:solidFill>
                            <a:srgbClr val="FFFFFF"/>
                          </a:solidFill>
                          <a:effectLst/>
                          <a:latin typeface="Calibri" panose="020F0502020204030204" pitchFamily="34" charset="0"/>
                        </a:rPr>
                        <a:t>International</a:t>
                      </a:r>
                    </a:p>
                    <a:p>
                      <a:pPr algn="ctr" fontAlgn="b">
                        <a:lnSpc>
                          <a:spcPct val="90000"/>
                        </a:lnSpc>
                      </a:pPr>
                      <a:r>
                        <a:rPr lang="en-US" sz="900" b="1" i="0" u="none" strike="noStrike">
                          <a:solidFill>
                            <a:srgbClr val="FFFFFF"/>
                          </a:solidFill>
                          <a:effectLst/>
                          <a:latin typeface="Calibri" panose="020F0502020204030204" pitchFamily="34" charset="0"/>
                        </a:rPr>
                        <a:t>Revenue and</a:t>
                      </a:r>
                    </a:p>
                    <a:p>
                      <a:pPr algn="ctr" fontAlgn="b">
                        <a:lnSpc>
                          <a:spcPct val="90000"/>
                        </a:lnSpc>
                      </a:pPr>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Count</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Commentary</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592237684"/>
                  </a:ext>
                </a:extLst>
              </a:tr>
              <a:tr h="257573">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Intertek</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$4,526</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$8,258</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1.8x</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Quality</a:t>
                      </a:r>
                    </a:p>
                    <a:p>
                      <a:pPr algn="ctr" fontAlgn="ctr">
                        <a:lnSpc>
                          <a:spcPct val="90000"/>
                        </a:lnSpc>
                        <a:buNone/>
                      </a:pPr>
                      <a:r>
                        <a:rPr lang="en-US" sz="900" b="0" i="0" u="none" strike="noStrike">
                          <a:solidFill>
                            <a:srgbClr val="000000"/>
                          </a:solidFill>
                          <a:effectLst/>
                          <a:latin typeface="Calibri" panose="020F0502020204030204" pitchFamily="34" charset="0"/>
                        </a:rPr>
                        <a:t>Assurance/</a:t>
                      </a:r>
                    </a:p>
                    <a:p>
                      <a:pPr algn="ctr" fontAlgn="ctr">
                        <a:lnSpc>
                          <a:spcPct val="90000"/>
                        </a:lnSpc>
                        <a:buNone/>
                      </a:pPr>
                      <a:r>
                        <a:rPr lang="en-US" sz="900" b="0" i="0" u="none" strike="noStrike">
                          <a:solidFill>
                            <a:srgbClr val="000000"/>
                          </a:solidFill>
                          <a:effectLst/>
                          <a:latin typeface="Calibri" panose="020F0502020204030204" pitchFamily="34" charset="0"/>
                        </a:rPr>
                        <a:t>Inspection</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Narrow focus on factory auditing, building testing, quality assurance</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602697588"/>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RELX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$12,650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$62,696</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5.0x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Data Analytics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Product/</a:t>
                      </a:r>
                    </a:p>
                    <a:p>
                      <a:pPr algn="ctr" fontAlgn="ctr">
                        <a:lnSpc>
                          <a:spcPct val="90000"/>
                        </a:lnSpc>
                        <a:buNone/>
                      </a:pPr>
                      <a:r>
                        <a:rPr lang="en-US" sz="900" b="0" i="0" u="none" strike="noStrike">
                          <a:solidFill>
                            <a:srgbClr val="000000"/>
                          </a:solidFill>
                          <a:effectLst/>
                          <a:latin typeface="Calibri" panose="020F0502020204030204" pitchFamily="34" charset="0"/>
                        </a:rPr>
                        <a:t>Subscription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427741094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Balfour Beatty</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$11,483</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$4,651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997355836"/>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Computacenter</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IT Consulting and Other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$10,161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$4,461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IT Infrastructure</a:t>
                      </a:r>
                    </a:p>
                    <a:p>
                      <a:pPr algn="ctr" fontAlgn="ctr">
                        <a:lnSpc>
                          <a:spcPct val="90000"/>
                        </a:lnSpc>
                        <a:buNone/>
                      </a:pPr>
                      <a:r>
                        <a:rPr lang="en-US" sz="900" b="0" i="0" u="none" strike="noStrike">
                          <a:solidFill>
                            <a:srgbClr val="000000"/>
                          </a:solidFill>
                          <a:effectLst/>
                          <a:latin typeface="Calibri" panose="020F0502020204030204" pitchFamily="34" charset="0"/>
                        </a:rPr>
                        <a:t>Ops.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Tech</a:t>
                      </a:r>
                    </a:p>
                    <a:p>
                      <a:pPr algn="ctr" fontAlgn="ctr">
                        <a:lnSpc>
                          <a:spcPct val="90000"/>
                        </a:lnSpc>
                        <a:buNone/>
                      </a:pPr>
                      <a:r>
                        <a:rPr lang="en-US" sz="900" b="0" i="0" u="none" strike="noStrike">
                          <a:solidFill>
                            <a:srgbClr val="000000"/>
                          </a:solidFill>
                          <a:effectLst/>
                          <a:latin typeface="Calibri" panose="020F0502020204030204" pitchFamily="34" charset="0"/>
                        </a:rPr>
                        <a:t>Sourcing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38176477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Serco</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Environmental and Facilities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$6,433</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$4,027</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0.6x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Service Ops.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Outsourced Ops.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21416970"/>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Keller</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$4,072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$2,008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0.5x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Specialist</a:t>
                      </a:r>
                    </a:p>
                    <a:p>
                      <a:pPr algn="ctr" fontAlgn="ctr">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Specialty Contracting/</a:t>
                      </a:r>
                    </a:p>
                    <a:p>
                      <a:pPr algn="ctr" fontAlgn="ctr">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151117008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Smiths Group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Industrial Conglomerates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$3,789</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$10,834</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2.9x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Product</a:t>
                      </a:r>
                    </a:p>
                    <a:p>
                      <a:pPr algn="ctr" fontAlgn="ctr">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Manufacturing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4107547910"/>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Experian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$7,965</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$33,178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4.2x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Data Analytics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Product/</a:t>
                      </a:r>
                    </a:p>
                    <a:p>
                      <a:pPr algn="ctr" fontAlgn="ctr">
                        <a:lnSpc>
                          <a:spcPct val="90000"/>
                        </a:lnSpc>
                        <a:buNone/>
                      </a:pPr>
                      <a:r>
                        <a:rPr lang="en-US" sz="900" b="0" i="0" u="none" strike="noStrike">
                          <a:solidFill>
                            <a:srgbClr val="000000"/>
                          </a:solidFill>
                          <a:effectLst/>
                          <a:latin typeface="Calibri" panose="020F0502020204030204" pitchFamily="34" charset="0"/>
                        </a:rPr>
                        <a:t>Platform</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Comm'l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1410302075"/>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Mitie Group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Environmental and Facilities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$6,970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$2,957</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Facilities</a:t>
                      </a:r>
                    </a:p>
                    <a:p>
                      <a:pPr algn="ctr" fontAlgn="ctr">
                        <a:lnSpc>
                          <a:spcPct val="90000"/>
                        </a:lnSpc>
                        <a:buNone/>
                      </a:pPr>
                      <a:r>
                        <a:rPr lang="en-US" sz="900" b="0" i="0" u="none" strike="noStrike">
                          <a:solidFill>
                            <a:srgbClr val="000000"/>
                          </a:solidFill>
                          <a:effectLst/>
                          <a:latin typeface="Calibri" panose="020F0502020204030204" pitchFamily="34" charset="0"/>
                        </a:rPr>
                        <a:t>Mngmt</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Facilities</a:t>
                      </a:r>
                    </a:p>
                    <a:p>
                      <a:pPr algn="ctr" fontAlgn="ctr">
                        <a:lnSpc>
                          <a:spcPct val="90000"/>
                        </a:lnSpc>
                        <a:buNone/>
                      </a:pPr>
                      <a:r>
                        <a:rPr lang="en-US" sz="900" b="0" i="0" u="none" strike="noStrike">
                          <a:solidFill>
                            <a:srgbClr val="000000"/>
                          </a:solidFill>
                          <a:effectLst/>
                          <a:latin typeface="Calibri" panose="020F0502020204030204" pitchFamily="34" charset="0"/>
                        </a:rPr>
                        <a:t>Mngmt</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4022380362"/>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Rentokil Initial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Environmental and Facilities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$6,908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$15,770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2.3x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Pest Control &amp;</a:t>
                      </a:r>
                    </a:p>
                    <a:p>
                      <a:pPr algn="ctr" fontAlgn="ctr">
                        <a:lnSpc>
                          <a:spcPct val="90000"/>
                        </a:lnSpc>
                        <a:buNone/>
                      </a:pPr>
                      <a:r>
                        <a:rPr lang="en-US" sz="900" b="0" i="0" u="none" strike="noStrike">
                          <a:solidFill>
                            <a:srgbClr val="000000"/>
                          </a:solidFill>
                          <a:effectLst/>
                          <a:latin typeface="Calibri" panose="020F0502020204030204" pitchFamily="34" charset="0"/>
                        </a:rPr>
                        <a:t>Hygiene Svcs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Field Svc</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Comm'l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24034954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Morgan Sindall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$6,620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$2,819</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608952508"/>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Amdocs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IT Consulting and Other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$4,579</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$7,365</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1.6x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Software</a:t>
                      </a:r>
                    </a:p>
                    <a:p>
                      <a:pPr algn="ctr" fontAlgn="ctr">
                        <a:lnSpc>
                          <a:spcPct val="90000"/>
                        </a:lnSpc>
                        <a:buNone/>
                      </a:pPr>
                      <a:r>
                        <a:rPr lang="en-US" sz="900" b="0" i="0" u="none" strike="noStrike">
                          <a:solidFill>
                            <a:srgbClr val="000000"/>
                          </a:solidFill>
                          <a:effectLst/>
                          <a:latin typeface="Calibri" panose="020F0502020204030204" pitchFamily="34" charset="0"/>
                        </a:rPr>
                        <a:t>Solutions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SaaS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3124087566"/>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Sensata</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Electrical Components and Equipment</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$3,705</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$4,988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1.3x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Product</a:t>
                      </a:r>
                    </a:p>
                    <a:p>
                      <a:pPr algn="ctr" fontAlgn="ctr">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Manufacturing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163280754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The Sage Group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Application Software</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$3,284</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$10,284</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3.1x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Software</a:t>
                      </a:r>
                    </a:p>
                    <a:p>
                      <a:pPr algn="ctr" fontAlgn="ctr">
                        <a:lnSpc>
                          <a:spcPct val="90000"/>
                        </a:lnSpc>
                        <a:buNone/>
                      </a:pPr>
                      <a:r>
                        <a:rPr lang="en-US" sz="900" b="0" i="0" u="none" strike="noStrike">
                          <a:solidFill>
                            <a:srgbClr val="000000"/>
                          </a:solidFill>
                          <a:effectLst/>
                          <a:latin typeface="Calibri" panose="020F0502020204030204" pitchFamily="34" charset="0"/>
                        </a:rPr>
                        <a:t>Solutions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Product/</a:t>
                      </a:r>
                    </a:p>
                    <a:p>
                      <a:pPr algn="ctr" fontAlgn="ctr">
                        <a:lnSpc>
                          <a:spcPct val="90000"/>
                        </a:lnSpc>
                        <a:buNone/>
                      </a:pPr>
                      <a:r>
                        <a:rPr lang="en-US" sz="900" b="0" i="0" u="none" strike="noStrike">
                          <a:solidFill>
                            <a:srgbClr val="000000"/>
                          </a:solidFill>
                          <a:effectLst/>
                          <a:latin typeface="Calibri" panose="020F0502020204030204" pitchFamily="34" charset="0"/>
                        </a:rPr>
                        <a:t>Subscription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Comm'l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2266205703"/>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Kier</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$5,430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$1,266</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0.2x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Gov't/Public</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extLst>
                  <a:ext uri="{0D108BD9-81ED-4DB2-BD59-A6C34878D82A}">
                    <a16:rowId xmlns:a16="http://schemas.microsoft.com/office/drawing/2014/main" val="258889278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6190910"/>
                  </a:ext>
                </a:extLst>
              </a:tr>
              <a:tr h="174218">
                <a:tc>
                  <a:txBody>
                    <a:bodyPr/>
                    <a:lstStyle/>
                    <a:p>
                      <a:pPr algn="l" fontAlgn="b">
                        <a:lnSpc>
                          <a:spcPct val="90000"/>
                        </a:lnSpc>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$12,390</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$15,984</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1.3x</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426271897"/>
                  </a:ext>
                </a:extLst>
              </a:tr>
            </a:tbl>
          </a:graphicData>
        </a:graphic>
      </p:graphicFrame>
      <p:sp>
        <p:nvSpPr>
          <p:cNvPr id="5" name="TextBox 4">
            <a:extLst>
              <a:ext uri="{FF2B5EF4-FFF2-40B4-BE49-F238E27FC236}">
                <a16:creationId xmlns:a16="http://schemas.microsoft.com/office/drawing/2014/main" id="{0C2591F4-2632-1F0F-93EE-877159D411E5}"/>
              </a:ext>
            </a:extLst>
          </p:cNvPr>
          <p:cNvSpPr txBox="1"/>
          <p:nvPr/>
        </p:nvSpPr>
        <p:spPr>
          <a:xfrm>
            <a:off x="141923" y="6320052"/>
            <a:ext cx="378014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LTM revenues</a:t>
            </a:r>
          </a:p>
          <a:p>
            <a:pPr marL="173038" indent="-173038">
              <a:buAutoNum type="arabicParenBoth"/>
            </a:pPr>
            <a:r>
              <a:rPr lang="en-US" sz="900" i="1"/>
              <a:t>Values represent non-U.K. revenue as a % of total revenue</a:t>
            </a:r>
          </a:p>
        </p:txBody>
      </p:sp>
      <p:sp>
        <p:nvSpPr>
          <p:cNvPr id="90017" name="acme-note-90017"/>
          <p:cNvSpPr txBox="1"/>
          <p:nvPr/>
        </p:nvSpPr>
        <p:spPr>
          <a:xfrm>
            <a:off x="152400" y="6328000"/>
            <a:ext cx="8839200" cy="470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1 brand issue flagged:</a:t>
            </a:r>
          </a:p>
          <a:p>
            <a:r>
              <a:rPr lang="en-US" sz="1000" b="0" dirty="0">
                <a:solidFill>
                  <a:srgbClr val="9B0000"/>
                </a:solidFill>
                <a:latin typeface="Calibri"/>
              </a:rPr>
              <a:t>1. Possible missing period in initials: “U.K” (e.g. should read “U.K.”).</a:t>
            </a:r>
          </a:p>
        </p:txBody>
      </p:sp>
    </p:spTree>
    <p:extLst>
      <p:ext uri="{BB962C8B-B14F-4D97-AF65-F5344CB8AC3E}">
        <p14:creationId xmlns:p14="http://schemas.microsoft.com/office/powerpoint/2010/main" val="229164558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E05E9172-1FF7-45C3-29D0-68AF458AACED}"/>
              </a:ext>
            </a:extLst>
          </p:cNvPr>
          <p:cNvCxnSpPr>
            <a:cxnSpLocks/>
          </p:cNvCxnSpPr>
          <p:nvPr/>
        </p:nvCxnSpPr>
        <p:spPr>
          <a:xfrm>
            <a:off x="6986709" y="3240308"/>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F0D0D61-2228-2636-0C33-AB6A4EA4FDB6}"/>
              </a:ext>
            </a:extLst>
          </p:cNvPr>
          <p:cNvCxnSpPr>
            <a:cxnSpLocks/>
          </p:cNvCxnSpPr>
          <p:nvPr/>
        </p:nvCxnSpPr>
        <p:spPr>
          <a:xfrm>
            <a:off x="4457700" y="2231032"/>
            <a:ext cx="0" cy="268628"/>
          </a:xfrm>
          <a:prstGeom prst="line">
            <a:avLst/>
          </a:prstGeom>
          <a:ln w="6350"/>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C4CFC33A-81AA-8356-89F9-5E77A5A5E16A}"/>
              </a:ext>
            </a:extLst>
          </p:cNvPr>
          <p:cNvCxnSpPr>
            <a:cxnSpLocks/>
          </p:cNvCxnSpPr>
          <p:nvPr/>
        </p:nvCxnSpPr>
        <p:spPr>
          <a:xfrm>
            <a:off x="1549354" y="2505583"/>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E9650626-F7E5-D0FE-5777-6A4C2B13754E}"/>
              </a:ext>
            </a:extLst>
          </p:cNvPr>
          <p:cNvCxnSpPr>
            <a:cxnSpLocks/>
          </p:cNvCxnSpPr>
          <p:nvPr/>
        </p:nvCxnSpPr>
        <p:spPr>
          <a:xfrm>
            <a:off x="3827502" y="2506357"/>
            <a:ext cx="0" cy="180809"/>
          </a:xfrm>
          <a:prstGeom prst="line">
            <a:avLst/>
          </a:prstGeom>
          <a:ln w="6350"/>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8D4A3111-2682-07A4-D121-BD7018C54142}"/>
              </a:ext>
            </a:extLst>
          </p:cNvPr>
          <p:cNvCxnSpPr>
            <a:cxnSpLocks/>
          </p:cNvCxnSpPr>
          <p:nvPr/>
        </p:nvCxnSpPr>
        <p:spPr>
          <a:xfrm>
            <a:off x="6945130" y="2506357"/>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C07BE023-5645-8EF9-8DD0-39D448BA2D42}"/>
              </a:ext>
            </a:extLst>
          </p:cNvPr>
          <p:cNvCxnSpPr>
            <a:cxnSpLocks/>
          </p:cNvCxnSpPr>
          <p:nvPr/>
        </p:nvCxnSpPr>
        <p:spPr>
          <a:xfrm>
            <a:off x="6282374" y="4031135"/>
            <a:ext cx="0" cy="418933"/>
          </a:xfrm>
          <a:prstGeom prst="line">
            <a:avLst/>
          </a:prstGeom>
          <a:ln w="63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9BCEC598-51D3-D035-E821-F2B0333D55DC}"/>
              </a:ext>
            </a:extLst>
          </p:cNvPr>
          <p:cNvCxnSpPr>
            <a:cxnSpLocks/>
          </p:cNvCxnSpPr>
          <p:nvPr/>
        </p:nvCxnSpPr>
        <p:spPr>
          <a:xfrm>
            <a:off x="6281960" y="5233299"/>
            <a:ext cx="0" cy="485322"/>
          </a:xfrm>
          <a:prstGeom prst="line">
            <a:avLst/>
          </a:prstGeom>
          <a:ln w="6350"/>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A835CD17-1A05-523E-8F5C-BC1C3E91CFF2}"/>
              </a:ext>
            </a:extLst>
          </p:cNvPr>
          <p:cNvCxnSpPr>
            <a:cxnSpLocks/>
          </p:cNvCxnSpPr>
          <p:nvPr/>
        </p:nvCxnSpPr>
        <p:spPr>
          <a:xfrm>
            <a:off x="7756949" y="3426890"/>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C724511F-00DD-0E7C-7328-3ABC49F8C4F9}"/>
              </a:ext>
            </a:extLst>
          </p:cNvPr>
          <p:cNvCxnSpPr>
            <a:cxnSpLocks/>
          </p:cNvCxnSpPr>
          <p:nvPr/>
        </p:nvCxnSpPr>
        <p:spPr>
          <a:xfrm>
            <a:off x="6263013" y="3430390"/>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D86D41E8-B31D-E22D-FEB7-9F1C1DC8E6E5}"/>
              </a:ext>
            </a:extLst>
          </p:cNvPr>
          <p:cNvCxnSpPr/>
          <p:nvPr/>
        </p:nvCxnSpPr>
        <p:spPr>
          <a:xfrm>
            <a:off x="1549742" y="2511162"/>
            <a:ext cx="5404104" cy="0"/>
          </a:xfrm>
          <a:prstGeom prst="line">
            <a:avLst/>
          </a:prstGeom>
          <a:ln w="6350"/>
        </p:spPr>
        <p:style>
          <a:lnRef idx="1">
            <a:schemeClr val="dk1"/>
          </a:lnRef>
          <a:fillRef idx="0">
            <a:schemeClr val="dk1"/>
          </a:fillRef>
          <a:effectRef idx="0">
            <a:schemeClr val="dk1"/>
          </a:effectRef>
          <a:fontRef idx="minor">
            <a:schemeClr val="tx1"/>
          </a:fontRef>
        </p:style>
      </p:cxnSp>
      <p:sp>
        <p:nvSpPr>
          <p:cNvPr id="11" name="Footer Placeholder 1">
            <a:extLst>
              <a:ext uri="{FF2B5EF4-FFF2-40B4-BE49-F238E27FC236}">
                <a16:creationId xmlns:a16="http://schemas.microsoft.com/office/drawing/2014/main" id="{C428EB16-29CB-8EFD-0A09-6FA0197AF381}"/>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All peers-of-peers were analyzed, but none qualified for inclusion in </a:t>
            </a:r>
            <a:r>
              <a:rPr lang="en-US" dirty="0" err="1"/>
              <a:t>Plutos</a:t>
            </a:r>
            <a:r>
              <a:rPr lang="en-US" dirty="0"/>
              <a:t>’ peer group</a:t>
            </a:r>
          </a:p>
        </p:txBody>
      </p:sp>
      <p:sp>
        <p:nvSpPr>
          <p:cNvPr id="46" name="TextBox 45"/>
          <p:cNvSpPr txBox="1"/>
          <p:nvPr/>
        </p:nvSpPr>
        <p:spPr>
          <a:xfrm>
            <a:off x="3415804" y="1432690"/>
            <a:ext cx="2312393" cy="307777"/>
          </a:xfrm>
          <a:prstGeom prst="rect">
            <a:avLst/>
          </a:prstGeom>
          <a:noFill/>
        </p:spPr>
        <p:txBody>
          <a:bodyPr wrap="square" lIns="45720" tIns="45720" rIns="45720" bIns="45720" rtlCol="0" anchor="ctr">
            <a:spAutoFit/>
          </a:bodyPr>
          <a:lstStyle/>
          <a:p>
            <a:pPr algn="ctr"/>
            <a:r>
              <a:rPr lang="en-US" sz="1400" b="1"/>
              <a:t>Peers-of-Peers Analysis</a:t>
            </a:r>
          </a:p>
        </p:txBody>
      </p:sp>
      <p:sp>
        <p:nvSpPr>
          <p:cNvPr id="8" name="TextBox 7">
            <a:extLst>
              <a:ext uri="{FF2B5EF4-FFF2-40B4-BE49-F238E27FC236}">
                <a16:creationId xmlns:a16="http://schemas.microsoft.com/office/drawing/2014/main" id="{441F460F-B37D-9952-739F-A05CCE18A79C}"/>
              </a:ext>
            </a:extLst>
          </p:cNvPr>
          <p:cNvSpPr txBox="1"/>
          <p:nvPr/>
        </p:nvSpPr>
        <p:spPr>
          <a:xfrm>
            <a:off x="3768985" y="1794790"/>
            <a:ext cx="1377429" cy="460191"/>
          </a:xfrm>
          <a:prstGeom prst="rect">
            <a:avLst/>
          </a:prstGeom>
          <a:solidFill>
            <a:schemeClr val="tx2"/>
          </a:solidFill>
          <a:ln>
            <a:solidFill>
              <a:schemeClr val="tx1"/>
            </a:solidFill>
          </a:ln>
        </p:spPr>
        <p:txBody>
          <a:bodyPr wrap="none" lIns="45720" tIns="45720" rIns="45720" bIns="45720" rtlCol="0" anchor="ctr">
            <a:spAutoFit/>
          </a:bodyPr>
          <a:lstStyle/>
          <a:p>
            <a:pPr algn="ctr">
              <a:lnSpc>
                <a:spcPct val="85000"/>
              </a:lnSpc>
            </a:pPr>
            <a:r>
              <a:rPr lang="en-US" sz="1400" b="1">
                <a:solidFill>
                  <a:schemeClr val="bg1"/>
                </a:solidFill>
              </a:rPr>
              <a:t>All Peers of Peers</a:t>
            </a:r>
          </a:p>
          <a:p>
            <a:pPr algn="ctr">
              <a:lnSpc>
                <a:spcPct val="85000"/>
              </a:lnSpc>
            </a:pPr>
            <a:r>
              <a:rPr lang="en-US" sz="1400" b="1">
                <a:solidFill>
                  <a:schemeClr val="bg1"/>
                </a:solidFill>
              </a:rPr>
              <a:t>N=140</a:t>
            </a:r>
          </a:p>
        </p:txBody>
      </p:sp>
      <p:sp>
        <p:nvSpPr>
          <p:cNvPr id="9" name="TextBox 8">
            <a:extLst>
              <a:ext uri="{FF2B5EF4-FFF2-40B4-BE49-F238E27FC236}">
                <a16:creationId xmlns:a16="http://schemas.microsoft.com/office/drawing/2014/main" id="{83C0CCFC-CB56-7E64-0CBD-477181EEC712}"/>
              </a:ext>
            </a:extLst>
          </p:cNvPr>
          <p:cNvSpPr txBox="1"/>
          <p:nvPr/>
        </p:nvSpPr>
        <p:spPr>
          <a:xfrm>
            <a:off x="6190089" y="2638561"/>
            <a:ext cx="1579228"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Industry Screen</a:t>
            </a:r>
          </a:p>
          <a:p>
            <a:pPr algn="ctr">
              <a:lnSpc>
                <a:spcPct val="85000"/>
              </a:lnSpc>
            </a:pPr>
            <a:r>
              <a:rPr lang="en-US" sz="1400" b="1"/>
              <a:t>N=72</a:t>
            </a:r>
          </a:p>
        </p:txBody>
      </p:sp>
      <p:sp>
        <p:nvSpPr>
          <p:cNvPr id="10" name="TextBox 9">
            <a:extLst>
              <a:ext uri="{FF2B5EF4-FFF2-40B4-BE49-F238E27FC236}">
                <a16:creationId xmlns:a16="http://schemas.microsoft.com/office/drawing/2014/main" id="{8F4B7BF0-C030-4C46-60E1-BA3A60F34CAF}"/>
              </a:ext>
            </a:extLst>
          </p:cNvPr>
          <p:cNvSpPr txBox="1"/>
          <p:nvPr/>
        </p:nvSpPr>
        <p:spPr>
          <a:xfrm>
            <a:off x="791863" y="2629385"/>
            <a:ext cx="1379128"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Outside of North America</a:t>
            </a:r>
          </a:p>
          <a:p>
            <a:pPr algn="ctr">
              <a:lnSpc>
                <a:spcPct val="85000"/>
              </a:lnSpc>
            </a:pPr>
            <a:r>
              <a:rPr lang="en-US" sz="1400" b="1"/>
              <a:t>N=23</a:t>
            </a:r>
          </a:p>
        </p:txBody>
      </p:sp>
      <p:sp>
        <p:nvSpPr>
          <p:cNvPr id="12" name="TextBox 11">
            <a:extLst>
              <a:ext uri="{FF2B5EF4-FFF2-40B4-BE49-F238E27FC236}">
                <a16:creationId xmlns:a16="http://schemas.microsoft.com/office/drawing/2014/main" id="{92C9F093-E0AF-0265-4CB7-E00BFFDBBFB5}"/>
              </a:ext>
            </a:extLst>
          </p:cNvPr>
          <p:cNvSpPr txBox="1"/>
          <p:nvPr/>
        </p:nvSpPr>
        <p:spPr>
          <a:xfrm>
            <a:off x="3105838" y="2634439"/>
            <a:ext cx="1442473"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spAutoFit/>
          </a:bodyPr>
          <a:lstStyle/>
          <a:p>
            <a:pPr algn="ctr">
              <a:lnSpc>
                <a:spcPct val="85000"/>
              </a:lnSpc>
            </a:pPr>
            <a:r>
              <a:rPr lang="en-US" sz="1400" b="1"/>
              <a:t>Met Industry Screen</a:t>
            </a:r>
          </a:p>
          <a:p>
            <a:pPr algn="ctr">
              <a:lnSpc>
                <a:spcPct val="85000"/>
              </a:lnSpc>
            </a:pPr>
            <a:r>
              <a:rPr lang="en-US" sz="1400" b="1"/>
              <a:t>N=45</a:t>
            </a:r>
          </a:p>
        </p:txBody>
      </p:sp>
      <p:sp>
        <p:nvSpPr>
          <p:cNvPr id="15" name="TextBox 14">
            <a:extLst>
              <a:ext uri="{FF2B5EF4-FFF2-40B4-BE49-F238E27FC236}">
                <a16:creationId xmlns:a16="http://schemas.microsoft.com/office/drawing/2014/main" id="{C15F98C5-0FA8-92D5-01EC-D6C3C441349A}"/>
              </a:ext>
            </a:extLst>
          </p:cNvPr>
          <p:cNvSpPr txBox="1"/>
          <p:nvPr/>
        </p:nvSpPr>
        <p:spPr>
          <a:xfrm>
            <a:off x="7032009" y="3604890"/>
            <a:ext cx="1379128"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Size Screen</a:t>
            </a:r>
          </a:p>
          <a:p>
            <a:pPr algn="ctr">
              <a:lnSpc>
                <a:spcPct val="85000"/>
              </a:lnSpc>
            </a:pPr>
            <a:r>
              <a:rPr lang="en-US" sz="1400" b="1"/>
              <a:t>N=28</a:t>
            </a:r>
          </a:p>
        </p:txBody>
      </p:sp>
      <p:sp>
        <p:nvSpPr>
          <p:cNvPr id="18" name="TextBox 17">
            <a:extLst>
              <a:ext uri="{FF2B5EF4-FFF2-40B4-BE49-F238E27FC236}">
                <a16:creationId xmlns:a16="http://schemas.microsoft.com/office/drawing/2014/main" id="{B8D332BD-FA30-B7E5-9968-E16BEAC5FC64}"/>
              </a:ext>
            </a:extLst>
          </p:cNvPr>
          <p:cNvSpPr txBox="1"/>
          <p:nvPr/>
        </p:nvSpPr>
        <p:spPr>
          <a:xfrm>
            <a:off x="5582160" y="3597327"/>
            <a:ext cx="1379128"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noAutofit/>
          </a:bodyPr>
          <a:lstStyle/>
          <a:p>
            <a:pPr algn="ctr">
              <a:lnSpc>
                <a:spcPct val="85000"/>
              </a:lnSpc>
            </a:pPr>
            <a:r>
              <a:rPr lang="en-US" sz="1400" b="1"/>
              <a:t>Met Size Screen</a:t>
            </a:r>
          </a:p>
          <a:p>
            <a:pPr algn="ctr">
              <a:lnSpc>
                <a:spcPct val="85000"/>
              </a:lnSpc>
            </a:pPr>
            <a:r>
              <a:rPr lang="en-US" sz="1400" b="1"/>
              <a:t>N=44</a:t>
            </a:r>
          </a:p>
        </p:txBody>
      </p:sp>
      <p:sp>
        <p:nvSpPr>
          <p:cNvPr id="21" name="TextBox 20">
            <a:extLst>
              <a:ext uri="{FF2B5EF4-FFF2-40B4-BE49-F238E27FC236}">
                <a16:creationId xmlns:a16="http://schemas.microsoft.com/office/drawing/2014/main" id="{C6A6EAC4-5075-5B3D-1E31-6CF5A8234349}"/>
              </a:ext>
            </a:extLst>
          </p:cNvPr>
          <p:cNvSpPr txBox="1"/>
          <p:nvPr/>
        </p:nvSpPr>
        <p:spPr>
          <a:xfrm>
            <a:off x="5586281" y="4440763"/>
            <a:ext cx="1379128" cy="826445"/>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Business Model Screen</a:t>
            </a:r>
          </a:p>
          <a:p>
            <a:pPr algn="ctr">
              <a:lnSpc>
                <a:spcPct val="85000"/>
              </a:lnSpc>
            </a:pPr>
            <a:r>
              <a:rPr lang="en-US" sz="1400" b="1"/>
              <a:t>N=44</a:t>
            </a:r>
          </a:p>
        </p:txBody>
      </p:sp>
      <p:sp>
        <p:nvSpPr>
          <p:cNvPr id="23" name="TextBox 22">
            <a:extLst>
              <a:ext uri="{FF2B5EF4-FFF2-40B4-BE49-F238E27FC236}">
                <a16:creationId xmlns:a16="http://schemas.microsoft.com/office/drawing/2014/main" id="{4A5FFEC2-5892-FEBC-7225-36A982FE4BF0}"/>
              </a:ext>
            </a:extLst>
          </p:cNvPr>
          <p:cNvSpPr txBox="1"/>
          <p:nvPr/>
        </p:nvSpPr>
        <p:spPr>
          <a:xfrm>
            <a:off x="5606871" y="5608313"/>
            <a:ext cx="1379128" cy="460191"/>
          </a:xfrm>
          <a:prstGeom prst="rect">
            <a:avLst/>
          </a:prstGeom>
          <a:solidFill>
            <a:schemeClr val="tx2"/>
          </a:solidFill>
          <a:ln>
            <a:solidFill>
              <a:schemeClr val="tx1"/>
            </a:solidFill>
          </a:ln>
        </p:spPr>
        <p:txBody>
          <a:bodyPr wrap="square" lIns="45720" tIns="45720" rIns="45720" bIns="45720" rtlCol="0" anchor="ctr">
            <a:spAutoFit/>
          </a:bodyPr>
          <a:lstStyle/>
          <a:p>
            <a:pPr algn="ctr">
              <a:lnSpc>
                <a:spcPct val="85000"/>
              </a:lnSpc>
            </a:pPr>
            <a:r>
              <a:rPr lang="en-US" sz="1400" b="1">
                <a:solidFill>
                  <a:schemeClr val="bg1"/>
                </a:solidFill>
              </a:rPr>
              <a:t>Yield</a:t>
            </a:r>
          </a:p>
          <a:p>
            <a:pPr algn="ctr">
              <a:lnSpc>
                <a:spcPct val="85000"/>
              </a:lnSpc>
            </a:pPr>
            <a:r>
              <a:rPr lang="en-US" sz="1400" b="1">
                <a:solidFill>
                  <a:schemeClr val="bg1"/>
                </a:solidFill>
              </a:rPr>
              <a:t>N=0</a:t>
            </a:r>
          </a:p>
        </p:txBody>
      </p:sp>
      <p:cxnSp>
        <p:nvCxnSpPr>
          <p:cNvPr id="26" name="Straight Connector 25">
            <a:extLst>
              <a:ext uri="{FF2B5EF4-FFF2-40B4-BE49-F238E27FC236}">
                <a16:creationId xmlns:a16="http://schemas.microsoft.com/office/drawing/2014/main" id="{ABFD1647-AD21-D985-7C31-072CD26DB1BB}"/>
              </a:ext>
            </a:extLst>
          </p:cNvPr>
          <p:cNvCxnSpPr>
            <a:cxnSpLocks/>
          </p:cNvCxnSpPr>
          <p:nvPr/>
        </p:nvCxnSpPr>
        <p:spPr>
          <a:xfrm>
            <a:off x="6265902" y="3428594"/>
            <a:ext cx="1491042" cy="0"/>
          </a:xfrm>
          <a:prstGeom prst="line">
            <a:avLst/>
          </a:prstGeom>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2C25549C-B453-F400-B7F2-AF555BC4D721}"/>
              </a:ext>
            </a:extLst>
          </p:cNvPr>
          <p:cNvSpPr txBox="1"/>
          <p:nvPr/>
        </p:nvSpPr>
        <p:spPr>
          <a:xfrm>
            <a:off x="6306942" y="1619734"/>
            <a:ext cx="2104193" cy="747512"/>
          </a:xfrm>
          <a:prstGeom prst="rect">
            <a:avLst/>
          </a:prstGeom>
          <a:solidFill>
            <a:schemeClr val="accent3">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000"/>
              <a:t>Note: Although certain companies did not meet the size screen, we tested their relevance through the other screens to ensure that no potential peer companies were missed</a:t>
            </a:r>
          </a:p>
        </p:txBody>
      </p:sp>
      <p:cxnSp>
        <p:nvCxnSpPr>
          <p:cNvPr id="27" name="Straight Arrow Connector 26">
            <a:extLst>
              <a:ext uri="{FF2B5EF4-FFF2-40B4-BE49-F238E27FC236}">
                <a16:creationId xmlns:a16="http://schemas.microsoft.com/office/drawing/2014/main" id="{BCF2DB6A-0E04-EBE4-3CDD-03ECE6CB7594}"/>
              </a:ext>
            </a:extLst>
          </p:cNvPr>
          <p:cNvCxnSpPr>
            <a:stCxn id="22" idx="2"/>
          </p:cNvCxnSpPr>
          <p:nvPr/>
        </p:nvCxnSpPr>
        <p:spPr>
          <a:xfrm flipH="1">
            <a:off x="7093808" y="2367246"/>
            <a:ext cx="265231" cy="262139"/>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3F2FE662-5F0D-C3D4-A002-CD5F2EF0FF9F}"/>
              </a:ext>
            </a:extLst>
          </p:cNvPr>
          <p:cNvCxnSpPr>
            <a:cxnSpLocks/>
          </p:cNvCxnSpPr>
          <p:nvPr/>
        </p:nvCxnSpPr>
        <p:spPr>
          <a:xfrm>
            <a:off x="3822528" y="3285882"/>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0A53B8E6-3943-7024-07D4-A822ECE9A008}"/>
              </a:ext>
            </a:extLst>
          </p:cNvPr>
          <p:cNvCxnSpPr>
            <a:cxnSpLocks/>
          </p:cNvCxnSpPr>
          <p:nvPr/>
        </p:nvCxnSpPr>
        <p:spPr>
          <a:xfrm>
            <a:off x="4592768" y="3472464"/>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C45A64B8-6947-4433-6426-DBC556A6421E}"/>
              </a:ext>
            </a:extLst>
          </p:cNvPr>
          <p:cNvCxnSpPr>
            <a:cxnSpLocks/>
          </p:cNvCxnSpPr>
          <p:nvPr/>
        </p:nvCxnSpPr>
        <p:spPr>
          <a:xfrm>
            <a:off x="3098832" y="3475964"/>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A8B650BB-94CF-B935-FC44-EF6989315646}"/>
              </a:ext>
            </a:extLst>
          </p:cNvPr>
          <p:cNvCxnSpPr>
            <a:cxnSpLocks/>
          </p:cNvCxnSpPr>
          <p:nvPr/>
        </p:nvCxnSpPr>
        <p:spPr>
          <a:xfrm>
            <a:off x="3101721" y="3474168"/>
            <a:ext cx="1491042" cy="0"/>
          </a:xfrm>
          <a:prstGeom prst="line">
            <a:avLst/>
          </a:prstGeom>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225AA45A-564F-A365-14FC-BB32981BD820}"/>
              </a:ext>
            </a:extLst>
          </p:cNvPr>
          <p:cNvSpPr txBox="1"/>
          <p:nvPr/>
        </p:nvSpPr>
        <p:spPr>
          <a:xfrm>
            <a:off x="2357746" y="3610059"/>
            <a:ext cx="1442473"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noAutofit/>
          </a:bodyPr>
          <a:lstStyle>
            <a:defPPr>
              <a:defRPr lang="en-US"/>
            </a:defPPr>
            <a:lvl1pPr algn="ctr">
              <a:lnSpc>
                <a:spcPct val="85000"/>
              </a:lnSpc>
              <a:defRPr sz="1400" b="1">
                <a:solidFill>
                  <a:schemeClr val="bg1"/>
                </a:solidFill>
              </a:defRPr>
            </a:lvl1pPr>
          </a:lstStyle>
          <a:p>
            <a:r>
              <a:rPr lang="en-US">
                <a:solidFill>
                  <a:schemeClr val="tx1"/>
                </a:solidFill>
              </a:rPr>
              <a:t>Met Size Screen</a:t>
            </a:r>
          </a:p>
          <a:p>
            <a:r>
              <a:rPr lang="en-US">
                <a:solidFill>
                  <a:schemeClr val="tx1"/>
                </a:solidFill>
              </a:rPr>
              <a:t>N=40</a:t>
            </a:r>
          </a:p>
        </p:txBody>
      </p:sp>
      <p:sp>
        <p:nvSpPr>
          <p:cNvPr id="13" name="TextBox 12">
            <a:extLst>
              <a:ext uri="{FF2B5EF4-FFF2-40B4-BE49-F238E27FC236}">
                <a16:creationId xmlns:a16="http://schemas.microsoft.com/office/drawing/2014/main" id="{584FC8A2-8338-839C-4EEE-8C214492834F}"/>
              </a:ext>
            </a:extLst>
          </p:cNvPr>
          <p:cNvSpPr txBox="1"/>
          <p:nvPr/>
        </p:nvSpPr>
        <p:spPr>
          <a:xfrm>
            <a:off x="3969953" y="3597283"/>
            <a:ext cx="1442473"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noAutofit/>
          </a:bodyPr>
          <a:lstStyle>
            <a:defPPr>
              <a:defRPr lang="en-US"/>
            </a:defPPr>
            <a:lvl1pPr algn="ctr">
              <a:lnSpc>
                <a:spcPct val="85000"/>
              </a:lnSpc>
              <a:defRPr sz="1400" b="1">
                <a:solidFill>
                  <a:schemeClr val="bg1"/>
                </a:solidFill>
              </a:defRPr>
            </a:lvl1pPr>
          </a:lstStyle>
          <a:p>
            <a:r>
              <a:rPr lang="en-US">
                <a:solidFill>
                  <a:schemeClr val="tx1"/>
                </a:solidFill>
              </a:rPr>
              <a:t>Did not Meet Size Screen</a:t>
            </a:r>
          </a:p>
          <a:p>
            <a:r>
              <a:rPr lang="en-US">
                <a:solidFill>
                  <a:schemeClr val="tx1"/>
                </a:solidFill>
              </a:rPr>
              <a:t>N=5</a:t>
            </a:r>
          </a:p>
        </p:txBody>
      </p:sp>
      <p:cxnSp>
        <p:nvCxnSpPr>
          <p:cNvPr id="39" name="Straight Connector 38">
            <a:extLst>
              <a:ext uri="{FF2B5EF4-FFF2-40B4-BE49-F238E27FC236}">
                <a16:creationId xmlns:a16="http://schemas.microsoft.com/office/drawing/2014/main" id="{1C18572D-0664-2336-720C-F668801F40FF}"/>
              </a:ext>
            </a:extLst>
          </p:cNvPr>
          <p:cNvCxnSpPr>
            <a:cxnSpLocks/>
          </p:cNvCxnSpPr>
          <p:nvPr/>
        </p:nvCxnSpPr>
        <p:spPr>
          <a:xfrm>
            <a:off x="3094378" y="4250067"/>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B0A799E9-8268-A038-05C4-3071D58DCDF9}"/>
              </a:ext>
            </a:extLst>
          </p:cNvPr>
          <p:cNvCxnSpPr>
            <a:cxnSpLocks/>
          </p:cNvCxnSpPr>
          <p:nvPr/>
        </p:nvCxnSpPr>
        <p:spPr>
          <a:xfrm>
            <a:off x="3864618" y="4436649"/>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9D23E650-936A-1723-B786-A33BBDBB3BF9}"/>
              </a:ext>
            </a:extLst>
          </p:cNvPr>
          <p:cNvCxnSpPr>
            <a:cxnSpLocks/>
          </p:cNvCxnSpPr>
          <p:nvPr/>
        </p:nvCxnSpPr>
        <p:spPr>
          <a:xfrm>
            <a:off x="2370682" y="4440149"/>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7F15224F-4DA4-AAE4-6AD5-97CE5EE6EFAE}"/>
              </a:ext>
            </a:extLst>
          </p:cNvPr>
          <p:cNvCxnSpPr>
            <a:cxnSpLocks/>
          </p:cNvCxnSpPr>
          <p:nvPr/>
        </p:nvCxnSpPr>
        <p:spPr>
          <a:xfrm>
            <a:off x="2373571" y="4438353"/>
            <a:ext cx="1491042" cy="0"/>
          </a:xfrm>
          <a:prstGeom prst="line">
            <a:avLst/>
          </a:prstGeom>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42EC71D6-06C1-6BF8-A307-80037DCE8AC9}"/>
              </a:ext>
            </a:extLst>
          </p:cNvPr>
          <p:cNvCxnSpPr>
            <a:cxnSpLocks/>
          </p:cNvCxnSpPr>
          <p:nvPr/>
        </p:nvCxnSpPr>
        <p:spPr>
          <a:xfrm>
            <a:off x="2364973" y="5182649"/>
            <a:ext cx="0" cy="485322"/>
          </a:xfrm>
          <a:prstGeom prst="line">
            <a:avLst/>
          </a:prstGeom>
          <a:ln w="6350"/>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D3A73A5D-D5E8-584C-370C-A6A5916B0F32}"/>
              </a:ext>
            </a:extLst>
          </p:cNvPr>
          <p:cNvSpPr txBox="1"/>
          <p:nvPr/>
        </p:nvSpPr>
        <p:spPr>
          <a:xfrm>
            <a:off x="1671920" y="5559326"/>
            <a:ext cx="1442472" cy="460191"/>
          </a:xfrm>
          <a:prstGeom prst="rect">
            <a:avLst/>
          </a:prstGeom>
          <a:solidFill>
            <a:schemeClr val="tx2"/>
          </a:solidFill>
          <a:ln>
            <a:solidFill>
              <a:schemeClr val="tx1"/>
            </a:solidFill>
          </a:ln>
        </p:spPr>
        <p:txBody>
          <a:bodyPr wrap="square" lIns="45720" tIns="45720" rIns="45720" bIns="45720" rtlCol="0" anchor="ctr">
            <a:spAutoFit/>
          </a:bodyPr>
          <a:lstStyle/>
          <a:p>
            <a:pPr algn="ctr">
              <a:lnSpc>
                <a:spcPct val="85000"/>
              </a:lnSpc>
            </a:pPr>
            <a:r>
              <a:rPr lang="en-US" sz="1400" b="1">
                <a:solidFill>
                  <a:schemeClr val="bg1"/>
                </a:solidFill>
              </a:rPr>
              <a:t>Yield</a:t>
            </a:r>
          </a:p>
          <a:p>
            <a:pPr algn="ctr">
              <a:lnSpc>
                <a:spcPct val="85000"/>
              </a:lnSpc>
            </a:pPr>
            <a:r>
              <a:rPr lang="en-US" sz="1400" b="1">
                <a:solidFill>
                  <a:schemeClr val="bg1"/>
                </a:solidFill>
              </a:rPr>
              <a:t>N=15 peers</a:t>
            </a:r>
          </a:p>
        </p:txBody>
      </p:sp>
      <p:sp>
        <p:nvSpPr>
          <p:cNvPr id="6" name="TextBox 5">
            <a:extLst>
              <a:ext uri="{FF2B5EF4-FFF2-40B4-BE49-F238E27FC236}">
                <a16:creationId xmlns:a16="http://schemas.microsoft.com/office/drawing/2014/main" id="{5E4B723F-96D2-326A-A6E9-AEBF3A4E6E04}"/>
              </a:ext>
            </a:extLst>
          </p:cNvPr>
          <p:cNvSpPr txBox="1"/>
          <p:nvPr/>
        </p:nvSpPr>
        <p:spPr>
          <a:xfrm>
            <a:off x="1671920" y="4578652"/>
            <a:ext cx="1442468"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spAutoFit/>
          </a:bodyPr>
          <a:lstStyle/>
          <a:p>
            <a:pPr algn="ctr">
              <a:lnSpc>
                <a:spcPct val="85000"/>
              </a:lnSpc>
            </a:pPr>
            <a:r>
              <a:rPr lang="en-US" sz="1400" b="1"/>
              <a:t>Met Business Model Screen</a:t>
            </a:r>
          </a:p>
          <a:p>
            <a:pPr algn="ctr">
              <a:lnSpc>
                <a:spcPct val="85000"/>
              </a:lnSpc>
            </a:pPr>
            <a:r>
              <a:rPr lang="en-US" sz="1400" b="1"/>
              <a:t>N=15</a:t>
            </a:r>
          </a:p>
        </p:txBody>
      </p:sp>
      <p:sp>
        <p:nvSpPr>
          <p:cNvPr id="14" name="TextBox 13">
            <a:extLst>
              <a:ext uri="{FF2B5EF4-FFF2-40B4-BE49-F238E27FC236}">
                <a16:creationId xmlns:a16="http://schemas.microsoft.com/office/drawing/2014/main" id="{EEF1C7B4-DDE4-9F10-6977-0C847B3CDA98}"/>
              </a:ext>
            </a:extLst>
          </p:cNvPr>
          <p:cNvSpPr txBox="1"/>
          <p:nvPr/>
        </p:nvSpPr>
        <p:spPr>
          <a:xfrm>
            <a:off x="3291149" y="4598865"/>
            <a:ext cx="1442468" cy="826445"/>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Business Model Screen</a:t>
            </a:r>
          </a:p>
          <a:p>
            <a:pPr algn="ctr">
              <a:lnSpc>
                <a:spcPct val="85000"/>
              </a:lnSpc>
            </a:pPr>
            <a:r>
              <a:rPr lang="en-US" sz="1400" b="1"/>
              <a:t>N=25</a:t>
            </a:r>
          </a:p>
        </p:txBody>
      </p:sp>
    </p:spTree>
    <p:extLst>
      <p:ext uri="{BB962C8B-B14F-4D97-AF65-F5344CB8AC3E}">
        <p14:creationId xmlns:p14="http://schemas.microsoft.com/office/powerpoint/2010/main" val="109051113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E302CB5-2927-7FB4-8360-3732F0AB95A7}"/>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6607B03-2771-B0A7-960B-13F19D67A835}"/>
              </a:ext>
            </a:extLst>
          </p:cNvPr>
          <p:cNvSpPr>
            <a:spLocks noGrp="1"/>
          </p:cNvSpPr>
          <p:nvPr>
            <p:ph type="title"/>
          </p:nvPr>
        </p:nvSpPr>
        <p:spPr>
          <a:xfrm>
            <a:off x="882797" y="44215"/>
            <a:ext cx="8074152" cy="1292899"/>
          </a:xfrm>
        </p:spPr>
        <p:txBody>
          <a:bodyPr/>
          <a:lstStyle/>
          <a:p>
            <a:r>
              <a:rPr lang="en-US" dirty="0"/>
              <a:t>Among 154 companies identified in </a:t>
            </a:r>
            <a:r>
              <a:rPr lang="en-US" dirty="0" err="1"/>
              <a:t>Plutos</a:t>
            </a:r>
            <a:r>
              <a:rPr lang="en-US" dirty="0"/>
              <a:t>’ and PA Consulting’s noncompete agreements, ~70% are private, and the relevant public companies are already in </a:t>
            </a:r>
            <a:r>
              <a:rPr lang="en-US" dirty="0" err="1"/>
              <a:t>Plutos</a:t>
            </a:r>
            <a:r>
              <a:rPr lang="en-US" dirty="0"/>
              <a:t>’ peer group</a:t>
            </a:r>
          </a:p>
        </p:txBody>
      </p:sp>
      <p:sp>
        <p:nvSpPr>
          <p:cNvPr id="14" name="TextBox 13">
            <a:extLst>
              <a:ext uri="{FF2B5EF4-FFF2-40B4-BE49-F238E27FC236}">
                <a16:creationId xmlns:a16="http://schemas.microsoft.com/office/drawing/2014/main" id="{56C4347B-0D3D-03DB-2F05-82D34B5064CD}"/>
              </a:ext>
            </a:extLst>
          </p:cNvPr>
          <p:cNvSpPr txBox="1"/>
          <p:nvPr/>
        </p:nvSpPr>
        <p:spPr>
          <a:xfrm>
            <a:off x="3089779" y="6076448"/>
            <a:ext cx="4372327" cy="369332"/>
          </a:xfrm>
          <a:prstGeom prst="rect">
            <a:avLst/>
          </a:prstGeom>
          <a:noFill/>
        </p:spPr>
        <p:txBody>
          <a:bodyPr wrap="square" lIns="45720" tIns="45720" rIns="45720" bIns="45720" rtlCol="0" anchor="ctr">
            <a:spAutoFit/>
          </a:bodyPr>
          <a:lstStyle/>
          <a:p>
            <a:pPr marL="228600" indent="-228600">
              <a:buFontTx/>
              <a:buAutoNum type="arabicParenBoth"/>
            </a:pPr>
            <a:r>
              <a:rPr lang="en-US" sz="900" i="1"/>
              <a:t>Perficient was acquired by </a:t>
            </a:r>
            <a:r>
              <a:rPr lang="en-US" sz="900" i="1" err="1"/>
              <a:t>EQT</a:t>
            </a:r>
            <a:r>
              <a:rPr lang="en-US" sz="900" i="1"/>
              <a:t> on October 2,2024</a:t>
            </a:r>
          </a:p>
          <a:p>
            <a:pPr marL="228600" indent="-228600">
              <a:buFontTx/>
              <a:buAutoNum type="arabicParenBoth"/>
            </a:pPr>
            <a:r>
              <a:rPr lang="en-US" sz="900" i="1"/>
              <a:t>Ricardo was acquired by </a:t>
            </a:r>
            <a:r>
              <a:rPr lang="en-US" sz="900" i="1" err="1"/>
              <a:t>WSP</a:t>
            </a:r>
            <a:r>
              <a:rPr lang="en-US" sz="900" i="1"/>
              <a:t> Group October 9, 2025</a:t>
            </a:r>
          </a:p>
        </p:txBody>
      </p:sp>
      <p:sp>
        <p:nvSpPr>
          <p:cNvPr id="15" name="TextBox 14">
            <a:extLst>
              <a:ext uri="{FF2B5EF4-FFF2-40B4-BE49-F238E27FC236}">
                <a16:creationId xmlns:a16="http://schemas.microsoft.com/office/drawing/2014/main" id="{B44AB405-2EC4-C949-95EF-32A241B41D82}"/>
              </a:ext>
            </a:extLst>
          </p:cNvPr>
          <p:cNvSpPr txBox="1"/>
          <p:nvPr/>
        </p:nvSpPr>
        <p:spPr>
          <a:xfrm>
            <a:off x="735217" y="1296150"/>
            <a:ext cx="2011680" cy="523220"/>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Public Competitors in Non-Competes</a:t>
            </a:r>
            <a:endParaRPr kumimoji="0" lang="en-US" sz="1400" b="1" i="0" u="none" strike="noStrike" kern="1200" cap="none" spc="0" normalizeH="0" baseline="30000" noProof="0">
              <a:ln>
                <a:noFill/>
              </a:ln>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DD8C0A35-CB78-7180-E2E4-4FE7AE54D71B}"/>
              </a:ext>
            </a:extLst>
          </p:cNvPr>
          <p:cNvSpPr txBox="1"/>
          <p:nvPr/>
        </p:nvSpPr>
        <p:spPr>
          <a:xfrm>
            <a:off x="3445996" y="1511593"/>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Private Competitors in Non-Competes</a:t>
            </a:r>
            <a:endParaRPr kumimoji="0" lang="en-US" sz="1400" b="1" i="0" u="none" strike="noStrike" kern="1200" cap="none" spc="0" normalizeH="0" baseline="30000" noProof="0">
              <a:ln>
                <a:noFill/>
              </a:ln>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17365336-1972-E0CD-42AB-F4A554D8559A}"/>
              </a:ext>
            </a:extLst>
          </p:cNvPr>
          <p:cNvGraphicFramePr>
            <a:graphicFrameLocks noGrp="1"/>
          </p:cNvGraphicFramePr>
          <p:nvPr/>
        </p:nvGraphicFramePr>
        <p:xfrm>
          <a:off x="633681" y="1805718"/>
          <a:ext cx="2214753" cy="3575304"/>
        </p:xfrm>
        <a:graphic>
          <a:graphicData uri="http://schemas.openxmlformats.org/drawingml/2006/table">
            <a:tbl>
              <a:tblPr/>
              <a:tblGrid>
                <a:gridCol w="1207389">
                  <a:extLst>
                    <a:ext uri="{9D8B030D-6E8A-4147-A177-3AD203B41FA5}">
                      <a16:colId xmlns:a16="http://schemas.microsoft.com/office/drawing/2014/main" val="3587552027"/>
                    </a:ext>
                  </a:extLst>
                </a:gridCol>
                <a:gridCol w="1007364">
                  <a:extLst>
                    <a:ext uri="{9D8B030D-6E8A-4147-A177-3AD203B41FA5}">
                      <a16:colId xmlns:a16="http://schemas.microsoft.com/office/drawing/2014/main" val="2373711935"/>
                    </a:ext>
                  </a:extLst>
                </a:gridCol>
              </a:tblGrid>
              <a:tr h="0">
                <a:tc gridSpan="2">
                  <a:txBody>
                    <a:bodyPr/>
                    <a:lstStyle/>
                    <a:p>
                      <a:pPr algn="ctr" fontAlgn="b">
                        <a:buNone/>
                      </a:pPr>
                      <a:r>
                        <a:rPr lang="en-US" sz="900" b="1" i="0" u="none" strike="noStrike">
                          <a:solidFill>
                            <a:srgbClr val="FFFFFF"/>
                          </a:solidFill>
                          <a:effectLst/>
                          <a:latin typeface="Calibri" panose="020F0502020204030204" pitchFamily="34" charset="0"/>
                        </a:rPr>
                        <a:t>Public Companies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endParaRPr lang="en-US"/>
                    </a:p>
                  </a:txBody>
                  <a:tcPr/>
                </a:tc>
                <a:extLst>
                  <a:ext uri="{0D108BD9-81ED-4DB2-BD59-A6C34878D82A}">
                    <a16:rowId xmlns:a16="http://schemas.microsoft.com/office/drawing/2014/main" val="3595394434"/>
                  </a:ext>
                </a:extLst>
              </a:tr>
              <a:tr h="0">
                <a:tc>
                  <a:txBody>
                    <a:bodyPr/>
                    <a:lstStyle/>
                    <a:p>
                      <a:pPr algn="l" fontAlgn="b">
                        <a:buNone/>
                      </a:pPr>
                      <a:r>
                        <a:rPr lang="en-US" sz="900" b="0" i="0" u="none" strike="noStrike">
                          <a:solidFill>
                            <a:srgbClr val="000000"/>
                          </a:solidFill>
                          <a:effectLst/>
                          <a:latin typeface="Calibri" panose="020F0502020204030204" pitchFamily="34" charset="0"/>
                        </a:rPr>
                        <a:t>Accenture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IQVIA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0517326"/>
                  </a:ext>
                </a:extLst>
              </a:tr>
              <a:tr h="0">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JLL</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48829415"/>
                  </a:ext>
                </a:extLst>
              </a:tr>
              <a:tr h="0">
                <a:tc>
                  <a:txBody>
                    <a:bodyPr/>
                    <a:lstStyle/>
                    <a:p>
                      <a:pPr algn="l" fontAlgn="b">
                        <a:buNone/>
                      </a:pPr>
                      <a:r>
                        <a:rPr lang="en-US" sz="900" b="0" i="0" u="none" strike="noStrike">
                          <a:solidFill>
                            <a:srgbClr val="000000"/>
                          </a:solidFill>
                          <a:effectLst/>
                          <a:latin typeface="Calibri" panose="020F0502020204030204" pitchFamily="34" charset="0"/>
                        </a:rPr>
                        <a:t>AFRY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658309656"/>
                  </a:ext>
                </a:extLst>
              </a:tr>
              <a:tr h="0">
                <a:tc>
                  <a:txBody>
                    <a:bodyPr/>
                    <a:lstStyle/>
                    <a:p>
                      <a:pPr algn="l" fontAlgn="b">
                        <a:buNone/>
                      </a:pPr>
                      <a:r>
                        <a:rPr lang="en-US" sz="900" b="0" i="0" u="none" strike="noStrike">
                          <a:solidFill>
                            <a:srgbClr val="000000"/>
                          </a:solidFill>
                          <a:effectLst/>
                          <a:latin typeface="Calibri" panose="020F0502020204030204" pitchFamily="34" charset="0"/>
                        </a:rPr>
                        <a:t>Arcadis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Korn Ferry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308775509"/>
                  </a:ext>
                </a:extLst>
              </a:tr>
              <a:tr h="0">
                <a:tc>
                  <a:txBody>
                    <a:bodyPr/>
                    <a:lstStyle/>
                    <a:p>
                      <a:pPr algn="l" fontAlgn="b">
                        <a:buNone/>
                      </a:pPr>
                      <a:r>
                        <a:rPr lang="en-US" sz="900" b="0" i="0" u="none" strike="noStrike" err="1">
                          <a:solidFill>
                            <a:srgbClr val="000000"/>
                          </a:solidFill>
                          <a:effectLst/>
                          <a:latin typeface="Calibri" panose="020F0502020204030204" pitchFamily="34" charset="0"/>
                        </a:rPr>
                        <a:t>AtkinsRealis</a:t>
                      </a:r>
                      <a:endParaRPr lang="en-US" sz="900" b="0" i="0" u="none" strike="noStrike">
                        <a:solidFill>
                          <a:srgbClr val="000000"/>
                        </a:solidFill>
                        <a:effectLst/>
                        <a:latin typeface="Calibri" panose="020F0502020204030204" pitchFamily="34" charset="0"/>
                      </a:endParaRP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710332133"/>
                  </a:ext>
                </a:extLst>
              </a:tr>
              <a:tr h="0">
                <a:tc>
                  <a:txBody>
                    <a:bodyPr/>
                    <a:lstStyle/>
                    <a:p>
                      <a:pPr algn="l" fontAlgn="b">
                        <a:buNone/>
                      </a:pPr>
                      <a:r>
                        <a:rPr lang="en-US" sz="900" b="0" i="0" u="none" strike="noStrike">
                          <a:solidFill>
                            <a:srgbClr val="000000"/>
                          </a:solidFill>
                          <a:effectLst/>
                          <a:latin typeface="Calibri" panose="020F0502020204030204" pitchFamily="34" charset="0"/>
                        </a:rPr>
                        <a:t>Atos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Lockheed Martin</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80541937"/>
                  </a:ext>
                </a:extLst>
              </a:tr>
              <a:tr h="0">
                <a:tc>
                  <a:txBody>
                    <a:bodyPr/>
                    <a:lstStyle/>
                    <a:p>
                      <a:pPr algn="l" fontAlgn="b">
                        <a:buNone/>
                      </a:pPr>
                      <a:r>
                        <a:rPr lang="en-US" sz="900" b="0" i="0" u="none" strike="noStrike">
                          <a:solidFill>
                            <a:srgbClr val="000000"/>
                          </a:solidFill>
                          <a:effectLst/>
                          <a:latin typeface="Calibri" panose="020F0502020204030204" pitchFamily="34" charset="0"/>
                        </a:rPr>
                        <a:t>BAE Systems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Northrop Grumman</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833277665"/>
                  </a:ext>
                </a:extLst>
              </a:tr>
              <a:tr h="0">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Oracle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381218761"/>
                  </a:ext>
                </a:extLst>
              </a:tr>
              <a:tr h="0">
                <a:tc>
                  <a:txBody>
                    <a:bodyPr/>
                    <a:lstStyle/>
                    <a:p>
                      <a:pPr algn="l" fontAlgn="b">
                        <a:buNone/>
                      </a:pPr>
                      <a:r>
                        <a:rPr lang="en-US" sz="900" b="0" i="0" u="none" strike="noStrike">
                          <a:solidFill>
                            <a:srgbClr val="000000"/>
                          </a:solidFill>
                          <a:effectLst/>
                          <a:latin typeface="Calibri" panose="020F0502020204030204" pitchFamily="34" charset="0"/>
                        </a:rPr>
                        <a:t>Capgemini</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Palantir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35972231"/>
                  </a:ext>
                </a:extLst>
              </a:tr>
              <a:tr h="0">
                <a:tc>
                  <a:txBody>
                    <a:bodyPr/>
                    <a:lstStyle/>
                    <a:p>
                      <a:pPr algn="l" fontAlgn="b">
                        <a:buNone/>
                      </a:pPr>
                      <a:r>
                        <a:rPr lang="en-US" sz="900" b="0" i="0" u="none" strike="noStrike">
                          <a:solidFill>
                            <a:srgbClr val="000000"/>
                          </a:solidFill>
                          <a:effectLst/>
                          <a:latin typeface="Calibri" panose="020F0502020204030204" pitchFamily="34" charset="0"/>
                        </a:rPr>
                        <a:t>Capita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314392566"/>
                  </a:ext>
                </a:extLst>
              </a:tr>
              <a:tr h="0">
                <a:tc>
                  <a:txBody>
                    <a:bodyPr/>
                    <a:lstStyle/>
                    <a:p>
                      <a:pPr algn="l" fontAlgn="b">
                        <a:buNone/>
                      </a:pPr>
                      <a:r>
                        <a:rPr lang="en-US" sz="900" b="0" i="0" u="none" strike="noStrike">
                          <a:solidFill>
                            <a:srgbClr val="000000"/>
                          </a:solidFill>
                          <a:effectLst/>
                          <a:latin typeface="Calibri" panose="020F0502020204030204" pitchFamily="34" charset="0"/>
                        </a:rPr>
                        <a:t>CBRE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Procore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36556527"/>
                  </a:ext>
                </a:extLst>
              </a:tr>
              <a:tr h="0">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Rapid7</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530361213"/>
                  </a:ext>
                </a:extLst>
              </a:tr>
              <a:tr h="0">
                <a:tc>
                  <a:txBody>
                    <a:bodyPr/>
                    <a:lstStyle/>
                    <a:p>
                      <a:pPr algn="l" fontAlgn="b">
                        <a:buNone/>
                      </a:pPr>
                      <a:r>
                        <a:rPr lang="en-US" sz="900" b="0" i="0" u="none" strike="noStrike">
                          <a:solidFill>
                            <a:srgbClr val="000000"/>
                          </a:solidFill>
                          <a:effectLst/>
                          <a:latin typeface="Calibri" panose="020F0502020204030204" pitchFamily="34" charset="0"/>
                        </a:rPr>
                        <a:t>DXC Technology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Sopra Steria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307175509"/>
                  </a:ext>
                </a:extLst>
              </a:tr>
              <a:tr h="0">
                <a:tc>
                  <a:txBody>
                    <a:bodyPr/>
                    <a:lstStyle/>
                    <a:p>
                      <a:pPr algn="l" fontAlgn="b">
                        <a:buNone/>
                      </a:pPr>
                      <a:r>
                        <a:rPr lang="en-US" sz="900" b="0" i="0" u="none" strike="noStrike">
                          <a:solidFill>
                            <a:srgbClr val="000000"/>
                          </a:solidFill>
                          <a:effectLst/>
                          <a:latin typeface="Calibri" panose="020F0502020204030204" pitchFamily="34" charset="0"/>
                        </a:rPr>
                        <a:t>Endava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Stantec</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096814984"/>
                  </a:ext>
                </a:extLst>
              </a:tr>
              <a:tr h="0">
                <a:tc>
                  <a:txBody>
                    <a:bodyPr/>
                    <a:lstStyle/>
                    <a:p>
                      <a:pPr algn="l" fontAlgn="b">
                        <a:buNone/>
                      </a:pPr>
                      <a:r>
                        <a:rPr lang="en-US" sz="900" b="0" i="0" u="none" strike="noStrike">
                          <a:solidFill>
                            <a:srgbClr val="000000"/>
                          </a:solidFill>
                          <a:effectLst/>
                          <a:latin typeface="Calibri" panose="020F0502020204030204" pitchFamily="34" charset="0"/>
                        </a:rPr>
                        <a:t>EPAM Systems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TCS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611590258"/>
                  </a:ext>
                </a:extLst>
              </a:tr>
              <a:tr h="0">
                <a:tc>
                  <a:txBody>
                    <a:bodyPr/>
                    <a:lstStyle/>
                    <a:p>
                      <a:pPr algn="l" fontAlgn="b">
                        <a:buNone/>
                      </a:pPr>
                      <a:r>
                        <a:rPr lang="en-US" sz="900" b="0" i="0" u="none" strike="noStrike">
                          <a:solidFill>
                            <a:srgbClr val="000000"/>
                          </a:solidFill>
                          <a:effectLst/>
                          <a:latin typeface="Calibri" panose="020F0502020204030204" pitchFamily="34" charset="0"/>
                        </a:rPr>
                        <a:t>Exponent</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2459616427"/>
                  </a:ext>
                </a:extLst>
              </a:tr>
              <a:tr h="0">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TTEC</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56474532"/>
                  </a:ext>
                </a:extLst>
              </a:tr>
              <a:tr h="0">
                <a:tc>
                  <a:txBody>
                    <a:bodyPr/>
                    <a:lstStyle/>
                    <a:p>
                      <a:pPr algn="l" fontAlgn="b">
                        <a:buNone/>
                      </a:pPr>
                      <a:r>
                        <a:rPr lang="en-US" sz="900" b="0" i="0" u="none" strike="noStrike">
                          <a:solidFill>
                            <a:srgbClr val="000000"/>
                          </a:solidFill>
                          <a:effectLst/>
                          <a:latin typeface="Calibri" panose="020F0502020204030204" pitchFamily="34" charset="0"/>
                        </a:rPr>
                        <a:t>FTI Consulting</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Wipro</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1575219"/>
                  </a:ext>
                </a:extLst>
              </a:tr>
              <a:tr h="0">
                <a:tc>
                  <a:txBody>
                    <a:bodyPr/>
                    <a:lstStyle/>
                    <a:p>
                      <a:pPr algn="l" fontAlgn="b">
                        <a:buNone/>
                      </a:pPr>
                      <a:r>
                        <a:rPr lang="en-US" sz="900" b="0" i="0" u="none" strike="noStrike">
                          <a:solidFill>
                            <a:srgbClr val="000000"/>
                          </a:solidFill>
                          <a:effectLst/>
                          <a:latin typeface="Calibri" panose="020F0502020204030204" pitchFamily="34" charset="0"/>
                        </a:rPr>
                        <a:t>Gartner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Worley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45232664"/>
                  </a:ext>
                </a:extLst>
              </a:tr>
              <a:tr h="0">
                <a:tc>
                  <a:txBody>
                    <a:bodyPr/>
                    <a:lstStyle/>
                    <a:p>
                      <a:pPr algn="l" fontAlgn="b">
                        <a:buNone/>
                      </a:pPr>
                      <a:r>
                        <a:rPr lang="en-US" sz="900" b="0" i="0" u="none" strike="noStrike">
                          <a:solidFill>
                            <a:srgbClr val="000000"/>
                          </a:solidFill>
                          <a:effectLst/>
                          <a:latin typeface="Calibri" panose="020F0502020204030204" pitchFamily="34" charset="0"/>
                        </a:rPr>
                        <a:t>GE Healthcare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WSP Global</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302878559"/>
                  </a:ext>
                </a:extLst>
              </a:tr>
              <a:tr h="0">
                <a:tc>
                  <a:txBody>
                    <a:bodyPr/>
                    <a:lstStyle/>
                    <a:p>
                      <a:pPr algn="l" fontAlgn="b">
                        <a:buNone/>
                      </a:pPr>
                      <a:r>
                        <a:rPr lang="en-US" sz="900" b="0" i="0" u="none" strike="noStrike">
                          <a:solidFill>
                            <a:srgbClr val="000000"/>
                          </a:solidFill>
                          <a:effectLst/>
                          <a:latin typeface="Calibri" panose="020F0502020204030204" pitchFamily="34" charset="0"/>
                        </a:rPr>
                        <a:t>Huron Consulting Group</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err="1">
                          <a:solidFill>
                            <a:srgbClr val="000000"/>
                          </a:solidFill>
                          <a:effectLst/>
                          <a:latin typeface="Calibri" panose="020F0502020204030204" pitchFamily="34" charset="0"/>
                        </a:rPr>
                        <a:t>WTW</a:t>
                      </a:r>
                      <a:endParaRPr lang="en-US" sz="900" b="0" i="0" u="none" strike="noStrike">
                        <a:solidFill>
                          <a:srgbClr val="000000"/>
                        </a:solidFill>
                        <a:effectLst/>
                        <a:latin typeface="Calibri" panose="020F0502020204030204" pitchFamily="34" charset="0"/>
                      </a:endParaRP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48100413"/>
                  </a:ext>
                </a:extLst>
              </a:tr>
              <a:tr h="0">
                <a:tc>
                  <a:txBody>
                    <a:bodyPr/>
                    <a:lstStyle/>
                    <a:p>
                      <a:pPr algn="l" fontAlgn="b">
                        <a:buNone/>
                      </a:pPr>
                      <a:r>
                        <a:rPr lang="en-US" sz="900" b="0" i="0" u="none" strike="noStrike">
                          <a:solidFill>
                            <a:srgbClr val="000000"/>
                          </a:solidFill>
                          <a:effectLst/>
                          <a:latin typeface="Calibri" panose="020F0502020204030204" pitchFamily="34" charset="0"/>
                        </a:rPr>
                        <a:t>Infosys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r" fontAlgn="b">
                        <a:buNone/>
                      </a:pPr>
                      <a:endParaRPr lang="en-US" sz="900" b="0" i="0" u="none" strike="noStrike">
                        <a:solidFill>
                          <a:srgbClr val="000000"/>
                        </a:solidFill>
                        <a:effectLst/>
                        <a:latin typeface="Calibri" panose="020F0502020204030204" pitchFamily="34" charset="0"/>
                      </a:endParaRP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912890553"/>
                  </a:ext>
                </a:extLst>
              </a:tr>
            </a:tbl>
          </a:graphicData>
        </a:graphic>
      </p:graphicFrame>
      <p:graphicFrame>
        <p:nvGraphicFramePr>
          <p:cNvPr id="10" name="Table 9">
            <a:extLst>
              <a:ext uri="{FF2B5EF4-FFF2-40B4-BE49-F238E27FC236}">
                <a16:creationId xmlns:a16="http://schemas.microsoft.com/office/drawing/2014/main" id="{43939F21-F1F9-5554-5BE9-F05B6D722DD4}"/>
              </a:ext>
            </a:extLst>
          </p:cNvPr>
          <p:cNvGraphicFramePr>
            <a:graphicFrameLocks noGrp="1"/>
          </p:cNvGraphicFramePr>
          <p:nvPr/>
        </p:nvGraphicFramePr>
        <p:xfrm>
          <a:off x="3089779" y="1793724"/>
          <a:ext cx="5478845" cy="4251960"/>
        </p:xfrm>
        <a:graphic>
          <a:graphicData uri="http://schemas.openxmlformats.org/drawingml/2006/table">
            <a:tbl>
              <a:tblPr/>
              <a:tblGrid>
                <a:gridCol w="1240727">
                  <a:extLst>
                    <a:ext uri="{9D8B030D-6E8A-4147-A177-3AD203B41FA5}">
                      <a16:colId xmlns:a16="http://schemas.microsoft.com/office/drawing/2014/main" val="79431983"/>
                    </a:ext>
                  </a:extLst>
                </a:gridCol>
                <a:gridCol w="1428052">
                  <a:extLst>
                    <a:ext uri="{9D8B030D-6E8A-4147-A177-3AD203B41FA5}">
                      <a16:colId xmlns:a16="http://schemas.microsoft.com/office/drawing/2014/main" val="3236306874"/>
                    </a:ext>
                  </a:extLst>
                </a:gridCol>
                <a:gridCol w="1540764">
                  <a:extLst>
                    <a:ext uri="{9D8B030D-6E8A-4147-A177-3AD203B41FA5}">
                      <a16:colId xmlns:a16="http://schemas.microsoft.com/office/drawing/2014/main" val="2474763334"/>
                    </a:ext>
                  </a:extLst>
                </a:gridCol>
                <a:gridCol w="1269302">
                  <a:extLst>
                    <a:ext uri="{9D8B030D-6E8A-4147-A177-3AD203B41FA5}">
                      <a16:colId xmlns:a16="http://schemas.microsoft.com/office/drawing/2014/main" val="587191041"/>
                    </a:ext>
                  </a:extLst>
                </a:gridCol>
              </a:tblGrid>
              <a:tr h="153777">
                <a:tc gridSpan="4">
                  <a:txBody>
                    <a:bodyPr/>
                    <a:lstStyle/>
                    <a:p>
                      <a:pPr algn="ctr" fontAlgn="b">
                        <a:buNone/>
                      </a:pPr>
                      <a:r>
                        <a:rPr lang="en-US" sz="900" b="1" i="0" u="none" strike="noStrike">
                          <a:solidFill>
                            <a:srgbClr val="FFFFFF"/>
                          </a:solidFill>
                          <a:effectLst/>
                          <a:latin typeface="Calibri" panose="020F0502020204030204" pitchFamily="34" charset="0"/>
                        </a:rPr>
                        <a:t>Private Companies</a:t>
                      </a:r>
                    </a:p>
                  </a:txBody>
                  <a:tcPr marL="27432" marR="27432"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66295267"/>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AlixPartners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CRB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KPMG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Protiviti</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750758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Alpha FMC</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Deloitte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L.E.K.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Proudfoot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06864431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Altair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DPR Construction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Mace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Publicis Sapient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37559906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Alvarez &amp; Marsal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Energy Security Analysis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Management Consulting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PwC</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85420786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AND Digital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ERM</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Marble Product Design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Ramboll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45508249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Argon &amp; Co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Ernst &amp; Young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Mars &amp; Co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Ricardo</a:t>
                      </a:r>
                      <a:r>
                        <a:rPr lang="en-US" sz="900" b="0" i="0" u="none" strike="noStrike" baseline="30000">
                          <a:solidFill>
                            <a:srgbClr val="000000"/>
                          </a:solidFill>
                          <a:effectLst/>
                          <a:latin typeface="Calibri" panose="020F0502020204030204" pitchFamily="34" charset="0"/>
                        </a:rPr>
                        <a:t>(2)</a:t>
                      </a:r>
                      <a:endParaRPr lang="en-US" sz="900" b="0" i="0" u="none" strike="noStrike">
                        <a:solidFill>
                          <a:srgbClr val="000000"/>
                        </a:solidFill>
                        <a:effectLst/>
                        <a:latin typeface="Calibri" panose="020F0502020204030204" pitchFamily="34" charset="0"/>
                      </a:endParaRP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44764612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Arthur D. Little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Exyte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McKinsey &amp; Company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Roke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4175432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Arup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EY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Mercer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Roland Berger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906751809"/>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Attain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Filsinger Energy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Methods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Sagentia Innovation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05018440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Aurecon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Frontier Economics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Microsoft Consulting Services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ScottMadden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86051592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AWS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FTI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MIGSO-PCUBED</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Sidara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92028208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Bain &amp; Company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Gensler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Montrose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Siemens Advanta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21749735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Baker Tilly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GHD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Moorhouse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Simon Kucher &amp;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74891081"/>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Baringa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Google Business Solutions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Mott MacDonald</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Slalom</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01099181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Bates White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Grant Thornton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NERA Economic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SSOE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51536499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BDO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Guidehouse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Newton Europe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STL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919665311"/>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BearingPoint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Hazen &amp; Sawyer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North Highland</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Strategic Decisions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54331607"/>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Bechtel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HDR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OC&amp;C Strategy Consultants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Surbana Jurong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33998599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Black &amp; Veatch</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Hitachi Vantara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Oliver Wyman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Syneos Health</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635813225"/>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Boston Consulting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HNTB COS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OPM</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Team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957990165"/>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Brown and Caldwell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IBM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Oxera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The Berkeley Partnership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02633860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Burns and McDonnell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ICF</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Pandora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Thoughtworks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329696995"/>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Cambridge Consultants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Implement Consulting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Perficient</a:t>
                      </a:r>
                      <a:r>
                        <a:rPr lang="en-US" sz="900" b="0" i="0" u="none" strike="noStrike" baseline="30000">
                          <a:solidFill>
                            <a:srgbClr val="000000"/>
                          </a:solidFill>
                          <a:effectLst/>
                          <a:latin typeface="Calibri" panose="020F0502020204030204" pitchFamily="34" charset="0"/>
                        </a:rPr>
                        <a:t>(1)</a:t>
                      </a:r>
                      <a:endParaRPr lang="en-US" sz="900" b="0" i="0" u="none" strike="noStrike">
                        <a:solidFill>
                          <a:srgbClr val="000000"/>
                        </a:solidFill>
                        <a:effectLst/>
                        <a:latin typeface="Calibri" panose="020F0502020204030204" pitchFamily="34" charset="0"/>
                      </a:endParaRP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Trinity Life Sciences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6547338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Capco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iMPOWER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PivotPoint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TTP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766473080"/>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Carollo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Inframark</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PM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Valcon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46892507"/>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CDM Smith</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Interfleet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Polaris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West Monroe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45119617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CEPA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IPS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PPL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ZS Associates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585573072"/>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CF</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Kearney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Project One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r" fontAlgn="b">
                        <a:buNone/>
                      </a:pPr>
                      <a:endParaRPr lang="en-US" sz="900" b="0" i="0" u="none" strike="noStrike">
                        <a:solidFill>
                          <a:srgbClr val="000000"/>
                        </a:solidFill>
                        <a:effectLst/>
                        <a:latin typeface="Calibri" panose="020F0502020204030204" pitchFamily="34" charset="0"/>
                      </a:endParaRP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312143400"/>
                  </a:ext>
                </a:extLst>
              </a:tr>
            </a:tbl>
          </a:graphicData>
        </a:graphic>
      </p:graphicFrame>
      <p:sp>
        <p:nvSpPr>
          <p:cNvPr id="4" name="TextBox 3">
            <a:extLst>
              <a:ext uri="{FF2B5EF4-FFF2-40B4-BE49-F238E27FC236}">
                <a16:creationId xmlns:a16="http://schemas.microsoft.com/office/drawing/2014/main" id="{2D461B18-1B92-5E46-D0AD-D8D01CB63CBF}"/>
              </a:ext>
            </a:extLst>
          </p:cNvPr>
          <p:cNvSpPr txBox="1"/>
          <p:nvPr/>
        </p:nvSpPr>
        <p:spPr>
          <a:xfrm>
            <a:off x="633681" y="5526745"/>
            <a:ext cx="762388" cy="224292"/>
          </a:xfrm>
          <a:prstGeom prst="rect">
            <a:avLst/>
          </a:prstGeom>
          <a:solidFill>
            <a:schemeClr val="accent6">
              <a:lumMod val="20000"/>
              <a:lumOff val="80000"/>
            </a:schemeClr>
          </a:solidFill>
        </p:spPr>
        <p:txBody>
          <a:bodyPr vert="horz" wrap="none" lIns="45720" tIns="45720" rIns="45720" bIns="45720" rtlCol="0" anchor="ctr">
            <a:spAutoFit/>
          </a:bodyPr>
          <a:lstStyle/>
          <a:p>
            <a:pPr algn="ctr">
              <a:lnSpc>
                <a:spcPct val="85000"/>
              </a:lnSpc>
            </a:pPr>
            <a:r>
              <a:rPr lang="en-US" sz="1000" i="1"/>
              <a:t>Current peer</a:t>
            </a:r>
          </a:p>
        </p:txBody>
      </p:sp>
    </p:spTree>
    <p:extLst>
      <p:ext uri="{BB962C8B-B14F-4D97-AF65-F5344CB8AC3E}">
        <p14:creationId xmlns:p14="http://schemas.microsoft.com/office/powerpoint/2010/main" val="300438200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BE4275B-3304-115B-2014-B6B05050AB86}"/>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B8CCA252-0881-E84A-00EE-AA1BA640FCF0}"/>
              </a:ext>
            </a:extLst>
          </p:cNvPr>
          <p:cNvSpPr>
            <a:spLocks noGrp="1"/>
          </p:cNvSpPr>
          <p:nvPr>
            <p:ph type="title"/>
          </p:nvPr>
        </p:nvSpPr>
        <p:spPr>
          <a:xfrm>
            <a:off x="882797" y="44215"/>
            <a:ext cx="8074152" cy="1292899"/>
          </a:xfrm>
        </p:spPr>
        <p:txBody>
          <a:bodyPr/>
          <a:lstStyle/>
          <a:p>
            <a:r>
              <a:rPr lang="en-US" dirty="0"/>
              <a:t>ACME reviewed consulting competitors cited by </a:t>
            </a:r>
            <a:r>
              <a:rPr lang="en-US" dirty="0" err="1"/>
              <a:t>Plutos</a:t>
            </a:r>
            <a:r>
              <a:rPr lang="en-US" dirty="0"/>
              <a:t> and PA Consulting on non-compete and other competitive lists, but none sufficiently satisfied the screening criteria</a:t>
            </a:r>
          </a:p>
        </p:txBody>
      </p:sp>
      <p:graphicFrame>
        <p:nvGraphicFramePr>
          <p:cNvPr id="5" name="Table 4">
            <a:extLst>
              <a:ext uri="{FF2B5EF4-FFF2-40B4-BE49-F238E27FC236}">
                <a16:creationId xmlns:a16="http://schemas.microsoft.com/office/drawing/2014/main" id="{DB60024F-8F4D-6319-A63B-23092C4C556C}"/>
              </a:ext>
            </a:extLst>
          </p:cNvPr>
          <p:cNvGraphicFramePr>
            <a:graphicFrameLocks noGrp="1"/>
          </p:cNvGraphicFramePr>
          <p:nvPr/>
        </p:nvGraphicFramePr>
        <p:xfrm>
          <a:off x="104489" y="1409350"/>
          <a:ext cx="8935022" cy="4643120"/>
        </p:xfrm>
        <a:graphic>
          <a:graphicData uri="http://schemas.openxmlformats.org/drawingml/2006/table">
            <a:tbl>
              <a:tblPr/>
              <a:tblGrid>
                <a:gridCol w="1063689">
                  <a:extLst>
                    <a:ext uri="{9D8B030D-6E8A-4147-A177-3AD203B41FA5}">
                      <a16:colId xmlns:a16="http://schemas.microsoft.com/office/drawing/2014/main" val="634618488"/>
                    </a:ext>
                  </a:extLst>
                </a:gridCol>
                <a:gridCol w="1970151">
                  <a:extLst>
                    <a:ext uri="{9D8B030D-6E8A-4147-A177-3AD203B41FA5}">
                      <a16:colId xmlns:a16="http://schemas.microsoft.com/office/drawing/2014/main" val="3199737008"/>
                    </a:ext>
                  </a:extLst>
                </a:gridCol>
                <a:gridCol w="816039">
                  <a:extLst>
                    <a:ext uri="{9D8B030D-6E8A-4147-A177-3AD203B41FA5}">
                      <a16:colId xmlns:a16="http://schemas.microsoft.com/office/drawing/2014/main" val="2813938564"/>
                    </a:ext>
                  </a:extLst>
                </a:gridCol>
                <a:gridCol w="476313">
                  <a:extLst>
                    <a:ext uri="{9D8B030D-6E8A-4147-A177-3AD203B41FA5}">
                      <a16:colId xmlns:a16="http://schemas.microsoft.com/office/drawing/2014/main" val="4056400893"/>
                    </a:ext>
                  </a:extLst>
                </a:gridCol>
                <a:gridCol w="503301">
                  <a:extLst>
                    <a:ext uri="{9D8B030D-6E8A-4147-A177-3AD203B41FA5}">
                      <a16:colId xmlns:a16="http://schemas.microsoft.com/office/drawing/2014/main" val="2072546328"/>
                    </a:ext>
                  </a:extLst>
                </a:gridCol>
                <a:gridCol w="476313">
                  <a:extLst>
                    <a:ext uri="{9D8B030D-6E8A-4147-A177-3AD203B41FA5}">
                      <a16:colId xmlns:a16="http://schemas.microsoft.com/office/drawing/2014/main" val="1953423816"/>
                    </a:ext>
                  </a:extLst>
                </a:gridCol>
                <a:gridCol w="914400">
                  <a:extLst>
                    <a:ext uri="{9D8B030D-6E8A-4147-A177-3AD203B41FA5}">
                      <a16:colId xmlns:a16="http://schemas.microsoft.com/office/drawing/2014/main" val="505551995"/>
                    </a:ext>
                  </a:extLst>
                </a:gridCol>
                <a:gridCol w="914400">
                  <a:extLst>
                    <a:ext uri="{9D8B030D-6E8A-4147-A177-3AD203B41FA5}">
                      <a16:colId xmlns:a16="http://schemas.microsoft.com/office/drawing/2014/main" val="1060776480"/>
                    </a:ext>
                  </a:extLst>
                </a:gridCol>
                <a:gridCol w="763651">
                  <a:extLst>
                    <a:ext uri="{9D8B030D-6E8A-4147-A177-3AD203B41FA5}">
                      <a16:colId xmlns:a16="http://schemas.microsoft.com/office/drawing/2014/main" val="3493148394"/>
                    </a:ext>
                  </a:extLst>
                </a:gridCol>
                <a:gridCol w="689039">
                  <a:extLst>
                    <a:ext uri="{9D8B030D-6E8A-4147-A177-3AD203B41FA5}">
                      <a16:colId xmlns:a16="http://schemas.microsoft.com/office/drawing/2014/main" val="3939039257"/>
                    </a:ext>
                  </a:extLst>
                </a:gridCol>
                <a:gridCol w="347726">
                  <a:extLst>
                    <a:ext uri="{9D8B030D-6E8A-4147-A177-3AD203B41FA5}">
                      <a16:colId xmlns:a16="http://schemas.microsoft.com/office/drawing/2014/main" val="794802496"/>
                    </a:ext>
                  </a:extLst>
                </a:gridCol>
              </a:tblGrid>
              <a:tr h="514094">
                <a:tc>
                  <a:txBody>
                    <a:bodyPr/>
                    <a:lstStyle/>
                    <a:p>
                      <a:pPr algn="ctr" fontAlgn="b">
                        <a:buNone/>
                      </a:pPr>
                      <a:r>
                        <a:rPr lang="en-US" sz="900" b="1" i="0" u="none" strike="noStrike" dirty="0">
                          <a:solidFill>
                            <a:srgbClr val="FFFFFF"/>
                          </a:solidFill>
                          <a:effectLst/>
                          <a:latin typeface="Calibri" panose="020F0502020204030204" pitchFamily="34" charset="0"/>
                        </a:rPr>
                        <a:t>Company Name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($MMs)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Advanced</a:t>
                      </a:r>
                    </a:p>
                    <a:p>
                      <a:pPr algn="ctr" fontAlgn="b"/>
                      <a:r>
                        <a:rPr lang="en-US" sz="900" b="1" i="0" u="none" strike="noStrike">
                          <a:solidFill>
                            <a:srgbClr val="FFFFFF"/>
                          </a:solidFill>
                          <a:effectLst/>
                          <a:latin typeface="Calibri" panose="020F0502020204030204" pitchFamily="34" charset="0"/>
                        </a:rPr>
                        <a:t>Engineering and</a:t>
                      </a:r>
                    </a:p>
                    <a:p>
                      <a:pPr algn="ctr" fontAlgn="b"/>
                      <a:r>
                        <a:rPr lang="en-US" sz="900" b="1" i="0" u="none" strike="noStrike">
                          <a:solidFill>
                            <a:srgbClr val="FFFFFF"/>
                          </a:solidFill>
                          <a:effectLst/>
                          <a:latin typeface="Calibri" panose="020F0502020204030204" pitchFamily="34" charset="0"/>
                        </a:rPr>
                        <a:t>Technology Capabilities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Consulting and</a:t>
                      </a:r>
                    </a:p>
                    <a:p>
                      <a:pPr algn="ctr" fontAlgn="b"/>
                      <a:r>
                        <a:rPr lang="en-US" sz="900" b="1" i="0" u="none" strike="noStrike">
                          <a:solidFill>
                            <a:srgbClr val="FFFFFF"/>
                          </a:solidFill>
                          <a:effectLst/>
                          <a:latin typeface="Calibri" panose="020F0502020204030204" pitchFamily="34" charset="0"/>
                        </a:rPr>
                        <a:t>Professional</a:t>
                      </a:r>
                    </a:p>
                    <a:p>
                      <a:pPr algn="ctr" fontAlgn="b"/>
                      <a:r>
                        <a:rPr lang="en-US" sz="900" b="1" i="0" u="none" strike="noStrike">
                          <a:solidFill>
                            <a:srgbClr val="FFFFFF"/>
                          </a:solidFill>
                          <a:effectLst/>
                          <a:latin typeface="Calibri" panose="020F0502020204030204" pitchFamily="34" charset="0"/>
                        </a:rPr>
                        <a:t>Services</a:t>
                      </a:r>
                    </a:p>
                    <a:p>
                      <a:pPr algn="ctr" fontAlgn="b"/>
                      <a:r>
                        <a:rPr lang="en-US" sz="900" b="1" i="0" u="none" strike="noStrike">
                          <a:solidFill>
                            <a:srgbClr val="FFFFFF"/>
                          </a:solidFill>
                          <a:effectLst/>
                          <a:latin typeface="Calibri" panose="020F0502020204030204" pitchFamily="34" charset="0"/>
                        </a:rPr>
                        <a:t>Solutions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Major </a:t>
                      </a:r>
                    </a:p>
                    <a:p>
                      <a:pPr algn="ctr" fontAlgn="b"/>
                      <a:r>
                        <a:rPr lang="en-US" sz="900" b="1" i="0" u="none" strike="noStrike">
                          <a:solidFill>
                            <a:srgbClr val="FFFFFF"/>
                          </a:solidFill>
                          <a:effectLst/>
                          <a:latin typeface="Calibri" panose="020F0502020204030204" pitchFamily="34" charset="0"/>
                        </a:rPr>
                        <a:t>Commercial </a:t>
                      </a:r>
                    </a:p>
                    <a:p>
                      <a:pPr algn="ctr" fontAlgn="b"/>
                      <a:r>
                        <a:rPr lang="en-US" sz="900" b="1" i="0" u="none" strike="noStrike">
                          <a:solidFill>
                            <a:srgbClr val="FFFFFF"/>
                          </a:solidFill>
                          <a:effectLst/>
                          <a:latin typeface="Calibri" panose="020F0502020204030204" pitchFamily="34" charset="0"/>
                        </a:rPr>
                        <a:t>and Gov’t </a:t>
                      </a:r>
                    </a:p>
                    <a:p>
                      <a:pPr algn="ctr" fontAlgn="b"/>
                      <a:r>
                        <a:rPr lang="en-US" sz="900" b="1" i="0" u="none" strike="noStrike">
                          <a:solidFill>
                            <a:srgbClr val="FFFFFF"/>
                          </a:solidFill>
                          <a:effectLst/>
                          <a:latin typeface="Calibri" panose="020F0502020204030204" pitchFamily="34" charset="0"/>
                        </a:rPr>
                        <a:t>Clients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 30%</a:t>
                      </a:r>
                    </a:p>
                    <a:p>
                      <a:pPr algn="ctr" fontAlgn="b"/>
                      <a:r>
                        <a:rPr lang="en-US" sz="900" b="1" i="0" u="none" strike="noStrike">
                          <a:solidFill>
                            <a:srgbClr val="FFFFFF"/>
                          </a:solidFill>
                          <a:effectLst/>
                          <a:latin typeface="Calibri" panose="020F0502020204030204" pitchFamily="34" charset="0"/>
                        </a:rPr>
                        <a:t>International</a:t>
                      </a:r>
                    </a:p>
                    <a:p>
                      <a:pPr algn="ctr" fontAlgn="b"/>
                      <a:r>
                        <a:rPr lang="en-US" sz="900" b="1" i="0" u="none" strike="noStrike">
                          <a:solidFill>
                            <a:srgbClr val="FFFFFF"/>
                          </a:solidFill>
                          <a:effectLst/>
                          <a:latin typeface="Calibri" panose="020F0502020204030204" pitchFamily="34" charset="0"/>
                        </a:rPr>
                        <a:t>Revenue and</a:t>
                      </a:r>
                    </a:p>
                    <a:p>
                      <a:pPr algn="ctr" fontAlgn="b"/>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Count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470788327"/>
                  </a:ext>
                </a:extLst>
              </a:tr>
              <a:tr h="114243">
                <a:tc>
                  <a:txBody>
                    <a:bodyPr/>
                    <a:lstStyle/>
                    <a:p>
                      <a:pPr algn="l" fontAlgn="b">
                        <a:buNone/>
                      </a:pPr>
                      <a:r>
                        <a:rPr lang="en-US" sz="900" b="0" i="0" u="none" strike="noStrike">
                          <a:solidFill>
                            <a:srgbClr val="000000"/>
                          </a:solidFill>
                          <a:effectLst/>
                          <a:latin typeface="Calibri" panose="020F0502020204030204" pitchFamily="34" charset="0"/>
                        </a:rPr>
                        <a:t>Arcadis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Netherlands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$5,512</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$3,046</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0.6x</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9235710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BAE Systems</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Aerospace and Defense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United Kingdom</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$37,377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$85,048</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2.3x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Equipment Provider</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792969627"/>
                  </a:ext>
                </a:extLst>
              </a:tr>
              <a:tr h="208001">
                <a:tc>
                  <a:txBody>
                    <a:bodyPr/>
                    <a:lstStyle/>
                    <a:p>
                      <a:pPr algn="l" fontAlgn="b">
                        <a:buNone/>
                      </a:pPr>
                      <a:r>
                        <a:rPr lang="en-US" sz="900" b="0" i="0" u="none" strike="noStrike">
                          <a:solidFill>
                            <a:srgbClr val="000000"/>
                          </a:solidFill>
                          <a:effectLst/>
                          <a:latin typeface="Calibri" panose="020F0502020204030204" pitchFamily="34" charset="0"/>
                        </a:rPr>
                        <a:t>Tata Consultancy</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India</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$29,937</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$101,599</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3.4x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IT Infrastructure Ops.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3866799775"/>
                  </a:ext>
                </a:extLst>
              </a:tr>
              <a:tr h="208001">
                <a:tc>
                  <a:txBody>
                    <a:bodyPr/>
                    <a:lstStyle/>
                    <a:p>
                      <a:pPr algn="l" fontAlgn="b">
                        <a:buNone/>
                      </a:pPr>
                      <a:r>
                        <a:rPr lang="en-US" sz="900" b="0" i="0" u="none" strike="noStrike">
                          <a:solidFill>
                            <a:srgbClr val="000000"/>
                          </a:solidFill>
                          <a:effectLst/>
                          <a:latin typeface="Calibri" panose="020F0502020204030204" pitchFamily="34" charset="0"/>
                        </a:rPr>
                        <a:t>Wipro</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India</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$10,433</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$22,324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IT Infrastructure Ops.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270588795"/>
                  </a:ext>
                </a:extLst>
              </a:tr>
              <a:tr h="114243">
                <a:tc>
                  <a:txBody>
                    <a:bodyPr/>
                    <a:lstStyle/>
                    <a:p>
                      <a:pPr algn="l" fontAlgn="b">
                        <a:buNone/>
                      </a:pPr>
                      <a:r>
                        <a:rPr lang="en-US" sz="900" b="0" i="0" u="none" strike="noStrike">
                          <a:solidFill>
                            <a:srgbClr val="000000"/>
                          </a:solidFill>
                          <a:effectLst/>
                          <a:latin typeface="Calibri" panose="020F0502020204030204" pitchFamily="34" charset="0"/>
                        </a:rPr>
                        <a:t>Willis Towers Watson</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Insurance Brokers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Ireland</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$9,708</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$28,412</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2.9x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Advisory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3845046875"/>
                  </a:ext>
                </a:extLst>
              </a:tr>
              <a:tr h="208001">
                <a:tc>
                  <a:txBody>
                    <a:bodyPr/>
                    <a:lstStyle/>
                    <a:p>
                      <a:pPr algn="l" fontAlgn="b">
                        <a:buNone/>
                      </a:pPr>
                      <a:r>
                        <a:rPr lang="en-US" sz="900" b="0" i="0" u="none" strike="noStrike">
                          <a:solidFill>
                            <a:srgbClr val="000000"/>
                          </a:solidFill>
                          <a:effectLst/>
                          <a:latin typeface="Calibri" panose="020F0502020204030204" pitchFamily="34" charset="0"/>
                        </a:rPr>
                        <a:t>Gartner</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$6,497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$12,046</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1.9x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IT Infrastructure Ops.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92139800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Sopra Steria</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France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$6,386</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$2,967</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0.5x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1477173634"/>
                  </a:ext>
                </a:extLst>
              </a:tr>
              <a:tr h="114243">
                <a:tc>
                  <a:txBody>
                    <a:bodyPr/>
                    <a:lstStyle/>
                    <a:p>
                      <a:pPr algn="l" fontAlgn="b">
                        <a:buNone/>
                      </a:pPr>
                      <a:r>
                        <a:rPr lang="en-US" sz="900" b="0" i="0" u="none" strike="noStrike">
                          <a:solidFill>
                            <a:srgbClr val="000000"/>
                          </a:solidFill>
                          <a:effectLst/>
                          <a:latin typeface="Calibri" panose="020F0502020204030204" pitchFamily="34" charset="0"/>
                        </a:rPr>
                        <a:t>Afry</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Sweden</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$2,634</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$1,636</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0.6x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826442835"/>
                  </a:ext>
                </a:extLst>
              </a:tr>
              <a:tr h="312002">
                <a:tc>
                  <a:txBody>
                    <a:bodyPr/>
                    <a:lstStyle/>
                    <a:p>
                      <a:pPr algn="l" fontAlgn="b">
                        <a:buNone/>
                      </a:pPr>
                      <a:r>
                        <a:rPr lang="en-US" sz="900" b="0" i="0" u="none" strike="noStrike">
                          <a:solidFill>
                            <a:srgbClr val="000000"/>
                          </a:solidFill>
                          <a:effectLst/>
                          <a:latin typeface="Calibri" panose="020F0502020204030204" pitchFamily="34" charset="0"/>
                        </a:rPr>
                        <a:t>TTEC</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Data Processing and Outsourced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$2,137</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$131</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0.1x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Customer Experience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318658831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Endava</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United Kingdom</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$981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$292</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0.3x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Digital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73862521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Oracle</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Systems Software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$61,016</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$444,881</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7.3x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Software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PaaS/SaaS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2181715838"/>
                  </a:ext>
                </a:extLst>
              </a:tr>
              <a:tr h="208001">
                <a:tc>
                  <a:txBody>
                    <a:bodyPr/>
                    <a:lstStyle/>
                    <a:p>
                      <a:pPr algn="l" fontAlgn="b">
                        <a:buNone/>
                      </a:pPr>
                      <a:r>
                        <a:rPr lang="en-US" sz="900" b="0" i="0" u="none" strike="noStrike">
                          <a:solidFill>
                            <a:srgbClr val="000000"/>
                          </a:solidFill>
                          <a:effectLst/>
                          <a:latin typeface="Calibri" panose="020F0502020204030204" pitchFamily="34" charset="0"/>
                        </a:rPr>
                        <a:t>CBRE Group</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Real Estate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$40,550</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$41,025</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Facilities &amp; Project Management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Facilities &amp; Project Management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744608971"/>
                  </a:ext>
                </a:extLst>
              </a:tr>
              <a:tr h="208001">
                <a:tc>
                  <a:txBody>
                    <a:bodyPr/>
                    <a:lstStyle/>
                    <a:p>
                      <a:pPr algn="l" fontAlgn="b">
                        <a:buNone/>
                      </a:pPr>
                      <a:r>
                        <a:rPr lang="en-US" sz="900" b="0" i="0" u="none" strike="noStrike">
                          <a:solidFill>
                            <a:srgbClr val="000000"/>
                          </a:solidFill>
                          <a:effectLst/>
                          <a:latin typeface="Calibri" panose="020F0502020204030204" pitchFamily="34" charset="0"/>
                        </a:rPr>
                        <a:t>Jones Lang LaSalle</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Real Estate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$26,116</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$14,494</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0.6x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Facilities Mngmt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Facilities Mngmt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237703434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Capgemini</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France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$25,399</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$21,369</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0.8x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882901402"/>
                  </a:ext>
                </a:extLst>
              </a:tr>
              <a:tr h="208001">
                <a:tc>
                  <a:txBody>
                    <a:bodyPr/>
                    <a:lstStyle/>
                    <a:p>
                      <a:pPr algn="l" fontAlgn="b">
                        <a:buNone/>
                      </a:pPr>
                      <a:r>
                        <a:rPr lang="en-US" sz="900" b="0" i="0" u="none" strike="noStrike">
                          <a:solidFill>
                            <a:srgbClr val="000000"/>
                          </a:solidFill>
                          <a:effectLst/>
                          <a:latin typeface="Calibri" panose="020F0502020204030204" pitchFamily="34" charset="0"/>
                        </a:rPr>
                        <a:t>GE HealthCare</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Health Care Equipment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$20,625</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$35,143</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1.7x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Healthcare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Manufacturing</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1921977238"/>
                  </a:ext>
                </a:extLst>
              </a:tr>
              <a:tr h="114243">
                <a:tc>
                  <a:txBody>
                    <a:bodyPr/>
                    <a:lstStyle/>
                    <a:p>
                      <a:pPr algn="l" fontAlgn="b">
                        <a:buNone/>
                      </a:pPr>
                      <a:r>
                        <a:rPr lang="en-US" sz="900" b="0" i="0" u="none" strike="noStrike">
                          <a:solidFill>
                            <a:srgbClr val="000000"/>
                          </a:solidFill>
                          <a:effectLst/>
                          <a:latin typeface="Calibri" panose="020F0502020204030204" pitchFamily="34" charset="0"/>
                        </a:rPr>
                        <a:t>Infosys</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India</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$19,847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$57,536</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2.9x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1482630642"/>
                  </a:ext>
                </a:extLst>
              </a:tr>
              <a:tr h="114243">
                <a:tc>
                  <a:txBody>
                    <a:bodyPr/>
                    <a:lstStyle/>
                    <a:p>
                      <a:pPr algn="l" fontAlgn="b">
                        <a:buNone/>
                      </a:pPr>
                      <a:r>
                        <a:rPr lang="en-US" sz="900" b="0" i="0" u="none" strike="noStrike">
                          <a:solidFill>
                            <a:srgbClr val="000000"/>
                          </a:solidFill>
                          <a:effectLst/>
                          <a:latin typeface="Calibri" panose="020F0502020204030204" pitchFamily="34" charset="0"/>
                        </a:rPr>
                        <a:t>Atos</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France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$9,394</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$893</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0.1x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1589857981"/>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9217808"/>
                  </a:ext>
                </a:extLst>
              </a:tr>
              <a:tr h="114243">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078236878"/>
                  </a:ext>
                </a:extLst>
              </a:tr>
            </a:tbl>
          </a:graphicData>
        </a:graphic>
      </p:graphicFrame>
      <p:sp>
        <p:nvSpPr>
          <p:cNvPr id="6" name="TextBox 5">
            <a:extLst>
              <a:ext uri="{FF2B5EF4-FFF2-40B4-BE49-F238E27FC236}">
                <a16:creationId xmlns:a16="http://schemas.microsoft.com/office/drawing/2014/main" id="{EF57D44D-B83B-27A0-4AEC-49E13259B4BC}"/>
              </a:ext>
            </a:extLst>
          </p:cNvPr>
          <p:cNvSpPr txBox="1"/>
          <p:nvPr/>
        </p:nvSpPr>
        <p:spPr>
          <a:xfrm>
            <a:off x="1967144" y="1135784"/>
            <a:ext cx="5243052"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effectLst/>
                <a:uLnTx/>
                <a:uFillTx/>
                <a:latin typeface="Calibri" panose="020F0502020204030204"/>
                <a:ea typeface="+mn-ea"/>
                <a:cs typeface="+mn-cs"/>
              </a:rPr>
              <a:t>Screen Applied to </a:t>
            </a:r>
            <a:r>
              <a:rPr kumimoji="0" lang="en-US" sz="1400" b="1" i="0" u="none" strike="noStrike" kern="1200" cap="none" spc="0" normalizeH="0" baseline="0" noProof="0" dirty="0" err="1">
                <a:ln>
                  <a:noFill/>
                </a:ln>
                <a:effectLst/>
                <a:uLnTx/>
                <a:uFillTx/>
                <a:latin typeface="Calibri" panose="020F0502020204030204"/>
                <a:ea typeface="+mn-ea"/>
                <a:cs typeface="+mn-cs"/>
              </a:rPr>
              <a:t>Plutos</a:t>
            </a:r>
            <a:r>
              <a:rPr kumimoji="0" lang="en-US" sz="1400" b="1" i="0" u="none" strike="noStrike" kern="1200" cap="none" spc="0" normalizeH="0" baseline="0" noProof="0" dirty="0">
                <a:ln>
                  <a:noFill/>
                </a:ln>
                <a:effectLst/>
                <a:uLnTx/>
                <a:uFillTx/>
                <a:latin typeface="Calibri" panose="020F0502020204030204"/>
                <a:ea typeface="+mn-ea"/>
                <a:cs typeface="+mn-cs"/>
              </a:rPr>
              <a:t> and PA Competitors in Non-Competes</a:t>
            </a:r>
            <a:r>
              <a:rPr kumimoji="0" lang="en-US" sz="1400" b="1" i="0" u="none" strike="noStrike" kern="1200" cap="none" spc="0" normalizeH="0" baseline="30000" noProof="0" dirty="0">
                <a:ln>
                  <a:noFill/>
                </a:ln>
                <a:effectLst/>
                <a:uLnTx/>
                <a:uFillTx/>
                <a:latin typeface="Calibri" panose="020F0502020204030204"/>
                <a:ea typeface="+mn-ea"/>
                <a:cs typeface="+mn-cs"/>
              </a:rPr>
              <a:t>(1)</a:t>
            </a:r>
          </a:p>
        </p:txBody>
      </p:sp>
      <p:sp>
        <p:nvSpPr>
          <p:cNvPr id="7" name="TextBox 6">
            <a:extLst>
              <a:ext uri="{FF2B5EF4-FFF2-40B4-BE49-F238E27FC236}">
                <a16:creationId xmlns:a16="http://schemas.microsoft.com/office/drawing/2014/main" id="{929E72F6-6798-47E1-7B29-318DE12F9770}"/>
              </a:ext>
            </a:extLst>
          </p:cNvPr>
          <p:cNvSpPr txBox="1"/>
          <p:nvPr/>
        </p:nvSpPr>
        <p:spPr>
          <a:xfrm>
            <a:off x="104489" y="6052470"/>
            <a:ext cx="437232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total (LTM) revenues</a:t>
            </a:r>
          </a:p>
          <a:p>
            <a:pPr marL="228600" indent="-228600">
              <a:buFontTx/>
              <a:buAutoNum type="arabicParenBoth"/>
            </a:pPr>
            <a:r>
              <a:rPr lang="en-US" sz="900" i="1"/>
              <a:t>Values represent non-domicile revenue as a % of total revenue</a:t>
            </a:r>
          </a:p>
        </p:txBody>
      </p:sp>
      <p:sp>
        <p:nvSpPr>
          <p:cNvPr id="8" name="Rectangle 7">
            <a:extLst>
              <a:ext uri="{FF2B5EF4-FFF2-40B4-BE49-F238E27FC236}">
                <a16:creationId xmlns:a16="http://schemas.microsoft.com/office/drawing/2014/main" id="{A4142A74-0EB6-E8E1-CABD-3430C6007523}"/>
              </a:ext>
            </a:extLst>
          </p:cNvPr>
          <p:cNvSpPr/>
          <p:nvPr/>
        </p:nvSpPr>
        <p:spPr bwMode="auto">
          <a:xfrm>
            <a:off x="6543775" y="6153319"/>
            <a:ext cx="332480" cy="94635"/>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9" name="TextBox 8">
            <a:extLst>
              <a:ext uri="{FF2B5EF4-FFF2-40B4-BE49-F238E27FC236}">
                <a16:creationId xmlns:a16="http://schemas.microsoft.com/office/drawing/2014/main" id="{80973057-26F4-3A2C-F305-D6E5C064CD3C}"/>
              </a:ext>
            </a:extLst>
          </p:cNvPr>
          <p:cNvSpPr txBox="1"/>
          <p:nvPr/>
        </p:nvSpPr>
        <p:spPr>
          <a:xfrm>
            <a:off x="6837518" y="6079296"/>
            <a:ext cx="2508646" cy="230832"/>
          </a:xfrm>
          <a:prstGeom prst="rect">
            <a:avLst/>
          </a:prstGeom>
          <a:noFill/>
        </p:spPr>
        <p:txBody>
          <a:bodyPr wrap="square" rtlCol="0" anchor="ctr">
            <a:spAutoFit/>
          </a:bodyPr>
          <a:lstStyle/>
          <a:p>
            <a:r>
              <a:rPr lang="en-US" sz="900" i="1"/>
              <a:t>Criterion that fails compensation peer screen</a:t>
            </a:r>
          </a:p>
        </p:txBody>
      </p:sp>
    </p:spTree>
    <p:extLst>
      <p:ext uri="{BB962C8B-B14F-4D97-AF65-F5344CB8AC3E}">
        <p14:creationId xmlns:p14="http://schemas.microsoft.com/office/powerpoint/2010/main" val="119079569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50125-44B0-B8A8-BAED-2BF337E2C01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CA310D5-1B3C-63E0-A166-333C9C6F6196}"/>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618D5395-79A2-8667-944D-565DED7341A1}"/>
              </a:ext>
            </a:extLst>
          </p:cNvPr>
          <p:cNvSpPr>
            <a:spLocks noGrp="1"/>
          </p:cNvSpPr>
          <p:nvPr>
            <p:ph type="title"/>
          </p:nvPr>
        </p:nvSpPr>
        <p:spPr/>
        <p:txBody>
          <a:bodyPr/>
          <a:lstStyle/>
          <a:p>
            <a:r>
              <a:rPr lang="en-US" dirty="0"/>
              <a:t>ACME reviewed consulting competitors cited by </a:t>
            </a:r>
            <a:r>
              <a:rPr lang="en-US" dirty="0" err="1"/>
              <a:t>Plutos</a:t>
            </a:r>
            <a:r>
              <a:rPr lang="en-US" dirty="0"/>
              <a:t> and PA Consulting on non-compete and other competitive lists, but none sufficiently satisfied the screening criteria </a:t>
            </a:r>
            <a:r>
              <a:rPr lang="en-US" i="1" dirty="0"/>
              <a:t>(continued)</a:t>
            </a:r>
            <a:endParaRPr lang="en-US" dirty="0"/>
          </a:p>
        </p:txBody>
      </p:sp>
      <p:sp>
        <p:nvSpPr>
          <p:cNvPr id="6" name="TextBox 5">
            <a:extLst>
              <a:ext uri="{FF2B5EF4-FFF2-40B4-BE49-F238E27FC236}">
                <a16:creationId xmlns:a16="http://schemas.microsoft.com/office/drawing/2014/main" id="{5A929DC4-D5A6-6904-D9DC-81535E94C722}"/>
              </a:ext>
            </a:extLst>
          </p:cNvPr>
          <p:cNvSpPr txBox="1"/>
          <p:nvPr/>
        </p:nvSpPr>
        <p:spPr>
          <a:xfrm>
            <a:off x="1704992" y="1278659"/>
            <a:ext cx="5767357" cy="307777"/>
          </a:xfrm>
          <a:prstGeom prst="rect">
            <a:avLst/>
          </a:prstGeom>
          <a:noFill/>
        </p:spPr>
        <p:txBody>
          <a:bodyPr wrap="square" lIns="45720" tIns="45720" rIns="45720" bIns="45720" rtlCol="0" anchor="ctr">
            <a:spAutoFit/>
          </a:bodyPr>
          <a:lstStyle/>
          <a:p>
            <a:pPr lvl="0" algn="ctr">
              <a:defRPr/>
            </a:pPr>
            <a:r>
              <a:rPr kumimoji="0" lang="en-US" sz="1400" b="1" i="0" u="none" strike="noStrike" kern="1200" cap="none" spc="0" normalizeH="0" baseline="0" noProof="0" dirty="0">
                <a:ln>
                  <a:noFill/>
                </a:ln>
                <a:effectLst/>
                <a:uLnTx/>
                <a:uFillTx/>
                <a:latin typeface="Calibri" panose="020F0502020204030204"/>
                <a:ea typeface="+mn-ea"/>
                <a:cs typeface="+mn-cs"/>
              </a:rPr>
              <a:t>Screen Applied to </a:t>
            </a:r>
            <a:r>
              <a:rPr lang="en-US" sz="1400" b="1" dirty="0" err="1"/>
              <a:t>Plutos</a:t>
            </a:r>
            <a:r>
              <a:rPr lang="en-US" sz="1400" b="1" dirty="0"/>
              <a:t> and PA Competitors in Non-Competes </a:t>
            </a:r>
            <a:r>
              <a:rPr kumimoji="0" lang="en-US" sz="1400" b="1" i="1" u="none" strike="noStrike" kern="1200" cap="none" spc="0" normalizeH="0" noProof="0" dirty="0">
                <a:ln>
                  <a:noFill/>
                </a:ln>
                <a:effectLst/>
                <a:uLnTx/>
                <a:uFillTx/>
                <a:latin typeface="Calibri" panose="020F0502020204030204"/>
                <a:ea typeface="+mn-ea"/>
                <a:cs typeface="+mn-cs"/>
              </a:rPr>
              <a:t>(continued)</a:t>
            </a:r>
            <a:r>
              <a:rPr kumimoji="0" lang="en-US" sz="1400" b="1" i="0" u="none" strike="noStrike" kern="1200" cap="none" spc="0" normalizeH="0" baseline="30000" noProof="0" dirty="0">
                <a:ln>
                  <a:noFill/>
                </a:ln>
                <a:effectLst/>
                <a:uLnTx/>
                <a:uFillTx/>
                <a:latin typeface="Calibri" panose="020F0502020204030204"/>
                <a:ea typeface="+mn-ea"/>
                <a:cs typeface="+mn-cs"/>
              </a:rPr>
              <a:t>(1)</a:t>
            </a:r>
          </a:p>
        </p:txBody>
      </p:sp>
      <p:sp>
        <p:nvSpPr>
          <p:cNvPr id="4" name="TextBox 3">
            <a:extLst>
              <a:ext uri="{FF2B5EF4-FFF2-40B4-BE49-F238E27FC236}">
                <a16:creationId xmlns:a16="http://schemas.microsoft.com/office/drawing/2014/main" id="{4195540B-E759-C7AA-704A-FD9A38ADAA69}"/>
              </a:ext>
            </a:extLst>
          </p:cNvPr>
          <p:cNvSpPr txBox="1"/>
          <p:nvPr/>
        </p:nvSpPr>
        <p:spPr>
          <a:xfrm>
            <a:off x="89600" y="5685068"/>
            <a:ext cx="437232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total (LTM) revenues</a:t>
            </a:r>
          </a:p>
          <a:p>
            <a:pPr marL="228600" indent="-228600">
              <a:buFontTx/>
              <a:buAutoNum type="arabicParenBoth"/>
            </a:pPr>
            <a:r>
              <a:rPr lang="en-US" sz="900" i="1"/>
              <a:t>Values represent non-domicile revenue as a % of total revenue</a:t>
            </a:r>
          </a:p>
        </p:txBody>
      </p:sp>
      <p:sp>
        <p:nvSpPr>
          <p:cNvPr id="7" name="Rectangle 6">
            <a:extLst>
              <a:ext uri="{FF2B5EF4-FFF2-40B4-BE49-F238E27FC236}">
                <a16:creationId xmlns:a16="http://schemas.microsoft.com/office/drawing/2014/main" id="{040DE76A-908D-1CA1-9012-AEC4383B9B8D}"/>
              </a:ext>
            </a:extLst>
          </p:cNvPr>
          <p:cNvSpPr/>
          <p:nvPr/>
        </p:nvSpPr>
        <p:spPr bwMode="auto">
          <a:xfrm>
            <a:off x="6568924" y="5781725"/>
            <a:ext cx="332480" cy="94635"/>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8" name="TextBox 7">
            <a:extLst>
              <a:ext uri="{FF2B5EF4-FFF2-40B4-BE49-F238E27FC236}">
                <a16:creationId xmlns:a16="http://schemas.microsoft.com/office/drawing/2014/main" id="{C48568B5-BAFD-18A1-D635-D9F6967D5B41}"/>
              </a:ext>
            </a:extLst>
          </p:cNvPr>
          <p:cNvSpPr txBox="1"/>
          <p:nvPr/>
        </p:nvSpPr>
        <p:spPr>
          <a:xfrm>
            <a:off x="6862667" y="5707702"/>
            <a:ext cx="2508646" cy="230832"/>
          </a:xfrm>
          <a:prstGeom prst="rect">
            <a:avLst/>
          </a:prstGeom>
          <a:noFill/>
        </p:spPr>
        <p:txBody>
          <a:bodyPr wrap="square" rtlCol="0" anchor="ctr">
            <a:spAutoFit/>
          </a:bodyPr>
          <a:lstStyle/>
          <a:p>
            <a:r>
              <a:rPr lang="en-US" sz="900" i="1"/>
              <a:t>Criterion that fails compensation peer screen</a:t>
            </a:r>
          </a:p>
        </p:txBody>
      </p:sp>
      <p:graphicFrame>
        <p:nvGraphicFramePr>
          <p:cNvPr id="10" name="Table 9">
            <a:extLst>
              <a:ext uri="{FF2B5EF4-FFF2-40B4-BE49-F238E27FC236}">
                <a16:creationId xmlns:a16="http://schemas.microsoft.com/office/drawing/2014/main" id="{94A0BDDA-4F70-313F-BF67-C9249C7E88B4}"/>
              </a:ext>
            </a:extLst>
          </p:cNvPr>
          <p:cNvGraphicFramePr>
            <a:graphicFrameLocks noGrp="1"/>
          </p:cNvGraphicFramePr>
          <p:nvPr/>
        </p:nvGraphicFramePr>
        <p:xfrm>
          <a:off x="91473" y="1557811"/>
          <a:ext cx="8961054" cy="4121912"/>
        </p:xfrm>
        <a:graphic>
          <a:graphicData uri="http://schemas.openxmlformats.org/drawingml/2006/table">
            <a:tbl>
              <a:tblPr/>
              <a:tblGrid>
                <a:gridCol w="989076">
                  <a:extLst>
                    <a:ext uri="{9D8B030D-6E8A-4147-A177-3AD203B41FA5}">
                      <a16:colId xmlns:a16="http://schemas.microsoft.com/office/drawing/2014/main" val="2752727093"/>
                    </a:ext>
                  </a:extLst>
                </a:gridCol>
                <a:gridCol w="1920240">
                  <a:extLst>
                    <a:ext uri="{9D8B030D-6E8A-4147-A177-3AD203B41FA5}">
                      <a16:colId xmlns:a16="http://schemas.microsoft.com/office/drawing/2014/main" val="473962619"/>
                    </a:ext>
                  </a:extLst>
                </a:gridCol>
                <a:gridCol w="816039">
                  <a:extLst>
                    <a:ext uri="{9D8B030D-6E8A-4147-A177-3AD203B41FA5}">
                      <a16:colId xmlns:a16="http://schemas.microsoft.com/office/drawing/2014/main" val="1606873709"/>
                    </a:ext>
                  </a:extLst>
                </a:gridCol>
                <a:gridCol w="559930">
                  <a:extLst>
                    <a:ext uri="{9D8B030D-6E8A-4147-A177-3AD203B41FA5}">
                      <a16:colId xmlns:a16="http://schemas.microsoft.com/office/drawing/2014/main" val="3427105300"/>
                    </a:ext>
                  </a:extLst>
                </a:gridCol>
                <a:gridCol w="623021">
                  <a:extLst>
                    <a:ext uri="{9D8B030D-6E8A-4147-A177-3AD203B41FA5}">
                      <a16:colId xmlns:a16="http://schemas.microsoft.com/office/drawing/2014/main" val="2953561963"/>
                    </a:ext>
                  </a:extLst>
                </a:gridCol>
                <a:gridCol w="457408">
                  <a:extLst>
                    <a:ext uri="{9D8B030D-6E8A-4147-A177-3AD203B41FA5}">
                      <a16:colId xmlns:a16="http://schemas.microsoft.com/office/drawing/2014/main" val="407520596"/>
                    </a:ext>
                  </a:extLst>
                </a:gridCol>
                <a:gridCol w="822960">
                  <a:extLst>
                    <a:ext uri="{9D8B030D-6E8A-4147-A177-3AD203B41FA5}">
                      <a16:colId xmlns:a16="http://schemas.microsoft.com/office/drawing/2014/main" val="1042747459"/>
                    </a:ext>
                  </a:extLst>
                </a:gridCol>
                <a:gridCol w="1005840">
                  <a:extLst>
                    <a:ext uri="{9D8B030D-6E8A-4147-A177-3AD203B41FA5}">
                      <a16:colId xmlns:a16="http://schemas.microsoft.com/office/drawing/2014/main" val="3681893246"/>
                    </a:ext>
                  </a:extLst>
                </a:gridCol>
                <a:gridCol w="693998">
                  <a:extLst>
                    <a:ext uri="{9D8B030D-6E8A-4147-A177-3AD203B41FA5}">
                      <a16:colId xmlns:a16="http://schemas.microsoft.com/office/drawing/2014/main" val="161630888"/>
                    </a:ext>
                  </a:extLst>
                </a:gridCol>
                <a:gridCol w="693998">
                  <a:extLst>
                    <a:ext uri="{9D8B030D-6E8A-4147-A177-3AD203B41FA5}">
                      <a16:colId xmlns:a16="http://schemas.microsoft.com/office/drawing/2014/main" val="2322060600"/>
                    </a:ext>
                  </a:extLst>
                </a:gridCol>
                <a:gridCol w="378544">
                  <a:extLst>
                    <a:ext uri="{9D8B030D-6E8A-4147-A177-3AD203B41FA5}">
                      <a16:colId xmlns:a16="http://schemas.microsoft.com/office/drawing/2014/main" val="3173688041"/>
                    </a:ext>
                  </a:extLst>
                </a:gridCol>
              </a:tblGrid>
              <a:tr h="514584">
                <a:tc>
                  <a:txBody>
                    <a:bodyPr/>
                    <a:lstStyle/>
                    <a:p>
                      <a:pPr algn="ctr" fontAlgn="b">
                        <a:buNone/>
                      </a:pPr>
                      <a:r>
                        <a:rPr lang="en-US" sz="900" b="1" i="0" u="none" strike="noStrike" dirty="0">
                          <a:solidFill>
                            <a:srgbClr val="FFFFFF"/>
                          </a:solidFill>
                          <a:effectLst/>
                          <a:latin typeface="Calibri" panose="020F0502020204030204" pitchFamily="34" charset="0"/>
                        </a:rPr>
                        <a:t>Company Name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($MMs)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Advanced</a:t>
                      </a:r>
                    </a:p>
                    <a:p>
                      <a:pPr algn="ctr" fontAlgn="b"/>
                      <a:r>
                        <a:rPr lang="en-US" sz="900" b="1" i="0" u="none" strike="noStrike">
                          <a:solidFill>
                            <a:srgbClr val="FFFFFF"/>
                          </a:solidFill>
                          <a:effectLst/>
                          <a:latin typeface="Calibri" panose="020F0502020204030204" pitchFamily="34" charset="0"/>
                        </a:rPr>
                        <a:t>Engineering and</a:t>
                      </a:r>
                    </a:p>
                    <a:p>
                      <a:pPr algn="ctr" fontAlgn="b"/>
                      <a:r>
                        <a:rPr lang="en-US" sz="900" b="1" i="0" u="none" strike="noStrike">
                          <a:solidFill>
                            <a:srgbClr val="FFFFFF"/>
                          </a:solidFill>
                          <a:effectLst/>
                          <a:latin typeface="Calibri" panose="020F0502020204030204" pitchFamily="34" charset="0"/>
                        </a:rPr>
                        <a:t>Technology Capabilities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Consulting and</a:t>
                      </a:r>
                    </a:p>
                    <a:p>
                      <a:pPr algn="ctr" fontAlgn="b"/>
                      <a:r>
                        <a:rPr lang="en-US" sz="900" b="1" i="0" u="none" strike="noStrike">
                          <a:solidFill>
                            <a:srgbClr val="FFFFFF"/>
                          </a:solidFill>
                          <a:effectLst/>
                          <a:latin typeface="Calibri" panose="020F0502020204030204" pitchFamily="34" charset="0"/>
                        </a:rPr>
                        <a:t>Professional</a:t>
                      </a:r>
                    </a:p>
                    <a:p>
                      <a:pPr algn="ctr" fontAlgn="b"/>
                      <a:r>
                        <a:rPr lang="en-US" sz="900" b="1" i="0" u="none" strike="noStrike">
                          <a:solidFill>
                            <a:srgbClr val="FFFFFF"/>
                          </a:solidFill>
                          <a:effectLst/>
                          <a:latin typeface="Calibri" panose="020F0502020204030204" pitchFamily="34" charset="0"/>
                        </a:rPr>
                        <a:t>Services</a:t>
                      </a:r>
                    </a:p>
                    <a:p>
                      <a:pPr algn="ctr" fontAlgn="b"/>
                      <a:r>
                        <a:rPr lang="en-US" sz="900" b="1" i="0" u="none" strike="noStrike">
                          <a:solidFill>
                            <a:srgbClr val="FFFFFF"/>
                          </a:solidFill>
                          <a:effectLst/>
                          <a:latin typeface="Calibri" panose="020F0502020204030204" pitchFamily="34" charset="0"/>
                        </a:rPr>
                        <a:t>Solutions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Major </a:t>
                      </a:r>
                    </a:p>
                    <a:p>
                      <a:pPr algn="ctr" fontAlgn="b"/>
                      <a:r>
                        <a:rPr lang="en-US" sz="900" b="1" i="0" u="none" strike="noStrike">
                          <a:solidFill>
                            <a:srgbClr val="FFFFFF"/>
                          </a:solidFill>
                          <a:effectLst/>
                          <a:latin typeface="Calibri" panose="020F0502020204030204" pitchFamily="34" charset="0"/>
                        </a:rPr>
                        <a:t>Commercial </a:t>
                      </a:r>
                    </a:p>
                    <a:p>
                      <a:pPr algn="ctr" fontAlgn="b"/>
                      <a:r>
                        <a:rPr lang="en-US" sz="900" b="1" i="0" u="none" strike="noStrike">
                          <a:solidFill>
                            <a:srgbClr val="FFFFFF"/>
                          </a:solidFill>
                          <a:effectLst/>
                          <a:latin typeface="Calibri" panose="020F0502020204030204" pitchFamily="34" charset="0"/>
                        </a:rPr>
                        <a:t>and Gov’t </a:t>
                      </a:r>
                    </a:p>
                    <a:p>
                      <a:pPr algn="ctr" fontAlgn="b"/>
                      <a:r>
                        <a:rPr lang="en-US" sz="900" b="1" i="0" u="none" strike="noStrike">
                          <a:solidFill>
                            <a:srgbClr val="FFFFFF"/>
                          </a:solidFill>
                          <a:effectLst/>
                          <a:latin typeface="Calibri" panose="020F0502020204030204" pitchFamily="34" charset="0"/>
                        </a:rPr>
                        <a:t>Clients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 30%</a:t>
                      </a:r>
                    </a:p>
                    <a:p>
                      <a:pPr algn="ctr" fontAlgn="b"/>
                      <a:r>
                        <a:rPr lang="en-US" sz="900" b="1" i="0" u="none" strike="noStrike">
                          <a:solidFill>
                            <a:srgbClr val="FFFFFF"/>
                          </a:solidFill>
                          <a:effectLst/>
                          <a:latin typeface="Calibri" panose="020F0502020204030204" pitchFamily="34" charset="0"/>
                        </a:rPr>
                        <a:t>International</a:t>
                      </a:r>
                    </a:p>
                    <a:p>
                      <a:pPr algn="ctr" fontAlgn="b"/>
                      <a:r>
                        <a:rPr lang="en-US" sz="900" b="1" i="0" u="none" strike="noStrike">
                          <a:solidFill>
                            <a:srgbClr val="FFFFFF"/>
                          </a:solidFill>
                          <a:effectLst/>
                          <a:latin typeface="Calibri" panose="020F0502020204030204" pitchFamily="34" charset="0"/>
                        </a:rPr>
                        <a:t>Revenue and</a:t>
                      </a:r>
                    </a:p>
                    <a:p>
                      <a:pPr algn="ctr" fontAlgn="b"/>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Count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598721486"/>
                  </a:ext>
                </a:extLst>
              </a:tr>
              <a:tr h="208199">
                <a:tc>
                  <a:txBody>
                    <a:bodyPr/>
                    <a:lstStyle/>
                    <a:p>
                      <a:pPr algn="l" fontAlgn="b">
                        <a:buNone/>
                      </a:pPr>
                      <a:r>
                        <a:rPr lang="en-US" sz="900" b="0" i="0" u="none" strike="noStrike">
                          <a:solidFill>
                            <a:srgbClr val="000000"/>
                          </a:solidFill>
                          <a:effectLst/>
                          <a:latin typeface="Calibri" panose="020F0502020204030204" pitchFamily="34" charset="0"/>
                        </a:rPr>
                        <a:t>Worley</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Australia</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$7,186</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$3,861</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0.5x</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Engineering/</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Project Management</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064570587"/>
                  </a:ext>
                </a:extLst>
              </a:tr>
              <a:tr h="312299">
                <a:tc>
                  <a:txBody>
                    <a:bodyPr/>
                    <a:lstStyle/>
                    <a:p>
                      <a:pPr algn="l" fontAlgn="b">
                        <a:buNone/>
                      </a:pPr>
                      <a:r>
                        <a:rPr lang="en-US" sz="900" b="0" i="0" u="none" strike="noStrike">
                          <a:solidFill>
                            <a:srgbClr val="000000"/>
                          </a:solidFill>
                          <a:effectLst/>
                          <a:latin typeface="Calibri" panose="020F0502020204030204" pitchFamily="34" charset="0"/>
                        </a:rPr>
                        <a:t>Capita</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Data Processing and Outsourced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United Kingdom</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$3,034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$548</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0.2x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Customer Experience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737985384"/>
                  </a:ext>
                </a:extLst>
              </a:tr>
              <a:tr h="114352">
                <a:tc>
                  <a:txBody>
                    <a:bodyPr/>
                    <a:lstStyle/>
                    <a:p>
                      <a:pPr algn="l" fontAlgn="b">
                        <a:buNone/>
                      </a:pPr>
                      <a:r>
                        <a:rPr lang="en-US" sz="900" b="0" i="0" u="none" strike="noStrike">
                          <a:solidFill>
                            <a:srgbClr val="000000"/>
                          </a:solidFill>
                          <a:effectLst/>
                          <a:latin typeface="Calibri" panose="020F0502020204030204" pitchFamily="34" charset="0"/>
                        </a:rPr>
                        <a:t>Korn Ferry</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Human Resource and Employment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$2,811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$3,397</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Talent Consulting</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2696022404"/>
                  </a:ext>
                </a:extLst>
              </a:tr>
              <a:tr h="208199">
                <a:tc>
                  <a:txBody>
                    <a:bodyPr/>
                    <a:lstStyle/>
                    <a:p>
                      <a:pPr algn="l" fontAlgn="b">
                        <a:buNone/>
                      </a:pPr>
                      <a:r>
                        <a:rPr lang="en-US" sz="900" b="0" i="0" u="none" strike="noStrike">
                          <a:solidFill>
                            <a:srgbClr val="000000"/>
                          </a:solidFill>
                          <a:effectLst/>
                          <a:latin typeface="Calibri" panose="020F0502020204030204" pitchFamily="34" charset="0"/>
                        </a:rPr>
                        <a:t>Exponent</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$537</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$3,661</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6.8x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Engineering Cosultant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686627921"/>
                  </a:ext>
                </a:extLst>
              </a:tr>
              <a:tr h="114352">
                <a:tc>
                  <a:txBody>
                    <a:bodyPr/>
                    <a:lstStyle/>
                    <a:p>
                      <a:pPr algn="l" fontAlgn="b">
                        <a:buNone/>
                      </a:pPr>
                      <a:r>
                        <a:rPr lang="en-US" sz="900" b="0" i="0" u="none" strike="noStrike">
                          <a:solidFill>
                            <a:srgbClr val="000000"/>
                          </a:solidFill>
                          <a:effectLst/>
                          <a:latin typeface="Calibri" panose="020F0502020204030204" pitchFamily="34" charset="0"/>
                        </a:rPr>
                        <a:t>Lockheed Martin</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Aerospace and Defense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$75,048</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$150,703</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2.0x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Equipment Provider</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Govt.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noFill/>
                  </a:tcPr>
                </a:tc>
                <a:extLst>
                  <a:ext uri="{0D108BD9-81ED-4DB2-BD59-A6C34878D82A}">
                    <a16:rowId xmlns:a16="http://schemas.microsoft.com/office/drawing/2014/main" val="1751254575"/>
                  </a:ext>
                </a:extLst>
              </a:tr>
              <a:tr h="114352">
                <a:tc>
                  <a:txBody>
                    <a:bodyPr/>
                    <a:lstStyle/>
                    <a:p>
                      <a:pPr algn="l" fontAlgn="b">
                        <a:buNone/>
                      </a:pPr>
                      <a:r>
                        <a:rPr lang="en-US" sz="900" b="0" i="0" u="none" strike="noStrike">
                          <a:solidFill>
                            <a:srgbClr val="000000"/>
                          </a:solidFill>
                          <a:effectLst/>
                          <a:latin typeface="Calibri" panose="020F0502020204030204" pitchFamily="34" charset="0"/>
                        </a:rPr>
                        <a:t>Northrop Grumman</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Aerospace and Defense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$41,954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$105,023</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2.5x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Equipment Provider</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Govt.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14%</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464058205"/>
                  </a:ext>
                </a:extLst>
              </a:tr>
              <a:tr h="312299">
                <a:tc>
                  <a:txBody>
                    <a:bodyPr/>
                    <a:lstStyle/>
                    <a:p>
                      <a:pPr algn="l" fontAlgn="b">
                        <a:buNone/>
                      </a:pPr>
                      <a:r>
                        <a:rPr lang="en-US" sz="900" b="0" i="0" u="none" strike="noStrike">
                          <a:solidFill>
                            <a:srgbClr val="000000"/>
                          </a:solidFill>
                          <a:effectLst/>
                          <a:latin typeface="Calibri" panose="020F0502020204030204" pitchFamily="34" charset="0"/>
                        </a:rPr>
                        <a:t>IQVIA</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Life Sciences Tools and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$16,310</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$29,964</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1.8x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SaaS/</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Healthcare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SaaS/</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Healthcare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noFill/>
                  </a:tcPr>
                </a:tc>
                <a:extLst>
                  <a:ext uri="{0D108BD9-81ED-4DB2-BD59-A6C34878D82A}">
                    <a16:rowId xmlns:a16="http://schemas.microsoft.com/office/drawing/2014/main" val="1028134377"/>
                  </a:ext>
                </a:extLst>
              </a:tr>
              <a:tr h="114352">
                <a:tc>
                  <a:txBody>
                    <a:bodyPr/>
                    <a:lstStyle/>
                    <a:p>
                      <a:pPr algn="l" fontAlgn="b">
                        <a:buNone/>
                      </a:pPr>
                      <a:r>
                        <a:rPr lang="en-US" sz="900" b="0" i="0" u="none" strike="noStrike">
                          <a:solidFill>
                            <a:srgbClr val="000000"/>
                          </a:solidFill>
                          <a:effectLst/>
                          <a:latin typeface="Calibri" panose="020F0502020204030204" pitchFamily="34" charset="0"/>
                        </a:rPr>
                        <a:t>Palantir</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Application Software</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$4,475</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$365,137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81.6x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Software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PaaS/SaaS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26%</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766927504"/>
                  </a:ext>
                </a:extLst>
              </a:tr>
              <a:tr h="208199">
                <a:tc>
                  <a:txBody>
                    <a:bodyPr/>
                    <a:lstStyle/>
                    <a:p>
                      <a:pPr algn="l" fontAlgn="b">
                        <a:buNone/>
                      </a:pPr>
                      <a:r>
                        <a:rPr lang="en-US" sz="900" b="0" i="0" u="none" strike="noStrike">
                          <a:solidFill>
                            <a:srgbClr val="000000"/>
                          </a:solidFill>
                          <a:effectLst/>
                          <a:latin typeface="Calibri" panose="020F0502020204030204" pitchFamily="34" charset="0"/>
                        </a:rPr>
                        <a:t>Huron Consulting</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$1,663</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$2,311</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Management Consulting Only</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ND</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noFill/>
                  </a:tcPr>
                </a:tc>
                <a:extLst>
                  <a:ext uri="{0D108BD9-81ED-4DB2-BD59-A6C34878D82A}">
                    <a16:rowId xmlns:a16="http://schemas.microsoft.com/office/drawing/2014/main" val="3986311567"/>
                  </a:ext>
                </a:extLst>
              </a:tr>
              <a:tr h="114352">
                <a:tc>
                  <a:txBody>
                    <a:bodyPr/>
                    <a:lstStyle/>
                    <a:p>
                      <a:pPr algn="l" fontAlgn="b">
                        <a:buNone/>
                      </a:pPr>
                      <a:r>
                        <a:rPr lang="en-US" sz="900" b="0" i="0" u="none" strike="noStrike">
                          <a:solidFill>
                            <a:srgbClr val="000000"/>
                          </a:solidFill>
                          <a:effectLst/>
                          <a:latin typeface="Calibri" panose="020F0502020204030204" pitchFamily="34" charset="0"/>
                        </a:rPr>
                        <a:t>Rapid7</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Systems Software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$860</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$464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0.5x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Software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PaaS/SaaS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29%</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861924424"/>
                  </a:ext>
                </a:extLst>
              </a:tr>
              <a:tr h="114352">
                <a:tc>
                  <a:txBody>
                    <a:bodyPr/>
                    <a:lstStyle/>
                    <a:p>
                      <a:pPr algn="l" fontAlgn="ctr">
                        <a:buNone/>
                      </a:pPr>
                      <a:r>
                        <a:rPr lang="en-US" sz="900" b="0" i="0" u="none" strike="noStrike">
                          <a:solidFill>
                            <a:srgbClr val="000000"/>
                          </a:solidFill>
                          <a:effectLst/>
                          <a:latin typeface="Calibri" panose="020F0502020204030204" pitchFamily="34" charset="0"/>
                        </a:rPr>
                        <a:t>Procore</a:t>
                      </a:r>
                    </a:p>
                  </a:txBody>
                  <a:tcPr marL="18288" marR="18288" marT="9144" marB="9144" anchor="ctr">
                    <a:lnL>
                      <a:noFill/>
                    </a:lnL>
                    <a:lnR>
                      <a:noFill/>
                    </a:lnR>
                    <a:lnT>
                      <a:noFill/>
                    </a:lnT>
                    <a:lnB>
                      <a:noFill/>
                    </a:lnB>
                    <a:noFill/>
                  </a:tcPr>
                </a:tc>
                <a:tc>
                  <a:txBody>
                    <a:bodyPr/>
                    <a:lstStyle/>
                    <a:p>
                      <a:pPr algn="l" fontAlgn="ctr">
                        <a:buNone/>
                      </a:pPr>
                      <a:r>
                        <a:rPr lang="en-US" sz="900" b="0" i="0" u="none" strike="noStrike">
                          <a:solidFill>
                            <a:srgbClr val="000000"/>
                          </a:solidFill>
                          <a:effectLst/>
                          <a:latin typeface="Calibri" panose="020F0502020204030204" pitchFamily="34" charset="0"/>
                        </a:rPr>
                        <a:t>Application Software</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$1,323</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$8,896</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6.7x</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PaaS</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PaaS</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15%</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0</a:t>
                      </a:r>
                    </a:p>
                  </a:txBody>
                  <a:tcPr marL="18288" marR="18288" marT="9144" marB="9144" anchor="ctr">
                    <a:lnL>
                      <a:noFill/>
                    </a:lnL>
                    <a:lnR>
                      <a:noFill/>
                    </a:lnR>
                    <a:lnT>
                      <a:noFill/>
                    </a:lnT>
                    <a:lnB>
                      <a:noFill/>
                    </a:lnB>
                    <a:noFill/>
                  </a:tcPr>
                </a:tc>
                <a:extLst>
                  <a:ext uri="{0D108BD9-81ED-4DB2-BD59-A6C34878D82A}">
                    <a16:rowId xmlns:a16="http://schemas.microsoft.com/office/drawing/2014/main" val="697296970"/>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9025189"/>
                  </a:ext>
                </a:extLst>
              </a:tr>
              <a:tr h="114352">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867848975"/>
                  </a:ext>
                </a:extLst>
              </a:tr>
            </a:tbl>
          </a:graphicData>
        </a:graphic>
      </p:graphicFrame>
    </p:spTree>
    <p:extLst>
      <p:ext uri="{BB962C8B-B14F-4D97-AF65-F5344CB8AC3E}">
        <p14:creationId xmlns:p14="http://schemas.microsoft.com/office/powerpoint/2010/main" val="116274610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3EFA5-0C59-C63C-61BB-ED2E1E5EFEC1}"/>
            </a:ext>
          </a:extLst>
        </p:cNvPr>
        <p:cNvGrpSpPr/>
        <p:nvPr/>
      </p:nvGrpSpPr>
      <p:grpSpPr>
        <a:xfrm>
          <a:off x="0" y="0"/>
          <a:ext cx="0" cy="0"/>
          <a:chOff x="0" y="0"/>
          <a:chExt cx="0" cy="0"/>
        </a:xfrm>
      </p:grpSpPr>
      <p:sp>
        <p:nvSpPr>
          <p:cNvPr id="6" name="Footer Placeholder 1">
            <a:extLst>
              <a:ext uri="{FF2B5EF4-FFF2-40B4-BE49-F238E27FC236}">
                <a16:creationId xmlns:a16="http://schemas.microsoft.com/office/drawing/2014/main" id="{176183C1-8043-C03E-4090-763FA2F65795}"/>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a:extLst>
              <a:ext uri="{FF2B5EF4-FFF2-40B4-BE49-F238E27FC236}">
                <a16:creationId xmlns:a16="http://schemas.microsoft.com/office/drawing/2014/main" id="{62AD0B7D-0A83-642E-AE7A-ADEA623216C7}"/>
              </a:ext>
            </a:extLst>
          </p:cNvPr>
          <p:cNvSpPr>
            <a:spLocks noGrp="1"/>
          </p:cNvSpPr>
          <p:nvPr>
            <p:ph type="title"/>
          </p:nvPr>
        </p:nvSpPr>
        <p:spPr>
          <a:xfrm>
            <a:off x="882650" y="44450"/>
            <a:ext cx="8169877" cy="1292225"/>
          </a:xfrm>
          <a:noFill/>
        </p:spPr>
        <p:txBody>
          <a:bodyPr/>
          <a:lstStyle/>
          <a:p>
            <a:r>
              <a:rPr lang="en-US" dirty="0"/>
              <a:t>ACME reviewed other companies identified in prior years for monitoring, as well as took a more in-depth look at certain competitors, but none sufficiently satisfied the screening criteria</a:t>
            </a:r>
          </a:p>
        </p:txBody>
      </p:sp>
      <p:sp>
        <p:nvSpPr>
          <p:cNvPr id="12" name="TextBox 11">
            <a:extLst>
              <a:ext uri="{FF2B5EF4-FFF2-40B4-BE49-F238E27FC236}">
                <a16:creationId xmlns:a16="http://schemas.microsoft.com/office/drawing/2014/main" id="{77143A50-CE41-BDED-F262-D1CAE320CA79}"/>
              </a:ext>
            </a:extLst>
          </p:cNvPr>
          <p:cNvSpPr txBox="1"/>
          <p:nvPr/>
        </p:nvSpPr>
        <p:spPr>
          <a:xfrm>
            <a:off x="2205465" y="1199051"/>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Screen Applied to Additional </a:t>
            </a:r>
            <a:r>
              <a:rPr kumimoji="0" lang="en-US" sz="1400" b="1" i="0" u="none" strike="noStrike" kern="1200" cap="none" spc="0" normalizeH="0" noProof="0">
                <a:ln>
                  <a:noFill/>
                </a:ln>
                <a:effectLst/>
                <a:uLnTx/>
                <a:uFillTx/>
                <a:latin typeface="Calibri" panose="020F0502020204030204"/>
                <a:ea typeface="+mn-ea"/>
                <a:cs typeface="+mn-cs"/>
              </a:rPr>
              <a:t>Companies</a:t>
            </a:r>
            <a:r>
              <a:rPr kumimoji="0" lang="en-US" sz="1400" b="1" i="0" u="none" strike="noStrike" kern="1200" cap="none" spc="0" normalizeH="0" baseline="30000" noProof="0">
                <a:ln>
                  <a:noFill/>
                </a:ln>
                <a:effectLst/>
                <a:uLnTx/>
                <a:uFillTx/>
                <a:latin typeface="Calibri" panose="020F0502020204030204"/>
                <a:ea typeface="+mn-ea"/>
                <a:cs typeface="+mn-cs"/>
              </a:rPr>
              <a:t>(1)</a:t>
            </a:r>
          </a:p>
        </p:txBody>
      </p:sp>
      <p:sp>
        <p:nvSpPr>
          <p:cNvPr id="20" name="TextBox 19">
            <a:extLst>
              <a:ext uri="{FF2B5EF4-FFF2-40B4-BE49-F238E27FC236}">
                <a16:creationId xmlns:a16="http://schemas.microsoft.com/office/drawing/2014/main" id="{25A09DC4-7E3D-2A01-9177-C9D004516300}"/>
              </a:ext>
            </a:extLst>
          </p:cNvPr>
          <p:cNvSpPr txBox="1"/>
          <p:nvPr/>
        </p:nvSpPr>
        <p:spPr>
          <a:xfrm>
            <a:off x="91473" y="6237593"/>
            <a:ext cx="437232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total (LTM) revenues</a:t>
            </a:r>
          </a:p>
          <a:p>
            <a:pPr marL="228600" indent="-228600">
              <a:buFontTx/>
              <a:buAutoNum type="arabicParenBoth"/>
            </a:pPr>
            <a:r>
              <a:rPr lang="en-US" sz="900" i="1"/>
              <a:t>Values represent non-domicile revenue as a % of total revenue</a:t>
            </a:r>
          </a:p>
        </p:txBody>
      </p:sp>
      <p:sp>
        <p:nvSpPr>
          <p:cNvPr id="9" name="Rectangle 8">
            <a:extLst>
              <a:ext uri="{FF2B5EF4-FFF2-40B4-BE49-F238E27FC236}">
                <a16:creationId xmlns:a16="http://schemas.microsoft.com/office/drawing/2014/main" id="{717DC830-BF17-C893-9D30-1F21677B2F02}"/>
              </a:ext>
            </a:extLst>
          </p:cNvPr>
          <p:cNvSpPr/>
          <p:nvPr/>
        </p:nvSpPr>
        <p:spPr bwMode="auto">
          <a:xfrm>
            <a:off x="6524725" y="1332127"/>
            <a:ext cx="332480" cy="94635"/>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0" name="TextBox 9">
            <a:extLst>
              <a:ext uri="{FF2B5EF4-FFF2-40B4-BE49-F238E27FC236}">
                <a16:creationId xmlns:a16="http://schemas.microsoft.com/office/drawing/2014/main" id="{A927D612-DCA7-35BC-32BA-15B1960A901A}"/>
              </a:ext>
            </a:extLst>
          </p:cNvPr>
          <p:cNvSpPr txBox="1"/>
          <p:nvPr/>
        </p:nvSpPr>
        <p:spPr>
          <a:xfrm>
            <a:off x="6818468" y="1258104"/>
            <a:ext cx="2508646" cy="230832"/>
          </a:xfrm>
          <a:prstGeom prst="rect">
            <a:avLst/>
          </a:prstGeom>
          <a:noFill/>
        </p:spPr>
        <p:txBody>
          <a:bodyPr wrap="square" rtlCol="0" anchor="ctr">
            <a:spAutoFit/>
          </a:bodyPr>
          <a:lstStyle/>
          <a:p>
            <a:r>
              <a:rPr lang="en-US" sz="900" i="1"/>
              <a:t>Criterion that fails compensation peer screen</a:t>
            </a:r>
          </a:p>
        </p:txBody>
      </p:sp>
      <p:graphicFrame>
        <p:nvGraphicFramePr>
          <p:cNvPr id="7" name="Table 6">
            <a:extLst>
              <a:ext uri="{FF2B5EF4-FFF2-40B4-BE49-F238E27FC236}">
                <a16:creationId xmlns:a16="http://schemas.microsoft.com/office/drawing/2014/main" id="{ACB0D5A4-4A8C-E1FC-9EA4-B91BCAAAFED1}"/>
              </a:ext>
            </a:extLst>
          </p:cNvPr>
          <p:cNvGraphicFramePr>
            <a:graphicFrameLocks noGrp="1"/>
          </p:cNvGraphicFramePr>
          <p:nvPr>
            <p:extLst>
              <p:ext uri="{D42A27DB-BD31-4B8C-83A1-F6EECF244321}">
                <p14:modId xmlns:p14="http://schemas.microsoft.com/office/powerpoint/2010/main" val="4249225728"/>
              </p:ext>
            </p:extLst>
          </p:nvPr>
        </p:nvGraphicFramePr>
        <p:xfrm>
          <a:off x="36990" y="1479411"/>
          <a:ext cx="9070020" cy="4798568"/>
        </p:xfrm>
        <a:graphic>
          <a:graphicData uri="http://schemas.openxmlformats.org/drawingml/2006/table">
            <a:tbl>
              <a:tblPr/>
              <a:tblGrid>
                <a:gridCol w="640080">
                  <a:extLst>
                    <a:ext uri="{9D8B030D-6E8A-4147-A177-3AD203B41FA5}">
                      <a16:colId xmlns:a16="http://schemas.microsoft.com/office/drawing/2014/main" val="683191207"/>
                    </a:ext>
                  </a:extLst>
                </a:gridCol>
                <a:gridCol w="731520">
                  <a:extLst>
                    <a:ext uri="{9D8B030D-6E8A-4147-A177-3AD203B41FA5}">
                      <a16:colId xmlns:a16="http://schemas.microsoft.com/office/drawing/2014/main" val="2766255266"/>
                    </a:ext>
                  </a:extLst>
                </a:gridCol>
                <a:gridCol w="596900">
                  <a:extLst>
                    <a:ext uri="{9D8B030D-6E8A-4147-A177-3AD203B41FA5}">
                      <a16:colId xmlns:a16="http://schemas.microsoft.com/office/drawing/2014/main" val="1060739606"/>
                    </a:ext>
                  </a:extLst>
                </a:gridCol>
                <a:gridCol w="494602">
                  <a:extLst>
                    <a:ext uri="{9D8B030D-6E8A-4147-A177-3AD203B41FA5}">
                      <a16:colId xmlns:a16="http://schemas.microsoft.com/office/drawing/2014/main" val="3678368173"/>
                    </a:ext>
                  </a:extLst>
                </a:gridCol>
                <a:gridCol w="521589">
                  <a:extLst>
                    <a:ext uri="{9D8B030D-6E8A-4147-A177-3AD203B41FA5}">
                      <a16:colId xmlns:a16="http://schemas.microsoft.com/office/drawing/2014/main" val="3838814082"/>
                    </a:ext>
                  </a:extLst>
                </a:gridCol>
                <a:gridCol w="494602">
                  <a:extLst>
                    <a:ext uri="{9D8B030D-6E8A-4147-A177-3AD203B41FA5}">
                      <a16:colId xmlns:a16="http://schemas.microsoft.com/office/drawing/2014/main" val="4198930539"/>
                    </a:ext>
                  </a:extLst>
                </a:gridCol>
                <a:gridCol w="848614">
                  <a:extLst>
                    <a:ext uri="{9D8B030D-6E8A-4147-A177-3AD203B41FA5}">
                      <a16:colId xmlns:a16="http://schemas.microsoft.com/office/drawing/2014/main" val="2368481123"/>
                    </a:ext>
                  </a:extLst>
                </a:gridCol>
                <a:gridCol w="791464">
                  <a:extLst>
                    <a:ext uri="{9D8B030D-6E8A-4147-A177-3AD203B41FA5}">
                      <a16:colId xmlns:a16="http://schemas.microsoft.com/office/drawing/2014/main" val="3699126953"/>
                    </a:ext>
                  </a:extLst>
                </a:gridCol>
                <a:gridCol w="675576">
                  <a:extLst>
                    <a:ext uri="{9D8B030D-6E8A-4147-A177-3AD203B41FA5}">
                      <a16:colId xmlns:a16="http://schemas.microsoft.com/office/drawing/2014/main" val="2252477270"/>
                    </a:ext>
                  </a:extLst>
                </a:gridCol>
                <a:gridCol w="707326">
                  <a:extLst>
                    <a:ext uri="{9D8B030D-6E8A-4147-A177-3AD203B41FA5}">
                      <a16:colId xmlns:a16="http://schemas.microsoft.com/office/drawing/2014/main" val="741363597"/>
                    </a:ext>
                  </a:extLst>
                </a:gridCol>
                <a:gridCol w="373187">
                  <a:extLst>
                    <a:ext uri="{9D8B030D-6E8A-4147-A177-3AD203B41FA5}">
                      <a16:colId xmlns:a16="http://schemas.microsoft.com/office/drawing/2014/main" val="1483787101"/>
                    </a:ext>
                  </a:extLst>
                </a:gridCol>
                <a:gridCol w="2194560">
                  <a:extLst>
                    <a:ext uri="{9D8B030D-6E8A-4147-A177-3AD203B41FA5}">
                      <a16:colId xmlns:a16="http://schemas.microsoft.com/office/drawing/2014/main" val="3435530043"/>
                    </a:ext>
                  </a:extLst>
                </a:gridCol>
              </a:tblGrid>
              <a:tr h="0">
                <a:tc>
                  <a:txBody>
                    <a:bodyPr/>
                    <a:lstStyle/>
                    <a:p>
                      <a:pPr marL="0" marR="0" lvl="0" indent="0" algn="ctr" defTabSz="914378" rtl="0" eaLnBrk="1" fontAlgn="b" latinLnBrk="0" hangingPunct="1">
                        <a:lnSpc>
                          <a:spcPct val="90000"/>
                        </a:lnSpc>
                        <a:spcBef>
                          <a:spcPts val="0"/>
                        </a:spcBef>
                        <a:spcAft>
                          <a:spcPts val="0"/>
                        </a:spcAft>
                        <a:buClrTx/>
                        <a:buSzTx/>
                        <a:buFontTx/>
                        <a:buNone/>
                        <a:tabLst/>
                        <a:defRPr/>
                      </a:pPr>
                      <a:r>
                        <a:rPr lang="en-US" sz="900" b="1" i="0" u="none" strike="noStrike" dirty="0">
                          <a:solidFill>
                            <a:srgbClr val="FFFFFF"/>
                          </a:solidFill>
                          <a:effectLst/>
                          <a:latin typeface="Calibri" panose="020F0502020204030204" pitchFamily="34" charset="0"/>
                        </a:rPr>
                        <a:t>Company</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Industry</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Domicile</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lnSpc>
                          <a:spcPct val="90000"/>
                        </a:lnSpc>
                        <a:buNone/>
                      </a:pPr>
                      <a:r>
                        <a:rPr lang="fr-FR" sz="900" b="1" i="0" u="none" strike="noStrike">
                          <a:solidFill>
                            <a:srgbClr val="FFFFFF"/>
                          </a:solidFill>
                          <a:effectLst/>
                          <a:latin typeface="Calibri" panose="020F0502020204030204" pitchFamily="34" charset="0"/>
                        </a:rPr>
                        <a:t>Revenue</a:t>
                      </a:r>
                    </a:p>
                    <a:p>
                      <a:pPr algn="ctr" fontAlgn="b">
                        <a:lnSpc>
                          <a:spcPct val="90000"/>
                        </a:lnSpc>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a:t>
                      </a:r>
                    </a:p>
                    <a:p>
                      <a:pPr algn="ctr" fontAlgn="b">
                        <a:lnSpc>
                          <a:spcPct val="90000"/>
                        </a:lnSpc>
                        <a:buNone/>
                      </a:pPr>
                      <a:r>
                        <a:rPr lang="en-US" sz="900" b="1" i="0" u="none" strike="noStrike">
                          <a:solidFill>
                            <a:srgbClr val="FFFFFF"/>
                          </a:solidFill>
                          <a:effectLst/>
                          <a:latin typeface="Calibri" panose="020F0502020204030204" pitchFamily="34" charset="0"/>
                        </a:rPr>
                        <a:t>3/5/2026</a:t>
                      </a:r>
                    </a:p>
                    <a:p>
                      <a:pPr algn="ctr" fontAlgn="b">
                        <a:lnSpc>
                          <a:spcPct val="90000"/>
                        </a:lnSpc>
                        <a:buNone/>
                      </a:pPr>
                      <a:r>
                        <a:rPr lang="en-US" sz="900" b="1" i="0" u="none" strike="noStrike">
                          <a:solidFill>
                            <a:srgbClr val="FFFFFF"/>
                          </a:solidFill>
                          <a:effectLst/>
                          <a:latin typeface="Calibri" panose="020F0502020204030204" pitchFamily="34" charset="0"/>
                        </a:rPr>
                        <a:t>($</a:t>
                      </a:r>
                      <a:r>
                        <a:rPr lang="en-US" sz="900" b="1" i="0" u="none" strike="noStrike" err="1">
                          <a:solidFill>
                            <a:srgbClr val="FFFFFF"/>
                          </a:solidFill>
                          <a:effectLst/>
                          <a:latin typeface="Calibri" panose="020F0502020204030204" pitchFamily="34" charset="0"/>
                        </a:rPr>
                        <a:t>MMs</a:t>
                      </a:r>
                      <a:r>
                        <a:rPr lang="en-US" sz="900" b="1" i="0" u="none" strike="noStrike">
                          <a:solidFill>
                            <a:srgbClr val="FFFFFF"/>
                          </a:solidFill>
                          <a:effectLst/>
                          <a:latin typeface="Calibri" panose="020F0502020204030204" pitchFamily="34" charset="0"/>
                        </a:rPr>
                        <a:t>)</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 to</a:t>
                      </a:r>
                    </a:p>
                    <a:p>
                      <a:pPr algn="ctr" fontAlgn="b">
                        <a:lnSpc>
                          <a:spcPct val="90000"/>
                        </a:lnSpc>
                        <a:buNone/>
                      </a:pPr>
                      <a:r>
                        <a:rPr lang="en-US" sz="900" b="1" i="0" u="none" strike="noStrike">
                          <a:solidFill>
                            <a:srgbClr val="FFFFFF"/>
                          </a:solidFill>
                          <a:effectLst/>
                          <a:latin typeface="Calibri" panose="020F0502020204030204" pitchFamily="34" charset="0"/>
                        </a:rPr>
                        <a:t>Revenue</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Advanced</a:t>
                      </a:r>
                    </a:p>
                    <a:p>
                      <a:pPr algn="ctr" fontAlgn="b">
                        <a:lnSpc>
                          <a:spcPct val="90000"/>
                        </a:lnSpc>
                      </a:pPr>
                      <a:r>
                        <a:rPr lang="en-US" sz="900" b="1" i="0" u="none" strike="noStrike">
                          <a:solidFill>
                            <a:srgbClr val="FFFFFF"/>
                          </a:solidFill>
                          <a:effectLst/>
                          <a:latin typeface="Calibri" panose="020F0502020204030204" pitchFamily="34" charset="0"/>
                        </a:rPr>
                        <a:t>Engineering and</a:t>
                      </a:r>
                    </a:p>
                    <a:p>
                      <a:pPr algn="ctr" fontAlgn="b">
                        <a:lnSpc>
                          <a:spcPct val="90000"/>
                        </a:lnSpc>
                      </a:pPr>
                      <a:r>
                        <a:rPr lang="en-US" sz="900" b="1" i="0" u="none" strike="noStrike">
                          <a:solidFill>
                            <a:srgbClr val="FFFFFF"/>
                          </a:solidFill>
                          <a:effectLst/>
                          <a:latin typeface="Calibri" panose="020F0502020204030204" pitchFamily="34" charset="0"/>
                        </a:rPr>
                        <a:t>Technology Capabilities</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Consulting and</a:t>
                      </a:r>
                    </a:p>
                    <a:p>
                      <a:pPr algn="ctr" fontAlgn="b">
                        <a:lnSpc>
                          <a:spcPct val="90000"/>
                        </a:lnSpc>
                      </a:pPr>
                      <a:r>
                        <a:rPr lang="en-US" sz="900" b="1" i="0" u="none" strike="noStrike">
                          <a:solidFill>
                            <a:srgbClr val="FFFFFF"/>
                          </a:solidFill>
                          <a:effectLst/>
                          <a:latin typeface="Calibri" panose="020F0502020204030204" pitchFamily="34" charset="0"/>
                        </a:rPr>
                        <a:t>Professional</a:t>
                      </a:r>
                    </a:p>
                    <a:p>
                      <a:pPr algn="ctr" fontAlgn="b">
                        <a:lnSpc>
                          <a:spcPct val="90000"/>
                        </a:lnSpc>
                      </a:pPr>
                      <a:r>
                        <a:rPr lang="en-US" sz="900" b="1" i="0" u="none" strike="noStrike">
                          <a:solidFill>
                            <a:srgbClr val="FFFFFF"/>
                          </a:solidFill>
                          <a:effectLst/>
                          <a:latin typeface="Calibri" panose="020F0502020204030204" pitchFamily="34" charset="0"/>
                        </a:rPr>
                        <a:t>Services</a:t>
                      </a:r>
                    </a:p>
                    <a:p>
                      <a:pPr algn="ctr" fontAlgn="b">
                        <a:lnSpc>
                          <a:spcPct val="90000"/>
                        </a:lnSpc>
                      </a:pPr>
                      <a:r>
                        <a:rPr lang="en-US" sz="900" b="1" i="0" u="none" strike="noStrike">
                          <a:solidFill>
                            <a:srgbClr val="FFFFFF"/>
                          </a:solidFill>
                          <a:effectLst/>
                          <a:latin typeface="Calibri" panose="020F0502020204030204" pitchFamily="34" charset="0"/>
                        </a:rPr>
                        <a:t>Solutions</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Major </a:t>
                      </a:r>
                    </a:p>
                    <a:p>
                      <a:pPr algn="ctr" fontAlgn="b">
                        <a:lnSpc>
                          <a:spcPct val="90000"/>
                        </a:lnSpc>
                      </a:pPr>
                      <a:r>
                        <a:rPr lang="en-US" sz="900" b="1" i="0" u="none" strike="noStrike">
                          <a:solidFill>
                            <a:srgbClr val="FFFFFF"/>
                          </a:solidFill>
                          <a:effectLst/>
                          <a:latin typeface="Calibri" panose="020F0502020204030204" pitchFamily="34" charset="0"/>
                        </a:rPr>
                        <a:t>Commercial </a:t>
                      </a:r>
                    </a:p>
                    <a:p>
                      <a:pPr algn="ctr" fontAlgn="b">
                        <a:lnSpc>
                          <a:spcPct val="90000"/>
                        </a:lnSpc>
                      </a:pPr>
                      <a:r>
                        <a:rPr lang="en-US" sz="900" b="1" i="0" u="none" strike="noStrike">
                          <a:solidFill>
                            <a:srgbClr val="FFFFFF"/>
                          </a:solidFill>
                          <a:effectLst/>
                          <a:latin typeface="Calibri" panose="020F0502020204030204" pitchFamily="34" charset="0"/>
                        </a:rPr>
                        <a:t>and Gov’t </a:t>
                      </a:r>
                    </a:p>
                    <a:p>
                      <a:pPr algn="ctr" fontAlgn="b">
                        <a:lnSpc>
                          <a:spcPct val="90000"/>
                        </a:lnSpc>
                      </a:pPr>
                      <a:r>
                        <a:rPr lang="en-US" sz="900" b="1" i="0" u="none" strike="noStrike">
                          <a:solidFill>
                            <a:srgbClr val="FFFFFF"/>
                          </a:solidFill>
                          <a:effectLst/>
                          <a:latin typeface="Calibri" panose="020F0502020204030204" pitchFamily="34" charset="0"/>
                        </a:rPr>
                        <a:t>Clients</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 30%</a:t>
                      </a:r>
                    </a:p>
                    <a:p>
                      <a:pPr algn="ctr" fontAlgn="b">
                        <a:lnSpc>
                          <a:spcPct val="90000"/>
                        </a:lnSpc>
                      </a:pPr>
                      <a:r>
                        <a:rPr lang="en-US" sz="900" b="1" i="0" u="none" strike="noStrike">
                          <a:solidFill>
                            <a:srgbClr val="FFFFFF"/>
                          </a:solidFill>
                          <a:effectLst/>
                          <a:latin typeface="Calibri" panose="020F0502020204030204" pitchFamily="34" charset="0"/>
                        </a:rPr>
                        <a:t>International</a:t>
                      </a:r>
                    </a:p>
                    <a:p>
                      <a:pPr algn="ctr" fontAlgn="b">
                        <a:lnSpc>
                          <a:spcPct val="90000"/>
                        </a:lnSpc>
                      </a:pPr>
                      <a:r>
                        <a:rPr lang="en-US" sz="900" b="1" i="0" u="none" strike="noStrike">
                          <a:solidFill>
                            <a:srgbClr val="FFFFFF"/>
                          </a:solidFill>
                          <a:effectLst/>
                          <a:latin typeface="Calibri" panose="020F0502020204030204" pitchFamily="34" charset="0"/>
                        </a:rPr>
                        <a:t>Revenue and</a:t>
                      </a:r>
                    </a:p>
                    <a:p>
                      <a:pPr algn="ctr" fontAlgn="b">
                        <a:lnSpc>
                          <a:spcPct val="90000"/>
                        </a:lnSpc>
                      </a:pPr>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Count</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Commentary</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017662376"/>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Arcadis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Netherlands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$5,512</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$3,046</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0.6x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4</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Domicile limits availability and quality of pay disclosures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Revenue driven by consulting services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Overlapping capabilities and consumer end markets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8545966"/>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Quanta</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Construction and</a:t>
                      </a:r>
                    </a:p>
                    <a:p>
                      <a:pPr algn="l" fontAlgn="b">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US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$28,480</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$82,174</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2.9x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Infrastructure</a:t>
                      </a:r>
                    </a:p>
                    <a:p>
                      <a:pPr algn="ctr" fontAlgn="b">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U.S.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electric infrastructure</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Construction-heavy infrastructure contractor</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Operational-focused</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Primarily US-based</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Overlapping capabilities and customers in energy market</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Data center services and products provider</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86635410"/>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Capgemini</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IT Consulting and Other Services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France</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$25,399</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$21,369</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0.8x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Digital/IT Services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a:t>
                      </a: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digital infrastructure</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Domicile limits availability and quality of pay disclosures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Revenue driven by consulting services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6746845"/>
                  </a:ext>
                </a:extLst>
              </a:tr>
              <a:tr h="0">
                <a:tc>
                  <a:txBody>
                    <a:bodyPr/>
                    <a:lstStyle/>
                    <a:p>
                      <a:pPr algn="l" fontAlgn="b">
                        <a:lnSpc>
                          <a:spcPct val="90000"/>
                        </a:lnSpc>
                        <a:buNone/>
                      </a:pPr>
                      <a:r>
                        <a:rPr lang="en-US" sz="900" b="0" i="0" u="none" strike="noStrike" err="1">
                          <a:solidFill>
                            <a:srgbClr val="000000"/>
                          </a:solidFill>
                          <a:effectLst/>
                          <a:latin typeface="Calibri" panose="020F0502020204030204" pitchFamily="34" charset="0"/>
                        </a:rPr>
                        <a:t>Primoris</a:t>
                      </a:r>
                      <a:endParaRPr lang="en-US" sz="9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Construction and</a:t>
                      </a:r>
                    </a:p>
                    <a:p>
                      <a:pPr algn="l" fontAlgn="b">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US</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$7,575</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$7,455</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1.0x</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Primarily</a:t>
                      </a:r>
                    </a:p>
                    <a:p>
                      <a:pPr algn="ctr" fontAlgn="b">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D7D7"/>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U.S.</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D7D7"/>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renewables and chemical infrastructure</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Self-perform construction work</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Primarily US-based</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Competitor for talent</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716465320"/>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Worley</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Australia</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$7,186</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$3,861</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0.5x</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Engineering/</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Project Management</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a:t>
                      </a: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Construction, installation, and maintenance provider</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Domicile limits availability and quality of pay disclosures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Service provider in energy, chemicals, and resources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Consulting segment</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213194"/>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Palantir</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Application Software</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US</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$4,475</a:t>
                      </a:r>
                    </a:p>
                  </a:txBody>
                  <a:tcPr marL="0" marR="0"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$365,137</a:t>
                      </a:r>
                    </a:p>
                  </a:txBody>
                  <a:tcPr marL="0" marR="0"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81.6x</a:t>
                      </a:r>
                    </a:p>
                  </a:txBody>
                  <a:tcPr marL="0" marR="0"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Software</a:t>
                      </a:r>
                    </a:p>
                    <a:p>
                      <a:pPr algn="ctr" fontAlgn="b">
                        <a:lnSpc>
                          <a:spcPct val="90000"/>
                        </a:lnSpc>
                        <a:buNone/>
                      </a:pPr>
                      <a:r>
                        <a:rPr lang="en-US" sz="900" b="0" i="0" u="none" strike="noStrike">
                          <a:solidFill>
                            <a:srgbClr val="000000"/>
                          </a:solidFill>
                          <a:effectLst/>
                          <a:latin typeface="Calibri" panose="020F0502020204030204" pitchFamily="34" charset="0"/>
                        </a:rPr>
                        <a:t>Solutions</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PaaS/SaaS</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26%</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software platforms</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Revenue driven by software subscriptions and licensing</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High government consumer base</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val="1264919085"/>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8905868"/>
                  </a:ext>
                </a:extLst>
              </a:tr>
              <a:tr h="0">
                <a:tc>
                  <a:txBody>
                    <a:bodyPr/>
                    <a:lstStyle/>
                    <a:p>
                      <a:pPr algn="l" fontAlgn="b">
                        <a:lnSpc>
                          <a:spcPct val="90000"/>
                        </a:lnSpc>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endParaRPr lang="en-US" sz="900" b="1"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$12,390</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$15,984</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1.3x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endParaRPr lang="en-US" sz="900" b="1"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570109881"/>
                  </a:ext>
                </a:extLst>
              </a:tr>
            </a:tbl>
          </a:graphicData>
        </a:graphic>
      </p:graphicFrame>
    </p:spTree>
    <p:extLst>
      <p:ext uri="{BB962C8B-B14F-4D97-AF65-F5344CB8AC3E}">
        <p14:creationId xmlns:p14="http://schemas.microsoft.com/office/powerpoint/2010/main" val="149225143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F886978-BB19-0502-88B7-630B0C7A95B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1BA3CAD7-3431-3339-C36D-8180C3EB8DA2}"/>
              </a:ext>
            </a:extLst>
          </p:cNvPr>
          <p:cNvSpPr>
            <a:spLocks noGrp="1"/>
          </p:cNvSpPr>
          <p:nvPr>
            <p:ph type="title"/>
          </p:nvPr>
        </p:nvSpPr>
        <p:spPr/>
        <p:txBody>
          <a:bodyPr/>
          <a:lstStyle/>
          <a:p>
            <a:r>
              <a:rPr lang="en-US"/>
              <a:t>Capgemini would slightly impact the CEO’s competitive size-adjusted median TDC if it were included in the peer group</a:t>
            </a:r>
          </a:p>
        </p:txBody>
      </p:sp>
      <p:graphicFrame>
        <p:nvGraphicFramePr>
          <p:cNvPr id="17" name="Table 16">
            <a:extLst>
              <a:ext uri="{FF2B5EF4-FFF2-40B4-BE49-F238E27FC236}">
                <a16:creationId xmlns:a16="http://schemas.microsoft.com/office/drawing/2014/main" id="{B32C4CCF-DB6F-4648-DB97-D11D707F19A5}"/>
              </a:ext>
            </a:extLst>
          </p:cNvPr>
          <p:cNvGraphicFramePr>
            <a:graphicFrameLocks noGrp="1"/>
          </p:cNvGraphicFramePr>
          <p:nvPr>
            <p:extLst>
              <p:ext uri="{D42A27DB-BD31-4B8C-83A1-F6EECF244321}">
                <p14:modId xmlns:p14="http://schemas.microsoft.com/office/powerpoint/2010/main" val="1546997479"/>
              </p:ext>
            </p:extLst>
          </p:nvPr>
        </p:nvGraphicFramePr>
        <p:xfrm>
          <a:off x="622347" y="5237573"/>
          <a:ext cx="3562978" cy="908304"/>
        </p:xfrm>
        <a:graphic>
          <a:graphicData uri="http://schemas.openxmlformats.org/drawingml/2006/table">
            <a:tbl>
              <a:tblPr firstRow="1" bandRow="1">
                <a:tableStyleId>{A77E1047-C769-4665-AFDC-4AF39A3502B1}</a:tableStyleId>
              </a:tblPr>
              <a:tblGrid>
                <a:gridCol w="1005840">
                  <a:extLst>
                    <a:ext uri="{9D8B030D-6E8A-4147-A177-3AD203B41FA5}">
                      <a16:colId xmlns:a16="http://schemas.microsoft.com/office/drawing/2014/main" val="4155806379"/>
                    </a:ext>
                  </a:extLst>
                </a:gridCol>
                <a:gridCol w="548640">
                  <a:extLst>
                    <a:ext uri="{9D8B030D-6E8A-4147-A177-3AD203B41FA5}">
                      <a16:colId xmlns:a16="http://schemas.microsoft.com/office/drawing/2014/main" val="3034208911"/>
                    </a:ext>
                  </a:extLst>
                </a:gridCol>
                <a:gridCol w="911218">
                  <a:extLst>
                    <a:ext uri="{9D8B030D-6E8A-4147-A177-3AD203B41FA5}">
                      <a16:colId xmlns:a16="http://schemas.microsoft.com/office/drawing/2014/main" val="2177005930"/>
                    </a:ext>
                  </a:extLst>
                </a:gridCol>
                <a:gridCol w="1097280">
                  <a:extLst>
                    <a:ext uri="{9D8B030D-6E8A-4147-A177-3AD203B41FA5}">
                      <a16:colId xmlns:a16="http://schemas.microsoft.com/office/drawing/2014/main" val="3267510893"/>
                    </a:ext>
                  </a:extLst>
                </a:gridCol>
              </a:tblGrid>
              <a:tr h="99329">
                <a:tc>
                  <a:txBody>
                    <a:bodyPr/>
                    <a:lstStyle/>
                    <a:p>
                      <a:r>
                        <a:rPr lang="en-US"/>
                        <a:t>Group</a:t>
                      </a:r>
                    </a:p>
                  </a:txBody>
                  <a:tcPr marL="45720" marR="45720" marT="18288" marB="18288" anchor="b"/>
                </a:tc>
                <a:tc>
                  <a:txBody>
                    <a:bodyPr/>
                    <a:lstStyle/>
                    <a:p>
                      <a:pPr algn="ctr"/>
                      <a:r>
                        <a:rPr lang="en-US"/>
                        <a:t>Peer Count</a:t>
                      </a:r>
                    </a:p>
                  </a:txBody>
                  <a:tcPr marL="45720" marR="45720" marT="18288" marB="18288" anchor="b"/>
                </a:tc>
                <a:tc>
                  <a:txBody>
                    <a:bodyPr/>
                    <a:lstStyle/>
                    <a:p>
                      <a:pPr algn="ctr"/>
                      <a:r>
                        <a:rPr lang="en-US"/>
                        <a:t>Predicted CEO TDC</a:t>
                      </a:r>
                    </a:p>
                  </a:txBody>
                  <a:tcPr marL="45720" marR="45720" marT="18288" marB="18288" anchor="b"/>
                </a:tc>
                <a:tc>
                  <a:txBody>
                    <a:bodyPr/>
                    <a:lstStyle/>
                    <a:p>
                      <a:pPr algn="ctr"/>
                      <a:r>
                        <a:rPr lang="en-US"/>
                        <a:t>Impact on CEO Market Median</a:t>
                      </a:r>
                      <a:r>
                        <a:rPr lang="en-US" baseline="30000"/>
                        <a:t>(1)</a:t>
                      </a:r>
                    </a:p>
                  </a:txBody>
                  <a:tcPr marL="45720" marR="45720" marT="18288" marB="18288" anchor="b"/>
                </a:tc>
                <a:extLst>
                  <a:ext uri="{0D108BD9-81ED-4DB2-BD59-A6C34878D82A}">
                    <a16:rowId xmlns:a16="http://schemas.microsoft.com/office/drawing/2014/main" val="2017734646"/>
                  </a:ext>
                </a:extLst>
              </a:tr>
              <a:tr h="0">
                <a:tc>
                  <a:txBody>
                    <a:bodyPr/>
                    <a:lstStyle/>
                    <a:p>
                      <a:r>
                        <a:rPr lang="en-US"/>
                        <a:t>Current Peers</a:t>
                      </a:r>
                    </a:p>
                  </a:txBody>
                  <a:tcPr marL="45720" marR="45720" marT="18288" marB="18288"/>
                </a:tc>
                <a:tc>
                  <a:txBody>
                    <a:bodyPr/>
                    <a:lstStyle/>
                    <a:p>
                      <a:pPr algn="ctr"/>
                      <a:r>
                        <a:rPr lang="en-US" b="0"/>
                        <a:t>16</a:t>
                      </a:r>
                    </a:p>
                  </a:txBody>
                  <a:tcPr marL="45720" marR="45720" marT="18288" marB="18288"/>
                </a:tc>
                <a:tc>
                  <a:txBody>
                    <a:bodyPr/>
                    <a:lstStyle/>
                    <a:p>
                      <a:pPr algn="ctr"/>
                      <a:r>
                        <a:rPr lang="en-US" b="0"/>
                        <a:t>$12.9MM</a:t>
                      </a:r>
                    </a:p>
                  </a:txBody>
                  <a:tcPr marL="45720" marR="45720" marT="18288" marB="18288"/>
                </a:tc>
                <a:tc>
                  <a:txBody>
                    <a:bodyPr/>
                    <a:lstStyle/>
                    <a:p>
                      <a:pPr algn="ctr"/>
                      <a:r>
                        <a:rPr lang="en-US" b="0"/>
                        <a:t>n/a</a:t>
                      </a:r>
                    </a:p>
                  </a:txBody>
                  <a:tcPr marL="45720" marR="45720" marT="18288" marB="18288"/>
                </a:tc>
                <a:extLst>
                  <a:ext uri="{0D108BD9-81ED-4DB2-BD59-A6C34878D82A}">
                    <a16:rowId xmlns:a16="http://schemas.microsoft.com/office/drawing/2014/main" val="3457958299"/>
                  </a:ext>
                </a:extLst>
              </a:tr>
              <a:tr h="0">
                <a:tc>
                  <a:txBody>
                    <a:bodyPr/>
                    <a:lstStyle/>
                    <a:p>
                      <a:r>
                        <a:rPr lang="en-US" b="0">
                          <a:solidFill>
                            <a:schemeClr val="tx1"/>
                          </a:solidFill>
                        </a:rPr>
                        <a:t>Proposed Peers</a:t>
                      </a:r>
                    </a:p>
                  </a:txBody>
                  <a:tcPr marL="45720" marR="45720" marT="18288" marB="18288"/>
                </a:tc>
                <a:tc>
                  <a:txBody>
                    <a:bodyPr/>
                    <a:lstStyle/>
                    <a:p>
                      <a:pPr algn="ctr"/>
                      <a:r>
                        <a:rPr lang="en-US" b="0">
                          <a:solidFill>
                            <a:schemeClr val="tx1"/>
                          </a:solidFill>
                        </a:rPr>
                        <a:t>15</a:t>
                      </a:r>
                    </a:p>
                  </a:txBody>
                  <a:tcPr marL="45720" marR="45720" marT="18288" marB="18288"/>
                </a:tc>
                <a:tc>
                  <a:txBody>
                    <a:bodyPr/>
                    <a:lstStyle/>
                    <a:p>
                      <a:pPr algn="ctr"/>
                      <a:r>
                        <a:rPr lang="en-US" b="0">
                          <a:solidFill>
                            <a:schemeClr val="tx1"/>
                          </a:solidFill>
                        </a:rPr>
                        <a:t>$12.8MM</a:t>
                      </a:r>
                    </a:p>
                  </a:txBody>
                  <a:tcPr marL="45720" marR="45720" marT="18288" marB="18288"/>
                </a:tc>
                <a:tc>
                  <a:txBody>
                    <a:bodyPr/>
                    <a:lstStyle/>
                    <a:p>
                      <a:pPr algn="ctr"/>
                      <a:r>
                        <a:rPr lang="en-US" sz="1000" b="1">
                          <a:solidFill>
                            <a:schemeClr val="tx1"/>
                          </a:solidFill>
                          <a:latin typeface="Calibri" panose="020F0502020204030204" pitchFamily="34" charset="0"/>
                          <a:cs typeface="Calibri" panose="020F0502020204030204" pitchFamily="34" charset="0"/>
                        </a:rPr>
                        <a:t>~</a:t>
                      </a:r>
                      <a:r>
                        <a:rPr lang="en-US" sz="1000" b="1">
                          <a:solidFill>
                            <a:schemeClr val="tx1"/>
                          </a:solidFill>
                        </a:rPr>
                        <a:t>$100K impact</a:t>
                      </a:r>
                      <a:endParaRPr lang="en-US" b="1">
                        <a:solidFill>
                          <a:schemeClr val="tx1"/>
                        </a:solidFill>
                      </a:endParaRPr>
                    </a:p>
                  </a:txBody>
                  <a:tcPr marL="45720" marR="45720" marT="18288" marB="18288"/>
                </a:tc>
                <a:extLst>
                  <a:ext uri="{0D108BD9-81ED-4DB2-BD59-A6C34878D82A}">
                    <a16:rowId xmlns:a16="http://schemas.microsoft.com/office/drawing/2014/main" val="4012626582"/>
                  </a:ext>
                </a:extLst>
              </a:tr>
              <a:tr h="0">
                <a:tc>
                  <a:txBody>
                    <a:bodyPr/>
                    <a:lstStyle/>
                    <a:p>
                      <a:r>
                        <a:rPr lang="en-US" b="1">
                          <a:solidFill>
                            <a:schemeClr val="accent6"/>
                          </a:solidFill>
                        </a:rPr>
                        <a:t>With Capgemini</a:t>
                      </a:r>
                    </a:p>
                  </a:txBody>
                  <a:tcPr marL="45720" marR="45720" marT="18288" marB="18288">
                    <a:lnB w="6350" cap="flat" cmpd="sng" algn="ctr">
                      <a:solidFill>
                        <a:schemeClr val="tx1"/>
                      </a:solidFill>
                      <a:prstDash val="solid"/>
                      <a:round/>
                      <a:headEnd type="none" w="med" len="med"/>
                      <a:tailEnd type="none" w="med" len="med"/>
                    </a:lnB>
                    <a:noFill/>
                  </a:tcPr>
                </a:tc>
                <a:tc>
                  <a:txBody>
                    <a:bodyPr/>
                    <a:lstStyle/>
                    <a:p>
                      <a:pPr algn="ctr"/>
                      <a:r>
                        <a:rPr lang="en-US" b="1">
                          <a:solidFill>
                            <a:schemeClr val="accent6"/>
                          </a:solidFill>
                        </a:rPr>
                        <a:t>16</a:t>
                      </a:r>
                    </a:p>
                  </a:txBody>
                  <a:tcPr marL="45720" marR="45720" marT="18288" marB="18288">
                    <a:lnB w="6350" cap="flat" cmpd="sng" algn="ctr">
                      <a:solidFill>
                        <a:schemeClr val="tx1"/>
                      </a:solidFill>
                      <a:prstDash val="solid"/>
                      <a:round/>
                      <a:headEnd type="none" w="med" len="med"/>
                      <a:tailEnd type="none" w="med" len="med"/>
                    </a:lnB>
                    <a:noFill/>
                  </a:tcPr>
                </a:tc>
                <a:tc>
                  <a:txBody>
                    <a:bodyPr/>
                    <a:lstStyle/>
                    <a:p>
                      <a:pPr algn="ctr"/>
                      <a:r>
                        <a:rPr lang="en-US" b="1">
                          <a:solidFill>
                            <a:schemeClr val="accent6"/>
                          </a:solidFill>
                        </a:rPr>
                        <a:t>$12.1MM</a:t>
                      </a:r>
                    </a:p>
                  </a:txBody>
                  <a:tcPr marL="45720" marR="45720" marT="18288" marB="18288">
                    <a:lnB w="6350" cap="flat" cmpd="sng" algn="ctr">
                      <a:solidFill>
                        <a:schemeClr val="tx1"/>
                      </a:solidFill>
                      <a:prstDash val="solid"/>
                      <a:round/>
                      <a:headEnd type="none" w="med" len="med"/>
                      <a:tailEnd type="none" w="med" len="med"/>
                    </a:lnB>
                    <a:noFill/>
                  </a:tcPr>
                </a:tc>
                <a:tc>
                  <a:txBody>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accent6"/>
                          </a:solidFill>
                          <a:latin typeface="Calibri" panose="020F0502020204030204" pitchFamily="34" charset="0"/>
                          <a:cs typeface="Calibri" panose="020F0502020204030204" pitchFamily="34" charset="0"/>
                        </a:rPr>
                        <a:t>~</a:t>
                      </a:r>
                      <a:r>
                        <a:rPr lang="en-US" sz="1000" b="1">
                          <a:solidFill>
                            <a:schemeClr val="accent6"/>
                          </a:solidFill>
                        </a:rPr>
                        <a:t>$800K impact</a:t>
                      </a:r>
                    </a:p>
                  </a:txBody>
                  <a:tcPr marL="45720" marR="45720" marT="18288" marB="18288">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2823068"/>
                  </a:ext>
                </a:extLst>
              </a:tr>
            </a:tbl>
          </a:graphicData>
        </a:graphic>
      </p:graphicFrame>
      <p:sp>
        <p:nvSpPr>
          <p:cNvPr id="18" name="TextBox 17">
            <a:extLst>
              <a:ext uri="{FF2B5EF4-FFF2-40B4-BE49-F238E27FC236}">
                <a16:creationId xmlns:a16="http://schemas.microsoft.com/office/drawing/2014/main" id="{7D29DB6D-F81F-8E64-9AA9-D20869F6A447}"/>
              </a:ext>
            </a:extLst>
          </p:cNvPr>
          <p:cNvSpPr txBox="1"/>
          <p:nvPr/>
        </p:nvSpPr>
        <p:spPr>
          <a:xfrm>
            <a:off x="622347" y="6169613"/>
            <a:ext cx="3562978" cy="355097"/>
          </a:xfrm>
          <a:prstGeom prst="rect">
            <a:avLst/>
          </a:prstGeom>
          <a:noFill/>
        </p:spPr>
        <p:txBody>
          <a:bodyPr wrap="square" lIns="45720" tIns="45720" rIns="45720" bIns="45720" rtlCol="0" anchor="ctr">
            <a:spAutoFit/>
          </a:bodyPr>
          <a:lstStyle/>
          <a:p>
            <a:pPr marL="182880" indent="-182880">
              <a:lnSpc>
                <a:spcPct val="85000"/>
              </a:lnSpc>
              <a:buAutoNum type="arabicParenBoth"/>
            </a:pPr>
            <a:r>
              <a:rPr lang="en-US" sz="1000" i="1"/>
              <a:t>The impact does not reflect the 50% blend with survey data used for determining the market for CEO pay</a:t>
            </a:r>
          </a:p>
        </p:txBody>
      </p:sp>
      <p:grpSp>
        <p:nvGrpSpPr>
          <p:cNvPr id="36" name="Group 35">
            <a:extLst>
              <a:ext uri="{FF2B5EF4-FFF2-40B4-BE49-F238E27FC236}">
                <a16:creationId xmlns:a16="http://schemas.microsoft.com/office/drawing/2014/main" id="{66B5D6D0-5EE0-016A-8F97-972B3D237AEA}"/>
              </a:ext>
            </a:extLst>
          </p:cNvPr>
          <p:cNvGrpSpPr/>
          <p:nvPr/>
        </p:nvGrpSpPr>
        <p:grpSpPr>
          <a:xfrm>
            <a:off x="642788" y="1530778"/>
            <a:ext cx="7858425" cy="3853006"/>
            <a:chOff x="566587" y="1502497"/>
            <a:chExt cx="7858425" cy="3853006"/>
          </a:xfrm>
        </p:grpSpPr>
        <p:pic>
          <p:nvPicPr>
            <p:cNvPr id="35" name="Picture 34">
              <a:extLst>
                <a:ext uri="{FF2B5EF4-FFF2-40B4-BE49-F238E27FC236}">
                  <a16:creationId xmlns:a16="http://schemas.microsoft.com/office/drawing/2014/main" id="{615A6408-95A8-083B-0B72-750D77E9B735}"/>
                </a:ext>
              </a:extLst>
            </p:cNvPr>
            <p:cNvPicPr>
              <a:picLocks noChangeAspect="1"/>
            </p:cNvPicPr>
            <p:nvPr/>
          </p:nvPicPr>
          <p:blipFill>
            <a:blip r:embed="rId2"/>
            <a:srcRect l="10060" r="1" b="15116"/>
            <a:stretch>
              <a:fillRect/>
            </a:stretch>
          </p:blipFill>
          <p:spPr>
            <a:xfrm>
              <a:off x="1351426" y="1502497"/>
              <a:ext cx="7073394" cy="3275751"/>
            </a:xfrm>
            <a:prstGeom prst="rect">
              <a:avLst/>
            </a:prstGeom>
          </p:spPr>
        </p:pic>
        <p:pic>
          <p:nvPicPr>
            <p:cNvPr id="33" name="Picture 32">
              <a:extLst>
                <a:ext uri="{FF2B5EF4-FFF2-40B4-BE49-F238E27FC236}">
                  <a16:creationId xmlns:a16="http://schemas.microsoft.com/office/drawing/2014/main" id="{365DB4D1-CC25-AC5D-542B-897DFBD59193}"/>
                </a:ext>
              </a:extLst>
            </p:cNvPr>
            <p:cNvPicPr>
              <a:picLocks noChangeAspect="1"/>
            </p:cNvPicPr>
            <p:nvPr/>
          </p:nvPicPr>
          <p:blipFill>
            <a:blip r:embed="rId3"/>
            <a:stretch>
              <a:fillRect/>
            </a:stretch>
          </p:blipFill>
          <p:spPr>
            <a:xfrm>
              <a:off x="566587" y="1502497"/>
              <a:ext cx="7858425" cy="3853006"/>
            </a:xfrm>
            <a:prstGeom prst="rect">
              <a:avLst/>
            </a:prstGeom>
          </p:spPr>
        </p:pic>
      </p:grpSp>
      <p:sp>
        <p:nvSpPr>
          <p:cNvPr id="37" name="TextBox 36">
            <a:extLst>
              <a:ext uri="{FF2B5EF4-FFF2-40B4-BE49-F238E27FC236}">
                <a16:creationId xmlns:a16="http://schemas.microsoft.com/office/drawing/2014/main" id="{20672D5E-F8ED-C489-CD8B-FB8093611DB4}"/>
              </a:ext>
            </a:extLst>
          </p:cNvPr>
          <p:cNvSpPr txBox="1"/>
          <p:nvPr/>
        </p:nvSpPr>
        <p:spPr>
          <a:xfrm>
            <a:off x="4417704" y="4054762"/>
            <a:ext cx="1952867" cy="525272"/>
          </a:xfrm>
          <a:prstGeom prst="rect">
            <a:avLst/>
          </a:prstGeom>
          <a:noFill/>
          <a:ln>
            <a:solidFill>
              <a:schemeClr val="tx1"/>
            </a:solidFill>
          </a:ln>
        </p:spPr>
        <p:txBody>
          <a:bodyPr wrap="square" lIns="45720" tIns="45720" rIns="45720" bIns="45720" rtlCol="0" anchor="ctr">
            <a:spAutoFit/>
          </a:bodyPr>
          <a:lstStyle>
            <a:defPPr>
              <a:defRPr lang="en-US"/>
            </a:defPPr>
            <a:lvl1pPr>
              <a:lnSpc>
                <a:spcPct val="85000"/>
              </a:lnSpc>
              <a:defRPr sz="1200"/>
            </a:lvl1pPr>
          </a:lstStyle>
          <a:p>
            <a:r>
              <a:rPr lang="en-US" sz="1100">
                <a:latin typeface="+mj-lt"/>
              </a:rPr>
              <a:t>Including </a:t>
            </a:r>
            <a:r>
              <a:rPr lang="en-US" sz="1100" b="1">
                <a:solidFill>
                  <a:schemeClr val="accent6"/>
                </a:solidFill>
                <a:latin typeface="+mj-lt"/>
              </a:rPr>
              <a:t>Capgemini</a:t>
            </a:r>
            <a:r>
              <a:rPr lang="en-US" sz="1100">
                <a:latin typeface="+mj-lt"/>
              </a:rPr>
              <a:t> has the effect of bringing down the size-adjusted TDC median by </a:t>
            </a:r>
            <a:r>
              <a:rPr lang="en-US" sz="1100">
                <a:latin typeface="+mj-lt"/>
                <a:cs typeface="Calibri" panose="020F0502020204030204" pitchFamily="34" charset="0"/>
              </a:rPr>
              <a:t>~</a:t>
            </a:r>
            <a:r>
              <a:rPr lang="en-US" sz="1100">
                <a:latin typeface="+mj-lt"/>
              </a:rPr>
              <a:t>$800K</a:t>
            </a:r>
          </a:p>
        </p:txBody>
      </p:sp>
      <p:cxnSp>
        <p:nvCxnSpPr>
          <p:cNvPr id="38" name="Straight Connector 37">
            <a:extLst>
              <a:ext uri="{FF2B5EF4-FFF2-40B4-BE49-F238E27FC236}">
                <a16:creationId xmlns:a16="http://schemas.microsoft.com/office/drawing/2014/main" id="{58E8189D-C338-E9B3-B380-BAE22D6C1C5A}"/>
              </a:ext>
            </a:extLst>
          </p:cNvPr>
          <p:cNvCxnSpPr>
            <a:cxnSpLocks/>
          </p:cNvCxnSpPr>
          <p:nvPr/>
        </p:nvCxnSpPr>
        <p:spPr>
          <a:xfrm flipV="1">
            <a:off x="2479040" y="3123535"/>
            <a:ext cx="0" cy="1603248"/>
          </a:xfrm>
          <a:prstGeom prst="line">
            <a:avLst/>
          </a:prstGeom>
          <a:ln w="6350">
            <a:solidFill>
              <a:srgbClr val="0070C0"/>
            </a:solidFill>
            <a:prstDash val="sysDot"/>
          </a:ln>
        </p:spPr>
        <p:style>
          <a:lnRef idx="1">
            <a:schemeClr val="dk1"/>
          </a:lnRef>
          <a:fillRef idx="0">
            <a:schemeClr val="dk1"/>
          </a:fillRef>
          <a:effectRef idx="0">
            <a:schemeClr val="dk1"/>
          </a:effectRef>
          <a:fontRef idx="minor">
            <a:schemeClr val="tx1"/>
          </a:fontRef>
        </p:style>
      </p:cxnSp>
      <p:sp>
        <p:nvSpPr>
          <p:cNvPr id="41" name="Oval 40">
            <a:extLst>
              <a:ext uri="{FF2B5EF4-FFF2-40B4-BE49-F238E27FC236}">
                <a16:creationId xmlns:a16="http://schemas.microsoft.com/office/drawing/2014/main" id="{756A32D7-5D84-4467-CB14-A717614FDB4A}"/>
              </a:ext>
            </a:extLst>
          </p:cNvPr>
          <p:cNvSpPr/>
          <p:nvPr/>
        </p:nvSpPr>
        <p:spPr>
          <a:xfrm>
            <a:off x="2359983" y="3203805"/>
            <a:ext cx="238114" cy="451562"/>
          </a:xfrm>
          <a:prstGeom prst="ellipse">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45720" rIns="45720" bIns="45720" rtlCol="0" anchor="ctr">
            <a:spAutoFit/>
          </a:bodyPr>
          <a:lstStyle/>
          <a:p>
            <a:pPr algn="ctr">
              <a:lnSpc>
                <a:spcPct val="85000"/>
              </a:lnSpc>
            </a:pPr>
            <a:endParaRPr lang="en-US" sz="1400" err="1">
              <a:solidFill>
                <a:schemeClr val="tx1"/>
              </a:solidFill>
            </a:endParaRPr>
          </a:p>
        </p:txBody>
      </p:sp>
      <p:cxnSp>
        <p:nvCxnSpPr>
          <p:cNvPr id="42" name="Straight Arrow Connector 41">
            <a:extLst>
              <a:ext uri="{FF2B5EF4-FFF2-40B4-BE49-F238E27FC236}">
                <a16:creationId xmlns:a16="http://schemas.microsoft.com/office/drawing/2014/main" id="{B9245451-0005-05E3-1F51-373B669567C5}"/>
              </a:ext>
            </a:extLst>
          </p:cNvPr>
          <p:cNvCxnSpPr>
            <a:cxnSpLocks/>
            <a:stCxn id="41" idx="6"/>
          </p:cNvCxnSpPr>
          <p:nvPr/>
        </p:nvCxnSpPr>
        <p:spPr>
          <a:xfrm>
            <a:off x="2598097" y="3429586"/>
            <a:ext cx="2796041" cy="116595"/>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pic>
        <p:nvPicPr>
          <p:cNvPr id="51" name="Picture 50">
            <a:extLst>
              <a:ext uri="{FF2B5EF4-FFF2-40B4-BE49-F238E27FC236}">
                <a16:creationId xmlns:a16="http://schemas.microsoft.com/office/drawing/2014/main" id="{67CAF5B7-C4D6-4308-D302-42DAE60AD25D}"/>
              </a:ext>
            </a:extLst>
          </p:cNvPr>
          <p:cNvPicPr>
            <a:picLocks noChangeAspect="1"/>
          </p:cNvPicPr>
          <p:nvPr/>
        </p:nvPicPr>
        <p:blipFill>
          <a:blip r:embed="rId4"/>
          <a:srcRect l="13336" t="143" r="13631" b="14068"/>
          <a:stretch>
            <a:fillRect/>
          </a:stretch>
        </p:blipFill>
        <p:spPr>
          <a:xfrm>
            <a:off x="5423963" y="3019135"/>
            <a:ext cx="679529" cy="956864"/>
          </a:xfrm>
          <a:prstGeom prst="ellipse">
            <a:avLst/>
          </a:prstGeom>
          <a:ln>
            <a:solidFill>
              <a:schemeClr val="tx1"/>
            </a:solidFill>
          </a:ln>
        </p:spPr>
      </p:pic>
      <p:cxnSp>
        <p:nvCxnSpPr>
          <p:cNvPr id="44" name="Straight Connector 43">
            <a:extLst>
              <a:ext uri="{FF2B5EF4-FFF2-40B4-BE49-F238E27FC236}">
                <a16:creationId xmlns:a16="http://schemas.microsoft.com/office/drawing/2014/main" id="{E7B8924A-02B3-A295-F308-FA232FAD5524}"/>
              </a:ext>
            </a:extLst>
          </p:cNvPr>
          <p:cNvCxnSpPr>
            <a:cxnSpLocks/>
          </p:cNvCxnSpPr>
          <p:nvPr/>
        </p:nvCxnSpPr>
        <p:spPr>
          <a:xfrm flipV="1">
            <a:off x="5763727" y="3655367"/>
            <a:ext cx="731520" cy="93716"/>
          </a:xfrm>
          <a:prstGeom prst="line">
            <a:avLst/>
          </a:prstGeom>
          <a:ln w="6350"/>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FBD454F5-780F-278F-8A51-DDC9F7E64B21}"/>
              </a:ext>
            </a:extLst>
          </p:cNvPr>
          <p:cNvCxnSpPr>
            <a:cxnSpLocks/>
          </p:cNvCxnSpPr>
          <p:nvPr/>
        </p:nvCxnSpPr>
        <p:spPr>
          <a:xfrm>
            <a:off x="5763727" y="3397070"/>
            <a:ext cx="711651" cy="46335"/>
          </a:xfrm>
          <a:prstGeom prst="line">
            <a:avLst/>
          </a:prstGeom>
          <a:ln w="6350"/>
        </p:spPr>
        <p:style>
          <a:lnRef idx="1">
            <a:schemeClr val="dk1"/>
          </a:lnRef>
          <a:fillRef idx="0">
            <a:schemeClr val="dk1"/>
          </a:fillRef>
          <a:effectRef idx="0">
            <a:schemeClr val="dk1"/>
          </a:effectRef>
          <a:fontRef idx="minor">
            <a:schemeClr val="tx1"/>
          </a:fontRef>
        </p:style>
      </p:cxnSp>
      <p:sp>
        <p:nvSpPr>
          <p:cNvPr id="57" name="TextBox 56">
            <a:extLst>
              <a:ext uri="{FF2B5EF4-FFF2-40B4-BE49-F238E27FC236}">
                <a16:creationId xmlns:a16="http://schemas.microsoft.com/office/drawing/2014/main" id="{E258CE7C-26A5-2B45-7D4A-769179BAF058}"/>
              </a:ext>
            </a:extLst>
          </p:cNvPr>
          <p:cNvSpPr txBox="1"/>
          <p:nvPr/>
        </p:nvSpPr>
        <p:spPr>
          <a:xfrm>
            <a:off x="6495247" y="3143323"/>
            <a:ext cx="1903726" cy="600164"/>
          </a:xfrm>
          <a:prstGeom prst="rect">
            <a:avLst/>
          </a:prstGeom>
          <a:noFill/>
        </p:spPr>
        <p:txBody>
          <a:bodyPr vert="horz" wrap="none" lIns="45720" tIns="45720" rIns="45720" bIns="45720" rtlCol="0" anchor="ctr">
            <a:spAutoFit/>
          </a:bodyPr>
          <a:lstStyle/>
          <a:p>
            <a:r>
              <a:rPr lang="en-US" sz="1100" b="1" u="sng"/>
              <a:t>Median for a $12B Company</a:t>
            </a:r>
          </a:p>
          <a:p>
            <a:r>
              <a:rPr lang="en-US" sz="1100" b="1"/>
              <a:t>$12.8MM with Proposed Peers</a:t>
            </a:r>
          </a:p>
          <a:p>
            <a:r>
              <a:rPr lang="en-US" sz="1100" b="1">
                <a:solidFill>
                  <a:schemeClr val="accent6"/>
                </a:solidFill>
              </a:rPr>
              <a:t>$12.1MM with Capgemini</a:t>
            </a:r>
          </a:p>
        </p:txBody>
      </p:sp>
      <p:sp>
        <p:nvSpPr>
          <p:cNvPr id="61" name="TextBox 60">
            <a:extLst>
              <a:ext uri="{FF2B5EF4-FFF2-40B4-BE49-F238E27FC236}">
                <a16:creationId xmlns:a16="http://schemas.microsoft.com/office/drawing/2014/main" id="{531713D8-6563-798B-2131-A8ABEDF76780}"/>
              </a:ext>
            </a:extLst>
          </p:cNvPr>
          <p:cNvSpPr txBox="1"/>
          <p:nvPr/>
        </p:nvSpPr>
        <p:spPr>
          <a:xfrm>
            <a:off x="2188795" y="1219998"/>
            <a:ext cx="4766411" cy="523220"/>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Proposed FY27 Compensation Peers CEO </a:t>
            </a:r>
            <a:r>
              <a:rPr lang="en-US" sz="1400" b="1" err="1">
                <a:latin typeface="Calibri" panose="020F0502020204030204"/>
              </a:rPr>
              <a:t>TDC</a:t>
            </a:r>
            <a:r>
              <a:rPr lang="en-US" sz="1400" b="1">
                <a:latin typeface="Calibri" panose="020F0502020204030204"/>
              </a:rPr>
              <a:t> vs. Revenue</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Regression Lines</a:t>
            </a:r>
          </a:p>
        </p:txBody>
      </p:sp>
      <p:sp>
        <p:nvSpPr>
          <p:cNvPr id="4" name="TextBox 3">
            <a:extLst>
              <a:ext uri="{FF2B5EF4-FFF2-40B4-BE49-F238E27FC236}">
                <a16:creationId xmlns:a16="http://schemas.microsoft.com/office/drawing/2014/main" id="{159B6D73-8DCB-BD2E-AC13-4EBAD096EDD6}"/>
              </a:ext>
            </a:extLst>
          </p:cNvPr>
          <p:cNvSpPr txBox="1"/>
          <p:nvPr/>
        </p:nvSpPr>
        <p:spPr>
          <a:xfrm>
            <a:off x="7290139" y="1155998"/>
            <a:ext cx="1554611" cy="564642"/>
          </a:xfrm>
          <a:prstGeom prst="rect">
            <a:avLst/>
          </a:prstGeom>
          <a:solidFill>
            <a:schemeClr val="accent3">
              <a:lumMod val="20000"/>
              <a:lumOff val="80000"/>
            </a:schemeClr>
          </a:solidFill>
          <a:ln w="6350">
            <a:solidFill>
              <a:schemeClr val="tx1"/>
            </a:solidFill>
          </a:ln>
        </p:spPr>
        <p:txBody>
          <a:bodyPr vert="horz" wrap="square" lIns="45720" tIns="45720" rIns="45720" bIns="45720" rtlCol="0" anchor="ctr">
            <a:spAutoFit/>
          </a:bodyPr>
          <a:lstStyle/>
          <a:p>
            <a:pPr algn="ctr">
              <a:lnSpc>
                <a:spcPct val="85000"/>
              </a:lnSpc>
            </a:pPr>
            <a:r>
              <a:rPr lang="en-US" sz="1200" i="1"/>
              <a:t>Capgemini only discloses pay for the CEO in its annual report</a:t>
            </a:r>
          </a:p>
        </p:txBody>
      </p:sp>
      <p:graphicFrame>
        <p:nvGraphicFramePr>
          <p:cNvPr id="78" name="Table 77">
            <a:extLst>
              <a:ext uri="{FF2B5EF4-FFF2-40B4-BE49-F238E27FC236}">
                <a16:creationId xmlns:a16="http://schemas.microsoft.com/office/drawing/2014/main" id="{34E96DCA-C9F5-AD9E-3A7E-99CDD8AB35E5}"/>
              </a:ext>
            </a:extLst>
          </p:cNvPr>
          <p:cNvGraphicFramePr>
            <a:graphicFrameLocks noGrp="1"/>
          </p:cNvGraphicFramePr>
          <p:nvPr>
            <p:extLst>
              <p:ext uri="{D42A27DB-BD31-4B8C-83A1-F6EECF244321}">
                <p14:modId xmlns:p14="http://schemas.microsoft.com/office/powerpoint/2010/main" val="657461668"/>
              </p:ext>
            </p:extLst>
          </p:nvPr>
        </p:nvGraphicFramePr>
        <p:xfrm>
          <a:off x="4573585" y="5689755"/>
          <a:ext cx="3607116" cy="371856"/>
        </p:xfrm>
        <a:graphic>
          <a:graphicData uri="http://schemas.openxmlformats.org/drawingml/2006/table">
            <a:tbl>
              <a:tblPr/>
              <a:tblGrid>
                <a:gridCol w="710565">
                  <a:extLst>
                    <a:ext uri="{9D8B030D-6E8A-4147-A177-3AD203B41FA5}">
                      <a16:colId xmlns:a16="http://schemas.microsoft.com/office/drawing/2014/main" val="919428294"/>
                    </a:ext>
                  </a:extLst>
                </a:gridCol>
                <a:gridCol w="515302">
                  <a:extLst>
                    <a:ext uri="{9D8B030D-6E8A-4147-A177-3AD203B41FA5}">
                      <a16:colId xmlns:a16="http://schemas.microsoft.com/office/drawing/2014/main" val="933914818"/>
                    </a:ext>
                  </a:extLst>
                </a:gridCol>
                <a:gridCol w="397828">
                  <a:extLst>
                    <a:ext uri="{9D8B030D-6E8A-4147-A177-3AD203B41FA5}">
                      <a16:colId xmlns:a16="http://schemas.microsoft.com/office/drawing/2014/main" val="1570038960"/>
                    </a:ext>
                  </a:extLst>
                </a:gridCol>
                <a:gridCol w="515302">
                  <a:extLst>
                    <a:ext uri="{9D8B030D-6E8A-4147-A177-3AD203B41FA5}">
                      <a16:colId xmlns:a16="http://schemas.microsoft.com/office/drawing/2014/main" val="3390503649"/>
                    </a:ext>
                  </a:extLst>
                </a:gridCol>
                <a:gridCol w="437515">
                  <a:extLst>
                    <a:ext uri="{9D8B030D-6E8A-4147-A177-3AD203B41FA5}">
                      <a16:colId xmlns:a16="http://schemas.microsoft.com/office/drawing/2014/main" val="1242879960"/>
                    </a:ext>
                  </a:extLst>
                </a:gridCol>
                <a:gridCol w="515302">
                  <a:extLst>
                    <a:ext uri="{9D8B030D-6E8A-4147-A177-3AD203B41FA5}">
                      <a16:colId xmlns:a16="http://schemas.microsoft.com/office/drawing/2014/main" val="2731856687"/>
                    </a:ext>
                  </a:extLst>
                </a:gridCol>
                <a:gridCol w="515302">
                  <a:extLst>
                    <a:ext uri="{9D8B030D-6E8A-4147-A177-3AD203B41FA5}">
                      <a16:colId xmlns:a16="http://schemas.microsoft.com/office/drawing/2014/main" val="2801464759"/>
                    </a:ext>
                  </a:extLst>
                </a:gridCol>
              </a:tblGrid>
              <a:tr h="184150">
                <a:tc>
                  <a:txBody>
                    <a:bodyPr/>
                    <a:lstStyle/>
                    <a:p>
                      <a:pPr algn="l" fontAlgn="b">
                        <a:buNone/>
                      </a:pPr>
                      <a:r>
                        <a:rPr lang="en-US" sz="1100" b="1" i="0" u="none" strike="noStrike">
                          <a:solidFill>
                            <a:srgbClr val="FFFFFF"/>
                          </a:solidFill>
                          <a:effectLst/>
                          <a:latin typeface="Calibri" panose="020F0502020204030204" pitchFamily="34" charset="0"/>
                        </a:rPr>
                        <a:t> Executive</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a:solidFill>
                            <a:srgbClr val="FFFFFF"/>
                          </a:solidFill>
                          <a:effectLst/>
                          <a:latin typeface="Calibri" panose="020F0502020204030204" pitchFamily="34" charset="0"/>
                        </a:rPr>
                        <a:t>Salary</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a:solidFill>
                            <a:srgbClr val="FFFFFF"/>
                          </a:solidFill>
                          <a:effectLst/>
                          <a:latin typeface="Calibri" panose="020F0502020204030204" pitchFamily="34" charset="0"/>
                        </a:rPr>
                        <a:t>STI%</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STC</a:t>
                      </a:r>
                      <a:endParaRPr lang="en-US" sz="1100" b="1" i="0" u="none" strike="noStrike">
                        <a:solidFill>
                          <a:srgbClr val="FFFFFF"/>
                        </a:solidFill>
                        <a:effectLst/>
                        <a:latin typeface="Calibri" panose="020F0502020204030204" pitchFamily="34" charset="0"/>
                      </a:endParaRP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LTI</a:t>
                      </a:r>
                      <a:r>
                        <a:rPr lang="en-US" sz="1100" b="1" i="0" u="none" strike="noStrike">
                          <a:solidFill>
                            <a:srgbClr val="FFFFFF"/>
                          </a:solidFill>
                          <a:effectLst/>
                          <a:latin typeface="Calibri" panose="020F0502020204030204" pitchFamily="34" charset="0"/>
                        </a:rPr>
                        <a:t> %</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LTI</a:t>
                      </a:r>
                      <a:endParaRPr lang="en-US" sz="1100" b="1" i="0" u="none" strike="noStrike">
                        <a:solidFill>
                          <a:srgbClr val="FFFFFF"/>
                        </a:solidFill>
                        <a:effectLst/>
                        <a:latin typeface="Calibri" panose="020F0502020204030204" pitchFamily="34" charset="0"/>
                      </a:endParaRP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TDC</a:t>
                      </a:r>
                      <a:endParaRPr lang="en-US" sz="1100" b="1" i="0" u="none" strike="noStrike">
                        <a:solidFill>
                          <a:srgbClr val="FFFFFF"/>
                        </a:solidFill>
                        <a:effectLst/>
                        <a:latin typeface="Calibri" panose="020F0502020204030204" pitchFamily="34" charset="0"/>
                      </a:endParaRPr>
                    </a:p>
                  </a:txBody>
                  <a:tcPr marL="45720" marR="45720" marT="9144" marB="9144" anchor="b">
                    <a:lnL>
                      <a:noFill/>
                    </a:lnL>
                    <a:lnR>
                      <a:noFill/>
                    </a:lnR>
                    <a:lnT>
                      <a:noFill/>
                    </a:lnT>
                    <a:lnB>
                      <a:noFill/>
                    </a:lnB>
                    <a:solidFill>
                      <a:srgbClr val="006EBE"/>
                    </a:solidFill>
                  </a:tcPr>
                </a:tc>
                <a:extLst>
                  <a:ext uri="{0D108BD9-81ED-4DB2-BD59-A6C34878D82A}">
                    <a16:rowId xmlns:a16="http://schemas.microsoft.com/office/drawing/2014/main" val="3315406046"/>
                  </a:ext>
                </a:extLst>
              </a:tr>
              <a:tr h="184150">
                <a:tc>
                  <a:txBody>
                    <a:bodyPr/>
                    <a:lstStyle/>
                    <a:p>
                      <a:pPr algn="l" fontAlgn="b">
                        <a:buNone/>
                      </a:pPr>
                      <a:r>
                        <a:rPr lang="en-US" sz="1100" b="0" i="0" u="none" strike="noStrike">
                          <a:solidFill>
                            <a:srgbClr val="000000"/>
                          </a:solidFill>
                          <a:effectLst/>
                          <a:latin typeface="Calibri" panose="020F0502020204030204" pitchFamily="34" charset="0"/>
                        </a:rPr>
                        <a:t>CEO</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$1,508</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80%</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$2,714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250%</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$3,777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$6,491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8440085"/>
                  </a:ext>
                </a:extLst>
              </a:tr>
            </a:tbl>
          </a:graphicData>
        </a:graphic>
      </p:graphicFrame>
      <p:sp>
        <p:nvSpPr>
          <p:cNvPr id="79" name="TextBox 78">
            <a:extLst>
              <a:ext uri="{FF2B5EF4-FFF2-40B4-BE49-F238E27FC236}">
                <a16:creationId xmlns:a16="http://schemas.microsoft.com/office/drawing/2014/main" id="{66E0ACE1-F5D2-C729-A3EC-63FA175F7ECC}"/>
              </a:ext>
            </a:extLst>
          </p:cNvPr>
          <p:cNvSpPr txBox="1"/>
          <p:nvPr/>
        </p:nvSpPr>
        <p:spPr>
          <a:xfrm>
            <a:off x="4738560" y="5383784"/>
            <a:ext cx="3296108" cy="307777"/>
          </a:xfrm>
          <a:prstGeom prst="rect">
            <a:avLst/>
          </a:prstGeom>
          <a:noFill/>
        </p:spPr>
        <p:txBody>
          <a:bodyPr wrap="square" rtlCol="0">
            <a:spAutoFit/>
          </a:bodyPr>
          <a:lstStyle/>
          <a:p>
            <a:pPr algn="ctr" defTabSz="1219170" fontAlgn="auto">
              <a:spcBef>
                <a:spcPts val="0"/>
              </a:spcBef>
              <a:spcAft>
                <a:spcPts val="0"/>
              </a:spcAft>
              <a:defRPr/>
            </a:pPr>
            <a:r>
              <a:rPr lang="en-US" sz="1400" b="1">
                <a:latin typeface="Calibri" panose="020F0502020204030204"/>
                <a:cs typeface="+mn-cs"/>
              </a:rPr>
              <a:t>FY25 Capgemini CEO Target Pay ($000s)</a:t>
            </a:r>
          </a:p>
        </p:txBody>
      </p:sp>
      <p:sp>
        <p:nvSpPr>
          <p:cNvPr id="7" name="TextBox 6">
            <a:extLst>
              <a:ext uri="{FF2B5EF4-FFF2-40B4-BE49-F238E27FC236}">
                <a16:creationId xmlns:a16="http://schemas.microsoft.com/office/drawing/2014/main" id="{5C8F888D-4B7D-C6ED-B8AA-AC8ACBAB877E}"/>
              </a:ext>
            </a:extLst>
          </p:cNvPr>
          <p:cNvSpPr txBox="1"/>
          <p:nvPr/>
        </p:nvSpPr>
        <p:spPr>
          <a:xfrm>
            <a:off x="8017444" y="1773484"/>
            <a:ext cx="2253111" cy="485902"/>
          </a:xfrm>
          <a:prstGeom prst="rect">
            <a:avLst/>
          </a:prstGeom>
          <a:solidFill>
            <a:schemeClr val="accent3"/>
          </a:solidFill>
        </p:spPr>
        <p:txBody>
          <a:bodyPr vert="horz" wrap="square" lIns="45720" tIns="45720" rIns="45720" bIns="45720" rtlCol="0" anchor="ctr">
            <a:spAutoFit/>
          </a:bodyPr>
          <a:lstStyle/>
          <a:p>
            <a:pPr>
              <a:lnSpc>
                <a:spcPct val="85000"/>
              </a:lnSpc>
            </a:pPr>
            <a:r>
              <a:rPr lang="en-US" sz="1000"/>
              <a:t>Page to be updated to match mini deck or deleted based on RAF rec after sending mini deck to management</a:t>
            </a:r>
          </a:p>
        </p:txBody>
      </p:sp>
    </p:spTree>
    <p:extLst>
      <p:ext uri="{BB962C8B-B14F-4D97-AF65-F5344CB8AC3E}">
        <p14:creationId xmlns:p14="http://schemas.microsoft.com/office/powerpoint/2010/main" val="365603310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108864E-251D-9597-4F6D-E49651158EE2}"/>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0641226D-827A-7CDD-88F5-35FC17917D52}"/>
              </a:ext>
            </a:extLst>
          </p:cNvPr>
          <p:cNvSpPr>
            <a:spLocks noGrp="1"/>
          </p:cNvSpPr>
          <p:nvPr>
            <p:ph type="title"/>
          </p:nvPr>
        </p:nvSpPr>
        <p:spPr/>
        <p:txBody>
          <a:bodyPr/>
          <a:lstStyle/>
          <a:p>
            <a:r>
              <a:rPr lang="en-US" dirty="0"/>
              <a:t>Capgemini's incentive plans are similar to those of </a:t>
            </a:r>
            <a:r>
              <a:rPr lang="en-US" dirty="0" err="1"/>
              <a:t>Plutos</a:t>
            </a:r>
            <a:r>
              <a:rPr lang="en-US" dirty="0"/>
              <a:t>’ current peers</a:t>
            </a:r>
          </a:p>
        </p:txBody>
      </p:sp>
      <p:sp>
        <p:nvSpPr>
          <p:cNvPr id="5" name="TextBox 4">
            <a:extLst>
              <a:ext uri="{FF2B5EF4-FFF2-40B4-BE49-F238E27FC236}">
                <a16:creationId xmlns:a16="http://schemas.microsoft.com/office/drawing/2014/main" id="{125737B5-3BFF-F3E3-0CAA-F2723320C73C}"/>
              </a:ext>
            </a:extLst>
          </p:cNvPr>
          <p:cNvSpPr txBox="1"/>
          <p:nvPr/>
        </p:nvSpPr>
        <p:spPr>
          <a:xfrm>
            <a:off x="3073769" y="1391842"/>
            <a:ext cx="2996462" cy="307777"/>
          </a:xfrm>
          <a:prstGeom prst="rect">
            <a:avLst/>
          </a:prstGeom>
          <a:noFill/>
        </p:spPr>
        <p:txBody>
          <a:bodyPr wrap="square" rtlCol="0">
            <a:spAutoFit/>
          </a:bodyPr>
          <a:lstStyle/>
          <a:p>
            <a:pPr algn="ctr" defTabSz="1219170" fontAlgn="auto">
              <a:spcBef>
                <a:spcPts val="0"/>
              </a:spcBef>
              <a:spcAft>
                <a:spcPts val="0"/>
              </a:spcAft>
              <a:defRPr/>
            </a:pPr>
            <a:r>
              <a:rPr lang="en-US" sz="1400" b="1">
                <a:latin typeface="Calibri" panose="020F0502020204030204"/>
                <a:cs typeface="+mn-cs"/>
              </a:rPr>
              <a:t>Annual Incentive</a:t>
            </a:r>
            <a:r>
              <a:rPr lang="en-US" sz="1400" b="1">
                <a:latin typeface="Calibri" panose="020F0502020204030204"/>
              </a:rPr>
              <a:t> </a:t>
            </a:r>
            <a:r>
              <a:rPr lang="en-US" sz="1400" b="1">
                <a:latin typeface="Calibri" panose="020F0502020204030204"/>
                <a:cs typeface="+mn-cs"/>
              </a:rPr>
              <a:t>Plan</a:t>
            </a:r>
          </a:p>
        </p:txBody>
      </p:sp>
      <p:sp>
        <p:nvSpPr>
          <p:cNvPr id="43" name="Rectangle 42">
            <a:extLst>
              <a:ext uri="{FF2B5EF4-FFF2-40B4-BE49-F238E27FC236}">
                <a16:creationId xmlns:a16="http://schemas.microsoft.com/office/drawing/2014/main" id="{EE15D643-B839-79BC-FB4F-DCBD8BA48A45}"/>
              </a:ext>
            </a:extLst>
          </p:cNvPr>
          <p:cNvSpPr/>
          <p:nvPr/>
        </p:nvSpPr>
        <p:spPr bwMode="auto">
          <a:xfrm>
            <a:off x="2351834" y="3961526"/>
            <a:ext cx="4133807" cy="2005941"/>
          </a:xfrm>
          <a:prstGeom prst="rect">
            <a:avLst/>
          </a:prstGeom>
          <a:no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29421" eaLnBrk="0" hangingPunct="0">
              <a:defRPr/>
            </a:pPr>
            <a:endParaRPr lang="en-US" sz="1451" kern="0">
              <a:solidFill>
                <a:prstClr val="black"/>
              </a:solidFill>
              <a:latin typeface="Calibri" panose="020F0502020204030204" pitchFamily="34" charset="0"/>
              <a:cs typeface="Calibri" panose="020F0502020204030204" pitchFamily="34" charset="0"/>
            </a:endParaRPr>
          </a:p>
        </p:txBody>
      </p:sp>
      <p:graphicFrame>
        <p:nvGraphicFramePr>
          <p:cNvPr id="44" name="Table 43">
            <a:extLst>
              <a:ext uri="{FF2B5EF4-FFF2-40B4-BE49-F238E27FC236}">
                <a16:creationId xmlns:a16="http://schemas.microsoft.com/office/drawing/2014/main" id="{48C3E666-E438-447C-E8D1-1214D385D284}"/>
              </a:ext>
            </a:extLst>
          </p:cNvPr>
          <p:cNvGraphicFramePr>
            <a:graphicFrameLocks noGrp="1"/>
          </p:cNvGraphicFramePr>
          <p:nvPr>
            <p:extLst>
              <p:ext uri="{D42A27DB-BD31-4B8C-83A1-F6EECF244321}">
                <p14:modId xmlns:p14="http://schemas.microsoft.com/office/powerpoint/2010/main" val="3876488224"/>
              </p:ext>
            </p:extLst>
          </p:nvPr>
        </p:nvGraphicFramePr>
        <p:xfrm>
          <a:off x="3717858" y="4154837"/>
          <a:ext cx="683430" cy="831012"/>
        </p:xfrm>
        <a:graphic>
          <a:graphicData uri="http://schemas.openxmlformats.org/drawingml/2006/table">
            <a:tbl>
              <a:tblPr firstRow="1" bandRow="1"/>
              <a:tblGrid>
                <a:gridCol w="683430">
                  <a:extLst>
                    <a:ext uri="{9D8B030D-6E8A-4147-A177-3AD203B41FA5}">
                      <a16:colId xmlns:a16="http://schemas.microsoft.com/office/drawing/2014/main" val="20000"/>
                    </a:ext>
                  </a:extLst>
                </a:gridCol>
              </a:tblGrid>
              <a:tr h="23540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000">
                          <a:solidFill>
                            <a:schemeClr val="tx1"/>
                          </a:solidFill>
                          <a:latin typeface="Calibri" panose="020F0502020204030204" pitchFamily="34" charset="0"/>
                          <a:cs typeface="Calibri" panose="020F0502020204030204" pitchFamily="34" charset="0"/>
                        </a:rPr>
                        <a:t>40%</a:t>
                      </a:r>
                    </a:p>
                  </a:txBody>
                  <a:tcPr marL="87086" marR="87086"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DD7FF">
                        <a:lumMod val="20000"/>
                        <a:lumOff val="80000"/>
                      </a:srgbClr>
                    </a:solidFill>
                  </a:tcPr>
                </a:tc>
                <a:extLst>
                  <a:ext uri="{0D108BD9-81ED-4DB2-BD59-A6C34878D82A}">
                    <a16:rowId xmlns:a16="http://schemas.microsoft.com/office/drawing/2014/main" val="10000"/>
                  </a:ext>
                </a:extLst>
              </a:tr>
              <a:tr h="591526">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Relative Share Price</a:t>
                      </a:r>
                      <a:endParaRPr lang="en-US" sz="1100" b="1">
                        <a:solidFill>
                          <a:schemeClr val="tx2"/>
                        </a:solidFill>
                        <a:latin typeface="Calibri" panose="020F0502020204030204" pitchFamily="34" charset="0"/>
                        <a:cs typeface="Calibri" panose="020F0502020204030204" pitchFamily="34" charset="0"/>
                      </a:endParaRP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5" name="Plus 40">
            <a:extLst>
              <a:ext uri="{FF2B5EF4-FFF2-40B4-BE49-F238E27FC236}">
                <a16:creationId xmlns:a16="http://schemas.microsoft.com/office/drawing/2014/main" id="{0F137AAD-4BDB-836C-A3CA-A5CCBB30985F}"/>
              </a:ext>
            </a:extLst>
          </p:cNvPr>
          <p:cNvSpPr/>
          <p:nvPr/>
        </p:nvSpPr>
        <p:spPr bwMode="auto">
          <a:xfrm>
            <a:off x="4398215" y="4460766"/>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graphicFrame>
        <p:nvGraphicFramePr>
          <p:cNvPr id="46" name="Table 45">
            <a:extLst>
              <a:ext uri="{FF2B5EF4-FFF2-40B4-BE49-F238E27FC236}">
                <a16:creationId xmlns:a16="http://schemas.microsoft.com/office/drawing/2014/main" id="{4E824D2E-6A9E-1318-A9C1-B3BF5DFD5E32}"/>
              </a:ext>
            </a:extLst>
          </p:cNvPr>
          <p:cNvGraphicFramePr>
            <a:graphicFrameLocks noGrp="1"/>
          </p:cNvGraphicFramePr>
          <p:nvPr>
            <p:extLst>
              <p:ext uri="{D42A27DB-BD31-4B8C-83A1-F6EECF244321}">
                <p14:modId xmlns:p14="http://schemas.microsoft.com/office/powerpoint/2010/main" val="352438090"/>
              </p:ext>
            </p:extLst>
          </p:nvPr>
        </p:nvGraphicFramePr>
        <p:xfrm>
          <a:off x="4619136" y="4144276"/>
          <a:ext cx="683430" cy="852134"/>
        </p:xfrm>
        <a:graphic>
          <a:graphicData uri="http://schemas.openxmlformats.org/drawingml/2006/table">
            <a:tbl>
              <a:tblPr firstRow="1" bandRow="1"/>
              <a:tblGrid>
                <a:gridCol w="683430">
                  <a:extLst>
                    <a:ext uri="{9D8B030D-6E8A-4147-A177-3AD203B41FA5}">
                      <a16:colId xmlns:a16="http://schemas.microsoft.com/office/drawing/2014/main" val="20000"/>
                    </a:ext>
                  </a:extLst>
                </a:gridCol>
              </a:tblGrid>
              <a:tr h="23540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000">
                          <a:solidFill>
                            <a:schemeClr val="tx1"/>
                          </a:solidFill>
                          <a:latin typeface="Calibri" panose="020F0502020204030204" pitchFamily="34" charset="0"/>
                          <a:cs typeface="Calibri" panose="020F0502020204030204" pitchFamily="34" charset="0"/>
                        </a:rPr>
                        <a:t>40%</a:t>
                      </a:r>
                    </a:p>
                  </a:txBody>
                  <a:tcPr marL="87086" marR="87086"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DD7FF">
                        <a:lumMod val="20000"/>
                        <a:lumOff val="80000"/>
                      </a:srgbClr>
                    </a:solidFill>
                  </a:tcPr>
                </a:tc>
                <a:extLst>
                  <a:ext uri="{0D108BD9-81ED-4DB2-BD59-A6C34878D82A}">
                    <a16:rowId xmlns:a16="http://schemas.microsoft.com/office/drawing/2014/main" val="10000"/>
                  </a:ext>
                </a:extLst>
              </a:tr>
              <a:tr h="61264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Free Cash Flow</a:t>
                      </a:r>
                      <a:endParaRPr lang="en-US" sz="1100" b="1">
                        <a:solidFill>
                          <a:schemeClr val="tx2"/>
                        </a:solidFill>
                        <a:latin typeface="Calibri" panose="020F0502020204030204" pitchFamily="34" charset="0"/>
                        <a:cs typeface="Calibri" panose="020F0502020204030204" pitchFamily="34" charset="0"/>
                      </a:endParaRPr>
                    </a:p>
                  </a:txBody>
                  <a:tcPr marL="45720" marR="45720"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7" name="Plus 40">
            <a:extLst>
              <a:ext uri="{FF2B5EF4-FFF2-40B4-BE49-F238E27FC236}">
                <a16:creationId xmlns:a16="http://schemas.microsoft.com/office/drawing/2014/main" id="{FDAC52D5-DB50-5A89-0263-79BA7DD6CAAA}"/>
              </a:ext>
            </a:extLst>
          </p:cNvPr>
          <p:cNvSpPr/>
          <p:nvPr/>
        </p:nvSpPr>
        <p:spPr bwMode="auto">
          <a:xfrm>
            <a:off x="5303598" y="4460766"/>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graphicFrame>
        <p:nvGraphicFramePr>
          <p:cNvPr id="48" name="Table 47">
            <a:extLst>
              <a:ext uri="{FF2B5EF4-FFF2-40B4-BE49-F238E27FC236}">
                <a16:creationId xmlns:a16="http://schemas.microsoft.com/office/drawing/2014/main" id="{BBA3C9C2-79AB-D85E-12A4-E2F2F8DE0DCE}"/>
              </a:ext>
            </a:extLst>
          </p:cNvPr>
          <p:cNvGraphicFramePr>
            <a:graphicFrameLocks noGrp="1"/>
          </p:cNvGraphicFramePr>
          <p:nvPr>
            <p:extLst>
              <p:ext uri="{D42A27DB-BD31-4B8C-83A1-F6EECF244321}">
                <p14:modId xmlns:p14="http://schemas.microsoft.com/office/powerpoint/2010/main" val="1959586052"/>
              </p:ext>
            </p:extLst>
          </p:nvPr>
        </p:nvGraphicFramePr>
        <p:xfrm>
          <a:off x="5545687" y="4144276"/>
          <a:ext cx="717244" cy="852134"/>
        </p:xfrm>
        <a:graphic>
          <a:graphicData uri="http://schemas.openxmlformats.org/drawingml/2006/table">
            <a:tbl>
              <a:tblPr firstRow="1" bandRow="1"/>
              <a:tblGrid>
                <a:gridCol w="717244">
                  <a:extLst>
                    <a:ext uri="{9D8B030D-6E8A-4147-A177-3AD203B41FA5}">
                      <a16:colId xmlns:a16="http://schemas.microsoft.com/office/drawing/2014/main" val="20000"/>
                    </a:ext>
                  </a:extLst>
                </a:gridCol>
              </a:tblGrid>
              <a:tr h="23540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000">
                          <a:solidFill>
                            <a:schemeClr val="tx1"/>
                          </a:solidFill>
                          <a:latin typeface="Calibri" panose="020F0502020204030204" pitchFamily="34" charset="0"/>
                          <a:cs typeface="Calibri" panose="020F0502020204030204" pitchFamily="34" charset="0"/>
                        </a:rPr>
                        <a:t>20%</a:t>
                      </a:r>
                    </a:p>
                  </a:txBody>
                  <a:tcPr marL="87086" marR="87086"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DD7FF">
                        <a:lumMod val="20000"/>
                        <a:lumOff val="80000"/>
                      </a:srgbClr>
                    </a:solidFill>
                  </a:tcPr>
                </a:tc>
                <a:extLst>
                  <a:ext uri="{0D108BD9-81ED-4DB2-BD59-A6C34878D82A}">
                    <a16:rowId xmlns:a16="http://schemas.microsoft.com/office/drawing/2014/main" val="10000"/>
                  </a:ext>
                </a:extLst>
              </a:tr>
              <a:tr h="61264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CSR Objectives</a:t>
                      </a:r>
                      <a:endParaRPr lang="en-US" sz="1100" b="1">
                        <a:solidFill>
                          <a:schemeClr val="tx2"/>
                        </a:solidFill>
                        <a:latin typeface="Calibri" panose="020F0502020204030204" pitchFamily="34" charset="0"/>
                        <a:cs typeface="Calibri" panose="020F0502020204030204" pitchFamily="34" charset="0"/>
                      </a:endParaRPr>
                    </a:p>
                  </a:txBody>
                  <a:tcPr marL="45720" marR="45720"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9" name="Rounded Rectangle 15">
            <a:extLst>
              <a:ext uri="{FF2B5EF4-FFF2-40B4-BE49-F238E27FC236}">
                <a16:creationId xmlns:a16="http://schemas.microsoft.com/office/drawing/2014/main" id="{DB22DF3B-7584-FC55-0F88-74311EF8D516}"/>
              </a:ext>
            </a:extLst>
          </p:cNvPr>
          <p:cNvSpPr/>
          <p:nvPr/>
        </p:nvSpPr>
        <p:spPr>
          <a:xfrm>
            <a:off x="3644110" y="5067389"/>
            <a:ext cx="2618821" cy="198693"/>
          </a:xfrm>
          <a:prstGeom prst="roundRect">
            <a:avLst/>
          </a:prstGeom>
          <a:solidFill>
            <a:sysClr val="window" lastClr="FFFFFF">
              <a:lumMod val="95000"/>
            </a:sysClr>
          </a:solidFill>
          <a:ln w="12700" cap="flat" cmpd="sng" algn="ctr">
            <a:solidFill>
              <a:sysClr val="windowText" lastClr="000000"/>
            </a:solidFill>
            <a:prstDash val="solid"/>
          </a:ln>
          <a:effectLst/>
        </p:spPr>
        <p:txBody>
          <a:bodyPr lIns="45720" tIns="45720" rIns="45720" bIns="45720" rtlCol="0" anchor="ctr">
            <a:noAutofit/>
          </a:bodyPr>
          <a:lstStyle/>
          <a:p>
            <a:pPr algn="ctr" defTabSz="1219170">
              <a:defRPr/>
            </a:pPr>
            <a:r>
              <a:rPr lang="en-US" sz="1000" b="1" kern="0">
                <a:solidFill>
                  <a:prstClr val="black"/>
                </a:solidFill>
                <a:latin typeface="Calibri" panose="020F0502020204030204" pitchFamily="34" charset="0"/>
                <a:cs typeface="Calibri" panose="020F0502020204030204" pitchFamily="34" charset="0"/>
              </a:rPr>
              <a:t>Payout = 0% to 108% of Target</a:t>
            </a:r>
          </a:p>
        </p:txBody>
      </p:sp>
      <p:sp>
        <p:nvSpPr>
          <p:cNvPr id="51" name="Rectangle 50">
            <a:extLst>
              <a:ext uri="{FF2B5EF4-FFF2-40B4-BE49-F238E27FC236}">
                <a16:creationId xmlns:a16="http://schemas.microsoft.com/office/drawing/2014/main" id="{66DDD16A-838D-956A-C575-AF4263B7D1BE}"/>
              </a:ext>
            </a:extLst>
          </p:cNvPr>
          <p:cNvSpPr/>
          <p:nvPr/>
        </p:nvSpPr>
        <p:spPr>
          <a:xfrm>
            <a:off x="2706356" y="5534406"/>
            <a:ext cx="3396316" cy="355097"/>
          </a:xfrm>
          <a:prstGeom prst="rect">
            <a:avLst/>
          </a:prstGeom>
          <a:solidFill>
            <a:sysClr val="window" lastClr="FFFFFF">
              <a:lumMod val="95000"/>
            </a:sysClr>
          </a:solidFill>
          <a:ln w="6350" cap="flat" cmpd="sng" algn="ctr">
            <a:solidFill>
              <a:sysClr val="windowText" lastClr="000000"/>
            </a:solidFill>
            <a:prstDash val="solid"/>
          </a:ln>
          <a:effectLst/>
        </p:spPr>
        <p:txBody>
          <a:bodyPr wrap="square" lIns="45720" tIns="45720" rIns="45720" bIns="45720" rtlCol="0" anchor="ctr">
            <a:spAutoFit/>
          </a:bodyPr>
          <a:lstStyle/>
          <a:p>
            <a:pPr marL="171450" indent="-171450" defTabSz="1219170">
              <a:lnSpc>
                <a:spcPct val="85000"/>
              </a:lnSpc>
              <a:buFont typeface="Wingdings" panose="05000000000000000000" pitchFamily="2" charset="2"/>
              <a:buChar char="§"/>
              <a:defRPr/>
            </a:pPr>
            <a:r>
              <a:rPr lang="en-US" sz="1000" kern="0">
                <a:solidFill>
                  <a:prstClr val="black"/>
                </a:solidFill>
                <a:latin typeface="Calibri" panose="020F0502020204030204"/>
              </a:rPr>
              <a:t>Performance Cash ratably vests over 2 years</a:t>
            </a:r>
          </a:p>
          <a:p>
            <a:pPr marL="171450" indent="-171450" defTabSz="1219170">
              <a:lnSpc>
                <a:spcPct val="85000"/>
              </a:lnSpc>
              <a:buFont typeface="Wingdings" panose="05000000000000000000" pitchFamily="2" charset="2"/>
              <a:buChar char="§"/>
            </a:pPr>
            <a:r>
              <a:rPr lang="en-US" sz="1000" kern="0">
                <a:solidFill>
                  <a:prstClr val="black"/>
                </a:solidFill>
                <a:latin typeface="Calibri" panose="020F0502020204030204"/>
              </a:rPr>
              <a:t>PSUs cliff vest after 3 years</a:t>
            </a:r>
          </a:p>
        </p:txBody>
      </p:sp>
      <p:pic>
        <p:nvPicPr>
          <p:cNvPr id="57" name="Picture 56">
            <a:extLst>
              <a:ext uri="{FF2B5EF4-FFF2-40B4-BE49-F238E27FC236}">
                <a16:creationId xmlns:a16="http://schemas.microsoft.com/office/drawing/2014/main" id="{241DA209-B7AB-0BBA-5A10-8C27B66394FE}"/>
              </a:ext>
            </a:extLst>
          </p:cNvPr>
          <p:cNvPicPr>
            <a:picLocks noChangeAspect="1"/>
          </p:cNvPicPr>
          <p:nvPr/>
        </p:nvPicPr>
        <p:blipFill>
          <a:blip r:embed="rId2"/>
          <a:stretch>
            <a:fillRect/>
          </a:stretch>
        </p:blipFill>
        <p:spPr>
          <a:xfrm>
            <a:off x="2189597" y="4087448"/>
            <a:ext cx="1669375" cy="999399"/>
          </a:xfrm>
          <a:prstGeom prst="rect">
            <a:avLst/>
          </a:prstGeom>
        </p:spPr>
      </p:pic>
      <p:sp>
        <p:nvSpPr>
          <p:cNvPr id="50" name="Left Brace 49">
            <a:extLst>
              <a:ext uri="{FF2B5EF4-FFF2-40B4-BE49-F238E27FC236}">
                <a16:creationId xmlns:a16="http://schemas.microsoft.com/office/drawing/2014/main" id="{81A498DE-27E6-52D2-1E1F-B8EB5E6242F3}"/>
              </a:ext>
            </a:extLst>
          </p:cNvPr>
          <p:cNvSpPr/>
          <p:nvPr/>
        </p:nvSpPr>
        <p:spPr>
          <a:xfrm>
            <a:off x="3323652" y="4059770"/>
            <a:ext cx="492800" cy="1379865"/>
          </a:xfrm>
          <a:prstGeom prst="leftBrace">
            <a:avLst>
              <a:gd name="adj1" fmla="val 8333"/>
              <a:gd name="adj2" fmla="val 38484"/>
            </a:avLst>
          </a:prstGeom>
          <a:noFill/>
          <a:ln w="6350" cap="flat" cmpd="sng" algn="ctr">
            <a:solidFill>
              <a:sysClr val="windowText" lastClr="000000">
                <a:shade val="95000"/>
                <a:satMod val="105000"/>
              </a:sysClr>
            </a:solidFill>
            <a:prstDash val="solid"/>
          </a:ln>
          <a:effectLst/>
        </p:spPr>
        <p:txBody>
          <a:bodyPr rtlCol="0" anchor="ctr"/>
          <a:lstStyle/>
          <a:p>
            <a:pPr algn="ctr" defTabSz="1219170">
              <a:defRPr/>
            </a:pPr>
            <a:endParaRPr lang="en-US" sz="2417" kern="0">
              <a:solidFill>
                <a:prstClr val="black"/>
              </a:solidFill>
              <a:latin typeface="Calibri" panose="020F0502020204030204"/>
            </a:endParaRPr>
          </a:p>
        </p:txBody>
      </p:sp>
      <p:sp>
        <p:nvSpPr>
          <p:cNvPr id="61" name="Rectangle 60">
            <a:extLst>
              <a:ext uri="{FF2B5EF4-FFF2-40B4-BE49-F238E27FC236}">
                <a16:creationId xmlns:a16="http://schemas.microsoft.com/office/drawing/2014/main" id="{983245C8-17B7-6EE8-F2F2-D2F42D9DEDB3}"/>
              </a:ext>
            </a:extLst>
          </p:cNvPr>
          <p:cNvSpPr/>
          <p:nvPr/>
        </p:nvSpPr>
        <p:spPr bwMode="auto">
          <a:xfrm>
            <a:off x="1289143" y="1735004"/>
            <a:ext cx="6565715" cy="1688356"/>
          </a:xfrm>
          <a:prstGeom prst="rect">
            <a:avLst/>
          </a:prstGeom>
          <a:no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29421" eaLnBrk="0" hangingPunct="0">
              <a:defRPr/>
            </a:pPr>
            <a:endParaRPr lang="en-US" sz="1451" kern="0">
              <a:solidFill>
                <a:prstClr val="black"/>
              </a:solidFill>
              <a:latin typeface="Calibri" panose="020F0502020204030204" pitchFamily="34" charset="0"/>
              <a:cs typeface="Calibri" panose="020F0502020204030204" pitchFamily="34" charset="0"/>
            </a:endParaRPr>
          </a:p>
        </p:txBody>
      </p:sp>
      <p:graphicFrame>
        <p:nvGraphicFramePr>
          <p:cNvPr id="62" name="Table 61">
            <a:extLst>
              <a:ext uri="{FF2B5EF4-FFF2-40B4-BE49-F238E27FC236}">
                <a16:creationId xmlns:a16="http://schemas.microsoft.com/office/drawing/2014/main" id="{20128095-DDC8-B59B-B978-590CC120A828}"/>
              </a:ext>
            </a:extLst>
          </p:cNvPr>
          <p:cNvGraphicFramePr>
            <a:graphicFrameLocks noGrp="1"/>
          </p:cNvGraphicFramePr>
          <p:nvPr>
            <p:extLst>
              <p:ext uri="{D42A27DB-BD31-4B8C-83A1-F6EECF244321}">
                <p14:modId xmlns:p14="http://schemas.microsoft.com/office/powerpoint/2010/main" val="1980686908"/>
              </p:ext>
            </p:extLst>
          </p:nvPr>
        </p:nvGraphicFramePr>
        <p:xfrm>
          <a:off x="1591282"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22.5%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Revenue</a:t>
                      </a:r>
                      <a:endParaRPr lang="en-US" sz="1000" b="1" baseline="0">
                        <a:solidFill>
                          <a:schemeClr val="tx1"/>
                        </a:solidFill>
                        <a:latin typeface="Calibri" panose="020F0502020204030204" pitchFamily="34" charset="0"/>
                        <a:cs typeface="Calibri" panose="020F0502020204030204" pitchFamily="34" charset="0"/>
                      </a:endParaRPr>
                    </a:p>
                  </a:txBody>
                  <a:tcPr marL="0" marR="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3" name="Table 62">
            <a:extLst>
              <a:ext uri="{FF2B5EF4-FFF2-40B4-BE49-F238E27FC236}">
                <a16:creationId xmlns:a16="http://schemas.microsoft.com/office/drawing/2014/main" id="{53274735-979C-86B1-4914-142E3BF08552}"/>
              </a:ext>
            </a:extLst>
          </p:cNvPr>
          <p:cNvGraphicFramePr>
            <a:graphicFrameLocks noGrp="1"/>
          </p:cNvGraphicFramePr>
          <p:nvPr>
            <p:extLst>
              <p:ext uri="{D42A27DB-BD31-4B8C-83A1-F6EECF244321}">
                <p14:modId xmlns:p14="http://schemas.microsoft.com/office/powerpoint/2010/main" val="3289415977"/>
              </p:ext>
            </p:extLst>
          </p:nvPr>
        </p:nvGraphicFramePr>
        <p:xfrm>
          <a:off x="2504676"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22.5%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Operating Margin</a:t>
                      </a:r>
                    </a:p>
                  </a:txBody>
                  <a:tcPr marL="45720" marR="4572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4" name="Table 63">
            <a:extLst>
              <a:ext uri="{FF2B5EF4-FFF2-40B4-BE49-F238E27FC236}">
                <a16:creationId xmlns:a16="http://schemas.microsoft.com/office/drawing/2014/main" id="{B917D057-1D15-9ECA-F9B9-5A8954B726FC}"/>
              </a:ext>
            </a:extLst>
          </p:cNvPr>
          <p:cNvGraphicFramePr>
            <a:graphicFrameLocks noGrp="1"/>
          </p:cNvGraphicFramePr>
          <p:nvPr>
            <p:extLst>
              <p:ext uri="{D42A27DB-BD31-4B8C-83A1-F6EECF244321}">
                <p14:modId xmlns:p14="http://schemas.microsoft.com/office/powerpoint/2010/main" val="3088418582"/>
              </p:ext>
            </p:extLst>
          </p:nvPr>
        </p:nvGraphicFramePr>
        <p:xfrm>
          <a:off x="3418070"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15%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Net Profit</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5" name="Plus 39">
            <a:extLst>
              <a:ext uri="{FF2B5EF4-FFF2-40B4-BE49-F238E27FC236}">
                <a16:creationId xmlns:a16="http://schemas.microsoft.com/office/drawing/2014/main" id="{16F66DA1-C66B-F01D-79C8-217B9AF0E408}"/>
              </a:ext>
            </a:extLst>
          </p:cNvPr>
          <p:cNvSpPr/>
          <p:nvPr/>
        </p:nvSpPr>
        <p:spPr bwMode="auto">
          <a:xfrm>
            <a:off x="3164379"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66" name="Plus 40">
            <a:extLst>
              <a:ext uri="{FF2B5EF4-FFF2-40B4-BE49-F238E27FC236}">
                <a16:creationId xmlns:a16="http://schemas.microsoft.com/office/drawing/2014/main" id="{D75591B0-9BE6-7E47-F9C5-EF367E0998B2}"/>
              </a:ext>
            </a:extLst>
          </p:cNvPr>
          <p:cNvSpPr/>
          <p:nvPr/>
        </p:nvSpPr>
        <p:spPr bwMode="auto">
          <a:xfrm>
            <a:off x="4077773"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67" name="Double Bracket 66">
            <a:extLst>
              <a:ext uri="{FF2B5EF4-FFF2-40B4-BE49-F238E27FC236}">
                <a16:creationId xmlns:a16="http://schemas.microsoft.com/office/drawing/2014/main" id="{6570D871-C323-09D6-C473-62CF6360BE9A}"/>
              </a:ext>
            </a:extLst>
          </p:cNvPr>
          <p:cNvSpPr/>
          <p:nvPr/>
        </p:nvSpPr>
        <p:spPr>
          <a:xfrm>
            <a:off x="1516204" y="2077026"/>
            <a:ext cx="3541897" cy="889969"/>
          </a:xfrm>
          <a:prstGeom prst="bracketPair">
            <a:avLst>
              <a:gd name="adj" fmla="val 8254"/>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8" name="TextBox 67">
            <a:extLst>
              <a:ext uri="{FF2B5EF4-FFF2-40B4-BE49-F238E27FC236}">
                <a16:creationId xmlns:a16="http://schemas.microsoft.com/office/drawing/2014/main" id="{FF574572-6EB3-208D-2F42-8F42F3FC3DCB}"/>
              </a:ext>
            </a:extLst>
          </p:cNvPr>
          <p:cNvSpPr txBox="1"/>
          <p:nvPr/>
        </p:nvSpPr>
        <p:spPr>
          <a:xfrm>
            <a:off x="1777753" y="1775721"/>
            <a:ext cx="2996462" cy="276999"/>
          </a:xfrm>
          <a:prstGeom prst="rect">
            <a:avLst/>
          </a:prstGeom>
          <a:noFill/>
        </p:spPr>
        <p:txBody>
          <a:bodyPr wrap="square" rtlCol="0">
            <a:spAutoFit/>
          </a:bodyPr>
          <a:lstStyle/>
          <a:p>
            <a:pPr algn="ctr" defTabSz="1219170" fontAlgn="auto">
              <a:spcBef>
                <a:spcPts val="0"/>
              </a:spcBef>
              <a:spcAft>
                <a:spcPts val="0"/>
              </a:spcAft>
              <a:defRPr/>
            </a:pPr>
            <a:r>
              <a:rPr lang="en-US" sz="1200" b="1">
                <a:latin typeface="Calibri" panose="020F0502020204030204"/>
                <a:cs typeface="+mn-cs"/>
              </a:rPr>
              <a:t>Financial Measures 75%</a:t>
            </a:r>
          </a:p>
        </p:txBody>
      </p:sp>
      <p:graphicFrame>
        <p:nvGraphicFramePr>
          <p:cNvPr id="69" name="Table 68">
            <a:extLst>
              <a:ext uri="{FF2B5EF4-FFF2-40B4-BE49-F238E27FC236}">
                <a16:creationId xmlns:a16="http://schemas.microsoft.com/office/drawing/2014/main" id="{5E671718-0D1F-13F1-CBA1-2932CAC02956}"/>
              </a:ext>
            </a:extLst>
          </p:cNvPr>
          <p:cNvGraphicFramePr>
            <a:graphicFrameLocks noGrp="1"/>
          </p:cNvGraphicFramePr>
          <p:nvPr>
            <p:extLst>
              <p:ext uri="{D42A27DB-BD31-4B8C-83A1-F6EECF244321}">
                <p14:modId xmlns:p14="http://schemas.microsoft.com/office/powerpoint/2010/main" val="3877308707"/>
              </p:ext>
            </p:extLst>
          </p:nvPr>
        </p:nvGraphicFramePr>
        <p:xfrm>
          <a:off x="4341895"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15%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Free Cash Flow</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0" name="Plus 39">
            <a:extLst>
              <a:ext uri="{FF2B5EF4-FFF2-40B4-BE49-F238E27FC236}">
                <a16:creationId xmlns:a16="http://schemas.microsoft.com/office/drawing/2014/main" id="{97CF75D5-B246-F1D7-487B-2A10A3755B2D}"/>
              </a:ext>
            </a:extLst>
          </p:cNvPr>
          <p:cNvSpPr/>
          <p:nvPr/>
        </p:nvSpPr>
        <p:spPr bwMode="auto">
          <a:xfrm>
            <a:off x="2259548"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graphicFrame>
        <p:nvGraphicFramePr>
          <p:cNvPr id="71" name="Table 70">
            <a:extLst>
              <a:ext uri="{FF2B5EF4-FFF2-40B4-BE49-F238E27FC236}">
                <a16:creationId xmlns:a16="http://schemas.microsoft.com/office/drawing/2014/main" id="{DF6C82B3-E8B4-C2AA-8B65-2E388A4ADCC6}"/>
              </a:ext>
            </a:extLst>
          </p:cNvPr>
          <p:cNvGraphicFramePr>
            <a:graphicFrameLocks noGrp="1"/>
          </p:cNvGraphicFramePr>
          <p:nvPr>
            <p:extLst>
              <p:ext uri="{D42A27DB-BD31-4B8C-83A1-F6EECF244321}">
                <p14:modId xmlns:p14="http://schemas.microsoft.com/office/powerpoint/2010/main" val="147864063"/>
              </p:ext>
            </p:extLst>
          </p:nvPr>
        </p:nvGraphicFramePr>
        <p:xfrm>
          <a:off x="5296382"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25%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CSR Objectives</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2" name="Plus 39">
            <a:extLst>
              <a:ext uri="{FF2B5EF4-FFF2-40B4-BE49-F238E27FC236}">
                <a16:creationId xmlns:a16="http://schemas.microsoft.com/office/drawing/2014/main" id="{E8E4EABD-146F-D270-6668-2C9EC2523212}"/>
              </a:ext>
            </a:extLst>
          </p:cNvPr>
          <p:cNvSpPr/>
          <p:nvPr/>
        </p:nvSpPr>
        <p:spPr bwMode="auto">
          <a:xfrm>
            <a:off x="5069683"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73" name="Rounded Rectangle 35">
            <a:extLst>
              <a:ext uri="{FF2B5EF4-FFF2-40B4-BE49-F238E27FC236}">
                <a16:creationId xmlns:a16="http://schemas.microsoft.com/office/drawing/2014/main" id="{55D89147-6497-AD6B-A16B-16837A8A59B8}"/>
              </a:ext>
            </a:extLst>
          </p:cNvPr>
          <p:cNvSpPr/>
          <p:nvPr/>
        </p:nvSpPr>
        <p:spPr>
          <a:xfrm>
            <a:off x="1524642" y="3093430"/>
            <a:ext cx="6035040" cy="195640"/>
          </a:xfrm>
          <a:prstGeom prst="roundRect">
            <a:avLst/>
          </a:prstGeom>
          <a:solidFill>
            <a:sysClr val="window" lastClr="FFFFFF">
              <a:lumMod val="95000"/>
            </a:sysClr>
          </a:solidFill>
          <a:ln w="12700" cap="flat" cmpd="sng" algn="ctr">
            <a:solidFill>
              <a:sysClr val="windowText" lastClr="000000"/>
            </a:solidFill>
            <a:prstDash val="solid"/>
          </a:ln>
          <a:effectLst/>
        </p:spPr>
        <p:txBody>
          <a:bodyPr lIns="45720" tIns="45720" rIns="45720" bIns="45720" rtlCol="0" anchor="ctr">
            <a:noAutofit/>
          </a:bodyPr>
          <a:lstStyle/>
          <a:p>
            <a:pPr algn="ctr" defTabSz="1219170">
              <a:defRPr/>
            </a:pPr>
            <a:r>
              <a:rPr lang="en-US" sz="1000" b="1" kern="0">
                <a:solidFill>
                  <a:prstClr val="black"/>
                </a:solidFill>
                <a:latin typeface="Calibri" panose="020F0502020204030204" pitchFamily="34" charset="0"/>
                <a:cs typeface="Calibri" panose="020F0502020204030204" pitchFamily="34" charset="0"/>
              </a:rPr>
              <a:t>Payout = 0% to 225% of Target</a:t>
            </a:r>
          </a:p>
        </p:txBody>
      </p:sp>
      <p:graphicFrame>
        <p:nvGraphicFramePr>
          <p:cNvPr id="74" name="Table 73">
            <a:extLst>
              <a:ext uri="{FF2B5EF4-FFF2-40B4-BE49-F238E27FC236}">
                <a16:creationId xmlns:a16="http://schemas.microsoft.com/office/drawing/2014/main" id="{D8123CB7-8276-FF32-D6F8-703A8CC658C0}"/>
              </a:ext>
            </a:extLst>
          </p:cNvPr>
          <p:cNvGraphicFramePr>
            <a:graphicFrameLocks noGrp="1"/>
          </p:cNvGraphicFramePr>
          <p:nvPr>
            <p:extLst>
              <p:ext uri="{D42A27DB-BD31-4B8C-83A1-F6EECF244321}">
                <p14:modId xmlns:p14="http://schemas.microsoft.com/office/powerpoint/2010/main" val="3701899308"/>
              </p:ext>
            </p:extLst>
          </p:nvPr>
        </p:nvGraphicFramePr>
        <p:xfrm>
          <a:off x="6212346" y="2095290"/>
          <a:ext cx="1463040" cy="85344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tblGrid>
              <a:tr h="24688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Modifier </a:t>
                      </a:r>
                    </a:p>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(+0% to 37.5% of target)</a:t>
                      </a:r>
                      <a:r>
                        <a:rPr lang="en-US" sz="1000" b="1" baseline="30000">
                          <a:solidFill>
                            <a:schemeClr val="tx1"/>
                          </a:solidFill>
                          <a:latin typeface="Calibri" panose="020F0502020204030204" pitchFamily="34" charset="0"/>
                          <a:cs typeface="Calibri" panose="020F0502020204030204" pitchFamily="34" charset="0"/>
                        </a:rPr>
                        <a:t>(1)</a:t>
                      </a:r>
                      <a:endParaRPr lang="en-US" sz="1000" b="1">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Strategic Objectives</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5" name="Plus 39">
            <a:extLst>
              <a:ext uri="{FF2B5EF4-FFF2-40B4-BE49-F238E27FC236}">
                <a16:creationId xmlns:a16="http://schemas.microsoft.com/office/drawing/2014/main" id="{F04DAF8B-798B-1916-2C41-EAE653DEFF6A}"/>
              </a:ext>
            </a:extLst>
          </p:cNvPr>
          <p:cNvSpPr/>
          <p:nvPr/>
        </p:nvSpPr>
        <p:spPr bwMode="auto">
          <a:xfrm>
            <a:off x="5943006"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76" name="TextBox 75">
            <a:extLst>
              <a:ext uri="{FF2B5EF4-FFF2-40B4-BE49-F238E27FC236}">
                <a16:creationId xmlns:a16="http://schemas.microsoft.com/office/drawing/2014/main" id="{D6AA3101-C6BA-5D4A-57B3-5DD8503112F7}"/>
              </a:ext>
            </a:extLst>
          </p:cNvPr>
          <p:cNvSpPr txBox="1"/>
          <p:nvPr/>
        </p:nvSpPr>
        <p:spPr>
          <a:xfrm>
            <a:off x="2159084" y="3652666"/>
            <a:ext cx="4825832" cy="307777"/>
          </a:xfrm>
          <a:prstGeom prst="rect">
            <a:avLst/>
          </a:prstGeom>
          <a:noFill/>
        </p:spPr>
        <p:txBody>
          <a:bodyPr wrap="square" rtlCol="0">
            <a:spAutoFit/>
          </a:bodyPr>
          <a:lstStyle/>
          <a:p>
            <a:pPr algn="ctr" defTabSz="1219170" fontAlgn="auto">
              <a:spcBef>
                <a:spcPts val="0"/>
              </a:spcBef>
              <a:spcAft>
                <a:spcPts val="0"/>
              </a:spcAft>
              <a:defRPr/>
            </a:pPr>
            <a:r>
              <a:rPr lang="en-US" sz="1400" b="1">
                <a:latin typeface="Calibri" panose="020F0502020204030204"/>
                <a:cs typeface="+mn-cs"/>
              </a:rPr>
              <a:t>Long-Term Incentive</a:t>
            </a:r>
            <a:r>
              <a:rPr lang="en-US" sz="1400" b="1">
                <a:latin typeface="Calibri" panose="020F0502020204030204"/>
              </a:rPr>
              <a:t> </a:t>
            </a:r>
            <a:r>
              <a:rPr lang="en-US" sz="1400" b="1">
                <a:latin typeface="Calibri" panose="020F0502020204030204"/>
                <a:cs typeface="+mn-cs"/>
              </a:rPr>
              <a:t>Plan</a:t>
            </a:r>
          </a:p>
        </p:txBody>
      </p:sp>
      <p:sp>
        <p:nvSpPr>
          <p:cNvPr id="80" name="TextBox 79">
            <a:extLst>
              <a:ext uri="{FF2B5EF4-FFF2-40B4-BE49-F238E27FC236}">
                <a16:creationId xmlns:a16="http://schemas.microsoft.com/office/drawing/2014/main" id="{114BCABE-E811-8CDA-CEC5-A504BFFCA474}"/>
              </a:ext>
            </a:extLst>
          </p:cNvPr>
          <p:cNvSpPr txBox="1"/>
          <p:nvPr/>
        </p:nvSpPr>
        <p:spPr>
          <a:xfrm>
            <a:off x="2351834" y="5967467"/>
            <a:ext cx="4440332" cy="246221"/>
          </a:xfrm>
          <a:prstGeom prst="rect">
            <a:avLst/>
          </a:prstGeom>
          <a:noFill/>
        </p:spPr>
        <p:txBody>
          <a:bodyPr wrap="square" rtlCol="0">
            <a:spAutoFit/>
          </a:bodyPr>
          <a:lstStyle/>
          <a:p>
            <a:pPr marL="228600" indent="-228600" defTabSz="1219170">
              <a:buAutoNum type="arabicParenBoth"/>
            </a:pPr>
            <a:r>
              <a:rPr lang="en-US" sz="1000" i="1">
                <a:solidFill>
                  <a:srgbClr val="000000"/>
                </a:solidFill>
                <a:latin typeface="Calibri" panose="020F0502020204030204" pitchFamily="34" charset="0"/>
                <a:cs typeface="+mn-cs"/>
              </a:rPr>
              <a:t>Modifier cannot increase payout above 225%</a:t>
            </a:r>
          </a:p>
        </p:txBody>
      </p:sp>
      <p:sp>
        <p:nvSpPr>
          <p:cNvPr id="4" name="TextBox 3">
            <a:extLst>
              <a:ext uri="{FF2B5EF4-FFF2-40B4-BE49-F238E27FC236}">
                <a16:creationId xmlns:a16="http://schemas.microsoft.com/office/drawing/2014/main" id="{E75638CC-66FB-AF67-B788-C740FD7938B5}"/>
              </a:ext>
            </a:extLst>
          </p:cNvPr>
          <p:cNvSpPr txBox="1"/>
          <p:nvPr/>
        </p:nvSpPr>
        <p:spPr>
          <a:xfrm>
            <a:off x="7362702" y="831499"/>
            <a:ext cx="2847896" cy="224292"/>
          </a:xfrm>
          <a:prstGeom prst="rect">
            <a:avLst/>
          </a:prstGeom>
          <a:solidFill>
            <a:schemeClr val="accent3"/>
          </a:solidFill>
        </p:spPr>
        <p:txBody>
          <a:bodyPr vert="horz" wrap="none" lIns="45720" tIns="45720" rIns="45720" bIns="45720" rtlCol="0" anchor="ctr">
            <a:spAutoFit/>
          </a:bodyPr>
          <a:lstStyle/>
          <a:p>
            <a:pPr>
              <a:lnSpc>
                <a:spcPct val="85000"/>
              </a:lnSpc>
            </a:pPr>
            <a:r>
              <a:rPr lang="en-US" sz="1000"/>
              <a:t>The brackets down look like they’re in the right place</a:t>
            </a:r>
          </a:p>
        </p:txBody>
      </p:sp>
      <p:sp>
        <p:nvSpPr>
          <p:cNvPr id="6" name="TextBox 5">
            <a:extLst>
              <a:ext uri="{FF2B5EF4-FFF2-40B4-BE49-F238E27FC236}">
                <a16:creationId xmlns:a16="http://schemas.microsoft.com/office/drawing/2014/main" id="{7D9307CB-7617-9668-1F9F-8D90F871D004}"/>
              </a:ext>
            </a:extLst>
          </p:cNvPr>
          <p:cNvSpPr txBox="1"/>
          <p:nvPr/>
        </p:nvSpPr>
        <p:spPr>
          <a:xfrm>
            <a:off x="7826944" y="1262747"/>
            <a:ext cx="2253111" cy="485902"/>
          </a:xfrm>
          <a:prstGeom prst="rect">
            <a:avLst/>
          </a:prstGeom>
          <a:solidFill>
            <a:schemeClr val="accent3"/>
          </a:solidFill>
        </p:spPr>
        <p:txBody>
          <a:bodyPr vert="horz" wrap="square" lIns="45720" tIns="45720" rIns="45720" bIns="45720" rtlCol="0" anchor="ctr">
            <a:spAutoFit/>
          </a:bodyPr>
          <a:lstStyle/>
          <a:p>
            <a:pPr>
              <a:lnSpc>
                <a:spcPct val="85000"/>
              </a:lnSpc>
            </a:pPr>
            <a:r>
              <a:rPr lang="en-US" sz="1000"/>
              <a:t>Page to be updated to match mini deck or deleted based on RAF rec after sending mini deck to management</a:t>
            </a:r>
          </a:p>
        </p:txBody>
      </p:sp>
    </p:spTree>
    <p:extLst>
      <p:ext uri="{BB962C8B-B14F-4D97-AF65-F5344CB8AC3E}">
        <p14:creationId xmlns:p14="http://schemas.microsoft.com/office/powerpoint/2010/main" val="355439572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0ABBF-9E6E-6605-55CE-DF1597F25F0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D3940C4-A3E6-B288-3E60-D47BFD65716A}"/>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0544C516-D82C-3A63-295C-F5C7E49B22C7}"/>
              </a:ext>
            </a:extLst>
          </p:cNvPr>
          <p:cNvSpPr>
            <a:spLocks noGrp="1"/>
          </p:cNvSpPr>
          <p:nvPr>
            <p:ph type="title"/>
          </p:nvPr>
        </p:nvSpPr>
        <p:spPr>
          <a:xfrm>
            <a:off x="882797" y="44215"/>
            <a:ext cx="8074152" cy="1292899"/>
          </a:xfrm>
        </p:spPr>
        <p:txBody>
          <a:bodyPr/>
          <a:lstStyle/>
          <a:p>
            <a:r>
              <a:rPr lang="en-US" dirty="0"/>
              <a:t>Many companies in ISS’ peer group for </a:t>
            </a:r>
            <a:r>
              <a:rPr lang="en-US" dirty="0" err="1"/>
              <a:t>Plutos</a:t>
            </a:r>
            <a:r>
              <a:rPr lang="en-US" dirty="0"/>
              <a:t> operate in the construction, engineering, aerospace, and defense sectors, which are more aligned with </a:t>
            </a:r>
            <a:r>
              <a:rPr lang="en-US" dirty="0" err="1"/>
              <a:t>Plutos</a:t>
            </a:r>
            <a:r>
              <a:rPr lang="en-US" dirty="0"/>
              <a:t>’ legacy business</a:t>
            </a:r>
          </a:p>
        </p:txBody>
      </p:sp>
      <p:graphicFrame>
        <p:nvGraphicFramePr>
          <p:cNvPr id="7" name="Table 6">
            <a:extLst>
              <a:ext uri="{FF2B5EF4-FFF2-40B4-BE49-F238E27FC236}">
                <a16:creationId xmlns:a16="http://schemas.microsoft.com/office/drawing/2014/main" id="{161E4611-80AE-423C-9FDD-828D61938B7E}"/>
              </a:ext>
            </a:extLst>
          </p:cNvPr>
          <p:cNvGraphicFramePr>
            <a:graphicFrameLocks noGrp="1"/>
          </p:cNvGraphicFramePr>
          <p:nvPr>
            <p:extLst>
              <p:ext uri="{D42A27DB-BD31-4B8C-83A1-F6EECF244321}">
                <p14:modId xmlns:p14="http://schemas.microsoft.com/office/powerpoint/2010/main" val="302992342"/>
              </p:ext>
            </p:extLst>
          </p:nvPr>
        </p:nvGraphicFramePr>
        <p:xfrm>
          <a:off x="274320" y="1571281"/>
          <a:ext cx="8595360" cy="4169277"/>
        </p:xfrm>
        <a:graphic>
          <a:graphicData uri="http://schemas.openxmlformats.org/drawingml/2006/table">
            <a:tbl>
              <a:tblPr/>
              <a:tblGrid>
                <a:gridCol w="1280160">
                  <a:extLst>
                    <a:ext uri="{9D8B030D-6E8A-4147-A177-3AD203B41FA5}">
                      <a16:colId xmlns:a16="http://schemas.microsoft.com/office/drawing/2014/main" val="4222739183"/>
                    </a:ext>
                  </a:extLst>
                </a:gridCol>
                <a:gridCol w="1463040">
                  <a:extLst>
                    <a:ext uri="{9D8B030D-6E8A-4147-A177-3AD203B41FA5}">
                      <a16:colId xmlns:a16="http://schemas.microsoft.com/office/drawing/2014/main" val="3011820407"/>
                    </a:ext>
                  </a:extLst>
                </a:gridCol>
                <a:gridCol w="1463040">
                  <a:extLst>
                    <a:ext uri="{9D8B030D-6E8A-4147-A177-3AD203B41FA5}">
                      <a16:colId xmlns:a16="http://schemas.microsoft.com/office/drawing/2014/main" val="128530490"/>
                    </a:ext>
                  </a:extLst>
                </a:gridCol>
                <a:gridCol w="1463040">
                  <a:extLst>
                    <a:ext uri="{9D8B030D-6E8A-4147-A177-3AD203B41FA5}">
                      <a16:colId xmlns:a16="http://schemas.microsoft.com/office/drawing/2014/main" val="1342069932"/>
                    </a:ext>
                  </a:extLst>
                </a:gridCol>
                <a:gridCol w="1463040">
                  <a:extLst>
                    <a:ext uri="{9D8B030D-6E8A-4147-A177-3AD203B41FA5}">
                      <a16:colId xmlns:a16="http://schemas.microsoft.com/office/drawing/2014/main" val="1419679449"/>
                    </a:ext>
                  </a:extLst>
                </a:gridCol>
                <a:gridCol w="1463040">
                  <a:extLst>
                    <a:ext uri="{9D8B030D-6E8A-4147-A177-3AD203B41FA5}">
                      <a16:colId xmlns:a16="http://schemas.microsoft.com/office/drawing/2014/main" val="4163150725"/>
                    </a:ext>
                  </a:extLst>
                </a:gridCol>
              </a:tblGrid>
              <a:tr h="83147">
                <a:tc rowSpan="24">
                  <a:txBody>
                    <a:bodyPr/>
                    <a:lstStyle/>
                    <a:p>
                      <a:pPr algn="ctr" fontAlgn="ctr"/>
                      <a:r>
                        <a:rPr lang="en-US" sz="900" b="1" i="0" u="none" strike="noStrike" dirty="0">
                          <a:solidFill>
                            <a:srgbClr val="000000"/>
                          </a:solidFill>
                          <a:effectLst/>
                          <a:latin typeface="+mn-lt"/>
                        </a:rPr>
                        <a:t>ISS Peers</a:t>
                      </a:r>
                    </a:p>
                  </a:txBody>
                  <a:tcPr marL="27432" marR="5163" marT="5163"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E3F7FF"/>
                    </a:solidFill>
                  </a:tcPr>
                </a:tc>
                <a:tc>
                  <a:txBody>
                    <a:bodyPr/>
                    <a:lstStyle/>
                    <a:p>
                      <a:pPr algn="l" fontAlgn="b"/>
                      <a:r>
                        <a:rPr lang="en-US" sz="900" b="1" i="0" u="none" strike="noStrike">
                          <a:solidFill>
                            <a:srgbClr val="FFFFFF"/>
                          </a:solidFill>
                          <a:effectLst/>
                          <a:latin typeface="+mn-lt"/>
                        </a:rPr>
                        <a:t>FY2021</a:t>
                      </a:r>
                    </a:p>
                  </a:txBody>
                  <a:tcPr marL="27432" marR="5163" marT="5163" marB="0" anchor="b">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FY2022</a:t>
                      </a:r>
                    </a:p>
                  </a:txBody>
                  <a:tcPr marL="27432" marR="5163" marT="5163" marB="0"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FY2023</a:t>
                      </a:r>
                    </a:p>
                  </a:txBody>
                  <a:tcPr marL="27432" marR="5163" marT="5163" marB="0"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FY2024</a:t>
                      </a:r>
                    </a:p>
                  </a:txBody>
                  <a:tcPr marL="27432" marR="5163" marT="5163" marB="0" anchor="b">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FY2025</a:t>
                      </a:r>
                    </a:p>
                  </a:txBody>
                  <a:tcPr marL="27432" marR="5163" marT="5163" marB="0"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803453813"/>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AECOM</a:t>
                      </a:r>
                    </a:p>
                  </a:txBody>
                  <a:tcPr marL="27432" marR="5163" marT="5163" marB="0" anchor="ct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a:noFill/>
                    </a:lnB>
                    <a:noFill/>
                  </a:tcPr>
                </a:tc>
                <a:tc>
                  <a:txBody>
                    <a:bodyPr/>
                    <a:lstStyle/>
                    <a:p>
                      <a:pPr algn="l" fontAlgn="b"/>
                      <a:r>
                        <a:rPr lang="en-US" sz="900" b="0" i="0" u="none" strike="noStrike">
                          <a:solidFill>
                            <a:srgbClr val="000000"/>
                          </a:solidFill>
                          <a:effectLst/>
                          <a:latin typeface="+mn-lt"/>
                        </a:rPr>
                        <a:t>AECOM</a:t>
                      </a:r>
                    </a:p>
                  </a:txBody>
                  <a:tcPr marL="27432" marR="5163" marT="5163"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fontAlgn="b"/>
                      <a:r>
                        <a:rPr lang="en-US" sz="900" b="0" i="0" u="none" strike="noStrike">
                          <a:solidFill>
                            <a:srgbClr val="000000"/>
                          </a:solidFill>
                          <a:effectLst/>
                          <a:latin typeface="+mn-lt"/>
                        </a:rPr>
                        <a:t>AECOM</a:t>
                      </a:r>
                    </a:p>
                  </a:txBody>
                  <a:tcPr marL="27432" marR="5163" marT="5163"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fontAlgn="b"/>
                      <a:r>
                        <a:rPr lang="en-US" sz="900" b="0" i="0" u="none" strike="noStrike">
                          <a:solidFill>
                            <a:srgbClr val="000000"/>
                          </a:solidFill>
                          <a:effectLst/>
                          <a:latin typeface="+mn-lt"/>
                        </a:rPr>
                        <a:t>AECOM</a:t>
                      </a:r>
                    </a:p>
                  </a:txBody>
                  <a:tcPr marL="27432" marR="5163" marT="5163" marB="0" anchor="ctr">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AECOM</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000714431"/>
                  </a:ext>
                </a:extLst>
              </a:tr>
              <a:tr h="163278">
                <a:tc vMerge="1">
                  <a:txBody>
                    <a:bodyPr/>
                    <a:lstStyle/>
                    <a:p>
                      <a:endParaRPr lang="en-US"/>
                    </a:p>
                  </a:txBody>
                  <a:tcPr/>
                </a:tc>
                <a:tc>
                  <a:txBody>
                    <a:bodyPr/>
                    <a:lstStyle/>
                    <a:p>
                      <a:pPr algn="l" fontAlgn="b"/>
                      <a:r>
                        <a:rPr lang="en-US" sz="900" b="0" i="0" u="none" strike="noStrike">
                          <a:solidFill>
                            <a:srgbClr val="000000"/>
                          </a:solidFill>
                          <a:effectLst/>
                          <a:latin typeface="+mn-lt"/>
                        </a:rPr>
                        <a:t>Automatic Data Processing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Automatic Data Processing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accent4"/>
                          </a:solidFill>
                          <a:effectLst/>
                          <a:latin typeface="+mn-lt"/>
                        </a:rPr>
                        <a:t>Automatic Data Processing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API Group</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API Group</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065907018"/>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Booz Allen Hamilton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Booz Allen Hamilton</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Booz Allen Hamilton</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Booz Allen Hamilton</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967927997"/>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Cognizant</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Cognizant</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Cognizant</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CACI</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213994170"/>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DXC Technology</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DXC Technology</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DXC Technology</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Cognizant</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Cognizant</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1784530094"/>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EMCOR</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EMCOR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EMCOR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Comfort Systems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Comfort Systems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427036183"/>
                  </a:ext>
                </a:extLst>
              </a:tr>
              <a:tr h="163278">
                <a:tc vMerge="1">
                  <a:txBody>
                    <a:bodyPr/>
                    <a:lstStyle/>
                    <a:p>
                      <a:endParaRPr lang="en-US"/>
                    </a:p>
                  </a:txBody>
                  <a:tcPr/>
                </a:tc>
                <a:tc>
                  <a:txBody>
                    <a:bodyPr/>
                    <a:lstStyle/>
                    <a:p>
                      <a:pPr algn="l" fontAlgn="b"/>
                      <a:r>
                        <a:rPr lang="en-US" sz="900" b="0" i="0" u="none" strike="noStrike">
                          <a:solidFill>
                            <a:schemeClr val="accent4"/>
                          </a:solidFill>
                          <a:effectLst/>
                          <a:latin typeface="+mn-lt"/>
                        </a:rPr>
                        <a:t>Fidelity National Information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Fluor</a:t>
                      </a:r>
                    </a:p>
                  </a:txBody>
                  <a:tcPr marL="27432" marR="5163" marT="5163" marB="0" anchor="ctr">
                    <a:lnL>
                      <a:noFill/>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Fluor</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DXC Technology</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DXC Technology</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919546418"/>
                  </a:ext>
                </a:extLst>
              </a:tr>
              <a:tr h="83147">
                <a:tc vMerge="1">
                  <a:txBody>
                    <a:bodyPr/>
                    <a:lstStyle/>
                    <a:p>
                      <a:endParaRPr lang="en-US"/>
                    </a:p>
                  </a:txBody>
                  <a:tcPr/>
                </a:tc>
                <a:tc>
                  <a:txBody>
                    <a:bodyPr/>
                    <a:lstStyle/>
                    <a:p>
                      <a:pPr algn="l" fontAlgn="b"/>
                      <a:r>
                        <a:rPr lang="en-US" sz="900" b="0" i="0" u="none" strike="noStrike">
                          <a:solidFill>
                            <a:srgbClr val="000000"/>
                          </a:solidFill>
                          <a:effectLst/>
                          <a:latin typeface="+mn-lt"/>
                        </a:rPr>
                        <a:t>General Dynamics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General Dynamics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accent4"/>
                          </a:solidFill>
                          <a:effectLst/>
                          <a:latin typeface="+mn-lt"/>
                        </a:rPr>
                        <a:t>General Dynamics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err="1">
                          <a:solidFill>
                            <a:schemeClr val="tx1"/>
                          </a:solidFill>
                          <a:effectLst/>
                          <a:latin typeface="+mn-lt"/>
                        </a:rPr>
                        <a:t>Dycom</a:t>
                      </a:r>
                      <a:endParaRPr lang="en-US" sz="900" b="0" i="0" u="none" strike="noStrike">
                        <a:solidFill>
                          <a:schemeClr val="tx1"/>
                        </a:solidFill>
                        <a:effectLst/>
                        <a:latin typeface="+mn-lt"/>
                      </a:endParaRP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err="1">
                          <a:solidFill>
                            <a:srgbClr val="000000"/>
                          </a:solidFill>
                          <a:effectLst/>
                          <a:latin typeface="Calibri" panose="020F0502020204030204" pitchFamily="34" charset="0"/>
                        </a:rPr>
                        <a:t>Dycom</a:t>
                      </a:r>
                      <a:endParaRPr lang="en-US" sz="900" b="0" i="0" u="none" strike="noStrike">
                        <a:solidFill>
                          <a:srgbClr val="000000"/>
                        </a:solidFill>
                        <a:effectLst/>
                        <a:latin typeface="Calibri" panose="020F0502020204030204" pitchFamily="34" charset="0"/>
                      </a:endParaRP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849320745"/>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Huntington Ingalls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Huntington Ingalls</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Huntington Ingalls</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EMCOR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EMCOR Group</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761226495"/>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KBR</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KBR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KBR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Equifax</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136432259"/>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L3Harris Technologies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L3Harris Technologies</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L3Harris Technologies</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Fluor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Fluor</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035241945"/>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Leidos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Leidos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Leidos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Gartner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Gartner</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206315086"/>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Manpower</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Manpower</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accent4"/>
                          </a:solidFill>
                          <a:effectLst/>
                          <a:latin typeface="+mn-lt"/>
                        </a:rPr>
                        <a:t>Manpower</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Howmet Aerospace</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Howmet Aerospace</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954514201"/>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Northrop Grumman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Northrop Grumman</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err="1">
                          <a:solidFill>
                            <a:srgbClr val="000000"/>
                          </a:solidFill>
                          <a:effectLst/>
                          <a:latin typeface="+mn-lt"/>
                        </a:rPr>
                        <a:t>MasTec</a:t>
                      </a:r>
                      <a:endParaRPr lang="en-US" sz="900" b="0" i="0" u="none" strike="noStrike">
                        <a:solidFill>
                          <a:srgbClr val="000000"/>
                        </a:solidFill>
                        <a:effectLst/>
                        <a:latin typeface="+mn-lt"/>
                      </a:endParaRPr>
                    </a:p>
                  </a:txBody>
                  <a:tcPr marL="27432" marR="5163" marT="5163" marB="0" anchor="ctr">
                    <a:lnL>
                      <a:noFill/>
                    </a:lnL>
                    <a:lnR>
                      <a:noFill/>
                    </a:lnR>
                    <a:lnT>
                      <a:noFill/>
                    </a:lnT>
                    <a:lnB>
                      <a:noFill/>
                    </a:lnB>
                    <a:solidFill>
                      <a:schemeClr val="accent2">
                        <a:lumMod val="20000"/>
                        <a:lumOff val="80000"/>
                      </a:schemeClr>
                    </a:solidFill>
                  </a:tcPr>
                </a:tc>
                <a:tc>
                  <a:txBody>
                    <a:bodyPr/>
                    <a:lstStyle/>
                    <a:p>
                      <a:pPr algn="l" fontAlgn="b"/>
                      <a:r>
                        <a:rPr lang="en-US" sz="900" b="0" i="0" u="none" strike="noStrike">
                          <a:solidFill>
                            <a:schemeClr val="tx1"/>
                          </a:solidFill>
                          <a:effectLst/>
                          <a:latin typeface="+mn-lt"/>
                        </a:rPr>
                        <a:t>Huntington Ingalls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Huntington Ingalls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841120042"/>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Quanta Services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Quanta Services</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accent4"/>
                          </a:solidFill>
                          <a:effectLst/>
                          <a:latin typeface="+mn-lt"/>
                        </a:rPr>
                        <a:t>Northrop Grumman</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KBR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KBR</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1205002633"/>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Textron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Textron</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accent4"/>
                          </a:solidFill>
                          <a:effectLst/>
                          <a:latin typeface="+mn-lt"/>
                        </a:rPr>
                        <a:t>Quanta Services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L3Harris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365581428"/>
                  </a:ext>
                </a:extLst>
              </a:tr>
              <a:tr h="83841">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Textron</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Leidos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Leidos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713887283"/>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MasTec</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MasTec</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524440798"/>
                  </a:ext>
                </a:extLst>
              </a:tr>
              <a:tr h="83841">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Parsons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1" i="0" u="none" strike="noStrike">
                          <a:solidFill>
                            <a:srgbClr val="000000"/>
                          </a:solidFill>
                          <a:effectLst/>
                          <a:latin typeface="Calibri" panose="020F0502020204030204" pitchFamily="34" charset="0"/>
                        </a:rPr>
                        <a:t>Parsons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144914492"/>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SAIC</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937972252"/>
                  </a:ext>
                </a:extLst>
              </a:tr>
              <a:tr h="83841">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Spirit AeroSystems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Spirit AeroSystems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016170623"/>
                  </a:ext>
                </a:extLst>
              </a:tr>
              <a:tr h="83147">
                <a:tc vMerge="1">
                  <a:txBody>
                    <a:bodyPr/>
                    <a:lstStyle/>
                    <a:p>
                      <a:endParaRPr lang="en-US"/>
                    </a:p>
                  </a:txBody>
                  <a:tcPr/>
                </a:tc>
                <a:tc>
                  <a:txBody>
                    <a:bodyPr/>
                    <a:lstStyle/>
                    <a:p>
                      <a:pPr algn="l" fontAlgn="b"/>
                      <a:r>
                        <a:rPr lang="en-US" sz="900" b="0" i="0" u="none" strike="noStrike">
                          <a:solidFill>
                            <a:srgbClr val="000000"/>
                          </a:solidFill>
                          <a:effectLst/>
                          <a:latin typeface="+mn-lt"/>
                        </a:rPr>
                        <a:t>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Textron</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349670414"/>
                  </a:ext>
                </a:extLst>
              </a:tr>
              <a:tr h="83147">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w="12700" cap="flat" cmpd="sng" algn="ctr">
                      <a:noFill/>
                      <a:prstDash val="solid"/>
                      <a:round/>
                      <a:headEnd type="none" w="med" len="med"/>
                      <a:tailEnd type="none" w="med" len="med"/>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w="12700" cap="flat" cmpd="sng" algn="ctr">
                      <a:noFill/>
                      <a:prstDash val="solid"/>
                      <a:round/>
                      <a:headEnd type="none" w="med" len="med"/>
                      <a:tailEnd type="none" w="med" len="med"/>
                    </a:lnB>
                    <a:noFill/>
                  </a:tcPr>
                </a:tc>
                <a:tc>
                  <a:txBody>
                    <a:bodyPr/>
                    <a:lstStyle/>
                    <a:p>
                      <a:pPr algn="l" fontAlgn="b"/>
                      <a:r>
                        <a:rPr lang="en-US" sz="900" b="0" i="0" u="none" strike="noStrike">
                          <a:solidFill>
                            <a:schemeClr val="tx1"/>
                          </a:solidFill>
                          <a:effectLst/>
                          <a:latin typeface="+mn-lt"/>
                        </a:rPr>
                        <a:t>TransDigm</a:t>
                      </a:r>
                    </a:p>
                  </a:txBody>
                  <a:tcPr marL="27432" marR="5163" marT="5163" marB="0" anchor="ctr">
                    <a:lnL>
                      <a:noFill/>
                    </a:lnL>
                    <a:lnR w="19050" cap="flat" cmpd="sng" algn="ctr">
                      <a:solidFill>
                        <a:schemeClr val="accent4"/>
                      </a:solidFill>
                      <a:prstDash val="solid"/>
                      <a:round/>
                      <a:headEnd type="none" w="med" len="med"/>
                      <a:tailEnd type="none" w="med" len="med"/>
                    </a:lnR>
                    <a:lnT>
                      <a:noFill/>
                    </a:lnT>
                    <a:lnB w="12700" cap="flat" cmpd="sng" algn="ctr">
                      <a:noFill/>
                      <a:prstDash val="solid"/>
                      <a:round/>
                      <a:headEnd type="none" w="med" len="med"/>
                      <a:tailEnd type="none" w="med" len="med"/>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TransDigm</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12700" cap="flat" cmpd="sng" algn="ctr">
                      <a:noFill/>
                      <a:prstDash val="solid"/>
                      <a:round/>
                      <a:headEnd type="none" w="med" len="med"/>
                      <a:tailEnd type="none" w="med" len="med"/>
                    </a:lnB>
                    <a:noFill/>
                  </a:tcPr>
                </a:tc>
                <a:extLst>
                  <a:ext uri="{0D108BD9-81ED-4DB2-BD59-A6C34878D82A}">
                    <a16:rowId xmlns:a16="http://schemas.microsoft.com/office/drawing/2014/main" val="1006059332"/>
                  </a:ext>
                </a:extLst>
              </a:tr>
              <a:tr h="83147">
                <a:tc>
                  <a:txBody>
                    <a:bodyPr/>
                    <a:lstStyle/>
                    <a:p>
                      <a:pPr algn="ctr" fontAlgn="ctr"/>
                      <a:endParaRPr lang="en-US" sz="900" b="1" i="0" u="none" strike="noStrike">
                        <a:solidFill>
                          <a:srgbClr val="000000"/>
                        </a:solidFill>
                        <a:effectLst/>
                        <a:latin typeface="+mn-lt"/>
                      </a:endParaRPr>
                    </a:p>
                  </a:txBody>
                  <a:tcPr marL="27432" marR="5163" marT="5163"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F7FF"/>
                    </a:solidFill>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900" b="0" i="0" u="none" strike="noStrike">
                        <a:solidFill>
                          <a:srgbClr val="FF0000"/>
                        </a:solidFill>
                        <a:effectLst/>
                        <a:latin typeface="+mn-lt"/>
                      </a:endParaRPr>
                    </a:p>
                  </a:txBody>
                  <a:tcPr marL="27432" marR="5163" marT="5163" marB="0" anchor="ctr">
                    <a:lnL>
                      <a:noFill/>
                    </a:lnL>
                    <a:lnR w="1905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TransUnion</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19130534"/>
                  </a:ext>
                </a:extLst>
              </a:tr>
              <a:tr h="83841">
                <a:tc>
                  <a:txBody>
                    <a:bodyPr/>
                    <a:lstStyle/>
                    <a:p>
                      <a:pPr algn="l" fontAlgn="b"/>
                      <a:r>
                        <a:rPr lang="en-US" sz="900" b="1" i="0" u="none" strike="noStrike">
                          <a:solidFill>
                            <a:srgbClr val="000000"/>
                          </a:solidFill>
                          <a:effectLst/>
                          <a:latin typeface="+mn-lt"/>
                        </a:rPr>
                        <a:t>Median Revenue</a:t>
                      </a:r>
                    </a:p>
                  </a:txBody>
                  <a:tcPr marL="27432" marR="5163" marT="5163" marB="0" anchor="ct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$13,030</a:t>
                      </a:r>
                    </a:p>
                  </a:txBody>
                  <a:tcPr marL="0" marR="0" marT="0" marB="0" anchor="ctr">
                    <a:lnL>
                      <a:noFill/>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$14,087</a:t>
                      </a:r>
                    </a:p>
                  </a:txBody>
                  <a:tcPr marL="0" marR="0" marT="0" marB="0" anchor="ctr">
                    <a:lnL>
                      <a:noFill/>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$14,430</a:t>
                      </a:r>
                    </a:p>
                  </a:txBody>
                  <a:tcPr marL="0" marR="0" marT="0" marB="0" anchor="ctr">
                    <a:lnL>
                      <a:noFill/>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$7,325</a:t>
                      </a:r>
                    </a:p>
                  </a:txBody>
                  <a:tcPr marL="0" marR="0" marT="0" marB="0" anchor="ctr">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$8,375</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597680089"/>
                  </a:ext>
                </a:extLst>
              </a:tr>
              <a:tr h="83841">
                <a:tc>
                  <a:txBody>
                    <a:bodyPr/>
                    <a:lstStyle/>
                    <a:p>
                      <a:pPr algn="l" fontAlgn="b"/>
                      <a:r>
                        <a:rPr lang="en-US" sz="900" b="1" i="0" u="none" strike="noStrike">
                          <a:solidFill>
                            <a:srgbClr val="000000"/>
                          </a:solidFill>
                          <a:effectLst/>
                          <a:latin typeface="+mn-lt"/>
                        </a:rPr>
                        <a:t>Median Market Cap</a:t>
                      </a:r>
                    </a:p>
                  </a:txBody>
                  <a:tcPr marL="27432" marR="5163" marT="5163" marB="0" anchor="ctr">
                    <a:lnL w="6350" cap="flat" cmpd="sng" algn="ctr">
                      <a:solidFill>
                        <a:schemeClr val="tx1"/>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$13,459</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$12,544</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$12,137</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$10,829</a:t>
                      </a:r>
                    </a:p>
                  </a:txBody>
                  <a:tcPr marL="0" marR="0" marT="0" marB="0" anchor="ctr">
                    <a:lnL>
                      <a:noFill/>
                    </a:lnL>
                    <a:lnR w="19050" cap="flat" cmpd="sng" algn="ctr">
                      <a:solidFill>
                        <a:schemeClr val="accent4"/>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$14,314</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rgbClr val="FFFFDB"/>
                    </a:solidFill>
                  </a:tcPr>
                </a:tc>
                <a:extLst>
                  <a:ext uri="{0D108BD9-81ED-4DB2-BD59-A6C34878D82A}">
                    <a16:rowId xmlns:a16="http://schemas.microsoft.com/office/drawing/2014/main" val="2111770362"/>
                  </a:ext>
                </a:extLst>
              </a:tr>
              <a:tr h="83841">
                <a:tc>
                  <a:txBody>
                    <a:bodyPr/>
                    <a:lstStyle/>
                    <a:p>
                      <a:pPr algn="l" fontAlgn="b"/>
                      <a:r>
                        <a:rPr lang="en-US" sz="900" b="1" i="0" u="none" strike="noStrike" dirty="0" err="1">
                          <a:solidFill>
                            <a:srgbClr val="000000"/>
                          </a:solidFill>
                          <a:effectLst/>
                          <a:latin typeface="+mn-lt"/>
                        </a:rPr>
                        <a:t>Plutos</a:t>
                      </a:r>
                      <a:r>
                        <a:rPr lang="en-US" sz="900" b="1" i="0" u="none" strike="noStrike" dirty="0">
                          <a:solidFill>
                            <a:srgbClr val="000000"/>
                          </a:solidFill>
                          <a:effectLst/>
                          <a:latin typeface="+mn-lt"/>
                        </a:rPr>
                        <a:t> Revenue</a:t>
                      </a:r>
                    </a:p>
                  </a:txBody>
                  <a:tcPr marL="27432" marR="5163" marT="5163" marB="0" anchor="ct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$13,709</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$14,378</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$15,585</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$10,054</a:t>
                      </a:r>
                    </a:p>
                  </a:txBody>
                  <a:tcPr marL="0" marR="0" marT="0" marB="0" anchor="ctr">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$11,687</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644903618"/>
                  </a:ext>
                </a:extLst>
              </a:tr>
              <a:tr h="83841">
                <a:tc>
                  <a:txBody>
                    <a:bodyPr/>
                    <a:lstStyle/>
                    <a:p>
                      <a:pPr algn="l" fontAlgn="b"/>
                      <a:r>
                        <a:rPr lang="en-US" sz="900" b="1" i="0" u="none" strike="noStrike" dirty="0" err="1">
                          <a:solidFill>
                            <a:srgbClr val="000000"/>
                          </a:solidFill>
                          <a:effectLst/>
                          <a:latin typeface="+mn-lt"/>
                        </a:rPr>
                        <a:t>Plutos</a:t>
                      </a:r>
                      <a:r>
                        <a:rPr lang="en-US" sz="900" b="1" i="0" u="none" strike="noStrike" dirty="0">
                          <a:solidFill>
                            <a:srgbClr val="000000"/>
                          </a:solidFill>
                          <a:effectLst/>
                          <a:latin typeface="+mn-lt"/>
                        </a:rPr>
                        <a:t> Market Cap</a:t>
                      </a:r>
                    </a:p>
                  </a:txBody>
                  <a:tcPr marL="27432" marR="5163" marT="5163" marB="0" anchor="ctr">
                    <a:lnL w="6350" cap="flat" cmpd="sng" algn="ctr">
                      <a:solidFill>
                        <a:schemeClr val="tx1"/>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$17,373</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$16,352</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$15,081</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$17,493</a:t>
                      </a:r>
                    </a:p>
                  </a:txBody>
                  <a:tcPr marL="0" marR="0" marT="0" marB="0" anchor="ctr">
                    <a:lnL>
                      <a:noFill/>
                    </a:lnL>
                    <a:lnR w="19050" cap="flat" cmpd="sng" algn="ctr">
                      <a:solidFill>
                        <a:schemeClr val="accent4"/>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$15,772</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19050" cap="flat" cmpd="sng" algn="ctr">
                      <a:solidFill>
                        <a:schemeClr val="accent4"/>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97009853"/>
                  </a:ext>
                </a:extLst>
              </a:tr>
            </a:tbl>
          </a:graphicData>
        </a:graphic>
      </p:graphicFrame>
      <p:sp>
        <p:nvSpPr>
          <p:cNvPr id="5" name="TextBox 4">
            <a:extLst>
              <a:ext uri="{FF2B5EF4-FFF2-40B4-BE49-F238E27FC236}">
                <a16:creationId xmlns:a16="http://schemas.microsoft.com/office/drawing/2014/main" id="{C9933DBF-C0AA-4C3B-F9C0-77856EF89B11}"/>
              </a:ext>
            </a:extLst>
          </p:cNvPr>
          <p:cNvSpPr txBox="1"/>
          <p:nvPr/>
        </p:nvSpPr>
        <p:spPr>
          <a:xfrm>
            <a:off x="2260060" y="1275920"/>
            <a:ext cx="4623880" cy="286232"/>
          </a:xfrm>
          <a:prstGeom prst="rect">
            <a:avLst/>
          </a:prstGeom>
          <a:noFill/>
        </p:spPr>
        <p:txBody>
          <a:bodyPr wrap="square" lIns="45720" tIns="45720" rIns="45720" bIns="45720" rtlCol="0" anchor="ctr">
            <a:spAutoFit/>
          </a:bodyPr>
          <a:lstStyle/>
          <a:p>
            <a:pPr algn="ctr">
              <a:lnSpc>
                <a:spcPct val="90000"/>
              </a:lnSpc>
            </a:pPr>
            <a:r>
              <a:rPr lang="en-US" sz="1400" b="1" dirty="0" err="1"/>
              <a:t>Plutos</a:t>
            </a:r>
            <a:r>
              <a:rPr lang="en-US" sz="1400" b="1" dirty="0"/>
              <a:t> ISS Peer Group History ($MMs)</a:t>
            </a:r>
          </a:p>
        </p:txBody>
      </p:sp>
      <p:sp>
        <p:nvSpPr>
          <p:cNvPr id="6" name="TextBox 5">
            <a:extLst>
              <a:ext uri="{FF2B5EF4-FFF2-40B4-BE49-F238E27FC236}">
                <a16:creationId xmlns:a16="http://schemas.microsoft.com/office/drawing/2014/main" id="{D7FBF11A-C3E8-A1A9-413B-4F5A34AA08B4}"/>
              </a:ext>
            </a:extLst>
          </p:cNvPr>
          <p:cNvSpPr txBox="1"/>
          <p:nvPr/>
        </p:nvSpPr>
        <p:spPr>
          <a:xfrm>
            <a:off x="274319" y="5724911"/>
            <a:ext cx="8595359" cy="369332"/>
          </a:xfrm>
          <a:prstGeom prst="rect">
            <a:avLst/>
          </a:prstGeom>
          <a:noFill/>
        </p:spPr>
        <p:txBody>
          <a:bodyPr wrap="square" lIns="45720" tIns="45720" rIns="45720" bIns="45720" rtlCol="0" anchor="ctr">
            <a:spAutoFit/>
          </a:bodyPr>
          <a:lstStyle/>
          <a:p>
            <a:r>
              <a:rPr lang="en-US" sz="900" i="1"/>
              <a:t>Note: peer group is for the fiscal year that the shareholder vote was for (i.e., FY2025 peer group reflects the ISS peer group used in making its recommendation for the shareholder vote held in January 2026 for FY2025 programs)</a:t>
            </a:r>
          </a:p>
        </p:txBody>
      </p:sp>
      <p:sp>
        <p:nvSpPr>
          <p:cNvPr id="10" name="Rectangle 9">
            <a:extLst>
              <a:ext uri="{FF2B5EF4-FFF2-40B4-BE49-F238E27FC236}">
                <a16:creationId xmlns:a16="http://schemas.microsoft.com/office/drawing/2014/main" id="{415D7F31-9BA8-36FB-D608-CADF45231510}"/>
              </a:ext>
            </a:extLst>
          </p:cNvPr>
          <p:cNvSpPr/>
          <p:nvPr/>
        </p:nvSpPr>
        <p:spPr>
          <a:xfrm>
            <a:off x="7041221" y="6375400"/>
            <a:ext cx="165600" cy="109289"/>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11" name="TextBox 10">
            <a:extLst>
              <a:ext uri="{FF2B5EF4-FFF2-40B4-BE49-F238E27FC236}">
                <a16:creationId xmlns:a16="http://schemas.microsoft.com/office/drawing/2014/main" id="{C574A841-4D3A-4900-3A91-1250BF20AA12}"/>
              </a:ext>
            </a:extLst>
          </p:cNvPr>
          <p:cNvSpPr txBox="1"/>
          <p:nvPr/>
        </p:nvSpPr>
        <p:spPr>
          <a:xfrm>
            <a:off x="7206821" y="6317899"/>
            <a:ext cx="1573725" cy="224292"/>
          </a:xfrm>
          <a:prstGeom prst="rect">
            <a:avLst/>
          </a:prstGeom>
          <a:noFill/>
        </p:spPr>
        <p:txBody>
          <a:bodyPr vert="horz" wrap="square" lIns="45720" tIns="45720" rIns="45720" bIns="45720" rtlCol="0" anchor="ctr">
            <a:spAutoFit/>
          </a:bodyPr>
          <a:lstStyle/>
          <a:p>
            <a:pPr>
              <a:lnSpc>
                <a:spcPct val="85000"/>
              </a:lnSpc>
            </a:pPr>
            <a:r>
              <a:rPr lang="en-US" sz="1000" i="1"/>
              <a:t>New to peer group that FY</a:t>
            </a:r>
          </a:p>
        </p:txBody>
      </p:sp>
      <p:sp>
        <p:nvSpPr>
          <p:cNvPr id="12" name="TextBox 11">
            <a:extLst>
              <a:ext uri="{FF2B5EF4-FFF2-40B4-BE49-F238E27FC236}">
                <a16:creationId xmlns:a16="http://schemas.microsoft.com/office/drawing/2014/main" id="{B5855191-67B0-952A-5534-ECA4909FF641}"/>
              </a:ext>
            </a:extLst>
          </p:cNvPr>
          <p:cNvSpPr txBox="1"/>
          <p:nvPr/>
        </p:nvSpPr>
        <p:spPr>
          <a:xfrm>
            <a:off x="6990201" y="6145453"/>
            <a:ext cx="1879478" cy="224292"/>
          </a:xfrm>
          <a:prstGeom prst="rect">
            <a:avLst/>
          </a:prstGeom>
          <a:noFill/>
        </p:spPr>
        <p:txBody>
          <a:bodyPr vert="horz" wrap="square" lIns="45720" tIns="45720" rIns="45720" bIns="45720" rtlCol="0" anchor="ctr">
            <a:spAutoFit/>
          </a:bodyPr>
          <a:lstStyle/>
          <a:p>
            <a:pPr>
              <a:lnSpc>
                <a:spcPct val="85000"/>
              </a:lnSpc>
            </a:pPr>
            <a:r>
              <a:rPr lang="en-US" sz="1000" i="1">
                <a:solidFill>
                  <a:schemeClr val="accent4"/>
                </a:solidFill>
              </a:rPr>
              <a:t>Removed next FY from peer group</a:t>
            </a:r>
          </a:p>
        </p:txBody>
      </p:sp>
      <p:sp>
        <p:nvSpPr>
          <p:cNvPr id="8" name="TextBox 7">
            <a:extLst>
              <a:ext uri="{FF2B5EF4-FFF2-40B4-BE49-F238E27FC236}">
                <a16:creationId xmlns:a16="http://schemas.microsoft.com/office/drawing/2014/main" id="{F136A4F5-81C6-3D19-3D7F-4C2D1009F632}"/>
              </a:ext>
            </a:extLst>
          </p:cNvPr>
          <p:cNvSpPr txBox="1"/>
          <p:nvPr/>
        </p:nvSpPr>
        <p:spPr>
          <a:xfrm>
            <a:off x="6990201" y="6002645"/>
            <a:ext cx="1879478" cy="224292"/>
          </a:xfrm>
          <a:prstGeom prst="rect">
            <a:avLst/>
          </a:prstGeom>
          <a:noFill/>
        </p:spPr>
        <p:txBody>
          <a:bodyPr vert="horz" wrap="square" lIns="45720" tIns="45720" rIns="45720" bIns="45720" rtlCol="0" anchor="ctr">
            <a:spAutoFit/>
          </a:bodyPr>
          <a:lstStyle/>
          <a:p>
            <a:pPr>
              <a:lnSpc>
                <a:spcPct val="85000"/>
              </a:lnSpc>
            </a:pPr>
            <a:r>
              <a:rPr lang="en-US" sz="1000" b="1"/>
              <a:t>Current Peer Overlap</a:t>
            </a:r>
          </a:p>
        </p:txBody>
      </p:sp>
      <p:sp>
        <p:nvSpPr>
          <p:cNvPr id="90018" name="acme-flag-90018"/>
          <p:cNvSpPr/>
          <p:nvPr/>
        </p:nvSpPr>
        <p:spPr>
          <a:xfrm>
            <a:off x="274320" y="1571281"/>
            <a:ext cx="8595360" cy="4169277"/>
          </a:xfrm>
          <a:prstGeom prst="rect">
            <a:avLst/>
          </a:prstGeom>
          <a:solidFill>
            <a:srgbClr val="FFD400">
              <a:alpha val="30000"/>
            </a:srgbClr>
          </a:solidFill>
          <a:ln w="19050">
            <a:solidFill>
              <a:srgbClr val="E80000"/>
            </a:solidFill>
          </a:ln>
        </p:spPr>
        <p:txBody>
          <a:bodyPr/>
          <a:lstStyle/>
          <a:p/>
        </p:txBody>
      </p:sp>
      <p:sp>
        <p:nvSpPr>
          <p:cNvPr id="90019" name="acme-note-90019"/>
          <p:cNvSpPr txBox="1"/>
          <p:nvPr/>
        </p:nvSpPr>
        <p:spPr>
          <a:xfrm>
            <a:off x="152400" y="6328000"/>
            <a:ext cx="8839200" cy="470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1 brand issue flagged:</a:t>
            </a:r>
          </a:p>
          <a:p>
            <a:r>
              <a:rPr lang="en-US" sz="1000" b="0" dirty="0">
                <a:solidFill>
                  <a:srgbClr val="9B0000"/>
                </a:solidFill>
                <a:latin typeface="Calibri"/>
              </a:rPr>
              <a:t>1. Table header cell “ISS Peers” is #E3F7FF but the header uses ACME blue (#006EBE).</a:t>
            </a:r>
          </a:p>
        </p:txBody>
      </p:sp>
    </p:spTree>
    <p:extLst>
      <p:ext uri="{BB962C8B-B14F-4D97-AF65-F5344CB8AC3E}">
        <p14:creationId xmlns:p14="http://schemas.microsoft.com/office/powerpoint/2010/main" val="424596059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A02C1A4-F8CD-29AB-D265-C6834FCA9263}"/>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D2C2557-9063-0710-FD53-5AB7407DA836}"/>
              </a:ext>
            </a:extLst>
          </p:cNvPr>
          <p:cNvSpPr>
            <a:spLocks noGrp="1"/>
          </p:cNvSpPr>
          <p:nvPr>
            <p:ph type="title"/>
          </p:nvPr>
        </p:nvSpPr>
        <p:spPr>
          <a:xfrm>
            <a:off x="882797" y="44215"/>
            <a:ext cx="8074152" cy="1292899"/>
          </a:xfrm>
        </p:spPr>
        <p:txBody>
          <a:bodyPr/>
          <a:lstStyle/>
          <a:p>
            <a:r>
              <a:rPr lang="en-US" dirty="0"/>
              <a:t>This year, Glass Lewis (GL) replaced four construction, engineering, and aerospace peers with four business services companies; however, none are relevant for inclusion in </a:t>
            </a:r>
            <a:r>
              <a:rPr lang="en-US" dirty="0" err="1"/>
              <a:t>Plutos</a:t>
            </a:r>
            <a:r>
              <a:rPr lang="en-US" dirty="0"/>
              <a:t>’ compensation peer group</a:t>
            </a:r>
          </a:p>
        </p:txBody>
      </p:sp>
      <p:graphicFrame>
        <p:nvGraphicFramePr>
          <p:cNvPr id="6" name="Table 5">
            <a:extLst>
              <a:ext uri="{FF2B5EF4-FFF2-40B4-BE49-F238E27FC236}">
                <a16:creationId xmlns:a16="http://schemas.microsoft.com/office/drawing/2014/main" id="{1442A6A2-766C-5143-A09B-57802E3C84E1}"/>
              </a:ext>
            </a:extLst>
          </p:cNvPr>
          <p:cNvGraphicFramePr>
            <a:graphicFrameLocks noGrp="1"/>
          </p:cNvGraphicFramePr>
          <p:nvPr>
            <p:extLst>
              <p:ext uri="{D42A27DB-BD31-4B8C-83A1-F6EECF244321}">
                <p14:modId xmlns:p14="http://schemas.microsoft.com/office/powerpoint/2010/main" val="283104533"/>
              </p:ext>
            </p:extLst>
          </p:nvPr>
        </p:nvGraphicFramePr>
        <p:xfrm>
          <a:off x="725011" y="1906957"/>
          <a:ext cx="7693978" cy="3108960"/>
        </p:xfrm>
        <a:graphic>
          <a:graphicData uri="http://schemas.openxmlformats.org/drawingml/2006/table">
            <a:tbl>
              <a:tblPr/>
              <a:tblGrid>
                <a:gridCol w="1064578">
                  <a:extLst>
                    <a:ext uri="{9D8B030D-6E8A-4147-A177-3AD203B41FA5}">
                      <a16:colId xmlns:a16="http://schemas.microsoft.com/office/drawing/2014/main" val="4128305823"/>
                    </a:ext>
                  </a:extLst>
                </a:gridCol>
                <a:gridCol w="1325880">
                  <a:extLst>
                    <a:ext uri="{9D8B030D-6E8A-4147-A177-3AD203B41FA5}">
                      <a16:colId xmlns:a16="http://schemas.microsoft.com/office/drawing/2014/main" val="1118209601"/>
                    </a:ext>
                  </a:extLst>
                </a:gridCol>
                <a:gridCol w="1325880">
                  <a:extLst>
                    <a:ext uri="{9D8B030D-6E8A-4147-A177-3AD203B41FA5}">
                      <a16:colId xmlns:a16="http://schemas.microsoft.com/office/drawing/2014/main" val="242818336"/>
                    </a:ext>
                  </a:extLst>
                </a:gridCol>
                <a:gridCol w="1325880">
                  <a:extLst>
                    <a:ext uri="{9D8B030D-6E8A-4147-A177-3AD203B41FA5}">
                      <a16:colId xmlns:a16="http://schemas.microsoft.com/office/drawing/2014/main" val="891891042"/>
                    </a:ext>
                  </a:extLst>
                </a:gridCol>
                <a:gridCol w="1325880">
                  <a:extLst>
                    <a:ext uri="{9D8B030D-6E8A-4147-A177-3AD203B41FA5}">
                      <a16:colId xmlns:a16="http://schemas.microsoft.com/office/drawing/2014/main" val="2938357706"/>
                    </a:ext>
                  </a:extLst>
                </a:gridCol>
                <a:gridCol w="1325880">
                  <a:extLst>
                    <a:ext uri="{9D8B030D-6E8A-4147-A177-3AD203B41FA5}">
                      <a16:colId xmlns:a16="http://schemas.microsoft.com/office/drawing/2014/main" val="3040134658"/>
                    </a:ext>
                  </a:extLst>
                </a:gridCol>
              </a:tblGrid>
              <a:tr h="148788">
                <a:tc rowSpan="16">
                  <a:txBody>
                    <a:bodyPr/>
                    <a:lstStyle/>
                    <a:p>
                      <a:pPr algn="ctr" fontAlgn="ctr">
                        <a:buNone/>
                      </a:pPr>
                      <a:r>
                        <a:rPr lang="en-US" sz="900" b="1" i="0" u="none" strike="noStrike" dirty="0">
                          <a:solidFill>
                            <a:srgbClr val="000000"/>
                          </a:solidFill>
                          <a:effectLst/>
                          <a:latin typeface="Calibri" panose="020F0502020204030204" pitchFamily="34" charset="0"/>
                        </a:rPr>
                        <a:t>GL Peers</a:t>
                      </a:r>
                    </a:p>
                  </a:txBody>
                  <a:tcPr marL="45720" marR="45720" marT="9144" marB="9144"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7FF"/>
                    </a:solidFill>
                  </a:tcPr>
                </a:tc>
                <a:tc>
                  <a:txBody>
                    <a:bodyPr/>
                    <a:lstStyle/>
                    <a:p>
                      <a:pPr algn="l" fontAlgn="b">
                        <a:buNone/>
                      </a:pPr>
                      <a:r>
                        <a:rPr lang="en-US" sz="900" b="1" i="0" u="none" strike="noStrike">
                          <a:solidFill>
                            <a:srgbClr val="FFFFFF"/>
                          </a:solidFill>
                          <a:effectLst/>
                          <a:latin typeface="Calibri" panose="020F0502020204030204" pitchFamily="34" charset="0"/>
                        </a:rPr>
                        <a:t>FY2021</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FY2023</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FY2024</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FY2025</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13077851"/>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AECOM</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048642164"/>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073200803"/>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Broadridge</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Broadridge</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Broadridge</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8928360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CoStar Group</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CoStar Group</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CACI International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431504433"/>
                  </a:ext>
                </a:extLst>
              </a:tr>
              <a:tr h="148788">
                <a:tc vMerge="1">
                  <a:txBody>
                    <a:bodyPr/>
                    <a:lstStyle/>
                    <a:p>
                      <a:endParaRPr lang="en-US"/>
                    </a:p>
                  </a:txBody>
                  <a:tcPr/>
                </a:tc>
                <a:tc>
                  <a:txBody>
                    <a:bodyPr/>
                    <a:lstStyle/>
                    <a:p>
                      <a:pPr algn="l" fontAlgn="b">
                        <a:buNone/>
                      </a:pPr>
                      <a:r>
                        <a:rPr lang="en-US" sz="900" b="0" i="0" u="none" strike="noStrike">
                          <a:solidFill>
                            <a:srgbClr val="FF0000"/>
                          </a:solidFill>
                          <a:effectLst/>
                          <a:latin typeface="Calibri" panose="020F0502020204030204" pitchFamily="34" charset="0"/>
                        </a:rPr>
                        <a:t>EMCOR Group</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Cognizant</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401448917"/>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Equifax</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EMCOR Group</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156218408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FF0000"/>
                          </a:solidFill>
                          <a:effectLst/>
                          <a:latin typeface="Calibri" panose="020F0502020204030204" pitchFamily="34" charset="0"/>
                        </a:rPr>
                        <a:t>Fluor</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Genpact</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209669934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1" i="0" u="none" strike="noStrike">
                          <a:solidFill>
                            <a:srgbClr val="000000"/>
                          </a:solidFill>
                          <a:effectLst/>
                          <a:latin typeface="Calibri" panose="020F0502020204030204" pitchFamily="34" charset="0"/>
                        </a:rPr>
                        <a:t>KBR</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822016863"/>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FF0000"/>
                          </a:solidFill>
                          <a:effectLst/>
                          <a:latin typeface="Calibri" panose="020F0502020204030204" pitchFamily="34" charset="0"/>
                        </a:rPr>
                        <a:t>Manpower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1122661723"/>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Manpower</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1" i="0" u="none" strike="noStrike">
                          <a:solidFill>
                            <a:srgbClr val="000000"/>
                          </a:solidFill>
                          <a:effectLst/>
                          <a:latin typeface="Calibri" panose="020F0502020204030204" pitchFamily="34" charset="0"/>
                        </a:rPr>
                        <a:t>Leidos</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784967856"/>
                  </a:ext>
                </a:extLst>
              </a:tr>
              <a:tr h="148788">
                <a:tc vMerge="1">
                  <a:txBody>
                    <a:bodyPr/>
                    <a:lstStyle/>
                    <a:p>
                      <a:endParaRPr lang="en-US"/>
                    </a:p>
                  </a:txBody>
                  <a:tcPr/>
                </a:tc>
                <a:tc>
                  <a:txBody>
                    <a:bodyPr/>
                    <a:lstStyle/>
                    <a:p>
                      <a:pPr algn="l" fontAlgn="b">
                        <a:buNone/>
                      </a:pPr>
                      <a:r>
                        <a:rPr lang="en-US" sz="900" b="0" i="0" u="none" strike="noStrike">
                          <a:solidFill>
                            <a:srgbClr val="FF0000"/>
                          </a:solidFill>
                          <a:effectLst/>
                          <a:latin typeface="Calibri" panose="020F0502020204030204" pitchFamily="34" charset="0"/>
                        </a:rPr>
                        <a:t>Parker-Hannifin</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FF0000"/>
                          </a:solidFill>
                          <a:effectLst/>
                          <a:latin typeface="Calibri" panose="020F0502020204030204" pitchFamily="34" charset="0"/>
                        </a:rPr>
                        <a:t>Quanta Services </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ManpowerGroup</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41187999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Quanta Services</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1" i="0" u="none" strike="noStrike">
                          <a:solidFill>
                            <a:srgbClr val="000000"/>
                          </a:solidFill>
                          <a:effectLst/>
                          <a:latin typeface="Calibri" panose="020F0502020204030204" pitchFamily="34" charset="0"/>
                        </a:rPr>
                        <a:t>Parsons</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530975118"/>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361995688"/>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Verisk Analytics</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Textron</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SS&amp;C</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1803919499"/>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Verisk Analytics</a:t>
                      </a:r>
                    </a:p>
                  </a:txBody>
                  <a:tcPr marL="45720" marR="45720" marT="9144" marB="9144"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FF0000"/>
                          </a:solidFill>
                          <a:effectLst/>
                          <a:latin typeface="Calibri" panose="020F0502020204030204" pitchFamily="34" charset="0"/>
                        </a:rPr>
                        <a:t>WSP Global</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1" i="0" u="none" strike="noStrike">
                          <a:solidFill>
                            <a:srgbClr val="000000"/>
                          </a:solidFill>
                          <a:effectLst/>
                          <a:latin typeface="Calibri" panose="020F0502020204030204" pitchFamily="34" charset="0"/>
                        </a:rPr>
                        <a:t>Tetra Tech</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409762"/>
                  </a:ext>
                </a:extLst>
              </a:tr>
              <a:tr h="155448">
                <a:tc>
                  <a:txBody>
                    <a:bodyPr/>
                    <a:lstStyle/>
                    <a:p>
                      <a:pPr algn="l" fontAlgn="b">
                        <a:buNone/>
                      </a:pPr>
                      <a:r>
                        <a:rPr lang="en-US" sz="900" b="1" i="0" u="none" strike="noStrike">
                          <a:solidFill>
                            <a:srgbClr val="000000"/>
                          </a:solidFill>
                          <a:effectLst/>
                          <a:latin typeface="Calibri" panose="020F0502020204030204" pitchFamily="34" charset="0"/>
                        </a:rPr>
                        <a:t>Meidan Revenue</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$8,801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$8,364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$9,259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$13,125</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$7,942</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535144811"/>
                  </a:ext>
                </a:extLst>
              </a:tr>
              <a:tr h="155448">
                <a:tc>
                  <a:txBody>
                    <a:bodyPr/>
                    <a:lstStyle/>
                    <a:p>
                      <a:pPr algn="l" fontAlgn="b">
                        <a:buNone/>
                      </a:pPr>
                      <a:r>
                        <a:rPr lang="en-US" sz="900" b="1" i="0" u="none" strike="noStrike">
                          <a:solidFill>
                            <a:srgbClr val="000000"/>
                          </a:solidFill>
                          <a:effectLst/>
                          <a:latin typeface="Calibri" panose="020F0502020204030204" pitchFamily="34" charset="0"/>
                        </a:rPr>
                        <a:t>Median Market Cap</a:t>
                      </a:r>
                    </a:p>
                  </a:txBody>
                  <a:tcPr marL="45720" marR="45720" marT="9144" marB="9144"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$11,534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$11,954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$16,373</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$11,707</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2304303667"/>
                  </a:ext>
                </a:extLst>
              </a:tr>
              <a:tr h="155448">
                <a:tc>
                  <a:txBody>
                    <a:bodyPr/>
                    <a:lstStyle/>
                    <a:p>
                      <a:pPr algn="l" fontAlgn="b">
                        <a:buNone/>
                      </a:pPr>
                      <a:r>
                        <a:rPr lang="en-US" sz="900" b="1" i="0" u="none" strike="noStrike" dirty="0" err="1">
                          <a:solidFill>
                            <a:srgbClr val="000000"/>
                          </a:solidFill>
                          <a:effectLst/>
                          <a:latin typeface="Calibri" panose="020F0502020204030204" pitchFamily="34" charset="0"/>
                        </a:rPr>
                        <a:t>Plutos</a:t>
                      </a:r>
                      <a:r>
                        <a:rPr lang="en-US" sz="900" b="1" i="0" u="none" strike="noStrike" dirty="0">
                          <a:solidFill>
                            <a:srgbClr val="000000"/>
                          </a:solidFill>
                          <a:effectLst/>
                          <a:latin typeface="Calibri" panose="020F0502020204030204" pitchFamily="34" charset="0"/>
                        </a:rPr>
                        <a:t> Revenue</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$13,709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$14,378</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$15,585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$8,632</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$11,687</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1FFE1"/>
                    </a:solidFill>
                  </a:tcPr>
                </a:tc>
                <a:extLst>
                  <a:ext uri="{0D108BD9-81ED-4DB2-BD59-A6C34878D82A}">
                    <a16:rowId xmlns:a16="http://schemas.microsoft.com/office/drawing/2014/main" val="789986684"/>
                  </a:ext>
                </a:extLst>
              </a:tr>
              <a:tr h="155448">
                <a:tc>
                  <a:txBody>
                    <a:bodyPr/>
                    <a:lstStyle/>
                    <a:p>
                      <a:pPr algn="l" fontAlgn="b">
                        <a:buNone/>
                      </a:pPr>
                      <a:r>
                        <a:rPr lang="en-US" sz="900" b="1" i="0" u="none" strike="noStrike" dirty="0" err="1">
                          <a:solidFill>
                            <a:srgbClr val="000000"/>
                          </a:solidFill>
                          <a:effectLst/>
                          <a:latin typeface="Calibri" panose="020F0502020204030204" pitchFamily="34" charset="0"/>
                        </a:rPr>
                        <a:t>Plutos</a:t>
                      </a:r>
                      <a:r>
                        <a:rPr lang="en-US" sz="900" b="1" i="0" u="none" strike="noStrike" dirty="0">
                          <a:solidFill>
                            <a:srgbClr val="000000"/>
                          </a:solidFill>
                          <a:effectLst/>
                          <a:latin typeface="Calibri" panose="020F0502020204030204" pitchFamily="34" charset="0"/>
                        </a:rPr>
                        <a:t> Market Cap</a:t>
                      </a:r>
                    </a:p>
                  </a:txBody>
                  <a:tcPr marL="45720" marR="45720" marT="9144" marB="9144"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$17,373</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$16,352</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$15,081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$17,493</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$15,772</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19050" cap="flat" cmpd="sng" algn="ctr">
                      <a:solidFill>
                        <a:schemeClr val="accent4"/>
                      </a:solidFill>
                      <a:prstDash val="solid"/>
                      <a:round/>
                      <a:headEnd type="none" w="med" len="med"/>
                      <a:tailEnd type="none" w="med" len="med"/>
                    </a:lnB>
                    <a:solidFill>
                      <a:srgbClr val="F1FFE1"/>
                    </a:solidFill>
                  </a:tcPr>
                </a:tc>
                <a:extLst>
                  <a:ext uri="{0D108BD9-81ED-4DB2-BD59-A6C34878D82A}">
                    <a16:rowId xmlns:a16="http://schemas.microsoft.com/office/drawing/2014/main" val="581808219"/>
                  </a:ext>
                </a:extLst>
              </a:tr>
            </a:tbl>
          </a:graphicData>
        </a:graphic>
      </p:graphicFrame>
      <p:sp>
        <p:nvSpPr>
          <p:cNvPr id="7" name="TextBox 6">
            <a:extLst>
              <a:ext uri="{FF2B5EF4-FFF2-40B4-BE49-F238E27FC236}">
                <a16:creationId xmlns:a16="http://schemas.microsoft.com/office/drawing/2014/main" id="{C906FCB9-D596-0239-75E7-9B6DB4687FFB}"/>
              </a:ext>
            </a:extLst>
          </p:cNvPr>
          <p:cNvSpPr txBox="1"/>
          <p:nvPr/>
        </p:nvSpPr>
        <p:spPr>
          <a:xfrm>
            <a:off x="2260060" y="1595355"/>
            <a:ext cx="4623880" cy="286232"/>
          </a:xfrm>
          <a:prstGeom prst="rect">
            <a:avLst/>
          </a:prstGeom>
          <a:noFill/>
        </p:spPr>
        <p:txBody>
          <a:bodyPr wrap="square" lIns="45720" tIns="45720" rIns="45720" bIns="45720" rtlCol="0" anchor="ctr">
            <a:spAutoFit/>
          </a:bodyPr>
          <a:lstStyle/>
          <a:p>
            <a:pPr algn="ctr">
              <a:lnSpc>
                <a:spcPct val="90000"/>
              </a:lnSpc>
            </a:pPr>
            <a:r>
              <a:rPr lang="en-US" sz="1400" b="1" dirty="0" err="1"/>
              <a:t>Plutos</a:t>
            </a:r>
            <a:r>
              <a:rPr lang="en-US" sz="1400" b="1" dirty="0"/>
              <a:t> Glass Lewis Peer Group History ($MMs)</a:t>
            </a:r>
          </a:p>
        </p:txBody>
      </p:sp>
      <p:sp>
        <p:nvSpPr>
          <p:cNvPr id="5" name="Rectangle 4">
            <a:extLst>
              <a:ext uri="{FF2B5EF4-FFF2-40B4-BE49-F238E27FC236}">
                <a16:creationId xmlns:a16="http://schemas.microsoft.com/office/drawing/2014/main" id="{576C4272-1C1D-CA16-0B92-CEE843D5A352}"/>
              </a:ext>
            </a:extLst>
          </p:cNvPr>
          <p:cNvSpPr/>
          <p:nvPr/>
        </p:nvSpPr>
        <p:spPr>
          <a:xfrm>
            <a:off x="6590531" y="5441794"/>
            <a:ext cx="165600" cy="109289"/>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8" name="TextBox 7">
            <a:extLst>
              <a:ext uri="{FF2B5EF4-FFF2-40B4-BE49-F238E27FC236}">
                <a16:creationId xmlns:a16="http://schemas.microsoft.com/office/drawing/2014/main" id="{DAF726F2-136D-B4EA-3E66-9202E285533B}"/>
              </a:ext>
            </a:extLst>
          </p:cNvPr>
          <p:cNvSpPr txBox="1"/>
          <p:nvPr/>
        </p:nvSpPr>
        <p:spPr>
          <a:xfrm>
            <a:off x="6756131" y="5384293"/>
            <a:ext cx="1573725" cy="224292"/>
          </a:xfrm>
          <a:prstGeom prst="rect">
            <a:avLst/>
          </a:prstGeom>
          <a:noFill/>
        </p:spPr>
        <p:txBody>
          <a:bodyPr vert="horz" wrap="square" lIns="45720" tIns="45720" rIns="45720" bIns="45720" rtlCol="0" anchor="ctr">
            <a:spAutoFit/>
          </a:bodyPr>
          <a:lstStyle/>
          <a:p>
            <a:pPr>
              <a:lnSpc>
                <a:spcPct val="85000"/>
              </a:lnSpc>
            </a:pPr>
            <a:r>
              <a:rPr lang="en-US" sz="1000" i="1"/>
              <a:t>New to peer group that FY</a:t>
            </a:r>
          </a:p>
        </p:txBody>
      </p:sp>
      <p:sp>
        <p:nvSpPr>
          <p:cNvPr id="9" name="TextBox 8">
            <a:extLst>
              <a:ext uri="{FF2B5EF4-FFF2-40B4-BE49-F238E27FC236}">
                <a16:creationId xmlns:a16="http://schemas.microsoft.com/office/drawing/2014/main" id="{55E6C106-22F7-DE04-133F-D527998C5BDB}"/>
              </a:ext>
            </a:extLst>
          </p:cNvPr>
          <p:cNvSpPr txBox="1"/>
          <p:nvPr/>
        </p:nvSpPr>
        <p:spPr>
          <a:xfrm>
            <a:off x="6539511" y="5211847"/>
            <a:ext cx="1879478" cy="224292"/>
          </a:xfrm>
          <a:prstGeom prst="rect">
            <a:avLst/>
          </a:prstGeom>
          <a:noFill/>
        </p:spPr>
        <p:txBody>
          <a:bodyPr vert="horz" wrap="square" lIns="45720" tIns="45720" rIns="45720" bIns="45720" rtlCol="0" anchor="ctr">
            <a:spAutoFit/>
          </a:bodyPr>
          <a:lstStyle/>
          <a:p>
            <a:pPr>
              <a:lnSpc>
                <a:spcPct val="85000"/>
              </a:lnSpc>
            </a:pPr>
            <a:r>
              <a:rPr lang="en-US" sz="1000" i="1">
                <a:solidFill>
                  <a:schemeClr val="accent4"/>
                </a:solidFill>
              </a:rPr>
              <a:t>Removed next FY from peer group</a:t>
            </a:r>
          </a:p>
        </p:txBody>
      </p:sp>
      <p:sp>
        <p:nvSpPr>
          <p:cNvPr id="10" name="TextBox 9">
            <a:extLst>
              <a:ext uri="{FF2B5EF4-FFF2-40B4-BE49-F238E27FC236}">
                <a16:creationId xmlns:a16="http://schemas.microsoft.com/office/drawing/2014/main" id="{5B9BCF0B-161C-5553-F794-40A43D7F29FF}"/>
              </a:ext>
            </a:extLst>
          </p:cNvPr>
          <p:cNvSpPr txBox="1"/>
          <p:nvPr/>
        </p:nvSpPr>
        <p:spPr>
          <a:xfrm>
            <a:off x="6539511" y="5069039"/>
            <a:ext cx="1879478" cy="224292"/>
          </a:xfrm>
          <a:prstGeom prst="rect">
            <a:avLst/>
          </a:prstGeom>
          <a:noFill/>
        </p:spPr>
        <p:txBody>
          <a:bodyPr vert="horz" wrap="square" lIns="45720" tIns="45720" rIns="45720" bIns="45720" rtlCol="0" anchor="ctr">
            <a:spAutoFit/>
          </a:bodyPr>
          <a:lstStyle/>
          <a:p>
            <a:pPr>
              <a:lnSpc>
                <a:spcPct val="85000"/>
              </a:lnSpc>
            </a:pPr>
            <a:r>
              <a:rPr lang="en-US" sz="1000" b="1"/>
              <a:t>Current Peer Overlap</a:t>
            </a:r>
          </a:p>
        </p:txBody>
      </p:sp>
      <p:sp>
        <p:nvSpPr>
          <p:cNvPr id="90020" name="acme-flag-90020"/>
          <p:cNvSpPr/>
          <p:nvPr/>
        </p:nvSpPr>
        <p:spPr>
          <a:xfrm>
            <a:off x="725011" y="1906957"/>
            <a:ext cx="7693978" cy="3108960"/>
          </a:xfrm>
          <a:prstGeom prst="rect">
            <a:avLst/>
          </a:prstGeom>
          <a:solidFill>
            <a:srgbClr val="FFD400">
              <a:alpha val="30000"/>
            </a:srgbClr>
          </a:solidFill>
          <a:ln w="19050">
            <a:solidFill>
              <a:srgbClr val="E80000"/>
            </a:solidFill>
          </a:ln>
        </p:spPr>
        <p:txBody>
          <a:bodyPr/>
          <a:lstStyle/>
          <a:p/>
        </p:txBody>
      </p:sp>
      <p:sp>
        <p:nvSpPr>
          <p:cNvPr id="90021" name="acme-note-90021"/>
          <p:cNvSpPr txBox="1"/>
          <p:nvPr/>
        </p:nvSpPr>
        <p:spPr>
          <a:xfrm>
            <a:off x="152400" y="6328000"/>
            <a:ext cx="8839200" cy="470000"/>
          </a:xfrm>
          <a:prstGeom prst="rect">
            <a:avLst/>
          </a:prstGeom>
          <a:solidFill>
            <a:srgbClr val="FFFFDB">
              <a:alpha val="92000"/>
            </a:srgbClr>
          </a:solidFill>
          <a:ln w="12700">
            <a:solidFill>
              <a:srgbClr val="E80000"/>
            </a:solidFill>
          </a:ln>
        </p:spPr>
        <p:txBody>
          <a:bodyPr wrap="square" lIns="45720" tIns="27432" rIns="45720" bIns="27432">
            <a:normAutofit/>
          </a:bodyPr>
          <a:lstStyle/>
          <a:p>
            <a:r>
              <a:rPr lang="en-US" sz="1000" b="1" dirty="0">
                <a:solidFill>
                  <a:srgbClr val="9B0000"/>
                </a:solidFill>
                <a:latin typeface="Calibri"/>
              </a:rPr>
              <a:t>! 1 brand issue flagged:</a:t>
            </a:r>
          </a:p>
          <a:p>
            <a:r>
              <a:rPr lang="en-US" sz="1000" b="0" dirty="0">
                <a:solidFill>
                  <a:srgbClr val="9B0000"/>
                </a:solidFill>
                <a:latin typeface="Calibri"/>
              </a:rPr>
              <a:t>1. Table header cell “GL Peers” is #E3F7FF but the header uses ACME blue (#006EBE).</a:t>
            </a:r>
          </a:p>
        </p:txBody>
      </p:sp>
    </p:spTree>
    <p:extLst>
      <p:ext uri="{BB962C8B-B14F-4D97-AF65-F5344CB8AC3E}">
        <p14:creationId xmlns:p14="http://schemas.microsoft.com/office/powerpoint/2010/main" val="325975431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a:t>
            </a:r>
          </a:p>
        </p:txBody>
      </p:sp>
      <p:sp>
        <p:nvSpPr>
          <p:cNvPr id="8" name="Rectangle 1">
            <a:extLst>
              <a:ext uri="{FF2B5EF4-FFF2-40B4-BE49-F238E27FC236}">
                <a16:creationId xmlns:a16="http://schemas.microsoft.com/office/drawing/2014/main" id="{A17D5BCE-BDC7-E388-D913-652CA0A2D9C4}"/>
              </a:ext>
            </a:extLst>
          </p:cNvPr>
          <p:cNvSpPr>
            <a:spLocks noGrp="1" noChangeArrowheads="1"/>
          </p:cNvSpPr>
          <p:nvPr>
            <p:ph idx="4294967295"/>
          </p:nvPr>
        </p:nvSpPr>
        <p:spPr bwMode="auto">
          <a:xfrm>
            <a:off x="1250950" y="1088780"/>
            <a:ext cx="6642100" cy="531812"/>
          </a:xfrm>
          <a:prstGeom prst="rect">
            <a:avLst/>
          </a:prstGeom>
        </p:spPr>
        <p:txBody>
          <a:bodyPr vert="horz" lIns="45720" tIns="45720" rIns="45720" bIns="45720" rtlCol="0" anchor="b">
            <a:noAutofit/>
          </a:bodyPr>
          <a:lstStyle/>
          <a:p>
            <a:pPr marL="0" indent="0" algn="ctr" fontAlgn="base">
              <a:spcBef>
                <a:spcPts val="0"/>
              </a:spcBef>
              <a:buNone/>
            </a:pPr>
            <a:r>
              <a:rPr lang="en-US" altLang="en-US" sz="1400" b="1"/>
              <a:t>Business Descriptions</a:t>
            </a:r>
          </a:p>
          <a:p>
            <a:pPr marL="0" indent="0" algn="ctr" fontAlgn="base">
              <a:spcBef>
                <a:spcPts val="0"/>
              </a:spcBef>
              <a:buNone/>
            </a:pPr>
            <a:r>
              <a:rPr lang="en-US" altLang="en-US" sz="1400" b="1"/>
              <a:t>Recommended Compensation Peers</a:t>
            </a:r>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4069495371"/>
              </p:ext>
            </p:extLst>
          </p:nvPr>
        </p:nvGraphicFramePr>
        <p:xfrm>
          <a:off x="45720" y="1620390"/>
          <a:ext cx="9052560" cy="38100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41359">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206793">
                <a:tc>
                  <a:txBody>
                    <a:bodyPr/>
                    <a:lstStyle/>
                    <a:p>
                      <a:pPr algn="ctr" fontAlgn="base"/>
                      <a:r>
                        <a:rPr lang="en-US" sz="1000" b="0" i="0">
                          <a:solidFill>
                            <a:srgbClr val="000000"/>
                          </a:solidFill>
                          <a:effectLst/>
                          <a:latin typeface="+mj-lt"/>
                        </a:rPr>
                        <a:t>Accenture</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j-lt"/>
                        </a:rPr>
                        <a:t>Provides strategy, consulting, technology, and operations services worldwide; founded in 1951 and headquartered in Dublin, Ireland</a:t>
                      </a:r>
                    </a:p>
                    <a:p>
                      <a:pPr marL="137160" indent="-137160" algn="l" fontAlgn="base">
                        <a:buFont typeface="Wingdings" panose="05000000000000000000" pitchFamily="2" charset="2"/>
                        <a:buChar char="§"/>
                      </a:pPr>
                      <a:r>
                        <a:rPr lang="en-US" sz="1000" b="0" i="0">
                          <a:solidFill>
                            <a:srgbClr val="000000"/>
                          </a:solidFill>
                          <a:effectLst/>
                          <a:latin typeface="+mj-lt"/>
                        </a:rPr>
                        <a:t>Offers application services such as agile transformation, DevOps, and modernization, along with intelligent automation and software engineering</a:t>
                      </a:r>
                    </a:p>
                    <a:p>
                      <a:pPr marL="137160" indent="-137160" algn="l" fontAlgn="base">
                        <a:buFont typeface="Wingdings" panose="05000000000000000000" pitchFamily="2" charset="2"/>
                        <a:buChar char="§"/>
                      </a:pPr>
                      <a:r>
                        <a:rPr lang="en-US" sz="1000" b="0" i="0">
                          <a:solidFill>
                            <a:srgbClr val="000000"/>
                          </a:solidFill>
                          <a:effectLst/>
                          <a:latin typeface="+mj-lt"/>
                        </a:rPr>
                        <a:t>Delivers data and analytics solutions, metaverse services, sustainability services, and technology consulting</a:t>
                      </a:r>
                    </a:p>
                    <a:p>
                      <a:pPr marL="137160" indent="-137160" algn="l" fontAlgn="base">
                        <a:buFont typeface="Wingdings" panose="05000000000000000000" pitchFamily="2" charset="2"/>
                        <a:buChar char="§"/>
                      </a:pPr>
                      <a:r>
                        <a:rPr lang="en-US" sz="1000" b="0" i="0">
                          <a:solidFill>
                            <a:srgbClr val="000000"/>
                          </a:solidFill>
                          <a:effectLst/>
                          <a:latin typeface="+mj-lt"/>
                        </a:rPr>
                        <a:t>Specializes in engineering and R&amp;D digitization, smart connected products, autonomous robotic systems, and business process outsourcing</a:t>
                      </a:r>
                    </a:p>
                    <a:p>
                      <a:pPr marL="137160" indent="-137160" algn="l" fontAlgn="base">
                        <a:buFont typeface="Wingdings" panose="05000000000000000000" pitchFamily="2" charset="2"/>
                        <a:buChar char="§"/>
                      </a:pPr>
                      <a:r>
                        <a:rPr lang="en-US" sz="1000" b="0" i="0">
                          <a:solidFill>
                            <a:srgbClr val="000000"/>
                          </a:solidFill>
                          <a:effectLst/>
                          <a:latin typeface="+mj-lt"/>
                        </a:rPr>
                        <a:t>Collaborates with Salesforce, Inc. to develop Salesforce Life Sciences Cloud</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5908368"/>
                  </a:ext>
                </a:extLst>
              </a:tr>
              <a:tr h="372228">
                <a:tc>
                  <a:txBody>
                    <a:bodyPr/>
                    <a:lstStyle/>
                    <a:p>
                      <a:pPr algn="ctr" fontAlgn="base"/>
                      <a:r>
                        <a:rPr lang="en-US" sz="1000" b="0" i="0">
                          <a:solidFill>
                            <a:srgbClr val="000000"/>
                          </a:solidFill>
                          <a:effectLst/>
                          <a:latin typeface="+mj-lt"/>
                        </a:rPr>
                        <a:t>Cognizant</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j-lt"/>
                        </a:rPr>
                        <a:t>Delivers consulting, technology, and outsourcing services in North America, Europe, and internationally</a:t>
                      </a:r>
                    </a:p>
                    <a:p>
                      <a:pPr marL="137160" indent="-137160" algn="l" fontAlgn="base">
                        <a:buFont typeface="Wingdings" panose="05000000000000000000" pitchFamily="2" charset="2"/>
                        <a:buChar char="§"/>
                      </a:pPr>
                      <a:r>
                        <a:rPr lang="en-US" sz="1000" b="0" i="0">
                          <a:solidFill>
                            <a:srgbClr val="000000"/>
                          </a:solidFill>
                          <a:effectLst/>
                          <a:latin typeface="+mj-lt"/>
                        </a:rPr>
                        <a:t>Operates through four segments: Financial Services, Health Sciences, Products and Resources, and Communications, Media and Technology</a:t>
                      </a:r>
                    </a:p>
                    <a:p>
                      <a:pPr marL="137160" indent="-137160" algn="l" fontAlgn="base">
                        <a:buFont typeface="Wingdings" panose="05000000000000000000" pitchFamily="2" charset="2"/>
                        <a:buChar char="§"/>
                      </a:pPr>
                      <a:r>
                        <a:rPr lang="en-US" sz="1000" b="0" i="0">
                          <a:solidFill>
                            <a:srgbClr val="000000"/>
                          </a:solidFill>
                          <a:effectLst/>
                          <a:latin typeface="+mj-lt"/>
                        </a:rPr>
                        <a:t>Provides customer experience, robotic process automation, analytics, and AI services in areas, such as digital lending, fraud detection, and next generation payments; the shift towards consumerism, outcome-based contracting, digital health, delivering integrated seamless, omni-channel, and patient-centered experience; and services that drive operational improvements in areas, such as clinical development, pharmacovigilance, and manufacturing, as well as claims processing, enrollment, membership, and billing to healthcare providers and payers, and life sciences companies, including pharmaceutical, biotech, and medical device companies</a:t>
                      </a:r>
                    </a:p>
                    <a:p>
                      <a:pPr marL="137160" indent="-137160" algn="l" fontAlgn="base">
                        <a:buFont typeface="Wingdings" panose="05000000000000000000" pitchFamily="2" charset="2"/>
                        <a:buChar char="§"/>
                      </a:pPr>
                      <a:r>
                        <a:rPr lang="en-US" sz="1000" b="0" i="0">
                          <a:solidFill>
                            <a:srgbClr val="000000"/>
                          </a:solidFill>
                          <a:effectLst/>
                          <a:latin typeface="+mj-lt"/>
                        </a:rPr>
                        <a:t>Offers solution to manufacturers, automakers, retailers and travel and hospitality companies, as well as companies providing logistics, energy and utility services; and digital content, business process improvement, technology modernization, and the creation of unified and compelling user experience services to communications, media and entertainment, education, and information services and technology companies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53516353"/>
                  </a:ext>
                </a:extLst>
              </a:tr>
              <a:tr h="165435">
                <a:tc>
                  <a:txBody>
                    <a:bodyPr/>
                    <a:lstStyle/>
                    <a:p>
                      <a:pPr algn="ctr" fontAlgn="base"/>
                      <a:r>
                        <a:rPr lang="en-US" sz="1000" b="0" i="0">
                          <a:solidFill>
                            <a:srgbClr val="000000"/>
                          </a:solidFill>
                          <a:effectLst/>
                          <a:latin typeface="+mj-lt"/>
                        </a:rPr>
                        <a:t>Kyndryl</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j-lt"/>
                        </a:rPr>
                        <a:t>Operates as a technology services company and IT infrastructure services provider worldwide</a:t>
                      </a:r>
                    </a:p>
                    <a:p>
                      <a:pPr marL="137160" indent="-137160" algn="l" fontAlgn="base">
                        <a:buFont typeface="Wingdings" panose="05000000000000000000" pitchFamily="2" charset="2"/>
                        <a:buChar char="§"/>
                      </a:pPr>
                      <a:r>
                        <a:rPr lang="en-US" sz="1000" b="0" i="0">
                          <a:solidFill>
                            <a:srgbClr val="000000"/>
                          </a:solidFill>
                          <a:effectLst/>
                          <a:latin typeface="+mj-lt"/>
                        </a:rPr>
                        <a:t>Offers cloud services, core enterprise and </a:t>
                      </a:r>
                      <a:r>
                        <a:rPr lang="en-US" sz="1000" b="0" i="0" err="1">
                          <a:solidFill>
                            <a:srgbClr val="000000"/>
                          </a:solidFill>
                          <a:effectLst/>
                          <a:latin typeface="+mj-lt"/>
                        </a:rPr>
                        <a:t>zCloud</a:t>
                      </a:r>
                      <a:r>
                        <a:rPr lang="en-US" sz="1000" b="0" i="0">
                          <a:solidFill>
                            <a:srgbClr val="000000"/>
                          </a:solidFill>
                          <a:effectLst/>
                          <a:latin typeface="+mj-lt"/>
                        </a:rPr>
                        <a:t> services, application, data, and artificial intelligence services, digital workplace services, security and resiliency services, and network and edge services</a:t>
                      </a:r>
                    </a:p>
                    <a:p>
                      <a:pPr marL="137160" indent="-137160" algn="l" fontAlgn="base">
                        <a:buFont typeface="Wingdings" panose="05000000000000000000" pitchFamily="2" charset="2"/>
                        <a:buChar char="§"/>
                      </a:pPr>
                      <a:r>
                        <a:rPr lang="en-US" sz="1000" b="0" i="0">
                          <a:solidFill>
                            <a:srgbClr val="000000"/>
                          </a:solidFill>
                          <a:effectLst/>
                          <a:latin typeface="+mj-lt"/>
                        </a:rPr>
                        <a:t>Serves financial, technology, media and telecom, retail and travel, and automotive industries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011998960"/>
                  </a:ext>
                </a:extLst>
              </a:tr>
              <a:tr h="248152">
                <a:tc>
                  <a:txBody>
                    <a:bodyPr/>
                    <a:lstStyle/>
                    <a:p>
                      <a:pPr algn="ctr" fontAlgn="base"/>
                      <a:r>
                        <a:rPr lang="en-US" sz="1000" b="0" i="0">
                          <a:solidFill>
                            <a:srgbClr val="000000"/>
                          </a:solidFill>
                          <a:effectLst/>
                          <a:latin typeface="+mj-lt"/>
                        </a:rPr>
                        <a:t>Leidos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marR="0" lvl="0" indent="-137160" algn="l" defTabSz="914378" rtl="0" eaLnBrk="1" fontAlgn="base" latinLnBrk="0" hangingPunct="1">
                        <a:lnSpc>
                          <a:spcPct val="100000"/>
                        </a:lnSpc>
                        <a:spcBef>
                          <a:spcPts val="0"/>
                        </a:spcBef>
                        <a:spcAft>
                          <a:spcPts val="0"/>
                        </a:spcAft>
                        <a:buClrTx/>
                        <a:buSzTx/>
                        <a:buFont typeface="Wingdings" panose="05000000000000000000" pitchFamily="2" charset="2"/>
                        <a:buChar char="§"/>
                        <a:tabLst/>
                        <a:defRPr/>
                      </a:pPr>
                      <a:r>
                        <a:rPr lang="en-US" sz="1000" b="0" i="0">
                          <a:solidFill>
                            <a:srgbClr val="000000"/>
                          </a:solidFill>
                          <a:effectLst/>
                          <a:latin typeface="+mj-lt"/>
                        </a:rPr>
                        <a:t>Operates through three segments: Defense Solutions (including intelligence), Civil, and Health </a:t>
                      </a:r>
                      <a:r>
                        <a:rPr lang="en-US" sz="1000" b="0" i="0" kern="1200">
                          <a:solidFill>
                            <a:srgbClr val="000000"/>
                          </a:solidFill>
                          <a:effectLst/>
                          <a:latin typeface="+mn-lt"/>
                          <a:ea typeface="+mn-ea"/>
                          <a:cs typeface="+mn-cs"/>
                        </a:rPr>
                        <a:t>in the United States and internationally</a:t>
                      </a:r>
                      <a:endParaRPr lang="en-US" sz="1000" b="0" i="0">
                        <a:solidFill>
                          <a:srgbClr val="000000"/>
                        </a:solidFill>
                        <a:effectLst/>
                        <a:latin typeface="+mj-lt"/>
                      </a:endParaRPr>
                    </a:p>
                    <a:p>
                      <a:pPr marL="137160" indent="-137160" algn="l" fontAlgn="base">
                        <a:buFont typeface="Wingdings" panose="05000000000000000000" pitchFamily="2" charset="2"/>
                        <a:buChar char="§"/>
                      </a:pPr>
                      <a:r>
                        <a:rPr lang="en-US" sz="1000" b="0" i="0">
                          <a:solidFill>
                            <a:srgbClr val="000000"/>
                          </a:solidFill>
                          <a:effectLst/>
                          <a:latin typeface="+mj-lt"/>
                        </a:rPr>
                        <a:t>Offers national security solutions and systems for air, land, sea, space, and cyberspace, including technology, command and control platforms, data analytics, logistics, and cybersecurity solutions</a:t>
                      </a:r>
                    </a:p>
                    <a:p>
                      <a:pPr marL="137160" indent="-137160" algn="l" fontAlgn="base">
                        <a:buFont typeface="Wingdings" panose="05000000000000000000" pitchFamily="2" charset="2"/>
                        <a:buChar char="§"/>
                      </a:pPr>
                      <a:r>
                        <a:rPr lang="en-US" sz="1000" b="0" i="0">
                          <a:solidFill>
                            <a:srgbClr val="000000"/>
                          </a:solidFill>
                          <a:effectLst/>
                          <a:latin typeface="+mj-lt"/>
                        </a:rPr>
                        <a:t>Delivers systems integration services, IT solutions in cloud computing, mobility, application modernization, and digital workplace enablement, as well as environment, energy, and infrastructure services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27513300"/>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D747AF3A-C34F-4A72-CC69-5E2E54C68A89}"/>
              </a:ext>
            </a:extLst>
          </p:cNvPr>
          <p:cNvSpPr txBox="1"/>
          <p:nvPr/>
        </p:nvSpPr>
        <p:spPr>
          <a:xfrm>
            <a:off x="7326176" y="1361671"/>
            <a:ext cx="1784869" cy="246221"/>
          </a:xfrm>
          <a:prstGeom prst="rect">
            <a:avLst/>
          </a:prstGeom>
          <a:noFill/>
        </p:spPr>
        <p:txBody>
          <a:bodyPr wrap="square" rtlCol="0">
            <a:spAutoFit/>
          </a:bodyPr>
          <a:lstStyle/>
          <a:p>
            <a:pPr marL="171450">
              <a:buClr>
                <a:srgbClr val="C00000"/>
              </a:buClr>
              <a:buSzPct val="150000"/>
            </a:pPr>
            <a:r>
              <a:rPr lang="en-US" sz="1000" i="1"/>
              <a:t>Recommended for removal</a:t>
            </a:r>
          </a:p>
        </p:txBody>
      </p:sp>
      <p:sp>
        <p:nvSpPr>
          <p:cNvPr id="4" name="Rectangle 3">
            <a:extLst>
              <a:ext uri="{FF2B5EF4-FFF2-40B4-BE49-F238E27FC236}">
                <a16:creationId xmlns:a16="http://schemas.microsoft.com/office/drawing/2014/main" id="{14033113-FC85-93E2-38DC-231BA0FCE048}"/>
              </a:ext>
            </a:extLst>
          </p:cNvPr>
          <p:cNvSpPr/>
          <p:nvPr/>
        </p:nvSpPr>
        <p:spPr>
          <a:xfrm>
            <a:off x="7238820" y="1417886"/>
            <a:ext cx="236305" cy="123569"/>
          </a:xfrm>
          <a:prstGeom prst="rect">
            <a:avLst/>
          </a:prstGeom>
          <a:solidFill>
            <a:schemeClr val="accent4">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2443523063"/>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endParaRPr lang="en-US"/>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3234396678"/>
              </p:ext>
            </p:extLst>
          </p:nvPr>
        </p:nvGraphicFramePr>
        <p:xfrm>
          <a:off x="45720" y="1593648"/>
          <a:ext cx="9052560" cy="50292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52394">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76332">
                <a:tc>
                  <a:txBody>
                    <a:bodyPr/>
                    <a:lstStyle/>
                    <a:p>
                      <a:pPr algn="ctr" fontAlgn="base"/>
                      <a:r>
                        <a:rPr lang="en-US" sz="1000" b="0" i="0">
                          <a:solidFill>
                            <a:srgbClr val="000000"/>
                          </a:solidFill>
                          <a:effectLst/>
                          <a:latin typeface="+mn-lt"/>
                        </a:rPr>
                        <a:t>Fluor</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engineering, procurement, and construction (EPC); fabrication and modularization; operation and maintenance; asset integrity; and project management services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through Energy Solutions, Urban Solutions, Mission Solutions, and Other segments</a:t>
                      </a:r>
                    </a:p>
                    <a:p>
                      <a:pPr marL="137160" indent="-137160" algn="l" fontAlgn="base">
                        <a:buFont typeface="Wingdings" panose="05000000000000000000" pitchFamily="2" charset="2"/>
                        <a:buChar char="§"/>
                      </a:pPr>
                      <a:r>
                        <a:rPr lang="en-US" sz="1000" b="0" i="0">
                          <a:solidFill>
                            <a:srgbClr val="000000"/>
                          </a:solidFill>
                          <a:effectLst/>
                          <a:latin typeface="+mn-lt"/>
                        </a:rPr>
                        <a:t>Energy Solutions segment provides solutions to the production and fuels, chemicals, LNG, power markets, chemicals and petrochemical industries. Solutions to the energy transition markets include asset decarbonization, carbon capture, renewable fuels, waste-to-energy, green chemicals, hydrogen, nuclear power, and other low-carbon energy sources; segment also provides consulting services, including feasibility studies, process assessments, project finance structuring, and a range of services for conventional, advanced, and small modular nuclear reactor technologies</a:t>
                      </a:r>
                    </a:p>
                    <a:p>
                      <a:pPr marL="137160" indent="-137160" algn="l" fontAlgn="base">
                        <a:buFont typeface="Wingdings" panose="05000000000000000000" pitchFamily="2" charset="2"/>
                        <a:buChar char="§"/>
                      </a:pPr>
                      <a:r>
                        <a:rPr lang="en-US" sz="1000" b="0" i="0">
                          <a:solidFill>
                            <a:srgbClr val="000000"/>
                          </a:solidFill>
                          <a:effectLst/>
                          <a:latin typeface="+mn-lt"/>
                        </a:rPr>
                        <a:t>Urban Solutions segment offers EPC and project management services to the infrastructure, advanced technologies, life sciences, and mining and metals industries; segment also provides staffing services to the company and third-party clients with technical, professional, and craft resources on a contract or permanent placement basis</a:t>
                      </a:r>
                    </a:p>
                    <a:p>
                      <a:pPr marL="137160" indent="-137160" algn="l" fontAlgn="base">
                        <a:buFont typeface="Wingdings" panose="05000000000000000000" pitchFamily="2" charset="2"/>
                        <a:buChar char="§"/>
                      </a:pPr>
                      <a:r>
                        <a:rPr lang="en-US" sz="1000" b="0" i="0">
                          <a:solidFill>
                            <a:srgbClr val="000000"/>
                          </a:solidFill>
                          <a:effectLst/>
                          <a:latin typeface="+mn-lt"/>
                        </a:rPr>
                        <a:t>Mission Solutions segment offers technical solutions to the U.S. and other governments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9033859"/>
                  </a:ext>
                </a:extLst>
              </a:tr>
              <a:tr h="366757">
                <a:tc>
                  <a:txBody>
                    <a:bodyPr/>
                    <a:lstStyle/>
                    <a:p>
                      <a:pPr algn="ctr" fontAlgn="base"/>
                      <a:r>
                        <a:rPr lang="en-US" sz="1000" b="0" i="0">
                          <a:solidFill>
                            <a:srgbClr val="000000"/>
                          </a:solidFill>
                          <a:effectLst/>
                          <a:latin typeface="+mn-lt"/>
                        </a:rPr>
                        <a:t>AECOM</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professional infrastructure consulting services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in three segments: Americas, International, and AECOM Capital</a:t>
                      </a:r>
                    </a:p>
                    <a:p>
                      <a:pPr marL="137160" indent="-137160" algn="l" fontAlgn="base">
                        <a:buFont typeface="Wingdings" panose="05000000000000000000" pitchFamily="2" charset="2"/>
                        <a:buChar char="§"/>
                      </a:pPr>
                      <a:r>
                        <a:rPr lang="en-US" sz="1000" b="0" i="0">
                          <a:solidFill>
                            <a:srgbClr val="000000"/>
                          </a:solidFill>
                          <a:effectLst/>
                          <a:latin typeface="+mn-lt"/>
                        </a:rPr>
                        <a:t>Offers planning, consulting, architectural and engineering design, construction and program management, and investment and development services to public and private client</a:t>
                      </a:r>
                    </a:p>
                    <a:p>
                      <a:pPr marL="137160" indent="-137160" algn="l" fontAlgn="base">
                        <a:buFont typeface="Wingdings" panose="05000000000000000000" pitchFamily="2" charset="2"/>
                        <a:buChar char="§"/>
                      </a:pPr>
                      <a:r>
                        <a:rPr lang="en-US" sz="1000" b="0" i="0">
                          <a:solidFill>
                            <a:srgbClr val="000000"/>
                          </a:solidFill>
                          <a:effectLst/>
                          <a:latin typeface="+mn-lt"/>
                        </a:rPr>
                        <a:t>Involved in the investment and development of real estate projects</a:t>
                      </a:r>
                    </a:p>
                    <a:p>
                      <a:pPr marL="137160" indent="-137160" algn="l" fontAlgn="base">
                        <a:buFont typeface="Wingdings" panose="05000000000000000000" pitchFamily="2" charset="2"/>
                        <a:buChar char="§"/>
                      </a:pPr>
                      <a:r>
                        <a:rPr lang="en-US" sz="1000" b="0" i="0">
                          <a:solidFill>
                            <a:srgbClr val="000000"/>
                          </a:solidFill>
                          <a:effectLst/>
                          <a:latin typeface="+mn-lt"/>
                        </a:rPr>
                        <a:t>Provides construction services, including building construction and energy, and infrastructure and industrial construction</a:t>
                      </a:r>
                    </a:p>
                    <a:p>
                      <a:pPr marL="137160" indent="-137160" algn="l" fontAlgn="base">
                        <a:buFont typeface="Wingdings" panose="05000000000000000000" pitchFamily="2" charset="2"/>
                        <a:buChar char="§"/>
                      </a:pPr>
                      <a:r>
                        <a:rPr lang="en-US" sz="1000" b="0" i="0">
                          <a:solidFill>
                            <a:srgbClr val="000000"/>
                          </a:solidFill>
                          <a:effectLst/>
                          <a:latin typeface="+mn-lt"/>
                        </a:rPr>
                        <a:t>Serves transportation, water, government, facilities, environmental, and energy sectors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37996441"/>
                  </a:ext>
                </a:extLst>
              </a:tr>
              <a:tr h="157181">
                <a:tc>
                  <a:txBody>
                    <a:bodyPr/>
                    <a:lstStyle/>
                    <a:p>
                      <a:pPr algn="ctr" fontAlgn="t"/>
                      <a:r>
                        <a:rPr lang="en-US" sz="1000" b="0" i="0" u="none" strike="noStrike">
                          <a:effectLst/>
                          <a:latin typeface="Calibri" panose="020F0502020204030204" pitchFamily="34" charset="0"/>
                        </a:rPr>
                        <a:t>DXC</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t">
                        <a:buFont typeface="Wingdings" panose="05000000000000000000" pitchFamily="2" charset="2"/>
                        <a:buChar char="§"/>
                      </a:pPr>
                      <a:r>
                        <a:rPr lang="en-US" sz="1000" b="0" i="0" u="none" strike="noStrike">
                          <a:effectLst/>
                          <a:latin typeface="Calibri" panose="020F0502020204030204" pitchFamily="34" charset="0"/>
                        </a:rPr>
                        <a:t>Operates as a global IT services market leader through two segments: Global Business Services (GBS) and Global Infrastructure Services (GIS)</a:t>
                      </a:r>
                    </a:p>
                    <a:p>
                      <a:pPr marL="137160" indent="-137160" algn="l" fontAlgn="t">
                        <a:buFont typeface="Wingdings" panose="05000000000000000000" pitchFamily="2" charset="2"/>
                        <a:buChar char="§"/>
                      </a:pPr>
                      <a:r>
                        <a:rPr lang="en-US" sz="1000" b="0" i="0" u="none" strike="noStrike">
                          <a:effectLst/>
                          <a:latin typeface="Calibri" panose="020F0502020204030204" pitchFamily="34" charset="0"/>
                        </a:rPr>
                        <a:t>The company provides mission-critical IT services that transform global businesses. It delivers excellence for its customers and colleagues around the world</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7798853"/>
                  </a:ext>
                </a:extLst>
              </a:tr>
              <a:tr h="523938">
                <a:tc>
                  <a:txBody>
                    <a:bodyPr/>
                    <a:lstStyle/>
                    <a:p>
                      <a:pPr algn="ctr" fontAlgn="base"/>
                      <a:r>
                        <a:rPr lang="en-US" sz="1000" b="0" i="0" err="1">
                          <a:solidFill>
                            <a:srgbClr val="000000"/>
                          </a:solidFill>
                          <a:effectLst/>
                          <a:latin typeface="+mn-lt"/>
                        </a:rPr>
                        <a:t>WSP</a:t>
                      </a:r>
                      <a:r>
                        <a:rPr lang="en-US" sz="1000" b="0" i="0">
                          <a:solidFill>
                            <a:srgbClr val="000000"/>
                          </a:solidFill>
                          <a:effectLst/>
                          <a:latin typeface="+mn-lt"/>
                        </a:rPr>
                        <a:t> Global</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Operates as a professional services consulting firm in the United States, Canada, the United Kingdom, Sweden, Australia,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Advises, plans, designs, and manages projects for rail, transit, aviation, highways, bridges, tunnels, water, maritime, and urban infrastructure for public and private clients, construction contractors, and other partners</a:t>
                      </a:r>
                    </a:p>
                    <a:p>
                      <a:pPr marL="137160" indent="-137160" algn="l" fontAlgn="base">
                        <a:buFont typeface="Wingdings" panose="05000000000000000000" pitchFamily="2" charset="2"/>
                        <a:buChar char="§"/>
                      </a:pPr>
                      <a:r>
                        <a:rPr lang="en-US" sz="1000" b="0" i="0">
                          <a:solidFill>
                            <a:srgbClr val="000000"/>
                          </a:solidFill>
                          <a:effectLst/>
                          <a:latin typeface="+mn-lt"/>
                        </a:rPr>
                        <a:t>Provides engineering and consultancy services, such as decarbonization strategies, digital building design to building engineering design, and project management services</a:t>
                      </a:r>
                    </a:p>
                    <a:p>
                      <a:pPr marL="137160" indent="-137160" algn="l" fontAlgn="base">
                        <a:buFont typeface="Wingdings" panose="05000000000000000000" pitchFamily="2" charset="2"/>
                        <a:buChar char="§"/>
                      </a:pPr>
                      <a:r>
                        <a:rPr lang="en-US" sz="1000" b="0" i="0">
                          <a:solidFill>
                            <a:srgbClr val="000000"/>
                          </a:solidFill>
                          <a:effectLst/>
                          <a:latin typeface="+mn-lt"/>
                        </a:rPr>
                        <a:t>Works with and advises governments and private sector in earth sciences and environmental sustainability to conduct due diligence, permit approvals, regulatory compliance, waste/hazardous materials management, geotechnical and mining engineering, environmental/ social impact assessments, feasibility, and land remediation studies</a:t>
                      </a:r>
                    </a:p>
                    <a:p>
                      <a:pPr marL="137160" indent="-137160" algn="l" fontAlgn="base">
                        <a:buFont typeface="Wingdings" panose="05000000000000000000" pitchFamily="2" charset="2"/>
                        <a:buChar char="§"/>
                      </a:pPr>
                      <a:r>
                        <a:rPr lang="en-US" sz="1000" b="0" i="0">
                          <a:solidFill>
                            <a:srgbClr val="000000"/>
                          </a:solidFill>
                          <a:effectLst/>
                          <a:latin typeface="+mn-lt"/>
                        </a:rPr>
                        <a:t>Offers energy clients support, including large-scale power plants, renewables clean energy investments, smaller on-site power generation and efficiency programs, energy transmission, storage and distribution from pre-feasibility studies and community engagement through operation and decommissioning; and provides siting and licensing</a:t>
                      </a:r>
                    </a:p>
                    <a:p>
                      <a:pPr marL="137160" indent="-137160" algn="l" fontAlgn="base">
                        <a:buFont typeface="Wingdings" panose="05000000000000000000" pitchFamily="2" charset="2"/>
                        <a:buChar char="§"/>
                      </a:pPr>
                      <a:r>
                        <a:rPr lang="en-US" sz="1000" b="0" i="0">
                          <a:solidFill>
                            <a:srgbClr val="000000"/>
                          </a:solidFill>
                          <a:effectLst/>
                          <a:latin typeface="+mn-lt"/>
                        </a:rPr>
                        <a:t>Offers strategic advisory services comprising planning and advisory, management, and technology and sustainability services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30287273"/>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4901CE6C-272B-A41D-6CC4-F7DBFBD16E00}"/>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310096446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endParaRPr lang="en-US"/>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3309331766"/>
              </p:ext>
            </p:extLst>
          </p:nvPr>
        </p:nvGraphicFramePr>
        <p:xfrm>
          <a:off x="45720" y="1594682"/>
          <a:ext cx="9052560" cy="48768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58479">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350876">
                <a:tc>
                  <a:txBody>
                    <a:bodyPr/>
                    <a:lstStyle/>
                    <a:p>
                      <a:pPr algn="ctr" fontAlgn="base"/>
                      <a:r>
                        <a:rPr lang="en-US" sz="1000" b="0" i="0">
                          <a:solidFill>
                            <a:srgbClr val="000000"/>
                          </a:solidFill>
                          <a:effectLst/>
                          <a:latin typeface="+mn-lt"/>
                        </a:rPr>
                        <a:t>CGI</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information technology (IT) and business process services. Services include the business and strategic IT consulting, systems integration, and software solutions</a:t>
                      </a:r>
                    </a:p>
                    <a:p>
                      <a:pPr marL="137160" indent="-137160" algn="l" fontAlgn="base">
                        <a:buFont typeface="Wingdings" panose="05000000000000000000" pitchFamily="2" charset="2"/>
                        <a:buChar char="§"/>
                      </a:pPr>
                      <a:r>
                        <a:rPr lang="en-US" sz="1000" b="0" i="0">
                          <a:solidFill>
                            <a:srgbClr val="000000"/>
                          </a:solidFill>
                          <a:effectLst/>
                          <a:latin typeface="+mn-lt"/>
                        </a:rPr>
                        <a:t>Offers application development, modernization and maintenance, holistic enterprise digitization, automation, hybrid and cloud management, and business process services; intellectual property-based solutions; business consulting; managed IT services; and IT infrastructure services</a:t>
                      </a:r>
                    </a:p>
                    <a:p>
                      <a:pPr marL="137160" indent="-137160" algn="l" fontAlgn="base">
                        <a:buFont typeface="Wingdings" panose="05000000000000000000" pitchFamily="2" charset="2"/>
                        <a:buChar char="§"/>
                      </a:pPr>
                      <a:r>
                        <a:rPr lang="en-US" sz="1000" b="0" i="0">
                          <a:solidFill>
                            <a:srgbClr val="000000"/>
                          </a:solidFill>
                          <a:effectLst/>
                          <a:latin typeface="+mn-lt"/>
                        </a:rPr>
                        <a:t>Serves clients operating in government, banking and capital market, health, utility, communication and media, oil and gas, space, manufacturing, insurance, life sciences, retail and consumer service, and transportation and logistics sectors</a:t>
                      </a:r>
                    </a:p>
                    <a:p>
                      <a:pPr marL="137160" indent="-137160" algn="l" fontAlgn="base">
                        <a:buFont typeface="Wingdings" panose="05000000000000000000" pitchFamily="2" charset="2"/>
                        <a:buChar char="§"/>
                      </a:pPr>
                      <a:r>
                        <a:rPr lang="en-US" sz="1000" b="0" i="0">
                          <a:solidFill>
                            <a:srgbClr val="000000"/>
                          </a:solidFill>
                          <a:effectLst/>
                          <a:latin typeface="+mn-lt"/>
                        </a:rPr>
                        <a:t>Operates in Canada, France, Spain, Portugal, the United States, Germany, Sweden, Norway, Europe, India, the Philippines, Asia Pacific, and internationally</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0268992"/>
                  </a:ext>
                </a:extLst>
              </a:tr>
              <a:tr h="467834">
                <a:tc>
                  <a:txBody>
                    <a:bodyPr/>
                    <a:lstStyle/>
                    <a:p>
                      <a:pPr algn="ctr" fontAlgn="t"/>
                      <a:r>
                        <a:rPr lang="en-US" sz="1000" b="0" i="0" u="none" strike="noStrike">
                          <a:effectLst/>
                          <a:latin typeface="+mn-lt"/>
                        </a:rPr>
                        <a:t>KBR</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t">
                        <a:buFont typeface="Wingdings" panose="05000000000000000000" pitchFamily="2" charset="2"/>
                        <a:buChar char="§"/>
                      </a:pPr>
                      <a:r>
                        <a:rPr lang="en-US" sz="1000" b="0" i="0" u="none" strike="noStrike">
                          <a:effectLst/>
                          <a:latin typeface="+mn-lt"/>
                        </a:rPr>
                        <a:t>KBR, Inc. delivers science, technology, engineering and logistics support solutions to governments and companies around the world</a:t>
                      </a:r>
                    </a:p>
                    <a:p>
                      <a:pPr marL="137160" indent="-137160" algn="l" fontAlgn="t">
                        <a:buFont typeface="Wingdings" panose="05000000000000000000" pitchFamily="2" charset="2"/>
                        <a:buChar char="§"/>
                      </a:pPr>
                      <a:r>
                        <a:rPr lang="en-US" sz="1000" b="0" i="0" u="none" strike="noStrike">
                          <a:effectLst/>
                          <a:latin typeface="+mn-lt"/>
                        </a:rPr>
                        <a:t>The company’s capabilities and offerings include the following: Scientific research, such as quantum science and computing; health and human performance; materials science; life science research; and earth sciences. Defense systems engineering, such as rapid prototyping; test and evaluation; systems and platform integration; and sustainment engineering. Operational support, such as space domain awareness; C5ISR; human spaceflight operations; integrated supply chain; and military support. Information operations, such as cyber analytics and cybersecurity; data analytics; mission planning systems; virtual/augmented reality and technical training; artificial intelligence and machine learning. Sustainable decarbonization solutions that accelerate and enable energy transition and climate change, such as proprietary, sustainability-focused process licensing; advisory services focused on energy transition; high-end engineering, design and program management offerings; and digitally-enabled asset optimization solutions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58151385"/>
                  </a:ext>
                </a:extLst>
              </a:tr>
              <a:tr h="760231">
                <a:tc>
                  <a:txBody>
                    <a:bodyPr/>
                    <a:lstStyle/>
                    <a:p>
                      <a:pPr algn="ctr" fontAlgn="base"/>
                      <a:r>
                        <a:rPr lang="en-US" sz="1000" b="0" i="0" err="1">
                          <a:solidFill>
                            <a:srgbClr val="000000"/>
                          </a:solidFill>
                          <a:effectLst/>
                          <a:latin typeface="+mn-lt"/>
                        </a:rPr>
                        <a:t>AtkinsRéalis</a:t>
                      </a:r>
                      <a:endParaRPr lang="en-US" sz="1000" b="0" i="0">
                        <a:solidFill>
                          <a:srgbClr val="000000"/>
                        </a:solidFill>
                        <a:effectLst/>
                        <a:latin typeface="+mn-lt"/>
                      </a:endParaRP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Functions as an integrated professional services and project management company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through six segments: Engineering Services, Nuclear, O&amp;M, </a:t>
                      </a:r>
                      <a:r>
                        <a:rPr lang="en-US" sz="1000" b="0" i="0" err="1">
                          <a:solidFill>
                            <a:srgbClr val="000000"/>
                          </a:solidFill>
                          <a:effectLst/>
                          <a:latin typeface="+mn-lt"/>
                        </a:rPr>
                        <a:t>Linxon</a:t>
                      </a:r>
                      <a:r>
                        <a:rPr lang="en-US" sz="1000" b="0" i="0">
                          <a:solidFill>
                            <a:srgbClr val="000000"/>
                          </a:solidFill>
                          <a:effectLst/>
                          <a:latin typeface="+mn-lt"/>
                        </a:rPr>
                        <a:t>, LSTK Projects, and Capital</a:t>
                      </a:r>
                    </a:p>
                    <a:p>
                      <a:pPr marL="137160" indent="-137160" algn="l" fontAlgn="base">
                        <a:buFont typeface="Wingdings" panose="05000000000000000000" pitchFamily="2" charset="2"/>
                        <a:buChar char="§"/>
                      </a:pPr>
                      <a:r>
                        <a:rPr lang="en-US" sz="1000" b="0" i="0">
                          <a:solidFill>
                            <a:srgbClr val="000000"/>
                          </a:solidFill>
                          <a:effectLst/>
                          <a:latin typeface="+mn-lt"/>
                        </a:rPr>
                        <a:t>Engineering Services segment provides consultancy, engineering, design, and project management services for the transportation, building and places, defense, water, industrial, minerals and metal, and power and renewables sectors</a:t>
                      </a:r>
                    </a:p>
                    <a:p>
                      <a:pPr marL="137160" indent="-137160" algn="l" fontAlgn="base">
                        <a:buFont typeface="Wingdings" panose="05000000000000000000" pitchFamily="2" charset="2"/>
                        <a:buChar char="§"/>
                      </a:pPr>
                      <a:r>
                        <a:rPr lang="en-US" sz="1000" b="0" i="0">
                          <a:solidFill>
                            <a:srgbClr val="000000"/>
                          </a:solidFill>
                          <a:effectLst/>
                          <a:latin typeface="+mn-lt"/>
                        </a:rPr>
                        <a:t>Nuclear segment offers services for clients across the nuclear life cycle consultancy, field, technology, spare parts, reactor support, and decommissioning and waste management services, as well as engineering services; and new-build and full refurbishment services for reactors</a:t>
                      </a:r>
                    </a:p>
                    <a:p>
                      <a:pPr marL="137160" indent="-137160" algn="l" fontAlgn="base">
                        <a:buFont typeface="Wingdings" panose="05000000000000000000" pitchFamily="2" charset="2"/>
                        <a:buChar char="§"/>
                      </a:pPr>
                      <a:r>
                        <a:rPr lang="en-US" sz="1000" b="0" i="0">
                          <a:solidFill>
                            <a:srgbClr val="000000"/>
                          </a:solidFill>
                          <a:effectLst/>
                          <a:latin typeface="+mn-lt"/>
                        </a:rPr>
                        <a:t>O&amp;M segment provides operations, maintenance, and asset management solutions for bridges, systems, highways, buildings and plants, as well as postal services and ships</a:t>
                      </a:r>
                    </a:p>
                    <a:p>
                      <a:pPr marL="137160" indent="-137160" algn="l" fontAlgn="base">
                        <a:buFont typeface="Wingdings" panose="05000000000000000000" pitchFamily="2" charset="2"/>
                        <a:buChar char="§"/>
                      </a:pPr>
                      <a:r>
                        <a:rPr lang="en-US" sz="1000" b="0" i="0" err="1">
                          <a:solidFill>
                            <a:srgbClr val="000000"/>
                          </a:solidFill>
                          <a:effectLst/>
                          <a:latin typeface="+mn-lt"/>
                        </a:rPr>
                        <a:t>Linxon</a:t>
                      </a:r>
                      <a:r>
                        <a:rPr lang="en-US" sz="1000" b="0" i="0">
                          <a:solidFill>
                            <a:srgbClr val="000000"/>
                          </a:solidFill>
                          <a:effectLst/>
                          <a:latin typeface="+mn-lt"/>
                        </a:rPr>
                        <a:t> segment provides engineering, procurement, management, and construction services for execution of alternative current power substations, including expansions and electrification through repetitive EPC offerings for various markets, including utilities, renewables, conventional generation, transportation, and data centers</a:t>
                      </a:r>
                    </a:p>
                    <a:p>
                      <a:pPr marL="137160" indent="-137160" algn="l" fontAlgn="base">
                        <a:buFont typeface="Wingdings" panose="05000000000000000000" pitchFamily="2" charset="2"/>
                        <a:buChar char="§"/>
                      </a:pPr>
                      <a:r>
                        <a:rPr lang="en-US" sz="1000" b="0" i="0">
                          <a:solidFill>
                            <a:srgbClr val="000000"/>
                          </a:solidFill>
                          <a:effectLst/>
                          <a:latin typeface="+mn-lt"/>
                        </a:rPr>
                        <a:t>LSTK Projects segment undertakes construction contracts for the mass transit projects</a:t>
                      </a:r>
                    </a:p>
                    <a:p>
                      <a:pPr marL="137160" indent="-137160" algn="l" fontAlgn="base">
                        <a:buFont typeface="Wingdings" panose="05000000000000000000" pitchFamily="2" charset="2"/>
                        <a:buChar char="§"/>
                      </a:pPr>
                      <a:r>
                        <a:rPr lang="en-US" sz="1000" b="0" i="0">
                          <a:solidFill>
                            <a:srgbClr val="000000"/>
                          </a:solidFill>
                          <a:effectLst/>
                          <a:latin typeface="+mn-lt"/>
                        </a:rPr>
                        <a:t>Capital segment engages in the developing of projects, arranging financing, investing in equity, undertaking complex financial modeling, and managing its infrastructure investments, such as bridges and highways, mass transit systems, power facilities, energy infrastructure, water treatment plants, and social infrastructure</a:t>
                      </a:r>
                    </a:p>
                    <a:p>
                      <a:pPr marL="137160" indent="-137160" algn="l" fontAlgn="base">
                        <a:buFont typeface="Wingdings" panose="05000000000000000000" pitchFamily="2" charset="2"/>
                        <a:buChar char="§"/>
                      </a:pPr>
                      <a:r>
                        <a:rPr lang="en-US" sz="1000" b="0" i="0">
                          <a:solidFill>
                            <a:srgbClr val="000000"/>
                          </a:solidFill>
                          <a:effectLst/>
                          <a:latin typeface="+mn-lt"/>
                        </a:rPr>
                        <a:t>Formerly known as SNC-Lavalin Group Inc. and changed its name to </a:t>
                      </a:r>
                      <a:r>
                        <a:rPr lang="en-US" sz="1000" b="0" i="0" err="1">
                          <a:solidFill>
                            <a:srgbClr val="000000"/>
                          </a:solidFill>
                          <a:effectLst/>
                          <a:latin typeface="+mn-lt"/>
                        </a:rPr>
                        <a:t>AtkinsRéalis</a:t>
                      </a:r>
                      <a:r>
                        <a:rPr lang="en-US" sz="1000" b="0" i="0">
                          <a:solidFill>
                            <a:srgbClr val="000000"/>
                          </a:solidFill>
                          <a:effectLst/>
                          <a:latin typeface="+mn-lt"/>
                        </a:rPr>
                        <a:t> in September 2023</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6300901"/>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0D35AE91-2955-3D3C-6CEE-21F2E0970803}"/>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156360592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a:xfrm>
            <a:off x="955675" y="6664638"/>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2195552011"/>
              </p:ext>
            </p:extLst>
          </p:nvPr>
        </p:nvGraphicFramePr>
        <p:xfrm>
          <a:off x="50129" y="1593200"/>
          <a:ext cx="9052560" cy="45720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72257">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ase"/>
                      <a:r>
                        <a:rPr lang="en-US" sz="1000" b="0" i="0">
                          <a:solidFill>
                            <a:srgbClr val="000000"/>
                          </a:solidFill>
                          <a:effectLst/>
                          <a:latin typeface="+mn-lt"/>
                        </a:rPr>
                        <a:t>Parsons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integrated solutions and services in the defense, intelligence, and critical infrastructure markets in North America, the Middle East,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Federal Solutions segment provides critical technologies, such as cybersecurity; missile defense; intelligence; space launch and ground systems; space and weapon system resiliency; geospatial intelligence; signals intelligence; environmental remediation; border security, critical infrastructure protection; counter unmanned air systems; biometrics and bio surveillance solutions to U.S. Department of Defense, including military services; Missile Defense Agency, the Department of Energy; the Department of State; the Department of Homeland Security, and the Federal Aviation Administration</a:t>
                      </a:r>
                    </a:p>
                    <a:p>
                      <a:pPr marL="137160" indent="-137160" algn="l" fontAlgn="base">
                        <a:buFont typeface="Wingdings" panose="05000000000000000000" pitchFamily="2" charset="2"/>
                        <a:buChar char="§"/>
                      </a:pPr>
                      <a:r>
                        <a:rPr lang="en-US" sz="1000" b="0" i="0">
                          <a:solidFill>
                            <a:srgbClr val="000000"/>
                          </a:solidFill>
                          <a:effectLst/>
                          <a:latin typeface="+mn-lt"/>
                        </a:rPr>
                        <a:t>Critical Infrastructure segment provides management, design, and engineering services. This segment develops digital solutions for next generation aviation, rail and transit, bridges, roads, and highways; and provides water and wastewater treatment systems; AI/ML, and digital twin and cyber systems; planning, engineering, and management services for infrastructure, including bridges and tunnels, roads and highways, water and wastewater, and dams and reservoirs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5217503"/>
                  </a:ext>
                </a:extLst>
              </a:tr>
              <a:tr h="535050">
                <a:tc>
                  <a:txBody>
                    <a:bodyPr/>
                    <a:lstStyle/>
                    <a:p>
                      <a:pPr algn="ctr" fontAlgn="base"/>
                      <a:r>
                        <a:rPr lang="en-US" sz="1000" b="0" i="0">
                          <a:solidFill>
                            <a:srgbClr val="000000"/>
                          </a:solidFill>
                          <a:effectLst/>
                          <a:latin typeface="+mn-lt"/>
                        </a:rPr>
                        <a:t>EPAM Systems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digital platform engineering and software development services worldwide</a:t>
                      </a:r>
                    </a:p>
                    <a:p>
                      <a:pPr marL="137160" indent="-137160" algn="l" fontAlgn="base">
                        <a:buFont typeface="Wingdings" panose="05000000000000000000" pitchFamily="2" charset="2"/>
                        <a:buChar char="§"/>
                      </a:pPr>
                      <a:r>
                        <a:rPr lang="en-US" sz="1000" b="0" i="0">
                          <a:solidFill>
                            <a:srgbClr val="000000"/>
                          </a:solidFill>
                          <a:effectLst/>
                          <a:latin typeface="+mn-lt"/>
                        </a:rPr>
                        <a:t>Offers engineering services, including requirements analysis and platform selection, customization, cross-platform migration, implementation, and integration; infrastructure management services, such as software development, testing, performance tuning, deployment, maintenance, and support services</a:t>
                      </a:r>
                    </a:p>
                    <a:p>
                      <a:pPr marL="137160" indent="-137160" algn="l" fontAlgn="base">
                        <a:buFont typeface="Wingdings" panose="05000000000000000000" pitchFamily="2" charset="2"/>
                        <a:buChar char="§"/>
                      </a:pPr>
                      <a:r>
                        <a:rPr lang="en-US" sz="1000" b="0" i="0">
                          <a:solidFill>
                            <a:srgbClr val="000000"/>
                          </a:solidFill>
                          <a:effectLst/>
                          <a:latin typeface="+mn-lt"/>
                        </a:rPr>
                        <a:t>Offers operation solutions comprising integrated engineering practices and smart automation services</a:t>
                      </a:r>
                    </a:p>
                    <a:p>
                      <a:pPr marL="137160" indent="-137160" algn="l" fontAlgn="base">
                        <a:buFont typeface="Wingdings" panose="05000000000000000000" pitchFamily="2" charset="2"/>
                        <a:buChar char="§"/>
                      </a:pPr>
                      <a:r>
                        <a:rPr lang="en-US" sz="1000" b="0" i="0">
                          <a:solidFill>
                            <a:srgbClr val="000000"/>
                          </a:solidFill>
                          <a:effectLst/>
                          <a:latin typeface="+mn-lt"/>
                        </a:rPr>
                        <a:t>Offers business, experience, technology, data, and technical advisory consulting services; and digital and service design solutions, which comprise strategy, design, creative, and program management services, as well as physical product development, such as artificial intelligence, robotics, and virtual reality</a:t>
                      </a:r>
                    </a:p>
                    <a:p>
                      <a:pPr marL="137160" indent="-137160" algn="l" fontAlgn="base">
                        <a:buFont typeface="Wingdings" panose="05000000000000000000" pitchFamily="2" charset="2"/>
                        <a:buChar char="§"/>
                      </a:pPr>
                      <a:r>
                        <a:rPr lang="en-US" sz="1000" b="0" i="0">
                          <a:solidFill>
                            <a:srgbClr val="000000"/>
                          </a:solidFill>
                          <a:effectLst/>
                          <a:latin typeface="+mn-lt"/>
                        </a:rPr>
                        <a:t>Serves the financial services, travel and consumer, software and hi-tech, business information and media, life sciences and healthcare, and other industries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79167428"/>
                  </a:ext>
                </a:extLst>
              </a:tr>
              <a:tr h="794832">
                <a:tc>
                  <a:txBody>
                    <a:bodyPr/>
                    <a:lstStyle/>
                    <a:p>
                      <a:pPr algn="ctr" fontAlgn="base"/>
                      <a:r>
                        <a:rPr lang="en-US" sz="1000" b="0" i="0">
                          <a:solidFill>
                            <a:srgbClr val="000000"/>
                          </a:solidFill>
                          <a:effectLst/>
                          <a:latin typeface="+mn-lt"/>
                        </a:rPr>
                        <a:t>Tetra Tech</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consulting and engineering services in the United States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Operates through two segments, Government Services Group (</a:t>
                      </a:r>
                      <a:r>
                        <a:rPr lang="en-US" sz="1000" b="0" i="0" err="1">
                          <a:solidFill>
                            <a:srgbClr val="000000"/>
                          </a:solidFill>
                          <a:effectLst/>
                          <a:latin typeface="+mn-lt"/>
                        </a:rPr>
                        <a:t>GSG</a:t>
                      </a:r>
                      <a:r>
                        <a:rPr lang="en-US" sz="1000" b="0" i="0">
                          <a:solidFill>
                            <a:srgbClr val="000000"/>
                          </a:solidFill>
                          <a:effectLst/>
                          <a:latin typeface="+mn-lt"/>
                        </a:rPr>
                        <a:t>) and Commercial/International Services Group (CIG) </a:t>
                      </a:r>
                    </a:p>
                    <a:p>
                      <a:pPr marL="137160" indent="-137160" algn="l" fontAlgn="base">
                        <a:buFont typeface="Wingdings" panose="05000000000000000000" pitchFamily="2" charset="2"/>
                        <a:buChar char="§"/>
                      </a:pPr>
                      <a:r>
                        <a:rPr lang="en-US" sz="1000" b="0" i="0" err="1">
                          <a:solidFill>
                            <a:srgbClr val="000000"/>
                          </a:solidFill>
                          <a:effectLst/>
                          <a:latin typeface="+mn-lt"/>
                        </a:rPr>
                        <a:t>GSG</a:t>
                      </a:r>
                      <a:r>
                        <a:rPr lang="en-US" sz="1000" b="0" i="0">
                          <a:solidFill>
                            <a:srgbClr val="000000"/>
                          </a:solidFill>
                          <a:effectLst/>
                          <a:latin typeface="+mn-lt"/>
                        </a:rPr>
                        <a:t> segment offers early data collection and monitoring, data analysis and information management, science and engineering applied research, engineering design, project management, and operations and maintenance services; and climate change and energy management consulting, as well as greenhouse gas inventory assessment, certification, reduction, and management services, serving federal, state, and local governments; and development agencies in water resources analysis and water management, environmental monitoring, data analytics, government consulting, waste management, and a range of civil infrastructure master planning and engineering design markets</a:t>
                      </a:r>
                    </a:p>
                    <a:p>
                      <a:pPr marL="137160" indent="-137160" algn="l" fontAlgn="base">
                        <a:buFont typeface="Wingdings" panose="05000000000000000000" pitchFamily="2" charset="2"/>
                        <a:buChar char="§"/>
                      </a:pPr>
                      <a:r>
                        <a:rPr lang="en-US" sz="1000" b="0" i="0">
                          <a:solidFill>
                            <a:srgbClr val="000000"/>
                          </a:solidFill>
                          <a:effectLst/>
                          <a:latin typeface="+mn-lt"/>
                        </a:rPr>
                        <a:t>CIG segment provides early data collection and monitoring, data analysis, feasibility studies and assessments, science and engineering applied research, engineering design, project management, and operations and maintenance services; and environmental remediation and reconstruction services, and industrial water treatment services, serving natural resources, energy, and utilities markets, as well as sustainable infrastructure master planning and engineering design for facilities, transportation, and local development projects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6223218"/>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D8533562-C314-BE74-290F-846D652280DE}"/>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75258415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a:xfrm>
            <a:off x="955675" y="6664638"/>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3521775944"/>
              </p:ext>
            </p:extLst>
          </p:nvPr>
        </p:nvGraphicFramePr>
        <p:xfrm>
          <a:off x="50129" y="1593200"/>
          <a:ext cx="9052560" cy="25908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72257">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ase"/>
                      <a:r>
                        <a:rPr lang="en-US" sz="1000" b="0" i="0">
                          <a:solidFill>
                            <a:srgbClr val="000000"/>
                          </a:solidFill>
                          <a:effectLst/>
                          <a:latin typeface="+mn-lt"/>
                        </a:rPr>
                        <a:t>Stantec</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professional services in infrastructure and facilities to the public and private sectors in Canada, the United States,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Offers evaluation, planning, and designing of infrastructure solutions, sustainable water resources, environmental services, and integrated architecture, engineering, and interior design solutions</a:t>
                      </a:r>
                    </a:p>
                    <a:p>
                      <a:pPr marL="137160" indent="-137160" algn="l" fontAlgn="base">
                        <a:buFont typeface="Wingdings" panose="05000000000000000000" pitchFamily="2" charset="2"/>
                        <a:buChar char="§"/>
                      </a:pPr>
                      <a:r>
                        <a:rPr lang="en-US" sz="1000" b="0" i="0">
                          <a:solidFill>
                            <a:srgbClr val="000000"/>
                          </a:solidFill>
                          <a:effectLst/>
                          <a:latin typeface="+mn-lt"/>
                        </a:rPr>
                        <a:t>Delivers consulting services in engineering, architecture, interior design, landscape architecture, surveying, environmental sciences, project management, and project economics</a:t>
                      </a:r>
                    </a:p>
                    <a:p>
                      <a:pPr marL="137160" indent="-137160" algn="l" fontAlgn="base">
                        <a:buFont typeface="Wingdings" panose="05000000000000000000" pitchFamily="2" charset="2"/>
                        <a:buChar char="§"/>
                      </a:pPr>
                      <a:r>
                        <a:rPr lang="en-US" sz="1000" b="0" i="0">
                          <a:solidFill>
                            <a:srgbClr val="000000"/>
                          </a:solidFill>
                          <a:effectLst/>
                          <a:latin typeface="+mn-lt"/>
                        </a:rPr>
                        <a:t>Specializes in planning and design services for residential, logistics, retail, infrastructure, energy, higher education, and urban regeneration sectors, as well as transportation advisory and transport engineering</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3054601"/>
                  </a:ext>
                </a:extLst>
              </a:tr>
              <a:tr h="578060">
                <a:tc>
                  <a:txBody>
                    <a:bodyPr/>
                    <a:lstStyle/>
                    <a:p>
                      <a:pPr algn="ctr" fontAlgn="base"/>
                      <a:r>
                        <a:rPr lang="en-US" sz="1000" b="0" i="0" err="1">
                          <a:solidFill>
                            <a:srgbClr val="000000"/>
                          </a:solidFill>
                          <a:effectLst/>
                          <a:latin typeface="+mn-lt"/>
                        </a:rPr>
                        <a:t>FTI</a:t>
                      </a:r>
                      <a:r>
                        <a:rPr lang="en-US" sz="1000" b="0" i="0">
                          <a:solidFill>
                            <a:srgbClr val="000000"/>
                          </a:solidFill>
                          <a:effectLst/>
                          <a:latin typeface="+mn-lt"/>
                        </a:rPr>
                        <a:t> Consulting</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business advisory services to manage change, mitigate risk, and resolve disputes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through five segments: Corporate Finance &amp; Restructuring, Forensic and Litigation Consulting, Economic Consulting, Technology, and Strategic Communications</a:t>
                      </a:r>
                    </a:p>
                    <a:p>
                      <a:pPr marL="137160" indent="-137160" algn="l" fontAlgn="base">
                        <a:buFont typeface="Wingdings" panose="05000000000000000000" pitchFamily="2" charset="2"/>
                        <a:buChar char="§"/>
                      </a:pPr>
                      <a:r>
                        <a:rPr lang="en-US" sz="1000" b="0" i="0">
                          <a:solidFill>
                            <a:srgbClr val="000000"/>
                          </a:solidFill>
                          <a:effectLst/>
                          <a:latin typeface="+mn-lt"/>
                        </a:rPr>
                        <a:t>Offers services including business transformation, transactions, restructuring, construction and environmental solutions, data and analytics, disputes, health solutions, risk and investigation, antitrust and competition economics, and international arbitration</a:t>
                      </a:r>
                    </a:p>
                    <a:p>
                      <a:pPr marL="137160" indent="-137160" algn="l" fontAlgn="base">
                        <a:buFont typeface="Wingdings" panose="05000000000000000000" pitchFamily="2" charset="2"/>
                        <a:buChar char="§"/>
                      </a:pPr>
                      <a:r>
                        <a:rPr lang="en-US" sz="1000" b="0" i="0">
                          <a:solidFill>
                            <a:srgbClr val="000000"/>
                          </a:solidFill>
                          <a:effectLst/>
                          <a:latin typeface="+mn-lt"/>
                        </a:rPr>
                        <a:t>Delivers corporate legal department consulting, e-discovery, information governance, privacy and security services, corporate reputation, financial communications, and public affairs services</a:t>
                      </a:r>
                    </a:p>
                    <a:p>
                      <a:pPr marL="137160" indent="-137160" algn="l" fontAlgn="base">
                        <a:buFont typeface="Wingdings" panose="05000000000000000000" pitchFamily="2" charset="2"/>
                        <a:buChar char="§"/>
                      </a:pPr>
                      <a:r>
                        <a:rPr lang="en-US" sz="1000" b="0" i="0">
                          <a:solidFill>
                            <a:srgbClr val="000000"/>
                          </a:solidFill>
                          <a:effectLst/>
                          <a:latin typeface="+mn-lt"/>
                        </a:rPr>
                        <a:t>Serves diverse industries including aerospace and defense, airlines, blockchain, chemicals, energy, financial services, healthcare, real estate, telecom, media, and transportation sectors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0784952"/>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6A2B2364-E72B-4AFC-F2F7-D0963411CB33}"/>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46600682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7F990-F584-28D8-21E1-D89FE2EFCCB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B75D40D-01BC-3122-41AC-EBC33D4FD61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B2984C5F-FF1B-2098-B690-DC168BCA6A87}"/>
              </a:ext>
            </a:extLst>
          </p:cNvPr>
          <p:cNvSpPr>
            <a:spLocks noGrp="1"/>
          </p:cNvSpPr>
          <p:nvPr>
            <p:ph type="title"/>
          </p:nvPr>
        </p:nvSpPr>
        <p:spPr/>
        <p:txBody>
          <a:bodyPr/>
          <a:lstStyle/>
          <a:p>
            <a:r>
              <a:rPr lang="en-US"/>
              <a:t>Business descriptions for the additional companies evaluated in detail are shown below:</a:t>
            </a:r>
            <a:endParaRPr lang="en-US">
              <a:highlight>
                <a:srgbClr val="FFFF00"/>
              </a:highlight>
            </a:endParaRPr>
          </a:p>
        </p:txBody>
      </p:sp>
      <p:graphicFrame>
        <p:nvGraphicFramePr>
          <p:cNvPr id="4" name="Table 3">
            <a:extLst>
              <a:ext uri="{FF2B5EF4-FFF2-40B4-BE49-F238E27FC236}">
                <a16:creationId xmlns:a16="http://schemas.microsoft.com/office/drawing/2014/main" id="{ACE2121E-F647-36FE-EEAC-045C82F12450}"/>
              </a:ext>
            </a:extLst>
          </p:cNvPr>
          <p:cNvGraphicFramePr>
            <a:graphicFrameLocks noGrp="1"/>
          </p:cNvGraphicFramePr>
          <p:nvPr>
            <p:extLst>
              <p:ext uri="{D42A27DB-BD31-4B8C-83A1-F6EECF244321}">
                <p14:modId xmlns:p14="http://schemas.microsoft.com/office/powerpoint/2010/main" val="2783111589"/>
              </p:ext>
            </p:extLst>
          </p:nvPr>
        </p:nvGraphicFramePr>
        <p:xfrm>
          <a:off x="50129" y="1726550"/>
          <a:ext cx="9052560" cy="4983480"/>
        </p:xfrm>
        <a:graphic>
          <a:graphicData uri="http://schemas.openxmlformats.org/drawingml/2006/table">
            <a:tbl>
              <a:tblPr/>
              <a:tblGrid>
                <a:gridCol w="640080">
                  <a:extLst>
                    <a:ext uri="{9D8B030D-6E8A-4147-A177-3AD203B41FA5}">
                      <a16:colId xmlns:a16="http://schemas.microsoft.com/office/drawing/2014/main" val="953007814"/>
                    </a:ext>
                  </a:extLst>
                </a:gridCol>
                <a:gridCol w="8412480">
                  <a:extLst>
                    <a:ext uri="{9D8B030D-6E8A-4147-A177-3AD203B41FA5}">
                      <a16:colId xmlns:a16="http://schemas.microsoft.com/office/drawing/2014/main" val="678034705"/>
                    </a:ext>
                  </a:extLst>
                </a:gridCol>
              </a:tblGrid>
              <a:tr h="72257">
                <a:tc>
                  <a:txBody>
                    <a:bodyPr/>
                    <a:lstStyle/>
                    <a:p>
                      <a:pPr algn="l" fontAlgn="base">
                        <a:lnSpc>
                          <a:spcPct val="90000"/>
                        </a:lnSpc>
                      </a:pPr>
                      <a:r>
                        <a:rPr lang="en-US" sz="1000" b="1" i="0" u="none" strike="noStrike">
                          <a:solidFill>
                            <a:srgbClr val="FFFFFF"/>
                          </a:solidFill>
                          <a:effectLst/>
                          <a:latin typeface="+mj-lt"/>
                        </a:rPr>
                        <a:t>Company </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lnSpc>
                          <a:spcPct val="90000"/>
                        </a:lnSpc>
                      </a:pPr>
                      <a:r>
                        <a:rPr lang="en-US" sz="1000" b="1" i="0" u="none" strike="noStrike">
                          <a:solidFill>
                            <a:srgbClr val="FFFFFF"/>
                          </a:solidFill>
                          <a:effectLst/>
                          <a:latin typeface="+mj-lt"/>
                        </a:rPr>
                        <a:t>Business Description</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
                        <a:lnSpc>
                          <a:spcPct val="90000"/>
                        </a:lnSpc>
                        <a:buNone/>
                      </a:pPr>
                      <a:r>
                        <a:rPr lang="en-US" sz="1000" b="0" i="0" u="none" strike="noStrike">
                          <a:solidFill>
                            <a:srgbClr val="000000"/>
                          </a:solidFill>
                          <a:effectLst/>
                          <a:latin typeface="+mj-lt"/>
                        </a:rPr>
                        <a:t>Arcadis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Engages in the design, engineering, architecture, and consultancy solutions for natural and built assets in The Americas, Europe, the Middle East, and the Asia Pacific</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Operates through Places, Mobility, Resilience, and Intelligence segments. It provides architecture and urbanism services; and asset management services, such as asset management strategy and planning, asset management decision making and operational optimization, life cycle planning and asset management systems, asset information/condition assessment, risk and review, organization and people, and asset management/</a:t>
                      </a:r>
                      <a:r>
                        <a:rPr lang="en-US" sz="1000" b="0" i="0" err="1">
                          <a:solidFill>
                            <a:srgbClr val="000000"/>
                          </a:solidFill>
                          <a:effectLst/>
                          <a:latin typeface="+mj-lt"/>
                        </a:rPr>
                        <a:t>O&amp;M</a:t>
                      </a:r>
                      <a:endParaRPr lang="en-US" sz="1000" b="0" i="0">
                        <a:solidFill>
                          <a:srgbClr val="000000"/>
                        </a:solidFill>
                        <a:effectLst/>
                        <a:latin typeface="+mj-lt"/>
                      </a:endParaRP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Provides business advisory services, including asset strategy and performance, business transformation and resiliency, investment and finance, operations and maintenance, and technology and information; contract solutions; cost and commercial management services; and design and engineering solutions for highways, railways, bridges, tunnels, power utilities, water utilities, ports and waterways, geotechnics, architecture, and structures, as well as building mechanical, electrical, and plumbing. In addition, it offers digital environmental health safety and sustainability, environmental restoration, and project management solutions</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Provides mobility solutions for connected highways, intelligent rail and transit, integrated airports, and new mobility; places solutions; resilience solutions, such as energy transition, climate adaption, water optimization, enviro socio permitting, sustainable advisory, environmental restoration, and sustainable operations; and water supply and treatment, distribution, resource management, and industrial water and wastewater services</a:t>
                      </a:r>
                    </a:p>
                  </a:txBody>
                  <a:tcPr marL="27432" marR="27432"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3054601"/>
                  </a:ext>
                </a:extLst>
              </a:tr>
              <a:tr h="578060">
                <a:tc>
                  <a:txBody>
                    <a:bodyPr/>
                    <a:lstStyle/>
                    <a:p>
                      <a:pPr algn="ctr" fontAlgn="b">
                        <a:lnSpc>
                          <a:spcPct val="90000"/>
                        </a:lnSpc>
                        <a:buNone/>
                      </a:pPr>
                      <a:r>
                        <a:rPr lang="en-US" sz="1000" b="0" i="0" u="none" strike="noStrike">
                          <a:solidFill>
                            <a:srgbClr val="000000"/>
                          </a:solidFill>
                          <a:effectLst/>
                          <a:latin typeface="+mj-lt"/>
                        </a:rPr>
                        <a:t>Quanta</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Offers infrastructure solutions for the electric and gas utility, renewable energy, communications, pipeline, and energy industries in the United States, Canada, Australia, and internationally</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Electric Power Infrastructure Solutions segment handles the design, procurement, construction, upgrade, repair, and maintenance of electric power infrastructure, including smart grid technologies and commercial wirings. It also offers aviation, emergency restoration, engineering services, communications solutions, and training for electric, gas, and communications industries</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Renewable Energy Infrastructure Solutions segment handles engineering, procurement, construction, repair, and maintenance of wind, solar, hydropower, and battery storage facilities, as well as electrical infrastructure services</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Underground Utility and Infrastructure Solutions segment provides design, engineering, procurement, construction, upgrade, repair, and maintenance services for natural gas systems, pipeline support structures, and compressor and pump stations</a:t>
                      </a:r>
                    </a:p>
                  </a:txBody>
                  <a:tcPr marL="27432" marR="27432"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0784952"/>
                  </a:ext>
                </a:extLst>
              </a:tr>
              <a:tr h="578060">
                <a:tc>
                  <a:txBody>
                    <a:bodyPr/>
                    <a:lstStyle/>
                    <a:p>
                      <a:pPr algn="ctr" fontAlgn="base"/>
                      <a:r>
                        <a:rPr lang="en-US" sz="1000" b="0" i="0">
                          <a:solidFill>
                            <a:srgbClr val="000000"/>
                          </a:solidFill>
                          <a:effectLst/>
                          <a:latin typeface="+mn-lt"/>
                        </a:rPr>
                        <a:t>Capgemini</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consulting, digital transformation, technology, and engineering services primarily in North America, France, the United Kingdom, Ireland, the rest of Europe, the Asia-Pacific, and Latin America</a:t>
                      </a:r>
                    </a:p>
                    <a:p>
                      <a:pPr marL="137160" indent="-137160" algn="l" fontAlgn="base">
                        <a:buFont typeface="Wingdings" panose="05000000000000000000" pitchFamily="2" charset="2"/>
                        <a:buChar char="§"/>
                      </a:pPr>
                      <a:r>
                        <a:rPr lang="en-US" sz="1000" b="0" i="0">
                          <a:solidFill>
                            <a:srgbClr val="000000"/>
                          </a:solidFill>
                          <a:effectLst/>
                          <a:latin typeface="+mn-lt"/>
                        </a:rPr>
                        <a:t>Offers strategy and transformation services in strategy, technology, engineering, data science, and creative design fields to support companies and organizations in creating new models and new products within the digital economy</a:t>
                      </a:r>
                    </a:p>
                    <a:p>
                      <a:pPr marL="137160" indent="-137160" algn="l" fontAlgn="base">
                        <a:buFont typeface="Wingdings" panose="05000000000000000000" pitchFamily="2" charset="2"/>
                        <a:buChar char="§"/>
                      </a:pPr>
                      <a:r>
                        <a:rPr lang="en-US" sz="1000" b="0" i="0">
                          <a:solidFill>
                            <a:srgbClr val="000000"/>
                          </a:solidFill>
                          <a:effectLst/>
                          <a:latin typeface="+mn-lt"/>
                        </a:rPr>
                        <a:t>Provides applications and technology services to help clients to develop, modernize, extend, and secure IT and digital environment, as well as designs and develops technological solutions in data strategy and architecture, data engineering, information governance, data science and analytics, artificial intelligence, and data-driven innovation fields</a:t>
                      </a:r>
                    </a:p>
                    <a:p>
                      <a:pPr marL="137160" indent="-137160" algn="l" fontAlgn="base">
                        <a:buFont typeface="Wingdings" panose="05000000000000000000" pitchFamily="2" charset="2"/>
                        <a:buChar char="§"/>
                      </a:pPr>
                      <a:r>
                        <a:rPr lang="en-US" sz="1000" b="0" i="0">
                          <a:solidFill>
                            <a:srgbClr val="000000"/>
                          </a:solidFill>
                          <a:effectLst/>
                          <a:latin typeface="+mn-lt"/>
                        </a:rPr>
                        <a:t>Offers cloud infrastructure services for its clients to build an optimal, agile, and secure foundation for business transformations; and business process outsourcing and transactional services, as well as installation and maintenance services for its clients’ IT infrastructures in data centers or in the cloud</a:t>
                      </a:r>
                    </a:p>
                    <a:p>
                      <a:pPr marL="137160" indent="-137160" algn="l" fontAlgn="base">
                        <a:buFont typeface="Wingdings" panose="05000000000000000000" pitchFamily="2" charset="2"/>
                        <a:buChar char="§"/>
                      </a:pPr>
                      <a:r>
                        <a:rPr lang="en-US" sz="1000" b="0" i="0">
                          <a:solidFill>
                            <a:srgbClr val="000000"/>
                          </a:solidFill>
                          <a:effectLst/>
                          <a:latin typeface="+mn-lt"/>
                        </a:rPr>
                        <a:t>Serves various industries, including aerospace and defense, automotive, banking and capital markets, consumer products, energy and utilities, healthcare, high-tech, hospitality and travel, insurance, life sciences, manufacturing, media and entertainment, public sector, retail, and telecoms</a:t>
                      </a:r>
                    </a:p>
                    <a:p>
                      <a:pPr marL="137160" indent="-137160" algn="l" fontAlgn="base">
                        <a:buFont typeface="Wingdings" panose="05000000000000000000" pitchFamily="2" charset="2"/>
                        <a:buChar char="§"/>
                      </a:pPr>
                      <a:r>
                        <a:rPr lang="en-US" sz="1000" b="0" i="0">
                          <a:solidFill>
                            <a:srgbClr val="000000"/>
                          </a:solidFill>
                          <a:effectLst/>
                          <a:latin typeface="+mn-lt"/>
                        </a:rPr>
                        <a:t>The company has a strategic alliance with OpenAI for the development and deployment of enterprise AI solutions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1822950"/>
                  </a:ext>
                </a:extLst>
              </a:tr>
            </a:tbl>
          </a:graphicData>
        </a:graphic>
      </p:graphicFrame>
      <p:sp>
        <p:nvSpPr>
          <p:cNvPr id="5" name="Rectangle 1">
            <a:extLst>
              <a:ext uri="{FF2B5EF4-FFF2-40B4-BE49-F238E27FC236}">
                <a16:creationId xmlns:a16="http://schemas.microsoft.com/office/drawing/2014/main" id="{65D3F4C6-E0DD-FEFA-8EA5-5394A80E849A}"/>
              </a:ext>
            </a:extLst>
          </p:cNvPr>
          <p:cNvSpPr txBox="1">
            <a:spLocks noChangeArrowheads="1"/>
          </p:cNvSpPr>
          <p:nvPr/>
        </p:nvSpPr>
        <p:spPr bwMode="auto">
          <a:xfrm>
            <a:off x="1251692" y="1242638"/>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None/>
            </a:pPr>
            <a:r>
              <a:rPr lang="en-US" altLang="en-US" sz="1400" b="1"/>
              <a:t>Business Descriptions</a:t>
            </a:r>
          </a:p>
          <a:p>
            <a:pPr marL="0" indent="0" algn="ctr" fontAlgn="base">
              <a:spcBef>
                <a:spcPts val="0"/>
              </a:spcBef>
              <a:buNone/>
            </a:pPr>
            <a:r>
              <a:rPr lang="en-US" altLang="en-US" sz="1400" b="1"/>
              <a:t>Additional Companies Evaluated</a:t>
            </a:r>
          </a:p>
        </p:txBody>
      </p:sp>
    </p:spTree>
    <p:extLst>
      <p:ext uri="{BB962C8B-B14F-4D97-AF65-F5344CB8AC3E}">
        <p14:creationId xmlns:p14="http://schemas.microsoft.com/office/powerpoint/2010/main" val="359301260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C5029-596F-B868-E305-0AA31A94B89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B920AB-4A54-9CBA-56A7-EB99DC4DD094}"/>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0F6570F0-2C40-3331-C549-652543173199}"/>
              </a:ext>
            </a:extLst>
          </p:cNvPr>
          <p:cNvSpPr>
            <a:spLocks noGrp="1"/>
          </p:cNvSpPr>
          <p:nvPr>
            <p:ph type="title"/>
          </p:nvPr>
        </p:nvSpPr>
        <p:spPr/>
        <p:txBody>
          <a:bodyPr/>
          <a:lstStyle/>
          <a:p>
            <a:r>
              <a:rPr lang="en-US"/>
              <a:t>Business descriptions for the additional companies evaluated in detail are shown below: </a:t>
            </a:r>
            <a:r>
              <a:rPr lang="en-US" i="1"/>
              <a:t>(continued)</a:t>
            </a:r>
            <a:endParaRPr lang="en-US">
              <a:highlight>
                <a:srgbClr val="FFFF00"/>
              </a:highlight>
            </a:endParaRPr>
          </a:p>
        </p:txBody>
      </p:sp>
      <p:graphicFrame>
        <p:nvGraphicFramePr>
          <p:cNvPr id="4" name="Table 3">
            <a:extLst>
              <a:ext uri="{FF2B5EF4-FFF2-40B4-BE49-F238E27FC236}">
                <a16:creationId xmlns:a16="http://schemas.microsoft.com/office/drawing/2014/main" id="{0575C3BC-874C-42EE-7E83-8AB24E947AC0}"/>
              </a:ext>
            </a:extLst>
          </p:cNvPr>
          <p:cNvGraphicFramePr>
            <a:graphicFrameLocks noGrp="1"/>
          </p:cNvGraphicFramePr>
          <p:nvPr>
            <p:extLst>
              <p:ext uri="{D42A27DB-BD31-4B8C-83A1-F6EECF244321}">
                <p14:modId xmlns:p14="http://schemas.microsoft.com/office/powerpoint/2010/main" val="2895299643"/>
              </p:ext>
            </p:extLst>
          </p:nvPr>
        </p:nvGraphicFramePr>
        <p:xfrm>
          <a:off x="50129" y="1726550"/>
          <a:ext cx="9052560" cy="4556760"/>
        </p:xfrm>
        <a:graphic>
          <a:graphicData uri="http://schemas.openxmlformats.org/drawingml/2006/table">
            <a:tbl>
              <a:tblPr/>
              <a:tblGrid>
                <a:gridCol w="640080">
                  <a:extLst>
                    <a:ext uri="{9D8B030D-6E8A-4147-A177-3AD203B41FA5}">
                      <a16:colId xmlns:a16="http://schemas.microsoft.com/office/drawing/2014/main" val="953007814"/>
                    </a:ext>
                  </a:extLst>
                </a:gridCol>
                <a:gridCol w="8412480">
                  <a:extLst>
                    <a:ext uri="{9D8B030D-6E8A-4147-A177-3AD203B41FA5}">
                      <a16:colId xmlns:a16="http://schemas.microsoft.com/office/drawing/2014/main" val="678034705"/>
                    </a:ext>
                  </a:extLst>
                </a:gridCol>
              </a:tblGrid>
              <a:tr h="72257">
                <a:tc>
                  <a:txBody>
                    <a:bodyPr/>
                    <a:lstStyle/>
                    <a:p>
                      <a:pPr algn="l" fontAlgn="base">
                        <a:lnSpc>
                          <a:spcPct val="90000"/>
                        </a:lnSpc>
                      </a:pPr>
                      <a:r>
                        <a:rPr lang="en-US" sz="1000" b="1" i="0" u="none" strike="noStrike">
                          <a:solidFill>
                            <a:srgbClr val="FFFFFF"/>
                          </a:solidFill>
                          <a:effectLst/>
                          <a:latin typeface="+mj-lt"/>
                        </a:rPr>
                        <a:t>Company </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lnSpc>
                          <a:spcPct val="90000"/>
                        </a:lnSpc>
                      </a:pPr>
                      <a:r>
                        <a:rPr lang="en-US" sz="1000" b="1" i="0" u="none" strike="noStrike">
                          <a:solidFill>
                            <a:srgbClr val="FFFFFF"/>
                          </a:solidFill>
                          <a:effectLst/>
                          <a:latin typeface="+mj-lt"/>
                        </a:rPr>
                        <a:t>Business Description</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ase"/>
                      <a:r>
                        <a:rPr lang="en-US" sz="1000" b="0" i="0" err="1">
                          <a:solidFill>
                            <a:srgbClr val="000000"/>
                          </a:solidFill>
                          <a:effectLst/>
                          <a:latin typeface="+mn-lt"/>
                        </a:rPr>
                        <a:t>Primoris</a:t>
                      </a:r>
                      <a:endParaRPr lang="en-US" sz="1000" b="0" i="0">
                        <a:solidFill>
                          <a:srgbClr val="000000"/>
                        </a:solidFill>
                        <a:effectLst/>
                        <a:latin typeface="+mn-lt"/>
                      </a:endParaRP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infrastructure services primarily in the United States and Canada</a:t>
                      </a:r>
                    </a:p>
                    <a:p>
                      <a:pPr marL="137160" indent="-137160" algn="l" fontAlgn="base">
                        <a:buFont typeface="Wingdings" panose="05000000000000000000" pitchFamily="2" charset="2"/>
                        <a:buChar char="§"/>
                      </a:pPr>
                      <a:r>
                        <a:rPr lang="en-US" sz="1000" b="0" i="0">
                          <a:solidFill>
                            <a:srgbClr val="000000"/>
                          </a:solidFill>
                          <a:effectLst/>
                          <a:latin typeface="+mn-lt"/>
                        </a:rPr>
                        <a:t>Operates in two segments, Utilities and Energy</a:t>
                      </a:r>
                    </a:p>
                    <a:p>
                      <a:pPr marL="137160" indent="-137160" algn="l" fontAlgn="base">
                        <a:buFont typeface="Wingdings" panose="05000000000000000000" pitchFamily="2" charset="2"/>
                        <a:buChar char="§"/>
                      </a:pPr>
                      <a:r>
                        <a:rPr lang="en-US" sz="1000" b="0" i="0">
                          <a:solidFill>
                            <a:srgbClr val="000000"/>
                          </a:solidFill>
                          <a:effectLst/>
                          <a:latin typeface="+mn-lt"/>
                        </a:rPr>
                        <a:t>Utilities segment offers installation and maintenance of new and existing natural gas and electric utility distribution and transmission systems, and communications systems</a:t>
                      </a:r>
                    </a:p>
                    <a:p>
                      <a:pPr marL="137160" indent="-137160" algn="l" fontAlgn="base">
                        <a:buFont typeface="Wingdings" panose="05000000000000000000" pitchFamily="2" charset="2"/>
                        <a:buChar char="§"/>
                      </a:pPr>
                      <a:r>
                        <a:rPr lang="en-US" sz="1000" b="0" i="0">
                          <a:solidFill>
                            <a:srgbClr val="000000"/>
                          </a:solidFill>
                          <a:effectLst/>
                          <a:latin typeface="+mn-lt"/>
                        </a:rPr>
                        <a:t>Energy segment provides engineering, procurement, construction, and maintenance services for entities in the energy, renewable energy and energy storage, renewable fuels, and petroleum and petrochemical industries, as well as state departments of transportation</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3054601"/>
                  </a:ext>
                </a:extLst>
              </a:tr>
              <a:tr h="578060">
                <a:tc>
                  <a:txBody>
                    <a:bodyPr/>
                    <a:lstStyle/>
                    <a:p>
                      <a:pPr algn="ctr" fontAlgn="base"/>
                      <a:r>
                        <a:rPr lang="en-US" sz="1000" b="0" i="0">
                          <a:solidFill>
                            <a:srgbClr val="000000"/>
                          </a:solidFill>
                          <a:effectLst/>
                          <a:latin typeface="+mj-lt"/>
                        </a:rPr>
                        <a:t>Worley</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professional services to the energy, chemicals, and resources sectors in the Americas, Europe, the Middle East, Africa, Australia, the Asia Pacific, and China</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Offers project delivery services, such as engineering, procurement and supply chain management, construction and fabrication, and installation and commissioning; asset performance services comprising operations and maintenance, and workflow optimization; and specialist and technology solutions</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professional and consulting services comprising planning and investment, capital project support, digital solutions, and environment and sustainability consulting, as well as optimize, repurpose, and decommissioning</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Serves the chemicals and fuels industry comprising plastic recycling solutions, low carbon fuels, and refining, as well as carbon capture, utilization, and storage; conventional energy industry, including midstream energy infrastructure, decommissioning, integrated gas, and water; low carbon energy industry, such as hydrogen, energy storage, nuclear power, power networks, renewable energy, and biogas and renewable natural gas; and resources industry consisting of battery materials, copper and energy transition materials, aluminum, precious metals, bauxite and alumina, iron ore, and mined fertilizers</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0784952"/>
                  </a:ext>
                </a:extLst>
              </a:tr>
              <a:tr h="578060">
                <a:tc>
                  <a:txBody>
                    <a:bodyPr/>
                    <a:lstStyle/>
                    <a:p>
                      <a:pPr algn="ctr" fontAlgn="base"/>
                      <a:r>
                        <a:rPr lang="en-US" sz="1000" b="0" i="0">
                          <a:solidFill>
                            <a:srgbClr val="000000"/>
                          </a:solidFill>
                          <a:effectLst/>
                          <a:latin typeface="+mj-lt"/>
                        </a:rPr>
                        <a:t>Palantir</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1000" b="0" i="0" u="none" strike="noStrike">
                          <a:solidFill>
                            <a:srgbClr val="000000"/>
                          </a:solidFill>
                          <a:effectLst/>
                          <a:latin typeface="+mj-lt"/>
                        </a:rPr>
                        <a:t>Builds and deploys software platforms for the intelligence community to assist in counterterrorism investigations and operations in the United States, the United Kingdom, and internationally</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Palantir Gotham integrates with other platforms for defense offerings which enables users to see, understand, and act in the modern battlespace; operations centers to the tactical edge; integrating data from domains and sensors in near real-time; and situational awareness and accelerating operational decision-making, as well as facilitates the hand-off between analysts and operational users, helping operators plan and execute real-world responses to threats that have been identified within the platform</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Offers Palantir Foundry, a platform that transforms the ways organizations operate by creating a central operating system for their data; and allows individual users to integrate and analyze the data they need in one place</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Palantir Apollo, a software that delivers software and updates across the business, as well as enables customers to deploy their software virtually in any environment</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Palantir Artificial Intelligence Platform unified access to open-source, self-hosted, and commercial large language models (LLMs) that can transform structured and unstructured data into LLM-understandable objects and can turn organizations’ actions and processes into tools for humans and LLM-driven agents</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1822950"/>
                  </a:ext>
                </a:extLst>
              </a:tr>
            </a:tbl>
          </a:graphicData>
        </a:graphic>
      </p:graphicFrame>
      <p:sp>
        <p:nvSpPr>
          <p:cNvPr id="5" name="Rectangle 1">
            <a:extLst>
              <a:ext uri="{FF2B5EF4-FFF2-40B4-BE49-F238E27FC236}">
                <a16:creationId xmlns:a16="http://schemas.microsoft.com/office/drawing/2014/main" id="{A7449B03-7E2F-45BB-8791-8B9E1B8DE09F}"/>
              </a:ext>
            </a:extLst>
          </p:cNvPr>
          <p:cNvSpPr txBox="1">
            <a:spLocks noChangeArrowheads="1"/>
          </p:cNvSpPr>
          <p:nvPr/>
        </p:nvSpPr>
        <p:spPr bwMode="auto">
          <a:xfrm>
            <a:off x="1251692" y="1242638"/>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None/>
            </a:pPr>
            <a:r>
              <a:rPr lang="en-US" altLang="en-US" sz="1400" b="1"/>
              <a:t>Business Descriptions </a:t>
            </a:r>
            <a:r>
              <a:rPr lang="en-US" sz="1400" b="1" i="1"/>
              <a:t>(continued)</a:t>
            </a:r>
            <a:endParaRPr lang="en-US" altLang="en-US" sz="1400" b="1"/>
          </a:p>
          <a:p>
            <a:pPr marL="0" indent="0" algn="ctr" fontAlgn="base">
              <a:spcBef>
                <a:spcPts val="0"/>
              </a:spcBef>
              <a:buNone/>
            </a:pPr>
            <a:r>
              <a:rPr lang="en-US" altLang="en-US" sz="1400" b="1"/>
              <a:t>Additional Companies Evaluated</a:t>
            </a:r>
          </a:p>
        </p:txBody>
      </p:sp>
    </p:spTree>
    <p:extLst>
      <p:ext uri="{BB962C8B-B14F-4D97-AF65-F5344CB8AC3E}">
        <p14:creationId xmlns:p14="http://schemas.microsoft.com/office/powerpoint/2010/main" val="764553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2024 Farient Advisors_Rev 3 TEST ONLY">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6350">
          <a:solidFill>
            <a:schemeClr val="tx1"/>
          </a:solidFill>
        </a:ln>
      </a:spPr>
      <a:bodyPr vert="horz" wrap="none" lIns="45720" tIns="45720" rIns="45720" bIns="45720" rtlCol="0" anchor="ctr">
        <a:spAutoFit/>
      </a:bodyPr>
      <a:lstStyle>
        <a:defPPr algn="ctr">
          <a:lnSpc>
            <a:spcPct val="85000"/>
          </a:lnSpc>
          <a:defRPr sz="1400" i="1" dirty="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6350"/>
      </a:spPr>
      <a:bodyPr/>
      <a:lstStyle/>
      <a:style>
        <a:lnRef idx="1">
          <a:schemeClr val="dk1"/>
        </a:lnRef>
        <a:fillRef idx="0">
          <a:schemeClr val="dk1"/>
        </a:fillRef>
        <a:effectRef idx="0">
          <a:schemeClr val="dk1"/>
        </a:effectRef>
        <a:fontRef idx="minor">
          <a:schemeClr val="tx1"/>
        </a:fontRef>
      </a:style>
    </a:lnDef>
    <a:txDef>
      <a:spPr>
        <a:noFill/>
      </a:spPr>
      <a:bodyPr vert="horz" wrap="square" lIns="45720" tIns="45720" rIns="45720" bIns="45720" rtlCol="0" anchor="ctr">
        <a:spAutoFit/>
      </a:bodyPr>
      <a:lstStyle>
        <a:defPPr algn="ctr">
          <a:lnSpc>
            <a:spcPct val="85000"/>
          </a:lnSpc>
          <a:defRPr sz="1400" dirty="0"/>
        </a:defPPr>
      </a:lstStyle>
    </a:txDef>
  </a:objectDefaults>
  <a:extraClrSchemeLst/>
  <a:extLst>
    <a:ext uri="{05A4C25C-085E-4340-85A3-A5531E510DB2}">
      <thm15:themeFamily xmlns:thm15="http://schemas.microsoft.com/office/thememl/2012/main" name="20250515 Farient PowerPoint Template  -  Read-Only" id="{1E5992C5-BD26-4B7A-ACC9-5EDB4A4EB2A5}" vid="{78EA21E3-7583-4F1B-BE43-D58532D13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B684825C2CA60448274693B8A15A795" ma:contentTypeVersion="6" ma:contentTypeDescription="Create a new document." ma:contentTypeScope="" ma:versionID="04ef7d074a108e92322a779622f5b6da">
  <xsd:schema xmlns:xsd="http://www.w3.org/2001/XMLSchema" xmlns:xs="http://www.w3.org/2001/XMLSchema" xmlns:p="http://schemas.microsoft.com/office/2006/metadata/properties" xmlns:ns2="6143a6d9-df45-426f-a460-3a2ff8d00b42" xmlns:ns3="64170087-19d8-4941-bdb3-9ccdd7b63d9f" targetNamespace="http://schemas.microsoft.com/office/2006/metadata/properties" ma:root="true" ma:fieldsID="25628d64d8a342793ab02279a7e67a82" ns2:_="" ns3:_="">
    <xsd:import namespace="6143a6d9-df45-426f-a460-3a2ff8d00b42"/>
    <xsd:import namespace="64170087-19d8-4941-bdb3-9ccdd7b63d9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43a6d9-df45-426f-a460-3a2ff8d00b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170087-19d8-4941-bdb3-9ccdd7b63d9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C5CD68-6BFE-44B9-98DE-D8B3611294A8}">
  <ds:schemaRefs>
    <ds:schemaRef ds:uri="http://schemas.microsoft.com/sharepoint/v3/contenttype/forms"/>
  </ds:schemaRefs>
</ds:datastoreItem>
</file>

<file path=customXml/itemProps2.xml><?xml version="1.0" encoding="utf-8"?>
<ds:datastoreItem xmlns:ds="http://schemas.openxmlformats.org/officeDocument/2006/customXml" ds:itemID="{F700C7E3-4356-4EFE-B7AB-B6AF087C0D2A}">
  <ds:schemaRefs>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6143a6d9-df45-426f-a460-3a2ff8d00b42"/>
    <ds:schemaRef ds:uri="http://purl.org/dc/elements/1.1/"/>
    <ds:schemaRef ds:uri="http://purl.org/dc/terms/"/>
    <ds:schemaRef ds:uri="http://purl.org/dc/dcmitype/"/>
    <ds:schemaRef ds:uri="http://schemas.microsoft.com/office/infopath/2007/PartnerControls"/>
    <ds:schemaRef ds:uri="64170087-19d8-4941-bdb3-9ccdd7b63d9f"/>
  </ds:schemaRefs>
</ds:datastoreItem>
</file>

<file path=customXml/itemProps3.xml><?xml version="1.0" encoding="utf-8"?>
<ds:datastoreItem xmlns:ds="http://schemas.openxmlformats.org/officeDocument/2006/customXml" ds:itemID="{5BAEBA8C-A544-4DCB-AE37-BB8ED14B733A}">
  <ds:schemaRefs>
    <ds:schemaRef ds:uri="6143a6d9-df45-426f-a460-3a2ff8d00b42"/>
    <ds:schemaRef ds:uri="64170087-19d8-4941-bdb3-9ccdd7b63d9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20250515 FA Template</Template>
  <TotalTime>5</TotalTime>
  <Words>11323</Words>
  <Application>Microsoft Macintosh PowerPoint</Application>
  <PresentationFormat>On-screen Show (4:3)</PresentationFormat>
  <Paragraphs>2973</Paragraphs>
  <Slides>33</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Courier New</vt:lpstr>
      <vt:lpstr>Times New Roman</vt:lpstr>
      <vt:lpstr>Tw Cen MT</vt:lpstr>
      <vt:lpstr>Wingdings</vt:lpstr>
      <vt:lpstr>Wingdings 2</vt:lpstr>
      <vt:lpstr>2024 Farient Advisors_Rev 3 TEST ONLY</vt:lpstr>
      <vt:lpstr>Assessment of Compensation Peers</vt:lpstr>
      <vt:lpstr>Each year, ACME reviews Plutos’ Compensation Peer Group to ensure size, business, and strategic relevance. As part of our process, we addressed how Plutos’ acquisition of PA Consulting might influence Plutos’ peer group</vt:lpstr>
      <vt:lpstr>Plutos’ business profile has evolved with the addition of PA Consulting, which has implications for the peer group screening criteria</vt:lpstr>
      <vt:lpstr>ACME’s industry screen captures companies that provide consulting services, including competitors identified by Plutos and PA Consulting</vt:lpstr>
      <vt:lpstr>As a result, ACME suggests modifying the screening criteria to: (1) include UK-listed companies, and companies that are  Plutos’ and PA’s competitors; (2) require financial viability; and (3) de-emphasize mission-critical businesses</vt:lpstr>
      <vt:lpstr>Plutos’ current peers continue to meet most of the screening criteria; however, DXC and Kyndryl are under financial duress (see next page), and KBR is planning a spin-off</vt:lpstr>
      <vt:lpstr>Kyndryl and DXC rank in the bottom quartile on most financial and market measures, raising questions about the financial viability of these companies for the peer group</vt:lpstr>
      <vt:lpstr>KBR announced a spin-off of its Mission Technology Solutions unit, which is expected to close later this year. The surviving entity may be too small to be a viable Plutos peer</vt:lpstr>
      <vt:lpstr>At this juncture, ACME recommends removing Kyndryl in light of its poor business and operational performance, monitoring DXC, given its business fit with Plutos, and monitoring KBR, given that its planned spin-off has not yet occurred</vt:lpstr>
      <vt:lpstr>ACME broadened the list of companies it put through the screen to include:</vt:lpstr>
      <vt:lpstr>Plutos’ peer group would tilt slightly more towards Critical Infrastructure and Consulting if Kyndryl were removed from the mix</vt:lpstr>
      <vt:lpstr>Appendix</vt:lpstr>
      <vt:lpstr>Plutos’ Compensation Peer group is used for a variety of analytical applications</vt:lpstr>
      <vt:lpstr>For FY25, Plutos rotated its peer group as a result of its CMS spin-off and go-forward strategy</vt:lpstr>
      <vt:lpstr>Plutos’ current peer group has an average segment mix that emphasizes critical infrastructure and consulting businesses</vt:lpstr>
      <vt:lpstr>KBR, WSP, and Leidos engaged in multibillion-dollar deals over the past year, enhancing their suitability as a peer for Plutos</vt:lpstr>
      <vt:lpstr>ACME assessed 15 UK-based companies for possible inclusion in Plutos’ peer group, but none sufficiently met the screening criteria</vt:lpstr>
      <vt:lpstr>All peers-of-peers were analyzed, but none qualified for inclusion in Plutos’ peer group</vt:lpstr>
      <vt:lpstr>Among 154 companies identified in Plutos’ and PA Consulting’s noncompete agreements, ~70% are private, and the relevant public companies are already in Plutos’ peer group</vt:lpstr>
      <vt:lpstr>ACME reviewed consulting competitors cited by Plutos and PA Consulting on non-compete and other competitive lists, but none sufficiently satisfied the screening criteria</vt:lpstr>
      <vt:lpstr>ACME reviewed consulting competitors cited by Plutos and PA Consulting on non-compete and other competitive lists, but none sufficiently satisfied the screening criteria (continued)</vt:lpstr>
      <vt:lpstr>ACME reviewed other companies identified in prior years for monitoring, as well as took a more in-depth look at certain competitors, but none sufficiently satisfied the screening criteria</vt:lpstr>
      <vt:lpstr>Capgemini would slightly impact the CEO’s competitive size-adjusted median TDC if it were included in the peer group</vt:lpstr>
      <vt:lpstr>Capgemini's incentive plans are similar to those of Plutos’ current peers</vt:lpstr>
      <vt:lpstr>Many companies in ISS’ peer group for Plutos operate in the construction, engineering, aerospace, and defense sectors, which are more aligned with Plutos’ legacy business</vt:lpstr>
      <vt:lpstr>This year, Glass Lewis (GL) replaced four construction, engineering, and aerospace peers with four business services companies; however, none are relevant for inclusion in Plutos’ compensation peer group</vt:lpstr>
      <vt:lpstr>Business descriptions for the recommended compensation peers are shown below:</vt:lpstr>
      <vt:lpstr>Business descriptions for the recommended compensation peers are shown below: (continued)</vt:lpstr>
      <vt:lpstr>Business descriptions for the recommended compensation peers are shown below: (continued)</vt:lpstr>
      <vt:lpstr>Business descriptions for the recommended compensation peers are shown below: (continued)</vt:lpstr>
      <vt:lpstr>Business descriptions for the recommended compensation peers are shown below: (continued)</vt:lpstr>
      <vt:lpstr>Business descriptions for the additional companies evaluated in detail are shown below:</vt:lpstr>
      <vt:lpstr>Business descriptions for the additional companies evaluated in detail are shown below: (continued)</vt:lpstr>
    </vt:vector>
  </TitlesOfParts>
  <Manager/>
  <Company/>
  <LinksUpToDate>false</LinksUpToDate>
  <SharedDoc>false</SharedDoc>
  <HyperlinkBase>https://farient.com/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Sachit Jain</dc:creator>
  <dc:description>PowerPoint Template Design By:
TLC Creative Services, Inc.
www.tlccreative.com</dc:description>
  <cp:lastModifiedBy>Pete Enestrom</cp:lastModifiedBy>
  <cp:revision>8</cp:revision>
  <cp:lastPrinted>2026-03-10T21:58:33Z</cp:lastPrinted>
  <dcterms:created xsi:type="dcterms:W3CDTF">2026-02-10T21:27:18Z</dcterms:created>
  <dcterms:modified xsi:type="dcterms:W3CDTF">2026-05-13T13:04:07Z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0x0101009B684825C2CA60448274693B8A15A795</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